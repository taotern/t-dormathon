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4.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649eef011bf4442" /><Relationship Type="http://schemas.openxmlformats.org/officeDocument/2006/relationships/extended-properties" Target="/docProps/app.xml" Id="Rb58136cf255e4eba" /><Relationship Type="http://schemas.openxmlformats.org/officeDocument/2006/relationships/officeDocument" Target="/ppt/presentation.xml" Id="R71b20aea5a6344e4" /></Relationships>
</file>

<file path=ppt/presentation.xml><?xml version="1.0" encoding="utf-8"?>
<p:presentation xmlns:p="http://schemas.openxmlformats.org/presentationml/2006/main">
  <p:sldMasterIdLst>
    <p:sldMasterId xmlns:r="http://schemas.openxmlformats.org/officeDocument/2006/relationships" id="2147483648" r:id="R8d94f3a0dae246e9"/>
  </p:sldMasterIdLst>
  <p:notesMasterIdLst>
    <p:notesMasterId xmlns:r="http://schemas.openxmlformats.org/officeDocument/2006/relationships" r:id="R6f02cfd9ba544034"/>
  </p:notesMasterIdLst>
  <p:sldIdLst>
    <p:sldId xmlns:r="http://schemas.openxmlformats.org/officeDocument/2006/relationships" id="256" r:id="R50b7f0d285c94e7c"/>
    <p:sldId xmlns:r="http://schemas.openxmlformats.org/officeDocument/2006/relationships" id="257" r:id="R5bb172ed808244ac"/>
    <p:sldId xmlns:r="http://schemas.openxmlformats.org/officeDocument/2006/relationships" id="258" r:id="R4941166728a24b8d"/>
    <p:sldId xmlns:r="http://schemas.openxmlformats.org/officeDocument/2006/relationships" id="259" r:id="R93cbe32b4f8a4d01"/>
    <p:sldId xmlns:r="http://schemas.openxmlformats.org/officeDocument/2006/relationships" id="260" r:id="Rdb63fab7ee47453f"/>
    <p:sldId xmlns:r="http://schemas.openxmlformats.org/officeDocument/2006/relationships" id="261" r:id="R45765f4d72364009"/>
    <p:sldId xmlns:r="http://schemas.openxmlformats.org/officeDocument/2006/relationships" id="262" r:id="R1f13d0ff6c9a4869"/>
    <p:sldId xmlns:r="http://schemas.openxmlformats.org/officeDocument/2006/relationships" id="263" r:id="Rd5cb22f24262441c"/>
    <p:sldId xmlns:r="http://schemas.openxmlformats.org/officeDocument/2006/relationships" id="264" r:id="R0d8697d5c2f3428b"/>
    <p:sldId xmlns:r="http://schemas.openxmlformats.org/officeDocument/2006/relationships" id="265" r:id="R08014d4283a847a9"/>
    <p:sldId xmlns:r="http://schemas.openxmlformats.org/officeDocument/2006/relationships" id="266" r:id="R31b2c61944d349cc"/>
    <p:sldId xmlns:r="http://schemas.openxmlformats.org/officeDocument/2006/relationships" id="267" r:id="R3c089b9fa36e4504"/>
    <p:sldId xmlns:r="http://schemas.openxmlformats.org/officeDocument/2006/relationships" id="268" r:id="R1076bdf73a7140fa"/>
    <p:sldId xmlns:r="http://schemas.openxmlformats.org/officeDocument/2006/relationships" id="269" r:id="R711da024a54047fb"/>
    <p:sldId xmlns:r="http://schemas.openxmlformats.org/officeDocument/2006/relationships" id="270" r:id="R3346f14d65e54e61"/>
    <p:sldId xmlns:r="http://schemas.openxmlformats.org/officeDocument/2006/relationships" id="271" r:id="R988be3ab0a3343b3"/>
    <p:sldId xmlns:r="http://schemas.openxmlformats.org/officeDocument/2006/relationships" id="272" r:id="R760336d0cbf04057"/>
    <p:sldId xmlns:r="http://schemas.openxmlformats.org/officeDocument/2006/relationships" id="273" r:id="Re5593fd3aaef476a"/>
    <p:sldId xmlns:r="http://schemas.openxmlformats.org/officeDocument/2006/relationships" id="274" r:id="R7b38706ba0224a76"/>
    <p:sldId xmlns:r="http://schemas.openxmlformats.org/officeDocument/2006/relationships" id="275" r:id="R976aeef3d8f943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41620f5262412c" /><Relationship Type="http://schemas.openxmlformats.org/officeDocument/2006/relationships/slideMaster" Target="/ppt/slideMasters/slideMaster1.xml" Id="R8d94f3a0dae246e9" /><Relationship Type="http://schemas.openxmlformats.org/officeDocument/2006/relationships/notesMaster" Target="/ppt/notesMasters/notesMaster1.xml" Id="R6f02cfd9ba544034" /><Relationship Type="http://schemas.openxmlformats.org/officeDocument/2006/relationships/presProps" Target="/ppt/presProps.xml" Id="R8ba97858ee4d4744" /><Relationship Type="http://schemas.openxmlformats.org/officeDocument/2006/relationships/tableStyles" Target="/ppt/tableStyles.xml" Id="R46727eadcad04be3" /><Relationship Type="http://schemas.openxmlformats.org/officeDocument/2006/relationships/slide" Target="/ppt/slides/slide1.xml" Id="R50b7f0d285c94e7c" /><Relationship Type="http://schemas.openxmlformats.org/officeDocument/2006/relationships/slide" Target="/ppt/slides/slide2.xml" Id="R5bb172ed808244ac" /><Relationship Type="http://schemas.openxmlformats.org/officeDocument/2006/relationships/slide" Target="/ppt/slides/slide3.xml" Id="R4941166728a24b8d" /><Relationship Type="http://schemas.openxmlformats.org/officeDocument/2006/relationships/slide" Target="/ppt/slides/slide4.xml" Id="R93cbe32b4f8a4d01" /><Relationship Type="http://schemas.openxmlformats.org/officeDocument/2006/relationships/slide" Target="/ppt/slides/slide5.xml" Id="Rdb63fab7ee47453f" /><Relationship Type="http://schemas.openxmlformats.org/officeDocument/2006/relationships/slide" Target="/ppt/slides/slide6.xml" Id="R45765f4d72364009" /><Relationship Type="http://schemas.openxmlformats.org/officeDocument/2006/relationships/slide" Target="/ppt/slides/slide7.xml" Id="R1f13d0ff6c9a4869" /><Relationship Type="http://schemas.openxmlformats.org/officeDocument/2006/relationships/slide" Target="/ppt/slides/slide8.xml" Id="Rd5cb22f24262441c" /><Relationship Type="http://schemas.openxmlformats.org/officeDocument/2006/relationships/slide" Target="/ppt/slides/slide9.xml" Id="R0d8697d5c2f3428b" /><Relationship Type="http://schemas.openxmlformats.org/officeDocument/2006/relationships/slide" Target="/ppt/slides/slide10.xml" Id="R08014d4283a847a9" /><Relationship Type="http://schemas.openxmlformats.org/officeDocument/2006/relationships/slide" Target="/ppt/slides/slide11.xml" Id="R31b2c61944d349cc" /><Relationship Type="http://schemas.openxmlformats.org/officeDocument/2006/relationships/slide" Target="/ppt/slides/slide12.xml" Id="R3c089b9fa36e4504" /><Relationship Type="http://schemas.openxmlformats.org/officeDocument/2006/relationships/slide" Target="/ppt/slides/slide13.xml" Id="R1076bdf73a7140fa" /><Relationship Type="http://schemas.openxmlformats.org/officeDocument/2006/relationships/slide" Target="/ppt/slides/slide14.xml" Id="R711da024a54047fb" /><Relationship Type="http://schemas.openxmlformats.org/officeDocument/2006/relationships/slide" Target="/ppt/slides/slide15.xml" Id="R3346f14d65e54e61" /><Relationship Type="http://schemas.openxmlformats.org/officeDocument/2006/relationships/slide" Target="/ppt/slides/slide16.xml" Id="R988be3ab0a3343b3" /><Relationship Type="http://schemas.openxmlformats.org/officeDocument/2006/relationships/slide" Target="/ppt/slides/slide17.xml" Id="R760336d0cbf04057" /><Relationship Type="http://schemas.openxmlformats.org/officeDocument/2006/relationships/slide" Target="/ppt/slides/slide18.xml" Id="Re5593fd3aaef476a" /><Relationship Type="http://schemas.openxmlformats.org/officeDocument/2006/relationships/slide" Target="/ppt/slides/slide19.xml" Id="R7b38706ba0224a76" /><Relationship Type="http://schemas.openxmlformats.org/officeDocument/2006/relationships/slide" Target="/ppt/slides/slide20.xml" Id="R976aeef3d8f943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b5c24e478543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389c03dc0b4712" /><Relationship Type="http://schemas.openxmlformats.org/officeDocument/2006/relationships/notesMaster" Target="/ppt/notesMasters/notesMaster1.xml" Id="R860c0425a1434f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ce6e34d0c24301" /><Relationship Type="http://schemas.openxmlformats.org/officeDocument/2006/relationships/notesMaster" Target="/ppt/notesMasters/notesMaster1.xml" Id="R99d71f6968914b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342ec5268b4418" /><Relationship Type="http://schemas.openxmlformats.org/officeDocument/2006/relationships/notesMaster" Target="/ppt/notesMasters/notesMaster1.xml" Id="R9c33ecbe182f45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112b39de7f4133" /><Relationship Type="http://schemas.openxmlformats.org/officeDocument/2006/relationships/notesMaster" Target="/ppt/notesMasters/notesMaster1.xml" Id="R4f904fd5163d41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1f04647a1c4532" /><Relationship Type="http://schemas.openxmlformats.org/officeDocument/2006/relationships/notesMaster" Target="/ppt/notesMasters/notesMaster1.xml" Id="Rea0073ccf2784a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ba02a4b84e4f11" /><Relationship Type="http://schemas.openxmlformats.org/officeDocument/2006/relationships/notesMaster" Target="/ppt/notesMasters/notesMaster1.xml" Id="R844f1567c77c4c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8d40f4e63249a8" /><Relationship Type="http://schemas.openxmlformats.org/officeDocument/2006/relationships/notesMaster" Target="/ppt/notesMasters/notesMaster1.xml" Id="Ra3c5963f52fb4ed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2ed4277a544c68" /><Relationship Type="http://schemas.openxmlformats.org/officeDocument/2006/relationships/notesMaster" Target="/ppt/notesMasters/notesMaster1.xml" Id="R14e5a15615c34d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c065a7aa954900" /><Relationship Type="http://schemas.openxmlformats.org/officeDocument/2006/relationships/notesMaster" Target="/ppt/notesMasters/notesMaster1.xml" Id="R86b7f9422e1345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722024b85284921" /><Relationship Type="http://schemas.openxmlformats.org/officeDocument/2006/relationships/notesMaster" Target="/ppt/notesMasters/notesMaster1.xml" Id="R884ba1e37367459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4fa9da864f48b9" /><Relationship Type="http://schemas.openxmlformats.org/officeDocument/2006/relationships/notesMaster" Target="/ppt/notesMasters/notesMaster1.xml" Id="R76b763b5121e4fb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3077e7f92214b82" /><Relationship Type="http://schemas.openxmlformats.org/officeDocument/2006/relationships/notesMaster" Target="/ppt/notesMasters/notesMaster1.xml" Id="R76b3231e3f4f43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fd7bd05c64940ab" /><Relationship Type="http://schemas.openxmlformats.org/officeDocument/2006/relationships/notesMaster" Target="/ppt/notesMasters/notesMaster1.xml" Id="R4bcbf8ce1e084cc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630d0329fc14803" /><Relationship Type="http://schemas.openxmlformats.org/officeDocument/2006/relationships/notesMaster" Target="/ppt/notesMasters/notesMaster1.xml" Id="Rb962898b421a40a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ad2f2614e3c46db" /><Relationship Type="http://schemas.openxmlformats.org/officeDocument/2006/relationships/notesMaster" Target="/ppt/notesMasters/notesMaster1.xml" Id="Rde02baa8a4194f7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639339348f645dd" /><Relationship Type="http://schemas.openxmlformats.org/officeDocument/2006/relationships/notesMaster" Target="/ppt/notesMasters/notesMaster1.xml" Id="R3e6e8776e8e24e7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6794f478b2b46c5" /><Relationship Type="http://schemas.openxmlformats.org/officeDocument/2006/relationships/notesMaster" Target="/ppt/notesMasters/notesMaster1.xml" Id="Re2bc867e71b04b8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c77a616c4774c84" /><Relationship Type="http://schemas.openxmlformats.org/officeDocument/2006/relationships/notesMaster" Target="/ppt/notesMasters/notesMaster1.xml" Id="Rc6af3c89ec954e6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552330ddca74b5b" /><Relationship Type="http://schemas.openxmlformats.org/officeDocument/2006/relationships/notesMaster" Target="/ppt/notesMasters/notesMaster1.xml" Id="R40515702f6ae48f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225032418f448e6" /><Relationship Type="http://schemas.openxmlformats.org/officeDocument/2006/relationships/notesMaster" Target="/ppt/notesMasters/notesMaster1.xml" Id="Ra0015a56c8a348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00:00–00:15. A disruption makes headlines. Which order is exposed, and which response is worth its cost? Dormathon connects real evidence to explicit exposure and constrained choices, then updates as observations arrive.</a:t>
            </a:r>
          </a:p>
          <a:p xmlns:a="http://schemas.openxmlformats.org/drawingml/2006/main">
            <a:r>
              <a:t>The six main slides form a complete three-minute pitch with actual saved v77 screens.</a:t>
            </a:r>
          </a:p>
          <a:p xmlns:a="http://schemas.openxmlformats.org/drawingml/2006/main">
            <a:r>
              <a:t/>
            </a:r>
          </a:p>
          <a:p xmlns:a="http://schemas.openxmlformats.org/drawingml/2006/main">
            <a:r>
              <a:t>SOURCES</a:t>
            </a:r>
          </a:p>
          <a:p xmlns:a="http://schemas.openxmlformats.org/drawingml/2006/main">
            <a:r>
              <a:t>Verified real-event pack, events.json, as of 10 October 2026. Retailer exposure and delay are explicit hypothetical assumptions.</a:t>
            </a:r>
          </a:p>
          <a:p xmlns:a="http://schemas.openxmlformats.org/drawingml/2006/main">
            <a:r>
              <a:t>Hosted v77 product, published 10 October 2026. https://dormathon-risk-private-20261007.liuyz8715.chatgpt.site/workbench.html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00:15–00:50. Our example is the US–Iran conflict and Hormuz disruption. EIA’s October update describes partial flows and continuing constraints. A headline alone does not establish company exposure. Here, the user explicitly assumes a demo order is affected and adds three arrival days. Every strategy receives that same assumption.</a:t>
            </a:r>
          </a:p>
          <a:p xmlns:a="http://schemas.openxmlformats.org/drawingml/2006/main">
            <a:r>
              <a:t>Additional delay 3 moves the pending synthetic receipt from day 5 to day 8, outside decision days 0–6. It remains outstanding, not canceled. No Malaysia-bound shipment is automatically a Hormuz transit. This is a new daily-model sensitivity run, separate from the prior MET four-day-total-delay replay. Do not state current complete closure.</a:t>
            </a:r>
          </a:p>
          <a:p xmlns:a="http://schemas.openxmlformats.org/drawingml/2006/main">
            <a:r>
              <a:t/>
            </a:r>
          </a:p>
          <a:p xmlns:a="http://schemas.openxmlformats.org/drawingml/2006/main">
            <a:r>
              <a:t>SOURCES</a:t>
            </a:r>
          </a:p>
          <a:p xmlns:a="http://schemas.openxmlformats.org/drawingml/2006/main">
            <a:r>
              <a:t>EIA October 2026 Short-Term Energy Outlook, published 6 October, forecast completed 1 October, checked 10 October 08:23:27 UTC. Partial Hormuz flows and ongoing route constraints. https://www.eia.gov/outlooks/steo/report/global_oil.php . May historical closure: https://www.eia.gov/outlooks/steo/archives/may26.pdf . July update: https://www.eia.gov/pressroom/releases/press590.php</a:t>
            </a:r>
          </a:p>
          <a:p xmlns:a="http://schemas.openxmlformats.org/drawingml/2006/main">
            <a:r>
              <a:t>Verified real-event pack, events.json, as of 10 October 2026. Retailer exposure and delay are explicit hypothetical assumptions.</a:t>
            </a:r>
          </a:p>
          <a:p xmlns:a="http://schemas.openxmlformats.org/drawingml/2006/main">
            <a:r>
              <a:t>Hosted v77 product, published 10 October 2026. https://dormathon-risk-private-20261007.liuyz8715.chatgpt.site/workbench.html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00:50–01:35. We compare a practical controller, a trained policy and search in the same seven-day model. They share observations, feasible actions and resources. This displayed learned-policy run commits one hundred and forty ringgit in modeled new spending, while about nine units remain unmet. The controller protects more service and has lower heat exposure here, but spends more. The product makes that trade-off inspectable.</a:t>
            </a:r>
          </a:p>
          <a:p xmlns:a="http://schemas.openxmlformats.org/drawingml/2006/main">
            <a:r>
              <a:t>Actual v77 run: seed 400000, MCTS 32, initial model calibrated-2026-09-26-d7d491a4, Hormuz assumed additional delay 3. Controller score −1852.954, unmet 3.393 units, new cash MYR1713 and heat 77.519 degree-hours. Q score −332.712, unmet 9.011, new cash MYR140 and heat 83.966. MCTS score −353.24, unmet 8.997, cash MYR163 and heat 77.519. Q uses 4 learned-table choices and 3 fallback choices. This is one selected stress episode, not the frozen 96-seed mean conclusion. Q and MCTS do not beat the stronger controller on mean heldout score.</a:t>
            </a:r>
          </a:p>
          <a:p xmlns:a="http://schemas.openxmlformats.org/drawingml/2006/main">
            <a:r>
              <a:t/>
            </a:r>
          </a:p>
          <a:p xmlns:a="http://schemas.openxmlformats.org/drawingml/2006/main">
            <a:r>
              <a:t>SOURCES</a:t>
            </a:r>
          </a:p>
          <a:p xmlns:a="http://schemas.openxmlformats.org/drawingml/2006/main">
            <a:r>
              <a:t>Verified real-event pack, events.json, as of 10 October 2026. Retailer exposure and delay are explicit hypothetical assumptions.</a:t>
            </a:r>
          </a:p>
          <a:p xmlns:a="http://schemas.openxmlformats.org/drawingml/2006/main">
            <a:r>
              <a:t>Frozen corrected study: retail-heldout-protocol2-evaluation.json, retail-protocol2-summary.csv and evaluation-findings.md. Prespecified controller and fresh 96-seed block 400000–400095. Primary seed41 fixed before training. Manifest 09b37d3ff020d3b2122fe2b3263cadcf57cb2425008d37abe7cf5c116b1a5476.</a:t>
            </a:r>
          </a:p>
          <a:p xmlns:a="http://schemas.openxmlformats.org/drawingml/2006/main">
            <a:r>
              <a:t>Hosted v77 product, published 10 October 2026. https://dormathon-risk-private-20261007.liuyz8715.chatgpt.site/workbench.html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01:35–02:10. Next, release a dated sales and temperature observation. The system actually refits the rolling window and records a new active model. It never rewrites earlier results or resets resource commitments. The old trained policy is not silently treated as current: a changed model triggers its disclosed fallback. Updating the model is different from retraining the policy.</a:t>
            </a:r>
          </a:p>
          <a:p xmlns:a="http://schemas.openxmlformats.org/drawingml/2006/main">
            <a:r>
              <a:t>Releasing 25 September reproduces the shipped 26 September model and evaluates on the same later untouched interval. Releasing 26 September installs a genuinely newer 27 September model; the old holdout is then consumed and its before/after score is withheld. Controller and MCTS receive the fitted calibration; Q weights stay frozen. No background feed, automatic daily scheduler or new online RL training.</a:t>
            </a:r>
          </a:p>
          <a:p xmlns:a="http://schemas.openxmlformats.org/drawingml/2006/main">
            <a:r>
              <a:t/>
            </a:r>
          </a:p>
          <a:p xmlns:a="http://schemas.openxmlformats.org/drawingml/2006/main">
            <a:r>
              <a:t>SOURCES</a:t>
            </a:r>
          </a:p>
          <a:p xmlns:a="http://schemas.openxmlformats.org/drawingml/2006/main">
            <a:r>
              <a:t>Runnable synthetic dynamics: docs/portable-contract.md; dynamics-heldout-evaluation.json; dynamics-demo-output.json; dynamics-thermal-pinn-v1.json. Frozen manifest 7ed2364dbe1788750bc09dc59496c4a3fd82e815c85e953c5da737009b8f8014.</a:t>
            </a:r>
          </a:p>
          <a:p xmlns:a="http://schemas.openxmlformats.org/drawingml/2006/main">
            <a:r>
              <a:t>Frozen corrected study: retail-heldout-protocol2-evaluation.json, retail-protocol2-summary.csv and evaluation-findings.md. Prespecified controller and fresh 96-seed block 400000–400095. Primary seed41 fixed before training. Manifest 09b37d3ff020d3b2122fe2b3263cadcf57cb2425008d37abe7cf5c116b1a5476.</a:t>
            </a:r>
          </a:p>
          <a:p xmlns:a="http://schemas.openxmlformats.org/drawingml/2006/main">
            <a:r>
              <a:t>Independent learning adoption audit, 10 October 2026: 29 focused checks, complete primary 20,000-episode reproduction and 1,440 evaluation rows reconciled. Implementation/reproducibility evidence, not business validity.</a:t>
            </a:r>
          </a:p>
          <a:p xmlns:a="http://schemas.openxmlformats.org/drawingml/2006/main">
            <a:r>
              <a:t>Hosted v77 product, published 10 October 2026. https://dormathon-risk-private-20261007.liuyz8715.chatgpt.site/workbench.html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02:10–02:40. Open the daily trace to see the chosen action and its resource consequences. Transfers debit source stock. Orders reserve cash once. Staff, fuel and backup energy remain constrained, and receipts beyond the horizon remain outstanding. We keep shortages and other consequences visible. The lead can review the choice before any real action.</a:t>
            </a:r>
          </a:p>
          <a:p xmlns:a="http://schemas.openxmlformats.org/drawingml/2006/main">
            <a:r>
              <a:t/>
            </a:r>
          </a:p>
          <a:p xmlns:a="http://schemas.openxmlformats.org/drawingml/2006/main">
            <a:r>
              <a:t>SOURCES</a:t>
            </a:r>
          </a:p>
          <a:p xmlns:a="http://schemas.openxmlformats.org/drawingml/2006/main">
            <a:r>
              <a:t>Runnable synthetic dynamics: docs/portable-contract.md; dynamics-heldout-evaluation.json; dynamics-demo-output.json; dynamics-thermal-pinn-v1.json. Frozen manifest 7ed2364dbe1788750bc09dc59496c4a3fd82e815c85e953c5da737009b8f8014.</a:t>
            </a:r>
          </a:p>
          <a:p xmlns:a="http://schemas.openxmlformats.org/drawingml/2006/main">
            <a:r>
              <a:t>Frozen corrected study: retail-heldout-protocol2-evaluation.json, retail-protocol2-summary.csv and evaluation-findings.md. Prespecified controller and fresh 96-seed block 400000–400095. Primary seed41 fixed before training. Manifest 09b37d3ff020d3b2122fe2b3263cadcf57cb2425008d37abe7cf5c116b1a5476.</a:t>
            </a:r>
          </a:p>
          <a:p xmlns:a="http://schemas.openxmlformats.org/drawingml/2006/main">
            <a:r>
              <a:t>Hosted v77 product, published 10 October 2026. https://dormathon-risk-private-20261007.liuyz8715.chatgpt.site/workbench.html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02:40–03:00. Dormathon connects real external evidence to explicit business exposure and resource-constrained choices, then updates with new observations. That review loop is working today. The next proof is measured operating performance with real company data, not a stronger claim from the same simulation.</a:t>
            </a:r>
          </a:p>
          <a:p xmlns:a="http://schemas.openxmlformats.org/drawingml/2006/main">
            <a:r>
              <a:t/>
            </a:r>
          </a:p>
          <a:p xmlns:a="http://schemas.openxmlformats.org/drawingml/2006/main">
            <a:r>
              <a:t>SOURCES</a:t>
            </a:r>
          </a:p>
          <a:p xmlns:a="http://schemas.openxmlformats.org/drawingml/2006/main">
            <a:r>
              <a:t>Verified real-event pack, events.json, as of 10 October 2026. Retailer exposure and delay are explicit hypothetical assumptions.</a:t>
            </a:r>
          </a:p>
          <a:p xmlns:a="http://schemas.openxmlformats.org/drawingml/2006/main">
            <a:r>
              <a:t>Runnable synthetic dynamics: docs/portable-contract.md; dynamics-heldout-evaluation.json; dynamics-demo-output.json; dynamics-thermal-pinn-v1.json. Frozen manifest 7ed2364dbe1788750bc09dc59496c4a3fd82e815c85e953c5da737009b8f8014.</a:t>
            </a:r>
          </a:p>
          <a:p xmlns:a="http://schemas.openxmlformats.org/drawingml/2006/main">
            <a:r>
              <a:t>Frozen corrected study: retail-heldout-protocol2-evaluation.json, retail-protocol2-summary.csv and evaluation-findings.md. Prespecified controller and fresh 96-seed block 400000–400095. Primary seed41 fixed before training. Manifest 09b37d3ff020d3b2122fe2b3263cadcf57cb2425008d37abe7cf5c116b1a5476.</a:t>
            </a:r>
          </a:p>
          <a:p xmlns:a="http://schemas.openxmlformats.org/drawingml/2006/main">
            <a:r>
              <a:t>Hosted v77 product, published 10 October 2026. https://dormathon-risk-private-20261007.liuyz8715.chatgpt.site/workbench.html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Forty case workflows: 16 supply, 10 procurement, 8 service and 6 energy security. Six deep cases remain SC01/02/17/18/27/35. The new learning model is separate. Noto is a dated JMA magnitude 7.6 event, not a current warning or a verified supplier link. Red Sea refers specifically to Maersk update 07 on 5 January 2024. Kimi funding is the 7 May SCMP report citing an adviser. The official 10 September enterprise program supports strategic context only. Neither funding nor a headline trains the retail model.</a:t>
            </a:r>
          </a:p>
          <a:p xmlns:a="http://schemas.openxmlformats.org/drawingml/2006/main">
            <a:r>
              <a:t/>
            </a:r>
          </a:p>
          <a:p xmlns:a="http://schemas.openxmlformats.org/drawingml/2006/main">
            <a:r>
              <a:t>SOURCES</a:t>
            </a:r>
          </a:p>
          <a:p xmlns:a="http://schemas.openxmlformats.org/drawingml/2006/main">
            <a:r>
              <a:t>Verified real-event pack, events.json, as of 10 October 2026. Retailer exposure and delay are explicit hypothetical assumptions.</a:t>
            </a:r>
          </a:p>
          <a:p xmlns:a="http://schemas.openxmlformats.org/drawingml/2006/main">
            <a:r>
              <a:t>EIA October 2026 Short-Term Energy Outlook, published 6 October, forecast completed 1 October, checked 10 October 08:23:27 UTC. Partial Hormuz flows and ongoing route constraints. https://www.eia.gov/outlooks/steo/report/global_oil.php . May historical closure: https://www.eia.gov/outlooks/steo/archives/may26.pdf . July update: https://www.eia.gov/pressroom/releases/press590.php</a:t>
            </a:r>
          </a:p>
          <a:p xmlns:a="http://schemas.openxmlformats.org/drawingml/2006/main">
            <a:r>
              <a:t>https://www.jma.go.jp/jma/menu/20240101_noto_jishin.html</a:t>
            </a:r>
          </a:p>
          <a:p xmlns:a="http://schemas.openxmlformats.org/drawingml/2006/main">
            <a:r>
              <a:t>https://www.maersk.com/news/articles/2023/12/15/maersk-operations-through-red-sea-gulf-of-aden</a:t>
            </a:r>
          </a:p>
          <a:p xmlns:a="http://schemas.openxmlformats.org/drawingml/2006/main">
            <a:r>
              <a:t>https://www.scmp.com/tech/article/3352751/kimi-developer-moonshot-ai-valued-us20b-it-navigates-chinas-new-ipo-rules</a:t>
            </a:r>
          </a:p>
          <a:p xmlns:a="http://schemas.openxmlformats.org/drawingml/2006/main">
            <a:r>
              <a:t>https://www.kimi.com/news/kimi-enterprise-partner-program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Demand dZ=−kappa Z dt+sigma dW, exact daily OU transition. Thermal dT/dh=k(Tout−T)−g Pcool. Fatigue df/dh=build*u*(1−f)−recovery*(1−u)*f; service queue dB/dh=intake−lambda B. Exact positive constant-forcing substeps, overnight thermal/fatigue treatment and bounds disclosed. Public observations exclude hidden demand, RNG, future events, reward and cumulative hidden-demand cost. Twelve actions combine retain/transfer40/order100, normal/support staffing and retain/cool. A six-hour aggregate staff pool is an authored approximation, not validated role interchangeability.</a:t>
            </a:r>
          </a:p>
          <a:p xmlns:a="http://schemas.openxmlformats.org/drawingml/2006/main">
            <a:r>
              <a:t/>
            </a:r>
          </a:p>
          <a:p xmlns:a="http://schemas.openxmlformats.org/drawingml/2006/main">
            <a:r>
              <a:t>SOURCES</a:t>
            </a:r>
          </a:p>
          <a:p xmlns:a="http://schemas.openxmlformats.org/drawingml/2006/main">
            <a:r>
              <a:t>Runnable synthetic dynamics: docs/portable-contract.md; dynamics-heldout-evaluation.json; dynamics-demo-output.json; dynamics-thermal-pinn-v1.json. Frozen manifest 7ed2364dbe1788750bc09dc59496c4a3fd82e815c85e953c5da737009b8f8014.</a:t>
            </a:r>
          </a:p>
          <a:p xmlns:a="http://schemas.openxmlformats.org/drawingml/2006/main">
            <a:r>
              <a:t>Independent learning adoption audit, 10 October 2026: 29 focused checks, complete primary 20,000-episode reproduction and 1,440 evaluation rows reconciled. Implementation/reproducibility evidence, not business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Frozen models before 3 August, 25 September and 26 September use the same 26 September–9 October holdout. Demand MAE: 7.1335237687, 1.8429529167 and 1.6896381706 units/day. August to September thermal RMSE: 0.0429634771 to 0.0418370851°C. The holdout has 13 uncensored sales rows and 56 thermal rows. The authored generator includes a demand level shift. A 56-day past-only window excludes censored sales. Future-label poisoning leaves the fit unchanged. The forecast is a weekday lognormal median/level. The later 26 September release produces a 27 September model and consumes the old test period, so its old holdout score is withheld.</a:t>
            </a:r>
          </a:p>
          <a:p xmlns:a="http://schemas.openxmlformats.org/drawingml/2006/main">
            <a:r>
              <a:t/>
            </a:r>
          </a:p>
          <a:p xmlns:a="http://schemas.openxmlformats.org/drawingml/2006/main">
            <a:r>
              <a:t>SOURCES</a:t>
            </a:r>
          </a:p>
          <a:p xmlns:a="http://schemas.openxmlformats.org/drawingml/2006/main">
            <a:r>
              <a:t>Runnable synthetic dynamics: docs/portable-contract.md; dynamics-heldout-evaluation.json; dynamics-demo-output.json; dynamics-thermal-pinn-v1.json. Frozen manifest 7ed2364dbe1788750bc09dc59496c4a3fd82e815c85e953c5da737009b8f8014.</a:t>
            </a:r>
          </a:p>
          <a:p xmlns:a="http://schemas.openxmlformats.org/drawingml/2006/main">
            <a:r>
              <a:t>Independent learning adoption audit, 10 October 2026: 29 focused checks, complete primary 20,000-episode reproduction and 1,440 evaluation rows reconciled. Implementation/reproducibility evidence, not business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12-unit tanh hidden layer with 37 parameters. A hard initial condition uses y=1+xN(x), and the governing scalar equation is dy/dx+y=0 with x=k*t. Training uses 41 collocation points, 4 exact synthetic labels and 8,000 Adam steps. All 37 gradients were independently checked. The 100 validation positions exclude training locations. Maximum decay error is 0.00014878485 and residual RMSE is 0.00042072357. The frozen fixed-schedule comparison uses 224 neural workday segments and has maximum daily mean temperature discrepancy 0.00014882417°C. The hosted comparison after the newer refit shows 0.000158134°C, a different calibration. Overnight and domain fallback remain exact. The separate solver inspection does not inherit the event delay.</a:t>
            </a:r>
          </a:p>
          <a:p xmlns:a="http://schemas.openxmlformats.org/drawingml/2006/main">
            <a:r>
              <a:t/>
            </a:r>
          </a:p>
          <a:p xmlns:a="http://schemas.openxmlformats.org/drawingml/2006/main">
            <a:r>
              <a:t>SOURCES</a:t>
            </a:r>
          </a:p>
          <a:p xmlns:a="http://schemas.openxmlformats.org/drawingml/2006/main">
            <a:r>
              <a:t>Runnable synthetic dynamics: docs/portable-contract.md; dynamics-heldout-evaluation.json; dynamics-demo-output.json; dynamics-thermal-pinn-v1.json. Frozen manifest 7ed2364dbe1788750bc09dc59496c4a3fd82e815c85e953c5da737009b8f8014.</a:t>
            </a:r>
          </a:p>
          <a:p xmlns:a="http://schemas.openxmlformats.org/drawingml/2006/main">
            <a:r>
              <a:t>Independent learning adoption audit, 10 October 2026: 29 focused checks, complete primary 20,000-episode reproduction and 1,440 evaluation rows reconciled. Implementation/reproducibility evidence, not business validity.</a:t>
            </a:r>
          </a:p>
          <a:p xmlns:a="http://schemas.openxmlformats.org/drawingml/2006/main">
            <a:r>
              <a:t>Raissi et al., physics-informed neural residual method. https://arxiv.org/abs/1711.10561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Penalty is negative declared reward. Controller reward: −266.649687. Primary Q: −271.243845. MCTS 32: −317.679240. MCTS 128: −304.803442. Q minus controller is −4.594158, with descriptive paired 95% interval −14.96845 to +5.780135. Q loses 58 of 96 episodes. Q mean unmet demand is 3.418055 versus 7.665113 units; new cash commitments 144.208333 versus 89.25 MYR; heat 66.821845 versus 63.935562 degree-hours. MCTS loses 87 and 82 episodes respectively. More search improves this sample but still trails the controller. No business savings or real-event probability is established. Do not switch the primary trained seed after testing.</a:t>
            </a:r>
          </a:p>
          <a:p xmlns:a="http://schemas.openxmlformats.org/drawingml/2006/main">
            <a:r>
              <a:t/>
            </a:r>
          </a:p>
          <a:p xmlns:a="http://schemas.openxmlformats.org/drawingml/2006/main">
            <a:r>
              <a:t>SOURCES</a:t>
            </a:r>
          </a:p>
          <a:p xmlns:a="http://schemas.openxmlformats.org/drawingml/2006/main">
            <a:r>
              <a:t>Frozen corrected study: retail-heldout-protocol2-evaluation.json, retail-protocol2-summary.csv and evaluation-findings.md. Prespecified controller and fresh 96-seed block 400000–400095. Primary seed41 fixed before training. Manifest 09b37d3ff020d3b2122fe2b3263cadcf57cb2425008d37abe7cf5c116b1a5476.</a:t>
            </a:r>
          </a:p>
          <a:p xmlns:a="http://schemas.openxmlformats.org/drawingml/2006/main">
            <a:r>
              <a:t>Independent learning adoption audit, 10 October 2026: 29 focused checks, complete primary 20,000-episode reproduction and 1,440 evaluation rows reconciled. Implementation/reproducibility evidence, not business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seed 41 was prespecified. Each of three training runs has 20,000 episodes and 140,000 interaction updates. Standard Bellman targets include unvisited feasible actions initialized at zero, and terminal targets do not bootstrap. Exact primary reproduction matched the table and visits. The first practical rule was identical to no action across all 96 seeds. A stronger controller and fresh 400000–400095 test block were therefore frozen separately. Primary Q fallback is 7 of 672 decisions, or 1.04%. Other seeds and severe failures remain disclosed. Offline Q training is not included as equal online compute. Finite-pool belief search and coarse tabular bins limit robustness. A separate two-day, three-path exact reference is not a seven-day or global oracle.</a:t>
            </a:r>
          </a:p>
          <a:p xmlns:a="http://schemas.openxmlformats.org/drawingml/2006/main">
            <a:r>
              <a:t/>
            </a:r>
          </a:p>
          <a:p xmlns:a="http://schemas.openxmlformats.org/drawingml/2006/main">
            <a:r>
              <a:t>SOURCES</a:t>
            </a:r>
          </a:p>
          <a:p xmlns:a="http://schemas.openxmlformats.org/drawingml/2006/main">
            <a:r>
              <a:t>Frozen corrected study: retail-heldout-protocol2-evaluation.json, retail-protocol2-summary.csv and evaluation-findings.md. Prespecified controller and fresh 96-seed block 400000–400095. Primary seed41 fixed before training. Manifest 09b37d3ff020d3b2122fe2b3263cadcf57cb2425008d37abe7cf5c116b1a5476.</a:t>
            </a:r>
          </a:p>
          <a:p xmlns:a="http://schemas.openxmlformats.org/drawingml/2006/main">
            <a:r>
              <a:t>Independent learning adoption audit, 10 October 2026: 29 focused checks, complete primary 20,000-episode reproduction and 1,440 evaluation rows reconciled. Implementation/reproducibility evidence, not business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exploratory external UCI study, not the new synthetic model-update evaluation. Weekly WAPE 69.7338% versus mean28 77.2117%, with daily WAPE 108.5263%. Eight previously exposed 2011 folds include 89,324 weekly and 625,268 daily points. Descriptive 400-resample paired weekly difference interval: −11.63 to −3.71 percentage points. No pristine holdout or company validation. These are not RL scores.</a:t>
            </a:r>
          </a:p>
          <a:p xmlns:a="http://schemas.openxmlformats.org/drawingml/2006/main">
            <a:r>
              <a:t/>
            </a:r>
          </a:p>
          <a:p xmlns:a="http://schemas.openxmlformats.org/drawingml/2006/main">
            <a:r>
              <a:t>SOURCES</a:t>
            </a:r>
          </a:p>
          <a:p xmlns:a="http://schemas.openxmlformats.org/drawingml/2006/main">
            <a:r>
              <a:t>Separate external exploratory UCI rolling-origin study: eight retrospective folds, previously exposed periods. data/forecast-rolling-report.v1.json.</a:t>
            </a:r>
          </a:p>
          <a:p xmlns:a="http://schemas.openxmlformats.org/drawingml/2006/main">
            <a:r>
              <a:t>Chen, D. (2012). Online Retail II [Dataset]. UCI. DOI 10.24432/C5CG6D. CC BY 4.0. https://archive.ics.uci.edu/dataset/502/online+retail+ii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original UCI daily test, 11 November–8 December 2011. Mean28 MAE 6.974 and WAPE 103.41%. Weekly naive MAE 7.727 and ridge MAE 7.607. Ridge loses. Different targets and periods prevent a before/after accuracy claim. No stockout calibration or company validation.</a:t>
            </a:r>
          </a:p>
          <a:p xmlns:a="http://schemas.openxmlformats.org/drawingml/2006/main">
            <a:r>
              <a:t/>
            </a:r>
          </a:p>
          <a:p xmlns:a="http://schemas.openxmlformats.org/drawingml/2006/main">
            <a:r>
              <a:t>SOURCES</a:t>
            </a:r>
          </a:p>
          <a:p xmlns:a="http://schemas.openxmlformats.org/drawingml/2006/main">
            <a:r>
              <a:t>Separate original external UCI test, 11 Nov–8 Dec 2011. benchmark-report.v1.json and frozen-split.v1.json.</a:t>
            </a:r>
          </a:p>
          <a:p xmlns:a="http://schemas.openxmlformats.org/drawingml/2006/main">
            <a:r>
              <a:t>Chen, D. (2012). Online Retail II [Dataset]. UCI. DOI 10.24432/C5CG6D. CC BY 4.0. https://archive.ics.uci.edu/dataset/502/online+retail+ii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Other likely questions: operating data are authored synthetic records, with public retail context. The compact ODE/SDE model and scalar PINN have no validated company physical fidelity. All new experiments are read-only. Kimi is strategic vendor context only. Updates are actual dated rolling fits, with no live company feed or background training scheduler. The existing LLM explains selected-case facts only and does not consume these new plans. All policy comparisons use the same public observations, feasible masks and declared objective, but training and online compute budgets are disclosed separately.</a:t>
            </a:r>
          </a:p>
          <a:p xmlns:a="http://schemas.openxmlformats.org/drawingml/2006/main">
            <a:r>
              <a:t/>
            </a:r>
          </a:p>
          <a:p xmlns:a="http://schemas.openxmlformats.org/drawingml/2006/main">
            <a:r>
              <a:t>SOURCES</a:t>
            </a:r>
          </a:p>
          <a:p xmlns:a="http://schemas.openxmlformats.org/drawingml/2006/main">
            <a:r>
              <a:t>Verified real-event pack, events.json, as of 10 October 2026. Retailer exposure and delay are explicit hypothetical assumptions.</a:t>
            </a:r>
          </a:p>
          <a:p xmlns:a="http://schemas.openxmlformats.org/drawingml/2006/main">
            <a:r>
              <a:t>Runnable synthetic dynamics: docs/portable-contract.md; dynamics-heldout-evaluation.json; dynamics-demo-output.json; dynamics-thermal-pinn-v1.json. Frozen manifest 7ed2364dbe1788750bc09dc59496c4a3fd82e815c85e953c5da737009b8f8014.</a:t>
            </a:r>
          </a:p>
          <a:p xmlns:a="http://schemas.openxmlformats.org/drawingml/2006/main">
            <a:r>
              <a:t>Frozen corrected study: retail-heldout-protocol2-evaluation.json, retail-protocol2-summary.csv and evaluation-findings.md. Prespecified controller and fresh 96-seed block 400000–400095. Primary seed41 fixed before training. Manifest 09b37d3ff020d3b2122fe2b3263cadcf57cb2425008d37abe7cf5c116b1a5476.</a:t>
            </a:r>
          </a:p>
          <a:p xmlns:a="http://schemas.openxmlformats.org/drawingml/2006/main">
            <a:r>
              <a:t>Independent learning adoption audit, 10 October 2026: 29 focused checks, complete primary 20,000-episode reproduction and 1,440 evaluation rows reconciled. Implementation/reproducibility evidence, not business validity.</a:t>
            </a:r>
          </a:p>
          <a:p xmlns:a="http://schemas.openxmlformats.org/drawingml/2006/main">
            <a:r>
              <a:t>Hosted v77 product, published 10 October 2026. https://dormathon-risk-private-20261007.liuyz8715.chatgpt.site/workbench.html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appear below and on relevant slides. Site v77 source: 529f4cb3ecb5e9d0d26f99eb5ed681770d9d5aa8. The prior v76 MET comparison with 68 no-change unmet units, a zero-shortage static package and a 1.3-hour gap belongs to a different model. Its 161.016947 versus 273.972951 two-decision costs are also not new RL results. The older 40-unit / MYR496 / MYR61.6 example uses another legacy assumption. Keep the v76 package as an independent fallback. Owner timing: ready 19:00 and review 20:00 MYT on 10 October; submission 09:00 on 11 October.</a:t>
            </a:r>
          </a:p>
          <a:p xmlns:a="http://schemas.openxmlformats.org/drawingml/2006/main">
            <a:r>
              <a:t/>
            </a:r>
          </a:p>
          <a:p xmlns:a="http://schemas.openxmlformats.org/drawingml/2006/main">
            <a:r>
              <a:t>SOURCES</a:t>
            </a:r>
          </a:p>
          <a:p xmlns:a="http://schemas.openxmlformats.org/drawingml/2006/main">
            <a:r>
              <a:t>EIA October 2026 Short-Term Energy Outlook, published 6 October, forecast completed 1 October, checked 10 October 08:23:27 UTC. Partial Hormuz flows and ongoing route constraints. https://www.eia.gov/outlooks/steo/report/global_oil.php . May historical closure: https://www.eia.gov/outlooks/steo/archives/may26.pdf . July update: https://www.eia.gov/pressroom/releases/press590.php</a:t>
            </a:r>
          </a:p>
          <a:p xmlns:a="http://schemas.openxmlformats.org/drawingml/2006/main">
            <a:r>
              <a:t>Verified real-event pack, events.json, as of 10 October 2026. Retailer exposure and delay are explicit hypothetical assumptions.</a:t>
            </a:r>
          </a:p>
          <a:p xmlns:a="http://schemas.openxmlformats.org/drawingml/2006/main">
            <a:r>
              <a:t>Runnable synthetic dynamics: docs/portable-contract.md; dynamics-heldout-evaluation.json; dynamics-demo-output.json; dynamics-thermal-pinn-v1.json. Frozen manifest 7ed2364dbe1788750bc09dc59496c4a3fd82e815c85e953c5da737009b8f8014.</a:t>
            </a:r>
          </a:p>
          <a:p xmlns:a="http://schemas.openxmlformats.org/drawingml/2006/main">
            <a:r>
              <a:t>Frozen corrected study: retail-heldout-protocol2-evaluation.json, retail-protocol2-summary.csv and evaluation-findings.md. Prespecified controller and fresh 96-seed block 400000–400095. Primary seed41 fixed before training. Manifest 09b37d3ff020d3b2122fe2b3263cadcf57cb2425008d37abe7cf5c116b1a5476.</a:t>
            </a:r>
          </a:p>
          <a:p xmlns:a="http://schemas.openxmlformats.org/drawingml/2006/main">
            <a:r>
              <a:t>Independent learning adoption audit, 10 October 2026: 29 focused checks, complete primary 20,000-episode reproduction and 1,440 evaluation rows reconciled. Implementation/reproducibility evidence, not business validity.</a:t>
            </a:r>
          </a:p>
          <a:p xmlns:a="http://schemas.openxmlformats.org/drawingml/2006/main">
            <a:r>
              <a:t>Chen, D. (2012). Online Retail II [Dataset]. UCI. DOI 10.24432/C5CG6D. CC BY 4.0. https://archive.ics.uci.edu/dataset/502/online+retail+ii</a:t>
            </a:r>
          </a:p>
          <a:p xmlns:a="http://schemas.openxmlformats.org/drawingml/2006/main">
            <a:r>
              <a:t>https://mrdiy.listedcompany.com/misc/ar/MRDIY_AR2025.pdf</a:t>
            </a:r>
          </a:p>
          <a:p xmlns:a="http://schemas.openxmlformats.org/drawingml/2006/main">
            <a:r>
              <a:t>https://corporate.mrdiy.com/misc/sustainability/MRDIY-Sustainability_Report_2025.pdf</a:t>
            </a:r>
          </a:p>
          <a:p xmlns:a="http://schemas.openxmlformats.org/drawingml/2006/main">
            <a:r>
              <a:t>Hosted v77 product, published 10 October 2026. https://dormathon-risk-private-20261007.liuyz8715.chatgpt.site/workbench.html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actual v77 screen. The current source describes partial flows and constraints. Delay is not source-derived.</a:t>
            </a:r>
          </a:p>
          <a:p xmlns:a="http://schemas.openxmlformats.org/drawingml/2006/main">
            <a:r>
              <a:t/>
            </a:r>
          </a:p>
          <a:p xmlns:a="http://schemas.openxmlformats.org/drawingml/2006/main">
            <a:r>
              <a:t>SOURCES</a:t>
            </a:r>
          </a:p>
          <a:p xmlns:a="http://schemas.openxmlformats.org/drawingml/2006/main">
            <a:r>
              <a:t>Hosted v77 product, published 10 October 2026. https://dormathon-risk-private-20261007.liuyz8715.chatgpt.site/workbench.html</a:t>
            </a:r>
          </a:p>
          <a:p xmlns:a="http://schemas.openxmlformats.org/drawingml/2006/main">
            <a:r>
              <a:t>Verified real-event pack, events.json, as of 10 October 2026. Retailer exposure and delay are explicit hypothetical assumptions.</a:t>
            </a:r>
          </a:p>
          <a:p xmlns:a="http://schemas.openxmlformats.org/drawingml/2006/main">
            <a:r>
              <a:t>Runnable synthetic dynamics: docs/portable-contract.md; dynamics-heldout-evaluation.json; dynamics-demo-output.json; dynamics-thermal-pinn-v1.json. Frozen manifest 7ed2364dbe1788750bc09dc59496c4a3fd82e815c85e953c5da737009b8f8014.</a:t>
            </a:r>
          </a:p>
          <a:p xmlns:a="http://schemas.openxmlformats.org/drawingml/2006/main">
            <a:r>
              <a:t>Frozen corrected study: retail-heldout-protocol2-evaluation.json, retail-protocol2-summary.csv and evaluation-findings.md. Prespecified controller and fresh 96-seed block 400000–400095. Primary seed41 fixed before training. Manifest 09b37d3ff020d3b2122fe2b3263cadcf57cb2425008d37abe7cf5c116b1a5476.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actual v77 screen. Initial Q run has 4 learned choices and 3 fallbacks; it is not the 96-seed heldout mean.</a:t>
            </a:r>
          </a:p>
          <a:p xmlns:a="http://schemas.openxmlformats.org/drawingml/2006/main">
            <a:r>
              <a:t/>
            </a:r>
          </a:p>
          <a:p xmlns:a="http://schemas.openxmlformats.org/drawingml/2006/main">
            <a:r>
              <a:t>SOURCES</a:t>
            </a:r>
          </a:p>
          <a:p xmlns:a="http://schemas.openxmlformats.org/drawingml/2006/main">
            <a:r>
              <a:t>Hosted v77 product, published 10 October 2026. https://dormathon-risk-private-20261007.liuyz8715.chatgpt.site/workbench.html</a:t>
            </a:r>
          </a:p>
          <a:p xmlns:a="http://schemas.openxmlformats.org/drawingml/2006/main">
            <a:r>
              <a:t>Verified real-event pack, events.json, as of 10 October 2026. Retailer exposure and delay are explicit hypothetical assumptions.</a:t>
            </a:r>
          </a:p>
          <a:p xmlns:a="http://schemas.openxmlformats.org/drawingml/2006/main">
            <a:r>
              <a:t>Runnable synthetic dynamics: docs/portable-contract.md; dynamics-heldout-evaluation.json; dynamics-demo-output.json; dynamics-thermal-pinn-v1.json. Frozen manifest 7ed2364dbe1788750bc09dc59496c4a3fd82e815c85e953c5da737009b8f8014.</a:t>
            </a:r>
          </a:p>
          <a:p xmlns:a="http://schemas.openxmlformats.org/drawingml/2006/main">
            <a:r>
              <a:t>Frozen corrected study: retail-heldout-protocol2-evaluation.json, retail-protocol2-summary.csv and evaluation-findings.md. Prespecified controller and fresh 96-seed block 400000–400095. Primary seed41 fixed before training. Manifest 09b37d3ff020d3b2122fe2b3263cadcf57cb2425008d37abe7cf5c116b1a5476.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actual v77 screen. calibrated-2026-09-27-c 68b 80cc replaces the shipped 26 Sep model. Existing runs are invalidated, not rewritten.</a:t>
            </a:r>
          </a:p>
          <a:p xmlns:a="http://schemas.openxmlformats.org/drawingml/2006/main">
            <a:r>
              <a:t/>
            </a:r>
          </a:p>
          <a:p xmlns:a="http://schemas.openxmlformats.org/drawingml/2006/main">
            <a:r>
              <a:t>SOURCES</a:t>
            </a:r>
          </a:p>
          <a:p xmlns:a="http://schemas.openxmlformats.org/drawingml/2006/main">
            <a:r>
              <a:t>Hosted v77 product, published 10 October 2026. https://dormathon-risk-private-20261007.liuyz8715.chatgpt.site/workbench.html</a:t>
            </a:r>
          </a:p>
          <a:p xmlns:a="http://schemas.openxmlformats.org/drawingml/2006/main">
            <a:r>
              <a:t>Verified real-event pack, events.json, as of 10 October 2026. Retailer exposure and delay are explicit hypothetical assumptions.</a:t>
            </a:r>
          </a:p>
          <a:p xmlns:a="http://schemas.openxmlformats.org/drawingml/2006/main">
            <a:r>
              <a:t>Runnable synthetic dynamics: docs/portable-contract.md; dynamics-heldout-evaluation.json; dynamics-demo-output.json; dynamics-thermal-pinn-v1.json. Frozen manifest 7ed2364dbe1788750bc09dc59496c4a3fd82e815c85e953c5da737009b8f8014.</a:t>
            </a:r>
          </a:p>
          <a:p xmlns:a="http://schemas.openxmlformats.org/drawingml/2006/main">
            <a:r>
              <a:t>Frozen corrected study: retail-heldout-protocol2-evaluation.json, retail-protocol2-summary.csv and evaluation-findings.md. Prespecified controller and fresh 96-seed block 400000–400095. Primary seed41 fixed before training. Manifest 09b37d3ff020d3b2122fe2b3263cadcf57cb2425008d37abe7cf5c116b1a5476.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actual v77 screen. Refitted MCTS run has 13.561 unmet units and MYR 103 new commitments. Do not mix with initial Q row.</a:t>
            </a:r>
          </a:p>
          <a:p xmlns:a="http://schemas.openxmlformats.org/drawingml/2006/main">
            <a:r>
              <a:t/>
            </a:r>
          </a:p>
          <a:p xmlns:a="http://schemas.openxmlformats.org/drawingml/2006/main">
            <a:r>
              <a:t>SOURCES</a:t>
            </a:r>
          </a:p>
          <a:p xmlns:a="http://schemas.openxmlformats.org/drawingml/2006/main">
            <a:r>
              <a:t>Hosted v77 product, published 10 October 2026. https://dormathon-risk-private-20261007.liuyz8715.chatgpt.site/workbench.html</a:t>
            </a:r>
          </a:p>
          <a:p xmlns:a="http://schemas.openxmlformats.org/drawingml/2006/main">
            <a:r>
              <a:t>Verified real-event pack, events.json, as of 10 October 2026. Retailer exposure and delay are explicit hypothetical assumptions.</a:t>
            </a:r>
          </a:p>
          <a:p xmlns:a="http://schemas.openxmlformats.org/drawingml/2006/main">
            <a:r>
              <a:t>Runnable synthetic dynamics: docs/portable-contract.md; dynamics-heldout-evaluation.json; dynamics-demo-output.json; dynamics-thermal-pinn-v1.json. Frozen manifest 7ed2364dbe1788750bc09dc59496c4a3fd82e815c85e953c5da737009b8f8014.</a:t>
            </a:r>
          </a:p>
          <a:p xmlns:a="http://schemas.openxmlformats.org/drawingml/2006/main">
            <a:r>
              <a:t>Frozen corrected study: retail-heldout-protocol2-evaluation.json, retail-protocol2-summary.csv and evaluation-findings.md. Prespecified controller and fresh 96-seed block 400000–400095. Primary seed41 fixed before training. Manifest 09b37d3ff020d3b2122fe2b3263cadcf57cb2425008d37abe7cf5c116b1a5476.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0dee63a9474e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33f533550e94c7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8b5a497dbdd47a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a9552517db147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2ed9fe7a522468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910202de74a4df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2CE1FD-320A-4329-B4DE-0BCCC33B061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2D20609-A381-4FAB-B080-61497BBCE71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F3E5E29-CDD7-48EE-BB6E-AE390CA472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6D0BC3-B5F1-4B51-BFFA-4B477BD7DC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43B69A-1B1E-4202-BBA7-183A9BAADF3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1029B0A-A5EB-4142-B829-F0BCD6BE67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8E4A59-E530-4467-93B5-35DD061CAA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69F80A9-BBF1-4A46-86F7-31ECBDACFCC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9B24B7-724A-46FB-927A-D6CDC56EE6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037F0D-DCA0-4A13-9C20-A0F4D85DA76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106b19635246a9" /><Relationship Type="http://schemas.openxmlformats.org/officeDocument/2006/relationships/slideLayout" Target="/ppt/slideLayouts/slideLayout1.xml" Id="Rdaaf4828cebe4792" /><Relationship Type="http://schemas.openxmlformats.org/officeDocument/2006/relationships/slideLayout" Target="/ppt/slideLayouts/slideLayout2.xml" Id="Rd9db0ab1c4d44b20" /><Relationship Type="http://schemas.openxmlformats.org/officeDocument/2006/relationships/slideLayout" Target="/ppt/slideLayouts/slideLayout3.xml" Id="Rabae8819df8e4363" /><Relationship Type="http://schemas.openxmlformats.org/officeDocument/2006/relationships/slideLayout" Target="/ppt/slideLayouts/slideLayout4.xml" Id="R5c53af9125cd441a" /><Relationship Type="http://schemas.openxmlformats.org/officeDocument/2006/relationships/slideLayout" Target="/ppt/slideLayouts/slideLayout5.xml" Id="R734064bf56574db7" /><Relationship Type="http://schemas.openxmlformats.org/officeDocument/2006/relationships/slideLayout" Target="/ppt/slideLayouts/slideLayout6.xml" Id="R64b448d0af3a4e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af4828cebe4792"/>
    <p:sldLayoutId xmlns:r="http://schemas.openxmlformats.org/officeDocument/2006/relationships" id="2147483650" r:id="Rd9db0ab1c4d44b20"/>
    <p:sldLayoutId xmlns:r="http://schemas.openxmlformats.org/officeDocument/2006/relationships" id="2147483651" r:id="Rabae8819df8e4363"/>
    <p:sldLayoutId xmlns:r="http://schemas.openxmlformats.org/officeDocument/2006/relationships" id="2147483652" r:id="R5c53af9125cd441a"/>
    <p:sldLayoutId xmlns:r="http://schemas.openxmlformats.org/officeDocument/2006/relationships" id="2147483653" r:id="R734064bf56574db7"/>
    <p:sldLayoutId xmlns:r="http://schemas.openxmlformats.org/officeDocument/2006/relationships" id="2147483654" r:id="R64b448d0af3a4e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2f6313b65f34768" /><Relationship Type="http://schemas.openxmlformats.org/officeDocument/2006/relationships/notesSlide" Target="/ppt/notesSlides/notesSlide1.xml" Id="R476a120e3db946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044f2ae08fd43c9" /><Relationship Type="http://schemas.openxmlformats.org/officeDocument/2006/relationships/image" Target="/ppt/media/image.jpeg" Id="R0ae0fcf5c92741a0" /><Relationship Type="http://schemas.openxmlformats.org/officeDocument/2006/relationships/notesSlide" Target="/ppt/notesSlides/notesSlide2.xml" Id="Re578415b5dfd49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228ed2f05094671" /><Relationship Type="http://schemas.openxmlformats.org/officeDocument/2006/relationships/image" Target="/ppt/media/image2.jpeg" Id="Rd2c108c7c2b14d1a" /><Relationship Type="http://schemas.openxmlformats.org/officeDocument/2006/relationships/notesSlide" Target="/ppt/notesSlides/notesSlide3.xml" Id="Re96038337a764d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f70f060b020442c" /><Relationship Type="http://schemas.openxmlformats.org/officeDocument/2006/relationships/image" Target="/ppt/media/image3.jpeg" Id="R26dfe9ca2592430a" /><Relationship Type="http://schemas.openxmlformats.org/officeDocument/2006/relationships/notesSlide" Target="/ppt/notesSlides/notesSlide4.xml" Id="Rb95bb521e6da40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f193a3c76384dbd" /><Relationship Type="http://schemas.openxmlformats.org/officeDocument/2006/relationships/image" Target="/ppt/media/image4.jpeg" Id="R6a8e37a564664e2a" /><Relationship Type="http://schemas.openxmlformats.org/officeDocument/2006/relationships/notesSlide" Target="/ppt/notesSlides/notesSlide5.xml" Id="R3ef9a0b274114e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3a7454054264e24" /><Relationship Type="http://schemas.openxmlformats.org/officeDocument/2006/relationships/notesSlide" Target="/ppt/notesSlides/notesSlide6.xml" Id="Rb83cfde623c44c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d65a1343d384682" /><Relationship Type="http://schemas.openxmlformats.org/officeDocument/2006/relationships/notesSlide" Target="/ppt/notesSlides/notesSlide7.xml" Id="Rd4d38897876841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37ddb40ecfe44f6" /><Relationship Type="http://schemas.openxmlformats.org/officeDocument/2006/relationships/notesSlide" Target="/ppt/notesSlides/notesSlide8.xml" Id="R53f9e08041d84ca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d58f8af396a4fae" /><Relationship Type="http://schemas.openxmlformats.org/officeDocument/2006/relationships/chart" Target="/ppt/slides/charts/chart1.xml" Id="R99e521aa203d48a1" /><Relationship Type="http://schemas.openxmlformats.org/officeDocument/2006/relationships/notesSlide" Target="/ppt/notesSlides/notesSlide9.xml" Id="R49ea9763691f42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f0b25e69a1d49ba" /><Relationship Type="http://schemas.openxmlformats.org/officeDocument/2006/relationships/notesSlide" Target="/ppt/notesSlides/notesSlide10.xml" Id="R3aea6c9abd6b40e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b1b13d3011b48b1" /><Relationship Type="http://schemas.openxmlformats.org/officeDocument/2006/relationships/chart" Target="/ppt/slides/charts/chart2.xml" Id="Rffbd7f9536d74e1d" /><Relationship Type="http://schemas.openxmlformats.org/officeDocument/2006/relationships/notesSlide" Target="/ppt/notesSlides/notesSlide11.xml" Id="R986c07772407484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9d176ceb0f24f87" /><Relationship Type="http://schemas.openxmlformats.org/officeDocument/2006/relationships/notesSlide" Target="/ppt/notesSlides/notesSlide12.xml" Id="Re746360288fb4dc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ac6aaca425d4108" /><Relationship Type="http://schemas.openxmlformats.org/officeDocument/2006/relationships/chart" Target="/ppt/slides/charts/chart3.xml" Id="R0186ac2161ef47e1" /><Relationship Type="http://schemas.openxmlformats.org/officeDocument/2006/relationships/notesSlide" Target="/ppt/notesSlides/notesSlide13.xml" Id="R84c62e1ad69841a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30807be2c2e45d4" /><Relationship Type="http://schemas.openxmlformats.org/officeDocument/2006/relationships/chart" Target="/ppt/slides/charts/chart4.xml" Id="R17630afea5f24f65" /><Relationship Type="http://schemas.openxmlformats.org/officeDocument/2006/relationships/notesSlide" Target="/ppt/notesSlides/notesSlide14.xml" Id="Ra43d7f3341f344b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87df4e07ba14375" /><Relationship Type="http://schemas.openxmlformats.org/officeDocument/2006/relationships/notesSlide" Target="/ppt/notesSlides/notesSlide15.xml" Id="R1b66115e7d5c45f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f5b009701e44948" /><Relationship Type="http://schemas.openxmlformats.org/officeDocument/2006/relationships/notesSlide" Target="/ppt/notesSlides/notesSlide16.xml" Id="Ra056ea5b491946a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dedc06e9ccb4c0d" /><Relationship Type="http://schemas.openxmlformats.org/officeDocument/2006/relationships/image" Target="/ppt/media/image5.jpeg" Id="R3541dbc91a8c4837" /><Relationship Type="http://schemas.openxmlformats.org/officeDocument/2006/relationships/notesSlide" Target="/ppt/notesSlides/notesSlide17.xml" Id="R2514f93137e3488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2d4170712a14de0" /><Relationship Type="http://schemas.openxmlformats.org/officeDocument/2006/relationships/image" Target="/ppt/media/image6.jpeg" Id="R920aa714cf1c4f9d" /><Relationship Type="http://schemas.openxmlformats.org/officeDocument/2006/relationships/notesSlide" Target="/ppt/notesSlides/notesSlide18.xml" Id="R4a2a2a78101247f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da9d67ef02749a4" /><Relationship Type="http://schemas.openxmlformats.org/officeDocument/2006/relationships/image" Target="/ppt/media/image7.jpeg" Id="Rbcab1b980c0c49a6" /><Relationship Type="http://schemas.openxmlformats.org/officeDocument/2006/relationships/notesSlide" Target="/ppt/notesSlides/notesSlide19.xml" Id="R6464c7cfd11049e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01a6f0f228c4e59" /><Relationship Type="http://schemas.openxmlformats.org/officeDocument/2006/relationships/image" Target="/ppt/media/image8.jpeg" Id="Rba37626cc3ad489c" /><Relationship Type="http://schemas.openxmlformats.org/officeDocument/2006/relationships/notesSlide" Target="/ppt/notesSlides/notesSlide20.xml" Id="Rf923fbf760b84d20" /></Relationships>
</file>

<file path=ppt/slides/charts/_rels/chart1.xml.rels><Relationships xmlns="http://schemas.openxmlformats.org/package/2006/relationships"><Relationship Id="rIdChartSnapshot1" Type="http://schemas.openxmlformats.org/officeDocument/2006/relationships/package" Target="../../embeddings/chart-data-snapshot-002.xlsx"/></Relationships>
</file>

<file path=ppt/slides/charts/_rels/chart2.xml.rels><Relationships xmlns="http://schemas.openxmlformats.org/package/2006/relationships"><Relationship Id="rIdChartSnapshot1" Type="http://schemas.openxmlformats.org/officeDocument/2006/relationships/package" Target="../../embeddings/chart-data-snapshot-003.xlsx"/></Relationships>
</file>

<file path=ppt/slides/charts/_rels/chart3.xml.rels><Relationships xmlns="http://schemas.openxmlformats.org/package/2006/relationships"><Relationship Id="rIdChartSnapshot1" Type="http://schemas.openxmlformats.org/officeDocument/2006/relationships/package" Target="../../embeddings/chart-data-snapshot-001.xlsx"/></Relationships>
</file>

<file path=ppt/slides/charts/_rels/chart4.xml.rels><Relationships xmlns="http://schemas.openxmlformats.org/package/2006/relationships"><Relationship Id="rIdChartSnapshot1" Type="http://schemas.openxmlformats.org/officeDocument/2006/relationships/package" Target="../../embeddings/original-benchmark-source.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Value</c:v>
          </c:tx>
          <c:spPr>
            <a:solidFill xmlns:a="http://schemas.openxmlformats.org/drawingml/2006/main">
              <a:srgbClr val="969691"/>
            </a:solidFill>
          </c:spPr>
          <c:dPt>
            <c:idx val="0"/>
            <c:invertIfNegative val="0"/>
            <c:spPr>
              <a:solidFill xmlns:a="http://schemas.openxmlformats.org/drawingml/2006/main">
                <a:srgbClr val="121212"/>
              </a:solidFill>
            </c:spPr>
          </c:dPt>
          <c:cat>
            <c:strRef>
              <c:f>'Chart Data'!$A$2:$A$4</c:f>
              <c:strCache>
                <c:ptCount val="3"/>
                <c:pt idx="0">
                  <c:v>26 Sep model</c:v>
                </c:pt>
                <c:pt idx="1">
                  <c:v>25 Sep model</c:v>
                </c:pt>
                <c:pt idx="2">
                  <c:v>3 Aug model</c:v>
                </c:pt>
              </c:strCache>
            </c:strRef>
          </c:cat>
          <c:val>
            <c:numRef>
              <c:f>'Chart Data'!$B$2:$B$4</c:f>
              <c:numCache>
                <c:formatCode>0</c:formatCode>
                <c:ptCount val="3"/>
                <c:pt idx="0">
                  <c:v>1.69</c:v>
                </c:pt>
                <c:pt idx="1">
                  <c:v>1.843</c:v>
                </c:pt>
                <c:pt idx="2">
                  <c:v>7.134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75">
                  <a:solidFill>
                    <a:srgbClr val="121212"/>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majorGridlines>
          <c:spPr>
            <a:ln xmlns:a="http://schemas.openxmlformats.org/drawingml/2006/main" w="4763">
              <a:solidFill>
                <a:srgbClr val="C6C6C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26262"/>
                </a:solidFill>
                <a:latin typeface="Liberation Sans"/>
                <a:ea typeface="Liberation Sans"/>
                <a:cs typeface="Liberation Sans"/>
              </a:defRPr>
            </a:pPr>
          </a:p>
        </c:txPr>
        <c:crossAx val="48672768"/>
      </c:catAx>
      <c:valAx>
        <c:axId val="48672768"/>
        <c:scaling>
          <c:orientation val="minMax"/>
          <c:max val="8"/>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21212"/>
                </a:solidFill>
                <a:latin typeface="Liberation Sans"/>
                <a:ea typeface="Liberation Sans"/>
                <a:cs typeface="Liberation Sans"/>
              </a:defRPr>
            </a:pPr>
          </a:p>
        </c:txPr>
        <c:crossAx val="48650112"/>
        <c:crossBetween val="between"/>
        <c:majorUnit val="2"/>
      </c:valAx>
      <c:spPr>
        <a:solidFill xmlns:a="http://schemas.openxmlformats.org/drawingml/2006/main">
          <a:srgbClr val="F5F5F1"/>
        </a:solidFill>
      </c:spPr>
    </c:plotArea>
    <c:plotVisOnly val="1"/>
  </c:chart>
  <c:spPr>
    <a:solidFill xmlns:a="http://schemas.openxmlformats.org/drawingml/2006/main">
      <a:srgbClr val="F5F5F1"/>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Value</c:v>
          </c:tx>
          <c:spPr>
            <a:solidFill xmlns:a="http://schemas.openxmlformats.org/drawingml/2006/main">
              <a:srgbClr val="969691"/>
            </a:solidFill>
          </c:spPr>
          <c:dPt>
            <c:idx val="3"/>
            <c:invertIfNegative val="0"/>
            <c:spPr>
              <a:solidFill xmlns:a="http://schemas.openxmlformats.org/drawingml/2006/main">
                <a:srgbClr val="121212"/>
              </a:solidFill>
            </c:spPr>
          </c:dPt>
          <c:cat>
            <c:strRef>
              <c:f>'Chart Data'!$A$2:$A$5</c:f>
              <c:strCache>
                <c:ptCount val="4"/>
                <c:pt idx="0">
                  <c:v>MCTS 128</c:v>
                </c:pt>
                <c:pt idx="1">
                  <c:v>MCTS 32</c:v>
                </c:pt>
                <c:pt idx="2">
                  <c:v>Primary Q</c:v>
                </c:pt>
                <c:pt idx="3">
                  <c:v>Controller</c:v>
                </c:pt>
              </c:strCache>
            </c:strRef>
          </c:cat>
          <c:val>
            <c:numRef>
              <c:f>'Chart Data'!$B$2:$B$5</c:f>
              <c:numCache>
                <c:formatCode>0</c:formatCode>
                <c:ptCount val="4"/>
                <c:pt idx="0">
                  <c:v>304.803442</c:v>
                </c:pt>
                <c:pt idx="1">
                  <c:v>317.67924</c:v>
                </c:pt>
                <c:pt idx="2">
                  <c:v>271.243845</c:v>
                </c:pt>
                <c:pt idx="3">
                  <c:v>266.649687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solidFill>
                    <a:srgbClr val="121212"/>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majorGridlines>
          <c:spPr>
            <a:ln xmlns:a="http://schemas.openxmlformats.org/drawingml/2006/main" w="4763">
              <a:solidFill>
                <a:srgbClr val="C6C6C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26262"/>
                </a:solidFill>
                <a:latin typeface="Liberation Sans"/>
                <a:ea typeface="Liberation Sans"/>
                <a:cs typeface="Liberation Sans"/>
              </a:defRPr>
            </a:pPr>
          </a:p>
        </c:txPr>
        <c:crossAx val="48672768"/>
      </c:catAx>
      <c:valAx>
        <c:axId val="48672768"/>
        <c:scaling>
          <c:orientation val="minMax"/>
          <c:max val="40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21212"/>
                </a:solidFill>
                <a:latin typeface="Liberation Sans"/>
                <a:ea typeface="Liberation Sans"/>
                <a:cs typeface="Liberation Sans"/>
              </a:defRPr>
            </a:pPr>
          </a:p>
        </c:txPr>
        <c:crossAx val="48650112"/>
        <c:crossBetween val="between"/>
        <c:majorUnit val="100"/>
      </c:valAx>
      <c:spPr>
        <a:solidFill xmlns:a="http://schemas.openxmlformats.org/drawingml/2006/main">
          <a:srgbClr val="F5F5F1"/>
        </a:solidFill>
      </c:spPr>
    </c:plotArea>
    <c:plotVisOnly val="1"/>
  </c:chart>
  <c:spPr>
    <a:solidFill xmlns:a="http://schemas.openxmlformats.org/drawingml/2006/main">
      <a:srgbClr val="F5F5F1"/>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Weekly WAPE percent</c:v>
          </c:tx>
          <c:spPr>
            <a:solidFill xmlns:a="http://schemas.openxmlformats.org/drawingml/2006/main">
              <a:srgbClr val="969691"/>
            </a:solidFill>
          </c:spPr>
          <c:dPt>
            <c:idx val="1"/>
            <c:invertIfNegative val="0"/>
            <c:spPr>
              <a:solidFill xmlns:a="http://schemas.openxmlformats.org/drawingml/2006/main">
                <a:srgbClr val="121212"/>
              </a:solidFill>
            </c:spPr>
          </c:dPt>
          <c:cat>
            <c:strRef>
              <c:f>'Chart Data'!$A$2:$A$3</c:f>
              <c:strCache>
                <c:ptCount val="2"/>
                <c:pt idx="0">
                  <c:v>28-day mean</c:v>
                </c:pt>
                <c:pt idx="1">
                  <c:v>Past-validation selector</c:v>
                </c:pt>
              </c:strCache>
            </c:strRef>
          </c:cat>
          <c:val>
            <c:numRef>
              <c:f>'Chart Data'!$B$2:$B$3</c:f>
              <c:numCache>
                <c:formatCode>0</c:formatCode>
                <c:ptCount val="2"/>
                <c:pt idx="0">
                  <c:v>77.21</c:v>
                </c:pt>
                <c:pt idx="1">
                  <c:v>69.73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solidFill>
                    <a:srgbClr val="121212"/>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majorGridlines>
          <c:spPr>
            <a:ln xmlns:a="http://schemas.openxmlformats.org/drawingml/2006/main" w="4763">
              <a:solidFill>
                <a:srgbClr val="C6C6C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26262"/>
                </a:solidFill>
                <a:latin typeface="Liberation Sans"/>
                <a:ea typeface="Liberation Sans"/>
                <a:cs typeface="Liberation Sans"/>
              </a:defRPr>
            </a:pPr>
          </a:p>
        </c:txPr>
        <c:crossAx val="48672768"/>
      </c:catAx>
      <c:valAx>
        <c:axId val="48672768"/>
        <c:scaling>
          <c:orientation val="minMax"/>
          <c:max val="10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21212"/>
                </a:solidFill>
                <a:latin typeface="Liberation Sans"/>
                <a:ea typeface="Liberation Sans"/>
                <a:cs typeface="Liberation Sans"/>
              </a:defRPr>
            </a:pPr>
          </a:p>
        </c:txPr>
        <c:crossAx val="48650112"/>
        <c:crossBetween val="between"/>
        <c:majorUnit val="25"/>
      </c:valAx>
      <c:spPr>
        <a:solidFill xmlns:a="http://schemas.openxmlformats.org/drawingml/2006/main">
          <a:srgbClr val="F5F5F1"/>
        </a:solidFill>
      </c:spPr>
    </c:plotArea>
    <c:plotVisOnly val="1"/>
  </c:chart>
  <c:spPr>
    <a:solidFill xmlns:a="http://schemas.openxmlformats.org/drawingml/2006/main">
      <a:srgbClr val="F5F5F1"/>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Test MAE</c:v>
          </c:tx>
          <c:spPr>
            <a:solidFill xmlns:a="http://schemas.openxmlformats.org/drawingml/2006/main">
              <a:srgbClr val="969691"/>
            </a:solidFill>
          </c:spPr>
          <c:dPt>
            <c:idx val="1"/>
            <c:invertIfNegative val="0"/>
            <c:spPr>
              <a:solidFill xmlns:a="http://schemas.openxmlformats.org/drawingml/2006/main">
                <a:srgbClr val="121212"/>
              </a:solidFill>
            </c:spPr>
          </c:dPt>
          <c:cat>
            <c:strRef>
              <c:f>'Chart Data'!$A$2:$A$4</c:f>
              <c:strCache>
                <c:ptCount val="3"/>
                <c:pt idx="0">
                  <c:v>Weekly naive</c:v>
                </c:pt>
                <c:pt idx="1">
                  <c:v>28-day mean</c:v>
                </c:pt>
                <c:pt idx="2">
                  <c:v>Direct ridge</c:v>
                </c:pt>
              </c:strCache>
            </c:strRef>
          </c:cat>
          <c:val>
            <c:numRef>
              <c:f>'Chart Data'!$B$2:$B$4</c:f>
              <c:numCache>
                <c:formatCode>0.0</c:formatCode>
                <c:ptCount val="3"/>
                <c:pt idx="0">
                  <c:v>7.727</c:v>
                </c:pt>
                <c:pt idx="1">
                  <c:v>6.974</c:v>
                </c:pt>
                <c:pt idx="2">
                  <c:v>7.607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75">
                  <a:solidFill>
                    <a:srgbClr val="121212"/>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majorGridlines>
          <c:spPr>
            <a:ln xmlns:a="http://schemas.openxmlformats.org/drawingml/2006/main" w="4763">
              <a:solidFill>
                <a:srgbClr val="C6C6C2"/>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26262"/>
                </a:solidFill>
                <a:latin typeface="Liberation Sans"/>
                <a:ea typeface="Liberation Sans"/>
                <a:cs typeface="Liberation Sans"/>
              </a:defRPr>
            </a:pPr>
          </a:p>
        </c:txPr>
        <c:crossAx val="48672768"/>
      </c:catAx>
      <c:valAx>
        <c:axId val="48672768"/>
        <c:scaling>
          <c:orientation val="minMax"/>
          <c:max val="9"/>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21212"/>
                </a:solidFill>
                <a:latin typeface="Liberation Sans"/>
                <a:ea typeface="Liberation Sans"/>
                <a:cs typeface="Liberation Sans"/>
              </a:defRPr>
            </a:pPr>
          </a:p>
        </c:txPr>
        <c:crossAx val="48650112"/>
        <c:crossBetween val="between"/>
        <c:majorUnit val="3"/>
      </c:valAx>
      <c:spPr>
        <a:solidFill xmlns:a="http://schemas.openxmlformats.org/drawingml/2006/main">
          <a:srgbClr val="F5F5F1"/>
        </a:solidFill>
      </c:spPr>
    </c:plotArea>
    <c:plotVisOnly val="1"/>
  </c:chart>
  <c:spPr>
    <a:solidFill xmlns:a="http://schemas.openxmlformats.org/drawingml/2006/main">
      <a:srgbClr val="F5F5F1"/>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1212"/>
        </a:solidFill>
      </p:bgPr>
    </p:bg>
    <p:spTree>
      <p:nvGrpSpPr>
        <p:cNvPr id="1" name=""/>
        <p:cNvGrpSpPr/>
        <p:nvPr/>
      </p:nvGrpSpPr>
      <p:grpSpPr>
        <a:xfrm xmlns:a="http://schemas.openxmlformats.org/drawingml/2006/main"/>
      </p:grpSpPr>
      <p:sp>
        <p:nvSpPr>
          <p:cNvPr id="29" name="01">
            <a:extLst xmlns:a="http://schemas.openxmlformats.org/drawingml/2006/main">
              <a:ext uri="{FF2B5EF4-FFF2-40B4-BE49-F238E27FC236}">
                <a16:creationId xmlns:a16="http://schemas.microsoft.com/office/drawing/2014/main" id="{3A79BB62-BBC3-4B24-AC61-7D37D27A6824}"/>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AAAAA4"/>
                </a:solidFill>
                <a:latin typeface="Liberation Sans"/>
                <a:ea typeface="Liberation Sans"/>
                <a:cs typeface="Liberation Sans"/>
              </a:defRPr>
            </a:defPPr>
          </a:lstStyle>
          <a:p xmlns:a="http://schemas.openxmlformats.org/drawingml/2006/main">
            <a:pPr algn="r">
              <a:buNone/>
              <a:defRPr sz="975" b="0">
                <a:solidFill>
                  <a:srgbClr val="AAAAA4"/>
                </a:solidFill>
                <a:latin typeface="Liberation Sans"/>
                <a:ea typeface="Liberation Sans"/>
                <a:cs typeface="Liberation Sans"/>
              </a:defRPr>
            </a:pPr>
            <a:r>
              <a:rPr sz="975" b="0">
                <a:solidFill>
                  <a:srgbClr val="AAAAA4"/>
                </a:solidFill>
                <a:latin typeface="Liberation Sans"/>
                <a:ea typeface="Liberation Sans"/>
                <a:cs typeface="Liberation Sans"/>
              </a:rPr>
              <a:t>01</a:t>
            </a:r>
          </a:p>
        </p:txBody>
      </p:sp>
      <p:sp>
        <p:nvSpPr>
          <p:cNvPr id="2" name="Track 1 Predictive Model Track   /   Taote">
            <a:extLst xmlns:a="http://schemas.openxmlformats.org/drawingml/2006/main">
              <a:ext uri="{FF2B5EF4-FFF2-40B4-BE49-F238E27FC236}">
                <a16:creationId xmlns:a16="http://schemas.microsoft.com/office/drawing/2014/main" id="{8B81FB6E-73BA-4B56-8D51-B9C7CEEB7FED}"/>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5BD"/>
                </a:solidFill>
                <a:latin typeface="Liberation Sans"/>
                <a:ea typeface="Liberation Sans"/>
                <a:cs typeface="Liberation Sans"/>
              </a:defRPr>
            </a:defPPr>
          </a:lstStyle>
          <a:p xmlns:a="http://schemas.openxmlformats.org/drawingml/2006/main">
            <a:pPr algn="l">
              <a:buNone/>
              <a:defRPr sz="1050" b="0">
                <a:solidFill>
                  <a:srgbClr val="C5C5BD"/>
                </a:solidFill>
                <a:latin typeface="Liberation Sans"/>
                <a:ea typeface="Liberation Sans"/>
                <a:cs typeface="Liberation Sans"/>
              </a:defRPr>
            </a:pPr>
            <a:r>
              <a:rPr sz="1050" b="0">
                <a:solidFill>
                  <a:srgbClr val="C5C5BD"/>
                </a:solidFill>
                <a:latin typeface="Liberation Sans"/>
                <a:ea typeface="Liberation Sans"/>
                <a:cs typeface="Liberation Sans"/>
              </a:rPr>
              <a:t>Track 1 Predictive Model Track   /   Taotern   /   10 October 2026</a:t>
            </a:r>
          </a:p>
        </p:txBody>
      </p:sp>
      <p:sp>
        <p:nvSpPr>
          <p:cNvPr id="3" name="Dormathon">
            <a:extLst xmlns:a="http://schemas.openxmlformats.org/drawingml/2006/main">
              <a:ext uri="{FF2B5EF4-FFF2-40B4-BE49-F238E27FC236}">
                <a16:creationId xmlns:a16="http://schemas.microsoft.com/office/drawing/2014/main" id="{46E4DAA0-9491-475B-BB2F-6B648ED4E8DC}"/>
              </a:ext>
            </a:extLst>
          </p:cNvPr>
          <p:cNvSpPr>
            <a:spLocks xmlns:a="http://schemas.openxmlformats.org/drawingml/2006/main" noGrp="1"/>
          </p:cNvSpPr>
          <p:nvPr/>
        </p:nvSpPr>
        <p:spPr>
          <a:xfrm xmlns:a="http://schemas.openxmlformats.org/drawingml/2006/main">
            <a:off x="609600" y="1333500"/>
            <a:ext cx="7477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FFFFFF"/>
                </a:solidFill>
                <a:latin typeface="Liberation Sans"/>
                <a:ea typeface="Liberation Sans"/>
                <a:cs typeface="Liberation Sans"/>
              </a:defRPr>
            </a:defPPr>
          </a:lstStyle>
          <a:p xmlns:a="http://schemas.openxmlformats.org/drawingml/2006/main">
            <a:pPr algn="l">
              <a:buNone/>
              <a:defRPr sz="6300" b="1">
                <a:solidFill>
                  <a:srgbClr val="FFFFFF"/>
                </a:solidFill>
                <a:latin typeface="Liberation Sans"/>
                <a:ea typeface="Liberation Sans"/>
                <a:cs typeface="Liberation Sans"/>
              </a:defRPr>
            </a:pPr>
            <a:r>
              <a:rPr sz="6300" b="1">
                <a:solidFill>
                  <a:srgbClr val="FFFFFF"/>
                </a:solidFill>
                <a:latin typeface="Liberation Sans"/>
                <a:ea typeface="Liberation Sans"/>
                <a:cs typeface="Liberation Sans"/>
              </a:rPr>
              <a:t>Dormathon</a:t>
            </a:r>
          </a:p>
        </p:txBody>
      </p:sp>
      <p:sp>
        <p:nvSpPr>
          <p:cNvPr id="4" name="Retail decisions&#10;with evidence">
            <a:extLst xmlns:a="http://schemas.openxmlformats.org/drawingml/2006/main">
              <a:ext uri="{FF2B5EF4-FFF2-40B4-BE49-F238E27FC236}">
                <a16:creationId xmlns:a16="http://schemas.microsoft.com/office/drawing/2014/main" id="{11166B7A-CA7C-482C-B677-BD08D962A775}"/>
              </a:ext>
            </a:extLst>
          </p:cNvPr>
          <p:cNvSpPr>
            <a:spLocks xmlns:a="http://schemas.openxmlformats.org/drawingml/2006/main" noGrp="1"/>
          </p:cNvSpPr>
          <p:nvPr/>
        </p:nvSpPr>
        <p:spPr>
          <a:xfrm xmlns:a="http://schemas.openxmlformats.org/drawingml/2006/main">
            <a:off x="647700" y="2647950"/>
            <a:ext cx="6858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FFFFFF"/>
                </a:solidFill>
                <a:latin typeface="Liberation Sans"/>
                <a:ea typeface="Liberation Sans"/>
                <a:cs typeface="Liberation Sans"/>
              </a:defRPr>
            </a:defPPr>
          </a:lstStyle>
          <a:p xmlns:a="http://schemas.openxmlformats.org/drawingml/2006/main">
            <a:pPr algn="l">
              <a:buNone/>
              <a:defRPr sz="3600" b="0">
                <a:solidFill>
                  <a:srgbClr val="FFFFFF"/>
                </a:solidFill>
                <a:latin typeface="Liberation Sans"/>
                <a:ea typeface="Liberation Sans"/>
                <a:cs typeface="Liberation Sans"/>
              </a:defRPr>
            </a:pPr>
            <a:r>
              <a:rPr sz="3600" b="0">
                <a:solidFill>
                  <a:srgbClr val="FFFFFF"/>
                </a:solidFill>
                <a:latin typeface="Liberation Sans"/>
                <a:ea typeface="Liberation Sans"/>
                <a:cs typeface="Liberation Sans"/>
              </a:rPr>
              <a:t>Retail decisions</a:t>
            </a:r>
          </a:p>
          <a:p xmlns:a="http://schemas.openxmlformats.org/drawingml/2006/main">
            <a:pPr algn="l">
              <a:buNone/>
              <a:defRPr sz="3600" b="0">
                <a:solidFill>
                  <a:srgbClr val="FFFFFF"/>
                </a:solidFill>
                <a:latin typeface="Liberation Sans"/>
                <a:ea typeface="Liberation Sans"/>
                <a:cs typeface="Liberation Sans"/>
              </a:defRPr>
            </a:pPr>
            <a:r>
              <a:rPr sz="3600" b="0">
                <a:solidFill>
                  <a:srgbClr val="FFFFFF"/>
                </a:solidFill>
                <a:latin typeface="Liberation Sans"/>
                <a:ea typeface="Liberation Sans"/>
                <a:cs typeface="Liberation Sans"/>
              </a:rPr>
              <a:t>with evidence</a:t>
            </a:r>
          </a:p>
        </p:txBody>
      </p:sp>
      <p:sp>
        <p:nvSpPr>
          <p:cNvPr id="5" name="An operations workspace for connected exce">
            <a:extLst xmlns:a="http://schemas.openxmlformats.org/drawingml/2006/main">
              <a:ext uri="{FF2B5EF4-FFF2-40B4-BE49-F238E27FC236}">
                <a16:creationId xmlns:a16="http://schemas.microsoft.com/office/drawing/2014/main" id="{764664CE-3989-48D4-A205-4E610876E2CB}"/>
              </a:ext>
            </a:extLst>
          </p:cNvPr>
          <p:cNvSpPr>
            <a:spLocks xmlns:a="http://schemas.openxmlformats.org/drawingml/2006/main" noGrp="1"/>
          </p:cNvSpPr>
          <p:nvPr/>
        </p:nvSpPr>
        <p:spPr>
          <a:xfrm xmlns:a="http://schemas.openxmlformats.org/drawingml/2006/main">
            <a:off x="647700" y="4686300"/>
            <a:ext cx="604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C3C3BD"/>
                </a:solidFill>
                <a:latin typeface="Liberation Sans"/>
                <a:ea typeface="Liberation Sans"/>
                <a:cs typeface="Liberation Sans"/>
              </a:defRPr>
            </a:defPPr>
          </a:lstStyle>
          <a:p xmlns:a="http://schemas.openxmlformats.org/drawingml/2006/main">
            <a:pPr algn="l">
              <a:buNone/>
              <a:defRPr sz="1950" b="0">
                <a:solidFill>
                  <a:srgbClr val="C3C3BD"/>
                </a:solidFill>
                <a:latin typeface="Liberation Sans"/>
                <a:ea typeface="Liberation Sans"/>
                <a:cs typeface="Liberation Sans"/>
              </a:defRPr>
            </a:pPr>
            <a:r>
              <a:rPr sz="1950" b="0">
                <a:solidFill>
                  <a:srgbClr val="C3C3BD"/>
                </a:solidFill>
                <a:latin typeface="Liberation Sans"/>
                <a:ea typeface="Liberation Sans"/>
                <a:cs typeface="Liberation Sans"/>
              </a:rPr>
              <a:t>An operations workspace for connected exceptions</a:t>
            </a:r>
          </a:p>
        </p:txBody>
      </p:sp>
      <p:sp>
        <p:nvSpPr>
          <p:cNvPr id="6" name="">
            <a:extLst xmlns:a="http://schemas.openxmlformats.org/drawingml/2006/main">
              <a:ext uri="{FF2B5EF4-FFF2-40B4-BE49-F238E27FC236}">
                <a16:creationId xmlns:a16="http://schemas.microsoft.com/office/drawing/2014/main" id="{220B3E89-C66F-4CC9-ACF3-2B2EFB94D11C}"/>
              </a:ext>
            </a:extLst>
          </p:cNvPr>
          <p:cNvSpPr>
            <a:spLocks xmlns:a="http://schemas.openxmlformats.org/drawingml/2006/main" noGrp="1"/>
          </p:cNvSpPr>
          <p:nvPr/>
        </p:nvSpPr>
        <p:spPr>
          <a:xfrm xmlns:a="http://schemas.openxmlformats.org/drawingml/2006/main">
            <a:off x="8420100" y="1485900"/>
            <a:ext cx="2638425" cy="542925"/>
          </a:xfrm>
          <a:custGeom xmlns:a="http://schemas.openxmlformats.org/drawingml/2006/main">
            <a:pathLst>
              <a:path w="2638425" h="542925">
                <a:moveTo>
                  <a:pt x="0" y="0"/>
                </a:moveTo>
                <a:lnTo>
                  <a:pt x="1876425" y="0"/>
                </a:lnTo>
                <a:lnTo>
                  <a:pt x="2638425" y="542925"/>
                </a:lnTo>
                <a:lnTo>
                  <a:pt x="762000" y="542925"/>
                </a:lnTo>
                <a:close/>
              </a:path>
            </a:pathLst>
          </a:custGeom>
          <a:solidFill xmlns:a="http://schemas.openxmlformats.org/drawingml/2006/main">
            <a:srgbClr val="202020"/>
          </a:solidFill>
          <a:ln xmlns:a="http://schemas.openxmlformats.org/drawingml/2006/main" w="9525">
            <a:solidFill>
              <a:srgbClr val="C9C9C2"/>
            </a:solidFill>
            <a:prstDash val="solid"/>
          </a:ln>
        </p:spPr>
      </p:sp>
      <p:sp>
        <p:nvSpPr>
          <p:cNvPr id="7" name="">
            <a:extLst xmlns:a="http://schemas.openxmlformats.org/drawingml/2006/main">
              <a:ext uri="{FF2B5EF4-FFF2-40B4-BE49-F238E27FC236}">
                <a16:creationId xmlns:a16="http://schemas.microsoft.com/office/drawing/2014/main" id="{E92647DE-E3F3-4DD1-82B2-71EDF0D50E7D}"/>
              </a:ext>
            </a:extLst>
          </p:cNvPr>
          <p:cNvSpPr>
            <a:spLocks xmlns:a="http://schemas.openxmlformats.org/drawingml/2006/main" noGrp="1"/>
          </p:cNvSpPr>
          <p:nvPr/>
        </p:nvSpPr>
        <p:spPr>
          <a:xfrm xmlns:a="http://schemas.openxmlformats.org/drawingml/2006/main">
            <a:off x="8420100" y="1733550"/>
            <a:ext cx="2638425" cy="542925"/>
          </a:xfrm>
          <a:custGeom xmlns:a="http://schemas.openxmlformats.org/drawingml/2006/main">
            <a:pathLst>
              <a:path w="2638425" h="542925">
                <a:moveTo>
                  <a:pt x="0" y="0"/>
                </a:moveTo>
                <a:lnTo>
                  <a:pt x="1876425" y="0"/>
                </a:lnTo>
                <a:lnTo>
                  <a:pt x="2638425" y="542925"/>
                </a:lnTo>
                <a:lnTo>
                  <a:pt x="762000" y="542925"/>
                </a:lnTo>
                <a:close/>
              </a:path>
            </a:pathLst>
          </a:custGeom>
          <a:noFill xmlns:a="http://schemas.openxmlformats.org/drawingml/2006/main"/>
          <a:ln xmlns:a="http://schemas.openxmlformats.org/drawingml/2006/main" w="9525">
            <a:solidFill>
              <a:srgbClr val="60605B"/>
            </a:solidFill>
            <a:prstDash val="solid"/>
          </a:ln>
        </p:spPr>
      </p:sp>
      <p:sp>
        <p:nvSpPr>
          <p:cNvPr id="8" name="">
            <a:extLst xmlns:a="http://schemas.openxmlformats.org/drawingml/2006/main">
              <a:ext uri="{FF2B5EF4-FFF2-40B4-BE49-F238E27FC236}">
                <a16:creationId xmlns:a16="http://schemas.microsoft.com/office/drawing/2014/main" id="{EB5CA794-C090-4704-8B91-AFCF2DEDFB4E}"/>
              </a:ext>
            </a:extLst>
          </p:cNvPr>
          <p:cNvSpPr>
            <a:spLocks xmlns:a="http://schemas.openxmlformats.org/drawingml/2006/main" noGrp="1"/>
          </p:cNvSpPr>
          <p:nvPr/>
        </p:nvSpPr>
        <p:spPr>
          <a:xfrm xmlns:a="http://schemas.openxmlformats.org/drawingml/2006/main">
            <a:off x="8039100" y="2638425"/>
            <a:ext cx="2638425" cy="542925"/>
          </a:xfrm>
          <a:custGeom xmlns:a="http://schemas.openxmlformats.org/drawingml/2006/main">
            <a:pathLst>
              <a:path w="2638425" h="542925">
                <a:moveTo>
                  <a:pt x="0" y="0"/>
                </a:moveTo>
                <a:lnTo>
                  <a:pt x="1876425" y="0"/>
                </a:lnTo>
                <a:lnTo>
                  <a:pt x="2638425" y="542925"/>
                </a:lnTo>
                <a:lnTo>
                  <a:pt x="762000" y="542925"/>
                </a:lnTo>
                <a:close/>
              </a:path>
            </a:pathLst>
          </a:custGeom>
          <a:solidFill xmlns:a="http://schemas.openxmlformats.org/drawingml/2006/main">
            <a:srgbClr val="E8E8E1"/>
          </a:solidFill>
          <a:ln xmlns:a="http://schemas.openxmlformats.org/drawingml/2006/main" w="9525">
            <a:solidFill>
              <a:srgbClr val="E8E8E1"/>
            </a:solidFill>
            <a:prstDash val="solid"/>
          </a:ln>
        </p:spPr>
      </p:sp>
      <p:sp>
        <p:nvSpPr>
          <p:cNvPr id="9" name="">
            <a:extLst xmlns:a="http://schemas.openxmlformats.org/drawingml/2006/main">
              <a:ext uri="{FF2B5EF4-FFF2-40B4-BE49-F238E27FC236}">
                <a16:creationId xmlns:a16="http://schemas.microsoft.com/office/drawing/2014/main" id="{B33D7AF1-18D1-454D-B494-EE06D958E52B}"/>
              </a:ext>
            </a:extLst>
          </p:cNvPr>
          <p:cNvSpPr>
            <a:spLocks xmlns:a="http://schemas.openxmlformats.org/drawingml/2006/main" noGrp="1"/>
          </p:cNvSpPr>
          <p:nvPr/>
        </p:nvSpPr>
        <p:spPr>
          <a:xfrm xmlns:a="http://schemas.openxmlformats.org/drawingml/2006/main">
            <a:off x="8801100" y="3181350"/>
            <a:ext cx="1876425" cy="457200"/>
          </a:xfrm>
          <a:custGeom xmlns:a="http://schemas.openxmlformats.org/drawingml/2006/main">
            <a:pathLst>
              <a:path w="1876425" h="457200">
                <a:moveTo>
                  <a:pt x="0" y="0"/>
                </a:moveTo>
                <a:lnTo>
                  <a:pt x="1876425" y="0"/>
                </a:lnTo>
                <a:lnTo>
                  <a:pt x="1876425" y="457200"/>
                </a:lnTo>
                <a:lnTo>
                  <a:pt x="0" y="457200"/>
                </a:lnTo>
                <a:close/>
              </a:path>
            </a:pathLst>
          </a:custGeom>
          <a:solidFill xmlns:a="http://schemas.openxmlformats.org/drawingml/2006/main">
            <a:srgbClr val="85857F"/>
          </a:solidFill>
          <a:ln xmlns:a="http://schemas.openxmlformats.org/drawingml/2006/main" w="9525">
            <a:solidFill>
              <a:srgbClr val="C9C9C2"/>
            </a:solidFill>
            <a:prstDash val="solid"/>
          </a:ln>
        </p:spPr>
      </p:sp>
      <p:sp>
        <p:nvSpPr>
          <p:cNvPr id="10" name="">
            <a:extLst xmlns:a="http://schemas.openxmlformats.org/drawingml/2006/main">
              <a:ext uri="{FF2B5EF4-FFF2-40B4-BE49-F238E27FC236}">
                <a16:creationId xmlns:a16="http://schemas.microsoft.com/office/drawing/2014/main" id="{60C09C90-1194-4081-97D2-24C4EE86B270}"/>
              </a:ext>
            </a:extLst>
          </p:cNvPr>
          <p:cNvSpPr>
            <a:spLocks xmlns:a="http://schemas.openxmlformats.org/drawingml/2006/main" noGrp="1"/>
          </p:cNvSpPr>
          <p:nvPr/>
        </p:nvSpPr>
        <p:spPr>
          <a:xfrm xmlns:a="http://schemas.openxmlformats.org/drawingml/2006/main">
            <a:off x="8039100" y="2638425"/>
            <a:ext cx="762000" cy="1000125"/>
          </a:xfrm>
          <a:custGeom xmlns:a="http://schemas.openxmlformats.org/drawingml/2006/main">
            <a:pathLst>
              <a:path w="762000" h="1000125">
                <a:moveTo>
                  <a:pt x="0" y="0"/>
                </a:moveTo>
                <a:lnTo>
                  <a:pt x="762000" y="542925"/>
                </a:lnTo>
                <a:lnTo>
                  <a:pt x="762000" y="1000125"/>
                </a:lnTo>
                <a:lnTo>
                  <a:pt x="0" y="457200"/>
                </a:lnTo>
                <a:close/>
              </a:path>
            </a:pathLst>
          </a:custGeom>
          <a:solidFill xmlns:a="http://schemas.openxmlformats.org/drawingml/2006/main">
            <a:srgbClr val="BDBDB5"/>
          </a:solidFill>
          <a:ln xmlns:a="http://schemas.openxmlformats.org/drawingml/2006/main" w="9525">
            <a:solidFill>
              <a:srgbClr val="C9C9C2"/>
            </a:solidFill>
            <a:prstDash val="solid"/>
          </a:ln>
        </p:spPr>
      </p:sp>
      <p:sp>
        <p:nvSpPr>
          <p:cNvPr id="11" name="">
            <a:extLst xmlns:a="http://schemas.openxmlformats.org/drawingml/2006/main">
              <a:ext uri="{FF2B5EF4-FFF2-40B4-BE49-F238E27FC236}">
                <a16:creationId xmlns:a16="http://schemas.microsoft.com/office/drawing/2014/main" id="{F85E8ECF-7F11-45FC-8101-8B0F3FF7E3BE}"/>
              </a:ext>
            </a:extLst>
          </p:cNvPr>
          <p:cNvSpPr>
            <a:spLocks xmlns:a="http://schemas.openxmlformats.org/drawingml/2006/main" noGrp="1"/>
          </p:cNvSpPr>
          <p:nvPr/>
        </p:nvSpPr>
        <p:spPr>
          <a:xfrm xmlns:a="http://schemas.openxmlformats.org/drawingml/2006/main">
            <a:off x="8420100" y="4391025"/>
            <a:ext cx="2638425" cy="542925"/>
          </a:xfrm>
          <a:custGeom xmlns:a="http://schemas.openxmlformats.org/drawingml/2006/main">
            <a:pathLst>
              <a:path w="2638425" h="542925">
                <a:moveTo>
                  <a:pt x="0" y="0"/>
                </a:moveTo>
                <a:lnTo>
                  <a:pt x="1876425" y="0"/>
                </a:lnTo>
                <a:lnTo>
                  <a:pt x="2638425" y="542925"/>
                </a:lnTo>
                <a:lnTo>
                  <a:pt x="762000" y="542925"/>
                </a:lnTo>
                <a:close/>
              </a:path>
            </a:pathLst>
          </a:custGeom>
          <a:noFill xmlns:a="http://schemas.openxmlformats.org/drawingml/2006/main"/>
          <a:ln xmlns:a="http://schemas.openxmlformats.org/drawingml/2006/main" w="13335">
            <a:solidFill>
              <a:srgbClr val="ABABA3"/>
            </a:solidFill>
            <a:prstDash val="solid"/>
          </a:ln>
        </p:spPr>
      </p:sp>
      <p:sp>
        <p:nvSpPr>
          <p:cNvPr id="12" name="">
            <a:extLst xmlns:a="http://schemas.openxmlformats.org/drawingml/2006/main">
              <a:ext uri="{FF2B5EF4-FFF2-40B4-BE49-F238E27FC236}">
                <a16:creationId xmlns:a16="http://schemas.microsoft.com/office/drawing/2014/main" id="{F61D75BC-2AD7-4373-A7BA-3185CB31A754}"/>
              </a:ext>
            </a:extLst>
          </p:cNvPr>
          <p:cNvSpPr>
            <a:spLocks xmlns:a="http://schemas.openxmlformats.org/drawingml/2006/main" noGrp="1"/>
          </p:cNvSpPr>
          <p:nvPr/>
        </p:nvSpPr>
        <p:spPr>
          <a:xfrm xmlns:a="http://schemas.openxmlformats.org/drawingml/2006/main">
            <a:off x="8591550"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13" name="">
            <a:extLst xmlns:a="http://schemas.openxmlformats.org/drawingml/2006/main">
              <a:ext uri="{FF2B5EF4-FFF2-40B4-BE49-F238E27FC236}">
                <a16:creationId xmlns:a16="http://schemas.microsoft.com/office/drawing/2014/main" id="{5ACB3750-E864-4C87-92AD-C2AB2EDBE3F2}"/>
              </a:ext>
            </a:extLst>
          </p:cNvPr>
          <p:cNvSpPr>
            <a:spLocks xmlns:a="http://schemas.openxmlformats.org/drawingml/2006/main" noGrp="1"/>
          </p:cNvSpPr>
          <p:nvPr/>
        </p:nvSpPr>
        <p:spPr>
          <a:xfrm xmlns:a="http://schemas.openxmlformats.org/drawingml/2006/main">
            <a:off x="84296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14" name="">
            <a:extLst xmlns:a="http://schemas.openxmlformats.org/drawingml/2006/main">
              <a:ext uri="{FF2B5EF4-FFF2-40B4-BE49-F238E27FC236}">
                <a16:creationId xmlns:a16="http://schemas.microsoft.com/office/drawing/2014/main" id="{4C6E0397-ACD0-4079-9D57-0A6FFA78ED9A}"/>
              </a:ext>
            </a:extLst>
          </p:cNvPr>
          <p:cNvSpPr>
            <a:spLocks xmlns:a="http://schemas.openxmlformats.org/drawingml/2006/main" noGrp="1"/>
          </p:cNvSpPr>
          <p:nvPr/>
        </p:nvSpPr>
        <p:spPr>
          <a:xfrm xmlns:a="http://schemas.openxmlformats.org/drawingml/2006/main">
            <a:off x="8810625"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15" name="">
            <a:extLst xmlns:a="http://schemas.openxmlformats.org/drawingml/2006/main">
              <a:ext uri="{FF2B5EF4-FFF2-40B4-BE49-F238E27FC236}">
                <a16:creationId xmlns:a16="http://schemas.microsoft.com/office/drawing/2014/main" id="{8BAA0A7A-E434-46DF-8DCC-00FA6AC661EE}"/>
              </a:ext>
            </a:extLst>
          </p:cNvPr>
          <p:cNvSpPr>
            <a:spLocks xmlns:a="http://schemas.openxmlformats.org/drawingml/2006/main" noGrp="1"/>
          </p:cNvSpPr>
          <p:nvPr/>
        </p:nvSpPr>
        <p:spPr>
          <a:xfrm xmlns:a="http://schemas.openxmlformats.org/drawingml/2006/main">
            <a:off x="86963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16" name="">
            <a:extLst xmlns:a="http://schemas.openxmlformats.org/drawingml/2006/main">
              <a:ext uri="{FF2B5EF4-FFF2-40B4-BE49-F238E27FC236}">
                <a16:creationId xmlns:a16="http://schemas.microsoft.com/office/drawing/2014/main" id="{70AA3B38-20E0-469C-B2FC-8760170B89CD}"/>
              </a:ext>
            </a:extLst>
          </p:cNvPr>
          <p:cNvSpPr>
            <a:spLocks xmlns:a="http://schemas.openxmlformats.org/drawingml/2006/main" noGrp="1"/>
          </p:cNvSpPr>
          <p:nvPr/>
        </p:nvSpPr>
        <p:spPr>
          <a:xfrm xmlns:a="http://schemas.openxmlformats.org/drawingml/2006/main">
            <a:off x="9029700"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17" name="">
            <a:extLst xmlns:a="http://schemas.openxmlformats.org/drawingml/2006/main">
              <a:ext uri="{FF2B5EF4-FFF2-40B4-BE49-F238E27FC236}">
                <a16:creationId xmlns:a16="http://schemas.microsoft.com/office/drawing/2014/main" id="{ED9A02ED-3D6E-46EE-861E-924832115E98}"/>
              </a:ext>
            </a:extLst>
          </p:cNvPr>
          <p:cNvSpPr>
            <a:spLocks xmlns:a="http://schemas.openxmlformats.org/drawingml/2006/main" noGrp="1"/>
          </p:cNvSpPr>
          <p:nvPr/>
        </p:nvSpPr>
        <p:spPr>
          <a:xfrm xmlns:a="http://schemas.openxmlformats.org/drawingml/2006/main">
            <a:off x="89630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18" name="">
            <a:extLst xmlns:a="http://schemas.openxmlformats.org/drawingml/2006/main">
              <a:ext uri="{FF2B5EF4-FFF2-40B4-BE49-F238E27FC236}">
                <a16:creationId xmlns:a16="http://schemas.microsoft.com/office/drawing/2014/main" id="{16CB14C3-7EC9-4CF0-8611-4E22A2220CFA}"/>
              </a:ext>
            </a:extLst>
          </p:cNvPr>
          <p:cNvSpPr>
            <a:spLocks xmlns:a="http://schemas.openxmlformats.org/drawingml/2006/main" noGrp="1"/>
          </p:cNvSpPr>
          <p:nvPr/>
        </p:nvSpPr>
        <p:spPr>
          <a:xfrm xmlns:a="http://schemas.openxmlformats.org/drawingml/2006/main">
            <a:off x="9248775"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19" name="">
            <a:extLst xmlns:a="http://schemas.openxmlformats.org/drawingml/2006/main">
              <a:ext uri="{FF2B5EF4-FFF2-40B4-BE49-F238E27FC236}">
                <a16:creationId xmlns:a16="http://schemas.microsoft.com/office/drawing/2014/main" id="{EBEB06F4-65FD-42CB-B3B1-D27143782F8B}"/>
              </a:ext>
            </a:extLst>
          </p:cNvPr>
          <p:cNvSpPr>
            <a:spLocks xmlns:a="http://schemas.openxmlformats.org/drawingml/2006/main" noGrp="1"/>
          </p:cNvSpPr>
          <p:nvPr/>
        </p:nvSpPr>
        <p:spPr>
          <a:xfrm xmlns:a="http://schemas.openxmlformats.org/drawingml/2006/main">
            <a:off x="92297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20" name="">
            <a:extLst xmlns:a="http://schemas.openxmlformats.org/drawingml/2006/main">
              <a:ext uri="{FF2B5EF4-FFF2-40B4-BE49-F238E27FC236}">
                <a16:creationId xmlns:a16="http://schemas.microsoft.com/office/drawing/2014/main" id="{4DAA6DD0-F646-4542-A895-2B1E023BDC62}"/>
              </a:ext>
            </a:extLst>
          </p:cNvPr>
          <p:cNvSpPr>
            <a:spLocks xmlns:a="http://schemas.openxmlformats.org/drawingml/2006/main" noGrp="1"/>
          </p:cNvSpPr>
          <p:nvPr/>
        </p:nvSpPr>
        <p:spPr>
          <a:xfrm xmlns:a="http://schemas.openxmlformats.org/drawingml/2006/main">
            <a:off x="9467850"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21" name="">
            <a:extLst xmlns:a="http://schemas.openxmlformats.org/drawingml/2006/main">
              <a:ext uri="{FF2B5EF4-FFF2-40B4-BE49-F238E27FC236}">
                <a16:creationId xmlns:a16="http://schemas.microsoft.com/office/drawing/2014/main" id="{28375F9B-2299-4FF4-AD20-C9E2B2DE564B}"/>
              </a:ext>
            </a:extLst>
          </p:cNvPr>
          <p:cNvSpPr>
            <a:spLocks xmlns:a="http://schemas.openxmlformats.org/drawingml/2006/main" noGrp="1"/>
          </p:cNvSpPr>
          <p:nvPr/>
        </p:nvSpPr>
        <p:spPr>
          <a:xfrm xmlns:a="http://schemas.openxmlformats.org/drawingml/2006/main">
            <a:off x="94964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22" name="">
            <a:extLst xmlns:a="http://schemas.openxmlformats.org/drawingml/2006/main">
              <a:ext uri="{FF2B5EF4-FFF2-40B4-BE49-F238E27FC236}">
                <a16:creationId xmlns:a16="http://schemas.microsoft.com/office/drawing/2014/main" id="{7052D4DA-4C67-4A34-8958-5B9E42FAA3B4}"/>
              </a:ext>
            </a:extLst>
          </p:cNvPr>
          <p:cNvSpPr>
            <a:spLocks xmlns:a="http://schemas.openxmlformats.org/drawingml/2006/main" noGrp="1"/>
          </p:cNvSpPr>
          <p:nvPr/>
        </p:nvSpPr>
        <p:spPr>
          <a:xfrm xmlns:a="http://schemas.openxmlformats.org/drawingml/2006/main">
            <a:off x="9686925"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23" name="">
            <a:extLst xmlns:a="http://schemas.openxmlformats.org/drawingml/2006/main">
              <a:ext uri="{FF2B5EF4-FFF2-40B4-BE49-F238E27FC236}">
                <a16:creationId xmlns:a16="http://schemas.microsoft.com/office/drawing/2014/main" id="{6E5A6E78-D448-4D7C-8AC6-CBD3646A21CA}"/>
              </a:ext>
            </a:extLst>
          </p:cNvPr>
          <p:cNvSpPr>
            <a:spLocks xmlns:a="http://schemas.openxmlformats.org/drawingml/2006/main" noGrp="1"/>
          </p:cNvSpPr>
          <p:nvPr/>
        </p:nvSpPr>
        <p:spPr>
          <a:xfrm xmlns:a="http://schemas.openxmlformats.org/drawingml/2006/main">
            <a:off x="97631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24" name="">
            <a:extLst xmlns:a="http://schemas.openxmlformats.org/drawingml/2006/main">
              <a:ext uri="{FF2B5EF4-FFF2-40B4-BE49-F238E27FC236}">
                <a16:creationId xmlns:a16="http://schemas.microsoft.com/office/drawing/2014/main" id="{8E4562FF-8191-4EF4-A645-D8908C4F4759}"/>
              </a:ext>
            </a:extLst>
          </p:cNvPr>
          <p:cNvSpPr>
            <a:spLocks xmlns:a="http://schemas.openxmlformats.org/drawingml/2006/main" noGrp="1"/>
          </p:cNvSpPr>
          <p:nvPr/>
        </p:nvSpPr>
        <p:spPr>
          <a:xfrm xmlns:a="http://schemas.openxmlformats.org/drawingml/2006/main">
            <a:off x="9906000" y="1609725"/>
            <a:ext cx="762000" cy="542925"/>
          </a:xfrm>
          <a:prstGeom xmlns:a="http://schemas.openxmlformats.org/drawingml/2006/main" prst="line">
            <a:avLst/>
          </a:prstGeom>
          <a:noFill xmlns:a="http://schemas.openxmlformats.org/drawingml/2006/main"/>
          <a:ln xmlns:a="http://schemas.openxmlformats.org/drawingml/2006/main" w="7620">
            <a:solidFill>
              <a:srgbClr val="555550"/>
            </a:solidFill>
            <a:prstDash val="solid"/>
          </a:ln>
        </p:spPr>
      </p:sp>
      <p:sp>
        <p:nvSpPr>
          <p:cNvPr id="25" name="">
            <a:extLst xmlns:a="http://schemas.openxmlformats.org/drawingml/2006/main">
              <a:ext uri="{FF2B5EF4-FFF2-40B4-BE49-F238E27FC236}">
                <a16:creationId xmlns:a16="http://schemas.microsoft.com/office/drawing/2014/main" id="{84044223-5A67-478D-B11D-23291B4E0AAB}"/>
              </a:ext>
            </a:extLst>
          </p:cNvPr>
          <p:cNvSpPr>
            <a:spLocks xmlns:a="http://schemas.openxmlformats.org/drawingml/2006/main" noGrp="1"/>
          </p:cNvSpPr>
          <p:nvPr/>
        </p:nvSpPr>
        <p:spPr>
          <a:xfrm xmlns:a="http://schemas.openxmlformats.org/drawingml/2006/main">
            <a:off x="10029825" y="4400550"/>
            <a:ext cx="762000" cy="542925"/>
          </a:xfrm>
          <a:prstGeom xmlns:a="http://schemas.openxmlformats.org/drawingml/2006/main" prst="line">
            <a:avLst/>
          </a:prstGeom>
          <a:noFill xmlns:a="http://schemas.openxmlformats.org/drawingml/2006/main"/>
          <a:ln xmlns:a="http://schemas.openxmlformats.org/drawingml/2006/main" w="6668">
            <a:solidFill>
              <a:srgbClr val="50504B"/>
            </a:solidFill>
            <a:prstDash val="solid"/>
          </a:ln>
        </p:spPr>
      </p:sp>
      <p:sp>
        <p:nvSpPr>
          <p:cNvPr id="26" name="">
            <a:extLst xmlns:a="http://schemas.openxmlformats.org/drawingml/2006/main">
              <a:ext uri="{FF2B5EF4-FFF2-40B4-BE49-F238E27FC236}">
                <a16:creationId xmlns:a16="http://schemas.microsoft.com/office/drawing/2014/main" id="{7ECB6B7E-E1E0-4582-A468-DCDDD698AFBD}"/>
              </a:ext>
            </a:extLst>
          </p:cNvPr>
          <p:cNvSpPr>
            <a:spLocks xmlns:a="http://schemas.openxmlformats.org/drawingml/2006/main" noGrp="1"/>
          </p:cNvSpPr>
          <p:nvPr/>
        </p:nvSpPr>
        <p:spPr>
          <a:xfrm xmlns:a="http://schemas.openxmlformats.org/drawingml/2006/main">
            <a:off x="8420100" y="1495425"/>
            <a:ext cx="0" cy="2886075"/>
          </a:xfrm>
          <a:prstGeom xmlns:a="http://schemas.openxmlformats.org/drawingml/2006/main" prst="line">
            <a:avLst/>
          </a:prstGeom>
          <a:noFill xmlns:a="http://schemas.openxmlformats.org/drawingml/2006/main"/>
          <a:ln xmlns:a="http://schemas.openxmlformats.org/drawingml/2006/main" w="6668">
            <a:solidFill>
              <a:srgbClr val="777771"/>
            </a:solidFill>
            <a:prstDash val="solid"/>
          </a:ln>
        </p:spPr>
      </p:sp>
      <p:sp>
        <p:nvSpPr>
          <p:cNvPr id="27" name="">
            <a:extLst xmlns:a="http://schemas.openxmlformats.org/drawingml/2006/main">
              <a:ext uri="{FF2B5EF4-FFF2-40B4-BE49-F238E27FC236}">
                <a16:creationId xmlns:a16="http://schemas.microsoft.com/office/drawing/2014/main" id="{30B0E8BA-7F5B-4792-9999-0D0584BF1D4D}"/>
              </a:ext>
            </a:extLst>
          </p:cNvPr>
          <p:cNvSpPr>
            <a:spLocks xmlns:a="http://schemas.openxmlformats.org/drawingml/2006/main" noGrp="1"/>
          </p:cNvSpPr>
          <p:nvPr/>
        </p:nvSpPr>
        <p:spPr>
          <a:xfrm xmlns:a="http://schemas.openxmlformats.org/drawingml/2006/main">
            <a:off x="11058525" y="2038350"/>
            <a:ext cx="0" cy="2905125"/>
          </a:xfrm>
          <a:prstGeom xmlns:a="http://schemas.openxmlformats.org/drawingml/2006/main" prst="line">
            <a:avLst/>
          </a:prstGeom>
          <a:noFill xmlns:a="http://schemas.openxmlformats.org/drawingml/2006/main"/>
          <a:ln xmlns:a="http://schemas.openxmlformats.org/drawingml/2006/main" w="6668">
            <a:solidFill>
              <a:srgbClr val="777771"/>
            </a:solidFill>
            <a:prstDash val="solid"/>
          </a:ln>
        </p:spPr>
      </p:sp>
      <p:sp>
        <p:nvSpPr>
          <p:cNvPr id="28" name="">
            <a:extLst xmlns:a="http://schemas.openxmlformats.org/drawingml/2006/main">
              <a:ext uri="{FF2B5EF4-FFF2-40B4-BE49-F238E27FC236}">
                <a16:creationId xmlns:a16="http://schemas.microsoft.com/office/drawing/2014/main" id="{BF67DB0B-ECD8-473A-A6A8-5A5854C5BE45}"/>
              </a:ext>
            </a:extLst>
          </p:cNvPr>
          <p:cNvSpPr>
            <a:spLocks xmlns:a="http://schemas.openxmlformats.org/drawingml/2006/main" noGrp="1"/>
          </p:cNvSpPr>
          <p:nvPr/>
        </p:nvSpPr>
        <p:spPr>
          <a:xfrm xmlns:a="http://schemas.openxmlformats.org/drawingml/2006/main">
            <a:off x="9182100" y="2028825"/>
            <a:ext cx="0" cy="2914650"/>
          </a:xfrm>
          <a:prstGeom xmlns:a="http://schemas.openxmlformats.org/drawingml/2006/main" prst="line">
            <a:avLst/>
          </a:prstGeom>
          <a:noFill xmlns:a="http://schemas.openxmlformats.org/drawingml/2006/main"/>
          <a:ln xmlns:a="http://schemas.openxmlformats.org/drawingml/2006/main" w="6668">
            <a:solidFill>
              <a:srgbClr val="777771"/>
            </a:solidFill>
            <a:prstDash val="solid"/>
          </a:ln>
        </p:spPr>
      </p:sp>
    </p:spTree>
    <p:extLst>
      <p:ext uri="{BB962C8B-B14F-4D97-AF65-F5344CB8AC3E}">
        <p14:creationId xmlns:p14="http://schemas.microsoft.com/office/powerpoint/2010/main" val="516928351"/>
      </p:ext>
    </p:extLst>
  </p:cSld>
</p:sld>
</file>

<file path=ppt/slides/slide2.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1" name="REAL EVENT  EXPLICIT BUSINESS ASSUMPTION">
            <a:extLst xmlns:a="http://schemas.openxmlformats.org/drawingml/2006/main">
              <a:ext uri="{FF2B5EF4-FFF2-40B4-BE49-F238E27FC236}">
                <a16:creationId xmlns:a16="http://schemas.microsoft.com/office/drawing/2014/main" id="{D6B7ADD5-2C6A-43D9-8F65-393045906D75}"/>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REAL EVENT  EXPLICIT BUSINESS ASSUMPTION</a:t>
            </a:r>
          </a:p>
        </p:txBody>
      </p:sp>
      <p:sp>
        <p:nvSpPr>
          <p:cNvPr id="2" name="US–Iran conflict and Hormuz disruption">
            <a:extLst xmlns:a="http://schemas.openxmlformats.org/drawingml/2006/main">
              <a:ext uri="{FF2B5EF4-FFF2-40B4-BE49-F238E27FC236}">
                <a16:creationId xmlns:a16="http://schemas.microsoft.com/office/drawing/2014/main" id="{A16AF841-1C54-4B49-9988-593A9559AE79}"/>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US–Iran conflict and Hormuz disruption</a:t>
            </a:r>
          </a:p>
        </p:txBody>
      </p:sp>
      <p:sp>
        <p:nvSpPr>
          <p:cNvPr id="3" name="02">
            <a:extLst xmlns:a="http://schemas.openxmlformats.org/drawingml/2006/main">
              <a:ext uri="{FF2B5EF4-FFF2-40B4-BE49-F238E27FC236}">
                <a16:creationId xmlns:a16="http://schemas.microsoft.com/office/drawing/2014/main" id="{917D978C-CC91-491E-8DFB-08223A937CED}"/>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02</a:t>
            </a:r>
          </a:p>
        </p:txBody>
      </p:sp>
      <p:sp>
        <p:nvSpPr>
          <p:cNvPr id="4" name="EIA update, 6 Oct 2026: partial flows and ">
            <a:extLst xmlns:a="http://schemas.openxmlformats.org/drawingml/2006/main">
              <a:ext uri="{FF2B5EF4-FFF2-40B4-BE49-F238E27FC236}">
                <a16:creationId xmlns:a16="http://schemas.microsoft.com/office/drawing/2014/main" id="{8AA1D4B1-8399-4A53-ABF4-3ECB9B1FC3F1}"/>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EIA update, 6 Oct 2026: partial flows and ongoing constraints. The hypothetical order exposure and delay are user-declared.</a:t>
            </a:r>
          </a:p>
        </p:txBody>
      </p:sp>
      <p:pic>
        <p:nvPicPr>
          <p:cNvPr id="5" name="">
            <a:extLst xmlns:a="http://schemas.openxmlformats.org/drawingml/2006/main">
              <a:ext uri="{FF2B5EF4-FFF2-40B4-BE49-F238E27FC236}">
                <a16:creationId xmlns:a16="http://schemas.microsoft.com/office/drawing/2014/main" id="{F46FD83C-9CFE-4F4A-9C7A-117AF8E3318B}"/>
              </a:ext>
            </a:extLst>
          </p:cNvPr>
          <p:cNvPicPr>
            <a:picLocks xmlns:a="http://schemas.openxmlformats.org/drawingml/2006/main" noChangeAspect="1"/>
          </p:cNvPicPr>
          <p:nvPr/>
        </p:nvPicPr>
        <p:blipFill>
          <a:blip xmlns:r="http://schemas.openxmlformats.org/officeDocument/2006/relationships" xmlns:a="http://schemas.openxmlformats.org/drawingml/2006/main" r:embed="R0ae0fcf5c92741a0"/>
          <a:srcRect xmlns:a="http://schemas.openxmlformats.org/drawingml/2006/main" l="23500" t="25000" r="6000" b="7000"/>
          <a:stretch xmlns:a="http://schemas.openxmlformats.org/drawingml/2006/main"/>
        </p:blipFill>
        <p:spPr>
          <a:xfrm xmlns:a="http://schemas.openxmlformats.org/drawingml/2006/main">
            <a:off x="609600" y="2057400"/>
            <a:ext cx="7467600" cy="3895725"/>
          </a:xfrm>
          <a:prstGeom xmlns:a="http://schemas.openxmlformats.org/drawingml/2006/main" prst="rect">
            <a:avLst/>
          </a:prstGeom>
        </p:spPr>
      </p:pic>
      <p:sp>
        <p:nvSpPr>
          <p:cNvPr id="6" name="Review the exposure">
            <a:extLst xmlns:a="http://schemas.openxmlformats.org/drawingml/2006/main">
              <a:ext uri="{FF2B5EF4-FFF2-40B4-BE49-F238E27FC236}">
                <a16:creationId xmlns:a16="http://schemas.microsoft.com/office/drawing/2014/main" id="{BEB749A1-A645-42E4-8021-C9487B7AE7B4}"/>
              </a:ext>
            </a:extLst>
          </p:cNvPr>
          <p:cNvSpPr>
            <a:spLocks xmlns:a="http://schemas.openxmlformats.org/drawingml/2006/main" noGrp="1"/>
          </p:cNvSpPr>
          <p:nvPr/>
        </p:nvSpPr>
        <p:spPr>
          <a:xfrm xmlns:a="http://schemas.openxmlformats.org/drawingml/2006/main">
            <a:off x="8601075" y="2124075"/>
            <a:ext cx="2914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21212"/>
                </a:solidFill>
                <a:latin typeface="Liberation Sans"/>
                <a:ea typeface="Liberation Sans"/>
                <a:cs typeface="Liberation Sans"/>
              </a:defRPr>
            </a:defPPr>
          </a:lstStyle>
          <a:p xmlns:a="http://schemas.openxmlformats.org/drawingml/2006/main">
            <a:pPr algn="l">
              <a:defRPr sz="2100" b="1">
                <a:solidFill>
                  <a:srgbClr val="121212"/>
                </a:solidFill>
                <a:latin typeface="Liberation Sans"/>
                <a:ea typeface="Liberation Sans"/>
                <a:cs typeface="Liberation Sans"/>
              </a:defRPr>
            </a:pPr>
            <a:r>
              <a:rPr sz="2100" b="1">
                <a:solidFill>
                  <a:srgbClr val="121212"/>
                </a:solidFill>
                <a:latin typeface="Liberation Sans"/>
                <a:ea typeface="Liberation Sans"/>
                <a:cs typeface="Liberation Sans"/>
              </a:rPr>
              <a:t>Review the exposure</a:t>
            </a:r>
          </a:p>
        </p:txBody>
      </p:sp>
      <p:sp>
        <p:nvSpPr>
          <p:cNvPr id="7" name="Does this order depend&#10;on an affected serv">
            <a:extLst xmlns:a="http://schemas.openxmlformats.org/drawingml/2006/main">
              <a:ext uri="{FF2B5EF4-FFF2-40B4-BE49-F238E27FC236}">
                <a16:creationId xmlns:a16="http://schemas.microsoft.com/office/drawing/2014/main" id="{FF366938-2D43-45B0-9F2E-85013153564A}"/>
              </a:ext>
            </a:extLst>
          </p:cNvPr>
          <p:cNvSpPr>
            <a:spLocks xmlns:a="http://schemas.openxmlformats.org/drawingml/2006/main" noGrp="1"/>
          </p:cNvSpPr>
          <p:nvPr/>
        </p:nvSpPr>
        <p:spPr>
          <a:xfrm xmlns:a="http://schemas.openxmlformats.org/drawingml/2006/main">
            <a:off x="8601075" y="2724150"/>
            <a:ext cx="2905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Does this order depend</a:t>
            </a:r>
          </a:p>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on an affected service?</a:t>
            </a:r>
          </a:p>
        </p:txBody>
      </p:sp>
      <p:sp>
        <p:nvSpPr>
          <p:cNvPr id="8" name="">
            <a:extLst xmlns:a="http://schemas.openxmlformats.org/drawingml/2006/main">
              <a:ext uri="{FF2B5EF4-FFF2-40B4-BE49-F238E27FC236}">
                <a16:creationId xmlns:a16="http://schemas.microsoft.com/office/drawing/2014/main" id="{D38A5CFE-A0BB-405C-88B3-19C9D7B4E7E8}"/>
              </a:ext>
            </a:extLst>
          </p:cNvPr>
          <p:cNvSpPr>
            <a:spLocks xmlns:a="http://schemas.openxmlformats.org/drawingml/2006/main" noGrp="1"/>
          </p:cNvSpPr>
          <p:nvPr/>
        </p:nvSpPr>
        <p:spPr>
          <a:xfrm xmlns:a="http://schemas.openxmlformats.org/drawingml/2006/main">
            <a:off x="8601075" y="3905250"/>
            <a:ext cx="2962275"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9" name="Assume +3 days">
            <a:extLst xmlns:a="http://schemas.openxmlformats.org/drawingml/2006/main">
              <a:ext uri="{FF2B5EF4-FFF2-40B4-BE49-F238E27FC236}">
                <a16:creationId xmlns:a16="http://schemas.microsoft.com/office/drawing/2014/main" id="{C9244EA4-994C-4D9F-AAEC-495DA6F329AF}"/>
              </a:ext>
            </a:extLst>
          </p:cNvPr>
          <p:cNvSpPr>
            <a:spLocks xmlns:a="http://schemas.openxmlformats.org/drawingml/2006/main" noGrp="1"/>
          </p:cNvSpPr>
          <p:nvPr/>
        </p:nvSpPr>
        <p:spPr>
          <a:xfrm xmlns:a="http://schemas.openxmlformats.org/drawingml/2006/main">
            <a:off x="8601075" y="4171950"/>
            <a:ext cx="2905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21212"/>
                </a:solidFill>
                <a:latin typeface="Liberation Sans"/>
                <a:ea typeface="Liberation Sans"/>
                <a:cs typeface="Liberation Sans"/>
              </a:defRPr>
            </a:defPPr>
          </a:lstStyle>
          <a:p xmlns:a="http://schemas.openxmlformats.org/drawingml/2006/main">
            <a:pPr algn="l">
              <a:defRPr sz="2100" b="1">
                <a:solidFill>
                  <a:srgbClr val="121212"/>
                </a:solidFill>
                <a:latin typeface="Liberation Sans"/>
                <a:ea typeface="Liberation Sans"/>
                <a:cs typeface="Liberation Sans"/>
              </a:defRPr>
            </a:pPr>
            <a:r>
              <a:rPr sz="2100" b="1">
                <a:solidFill>
                  <a:srgbClr val="121212"/>
                </a:solidFill>
                <a:latin typeface="Liberation Sans"/>
                <a:ea typeface="Liberation Sans"/>
                <a:cs typeface="Liberation Sans"/>
              </a:rPr>
              <a:t>Assume +3 days</a:t>
            </a:r>
          </a:p>
        </p:txBody>
      </p:sp>
      <p:sp>
        <p:nvSpPr>
          <p:cNvPr id="10" name="Apply the same delay&#10;to every strategy">
            <a:extLst xmlns:a="http://schemas.openxmlformats.org/drawingml/2006/main">
              <a:ext uri="{FF2B5EF4-FFF2-40B4-BE49-F238E27FC236}">
                <a16:creationId xmlns:a16="http://schemas.microsoft.com/office/drawing/2014/main" id="{7B585354-8626-4529-9744-630C112A717F}"/>
              </a:ext>
            </a:extLst>
          </p:cNvPr>
          <p:cNvSpPr>
            <a:spLocks xmlns:a="http://schemas.openxmlformats.org/drawingml/2006/main" noGrp="1"/>
          </p:cNvSpPr>
          <p:nvPr/>
        </p:nvSpPr>
        <p:spPr>
          <a:xfrm xmlns:a="http://schemas.openxmlformats.org/drawingml/2006/main">
            <a:off x="8601075" y="4781550"/>
            <a:ext cx="2905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Apply the same delay</a:t>
            </a:r>
          </a:p>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to every strategy</a:t>
            </a:r>
          </a:p>
        </p:txBody>
      </p:sp>
    </p:spTree>
    <p:extLst>
      <p:ext uri="{BB962C8B-B14F-4D97-AF65-F5344CB8AC3E}">
        <p14:creationId xmlns:p14="http://schemas.microsoft.com/office/powerpoint/2010/main" val="192461306"/>
      </p:ext>
    </p:extLst>
  </p:cSld>
</p:sld>
</file>

<file path=ppt/slides/slide3.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3" name="THIS SELECTED STRESS EPISODE">
            <a:extLst xmlns:a="http://schemas.openxmlformats.org/drawingml/2006/main">
              <a:ext uri="{FF2B5EF4-FFF2-40B4-BE49-F238E27FC236}">
                <a16:creationId xmlns:a16="http://schemas.microsoft.com/office/drawing/2014/main" id="{09AC197D-E8B7-4876-A57C-C73B8ED59054}"/>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THIS SELECTED STRESS EPISODE</a:t>
            </a:r>
          </a:p>
        </p:txBody>
      </p:sp>
      <p:sp>
        <p:nvSpPr>
          <p:cNvPr id="2" name="The same delayed order, compared fairly">
            <a:extLst xmlns:a="http://schemas.openxmlformats.org/drawingml/2006/main">
              <a:ext uri="{FF2B5EF4-FFF2-40B4-BE49-F238E27FC236}">
                <a16:creationId xmlns:a16="http://schemas.microsoft.com/office/drawing/2014/main" id="{86DD614C-5FBC-4F60-9486-A1DBEB570C2D}"/>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The same delayed order, compared fairly</a:t>
            </a:r>
          </a:p>
        </p:txBody>
      </p:sp>
      <p:sp>
        <p:nvSpPr>
          <p:cNvPr id="3" name="03">
            <a:extLst xmlns:a="http://schemas.openxmlformats.org/drawingml/2006/main">
              <a:ext uri="{FF2B5EF4-FFF2-40B4-BE49-F238E27FC236}">
                <a16:creationId xmlns:a16="http://schemas.microsoft.com/office/drawing/2014/main" id="{824BF862-E20E-4369-8434-A9BE6FFCC148}"/>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03</a:t>
            </a:r>
          </a:p>
        </p:txBody>
      </p:sp>
      <p:sp>
        <p:nvSpPr>
          <p:cNvPr id="4" name="One displayed seed, one confirmed delay. I">
            <a:extLst xmlns:a="http://schemas.openxmlformats.org/drawingml/2006/main">
              <a:ext uri="{FF2B5EF4-FFF2-40B4-BE49-F238E27FC236}">
                <a16:creationId xmlns:a16="http://schemas.microsoft.com/office/drawing/2014/main" id="{9B306BDD-9A56-4DBC-A4E7-F5292313F4F8}"/>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One displayed seed, one confirmed delay. Illustrative synthetic outcomes, not the held-out study or measured company savings.</a:t>
            </a:r>
          </a:p>
        </p:txBody>
      </p:sp>
      <p:pic>
        <p:nvPicPr>
          <p:cNvPr id="5" name="">
            <a:extLst xmlns:a="http://schemas.openxmlformats.org/drawingml/2006/main">
              <a:ext uri="{FF2B5EF4-FFF2-40B4-BE49-F238E27FC236}">
                <a16:creationId xmlns:a16="http://schemas.microsoft.com/office/drawing/2014/main" id="{4C35F499-88D5-4643-87DF-502A3D6DFBA2}"/>
              </a:ext>
            </a:extLst>
          </p:cNvPr>
          <p:cNvPicPr>
            <a:picLocks xmlns:a="http://schemas.openxmlformats.org/drawingml/2006/main" noChangeAspect="1"/>
          </p:cNvPicPr>
          <p:nvPr/>
        </p:nvPicPr>
        <p:blipFill>
          <a:blip xmlns:r="http://schemas.openxmlformats.org/officeDocument/2006/relationships" xmlns:a="http://schemas.openxmlformats.org/drawingml/2006/main" r:embed="Rd2c108c7c2b14d1a"/>
          <a:srcRect xmlns:a="http://schemas.openxmlformats.org/drawingml/2006/main" l="23500" t="36400" r="6000" b="23600"/>
          <a:stretch xmlns:a="http://schemas.openxmlformats.org/drawingml/2006/main"/>
        </p:blipFill>
        <p:spPr>
          <a:xfrm xmlns:a="http://schemas.openxmlformats.org/drawingml/2006/main">
            <a:off x="609600" y="2590800"/>
            <a:ext cx="7553325" cy="2752725"/>
          </a:xfrm>
          <a:prstGeom xmlns:a="http://schemas.openxmlformats.org/drawingml/2006/main" prst="rect">
            <a:avLst/>
          </a:prstGeom>
        </p:spPr>
      </p:pic>
      <p:sp>
        <p:nvSpPr>
          <p:cNvPr id="6" name="Learned-policy example">
            <a:extLst xmlns:a="http://schemas.openxmlformats.org/drawingml/2006/main">
              <a:ext uri="{FF2B5EF4-FFF2-40B4-BE49-F238E27FC236}">
                <a16:creationId xmlns:a16="http://schemas.microsoft.com/office/drawing/2014/main" id="{F7922D9C-116D-40F0-A50E-3D19E28804EB}"/>
              </a:ext>
            </a:extLst>
          </p:cNvPr>
          <p:cNvSpPr>
            <a:spLocks xmlns:a="http://schemas.openxmlformats.org/drawingml/2006/main" noGrp="1"/>
          </p:cNvSpPr>
          <p:nvPr/>
        </p:nvSpPr>
        <p:spPr>
          <a:xfrm xmlns:a="http://schemas.openxmlformats.org/drawingml/2006/main">
            <a:off x="8601075" y="2028825"/>
            <a:ext cx="293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21212"/>
                </a:solidFill>
                <a:latin typeface="Liberation Sans"/>
                <a:ea typeface="Liberation Sans"/>
                <a:cs typeface="Liberation Sans"/>
              </a:defRPr>
            </a:defPPr>
          </a:lstStyle>
          <a:p xmlns:a="http://schemas.openxmlformats.org/drawingml/2006/main">
            <a:pPr algn="l">
              <a:defRPr sz="1875" b="1">
                <a:solidFill>
                  <a:srgbClr val="121212"/>
                </a:solidFill>
                <a:latin typeface="Liberation Sans"/>
                <a:ea typeface="Liberation Sans"/>
                <a:cs typeface="Liberation Sans"/>
              </a:defRPr>
            </a:pPr>
            <a:r>
              <a:rPr sz="1875" b="1">
                <a:solidFill>
                  <a:srgbClr val="121212"/>
                </a:solidFill>
                <a:latin typeface="Liberation Sans"/>
                <a:ea typeface="Liberation Sans"/>
                <a:cs typeface="Liberation Sans"/>
              </a:rPr>
              <a:t>Learned-policy example</a:t>
            </a:r>
          </a:p>
        </p:txBody>
      </p:sp>
      <p:sp>
        <p:nvSpPr>
          <p:cNvPr id="7" name="4 learned / 3 fallback choices">
            <a:extLst xmlns:a="http://schemas.openxmlformats.org/drawingml/2006/main">
              <a:ext uri="{FF2B5EF4-FFF2-40B4-BE49-F238E27FC236}">
                <a16:creationId xmlns:a16="http://schemas.microsoft.com/office/drawing/2014/main" id="{8F457503-9AD1-445C-BFB9-5ACCF3EB4536}"/>
              </a:ext>
            </a:extLst>
          </p:cNvPr>
          <p:cNvSpPr>
            <a:spLocks xmlns:a="http://schemas.openxmlformats.org/drawingml/2006/main" noGrp="1"/>
          </p:cNvSpPr>
          <p:nvPr/>
        </p:nvSpPr>
        <p:spPr>
          <a:xfrm xmlns:a="http://schemas.openxmlformats.org/drawingml/2006/main">
            <a:off x="8601075" y="2619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26262"/>
                </a:solidFill>
                <a:latin typeface="Liberation Sans"/>
                <a:ea typeface="Liberation Sans"/>
                <a:cs typeface="Liberation Sans"/>
              </a:defRPr>
            </a:defPPr>
          </a:lstStyle>
          <a:p xmlns:a="http://schemas.openxmlformats.org/drawingml/2006/main">
            <a:pPr algn="l">
              <a:defRPr sz="1350" b="0">
                <a:solidFill>
                  <a:srgbClr val="626262"/>
                </a:solidFill>
                <a:latin typeface="Liberation Sans"/>
                <a:ea typeface="Liberation Sans"/>
                <a:cs typeface="Liberation Sans"/>
              </a:defRPr>
            </a:pPr>
            <a:r>
              <a:rPr sz="1350" b="0">
                <a:solidFill>
                  <a:srgbClr val="626262"/>
                </a:solidFill>
                <a:latin typeface="Liberation Sans"/>
                <a:ea typeface="Liberation Sans"/>
                <a:cs typeface="Liberation Sans"/>
              </a:rPr>
              <a:t>4 learned / 3 fallback choices</a:t>
            </a:r>
          </a:p>
        </p:txBody>
      </p:sp>
      <p:sp>
        <p:nvSpPr>
          <p:cNvPr id="8" name="MYR 140">
            <a:extLst xmlns:a="http://schemas.openxmlformats.org/drawingml/2006/main">
              <a:ext uri="{FF2B5EF4-FFF2-40B4-BE49-F238E27FC236}">
                <a16:creationId xmlns:a16="http://schemas.microsoft.com/office/drawing/2014/main" id="{DA8F4647-839E-4106-8005-CE9378B0C59E}"/>
              </a:ext>
            </a:extLst>
          </p:cNvPr>
          <p:cNvSpPr>
            <a:spLocks xmlns:a="http://schemas.openxmlformats.org/drawingml/2006/main" noGrp="1"/>
          </p:cNvSpPr>
          <p:nvPr/>
        </p:nvSpPr>
        <p:spPr>
          <a:xfrm xmlns:a="http://schemas.openxmlformats.org/drawingml/2006/main">
            <a:off x="8601075" y="3000375"/>
            <a:ext cx="295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121212"/>
                </a:solidFill>
                <a:latin typeface="Liberation Sans"/>
                <a:ea typeface="Liberation Sans"/>
                <a:cs typeface="Liberation Sans"/>
              </a:defRPr>
            </a:defPPr>
          </a:lstStyle>
          <a:p xmlns:a="http://schemas.openxmlformats.org/drawingml/2006/main">
            <a:pPr algn="l">
              <a:defRPr sz="3525" b="1">
                <a:solidFill>
                  <a:srgbClr val="121212"/>
                </a:solidFill>
                <a:latin typeface="Liberation Sans"/>
                <a:ea typeface="Liberation Sans"/>
                <a:cs typeface="Liberation Sans"/>
              </a:defRPr>
            </a:pPr>
            <a:r>
              <a:rPr sz="3525" b="1">
                <a:solidFill>
                  <a:srgbClr val="121212"/>
                </a:solidFill>
                <a:latin typeface="Liberation Sans"/>
                <a:ea typeface="Liberation Sans"/>
                <a:cs typeface="Liberation Sans"/>
              </a:rPr>
              <a:t>MYR 140</a:t>
            </a:r>
          </a:p>
        </p:txBody>
      </p:sp>
      <p:sp>
        <p:nvSpPr>
          <p:cNvPr id="9" name="new modeled commitments">
            <a:extLst xmlns:a="http://schemas.openxmlformats.org/drawingml/2006/main">
              <a:ext uri="{FF2B5EF4-FFF2-40B4-BE49-F238E27FC236}">
                <a16:creationId xmlns:a16="http://schemas.microsoft.com/office/drawing/2014/main" id="{A7D8906E-8A3B-49EB-AB7D-71B2D3095DDE}"/>
              </a:ext>
            </a:extLst>
          </p:cNvPr>
          <p:cNvSpPr>
            <a:spLocks xmlns:a="http://schemas.openxmlformats.org/drawingml/2006/main" noGrp="1"/>
          </p:cNvSpPr>
          <p:nvPr/>
        </p:nvSpPr>
        <p:spPr>
          <a:xfrm xmlns:a="http://schemas.openxmlformats.org/drawingml/2006/main">
            <a:off x="8601075" y="3667125"/>
            <a:ext cx="2952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26262"/>
                </a:solidFill>
                <a:latin typeface="Liberation Sans"/>
                <a:ea typeface="Liberation Sans"/>
                <a:cs typeface="Liberation Sans"/>
              </a:defRPr>
            </a:defPPr>
          </a:lstStyle>
          <a:p xmlns:a="http://schemas.openxmlformats.org/drawingml/2006/main">
            <a:pPr algn="l">
              <a:defRPr sz="1725" b="0">
                <a:solidFill>
                  <a:srgbClr val="626262"/>
                </a:solidFill>
                <a:latin typeface="Liberation Sans"/>
                <a:ea typeface="Liberation Sans"/>
                <a:cs typeface="Liberation Sans"/>
              </a:defRPr>
            </a:pPr>
            <a:r>
              <a:rPr sz="1725" b="0">
                <a:solidFill>
                  <a:srgbClr val="626262"/>
                </a:solidFill>
                <a:latin typeface="Liberation Sans"/>
                <a:ea typeface="Liberation Sans"/>
                <a:cs typeface="Liberation Sans"/>
              </a:rPr>
              <a:t>new modeled commitments</a:t>
            </a:r>
          </a:p>
        </p:txBody>
      </p:sp>
      <p:sp>
        <p:nvSpPr>
          <p:cNvPr id="10" name="9.0 units">
            <a:extLst xmlns:a="http://schemas.openxmlformats.org/drawingml/2006/main">
              <a:ext uri="{FF2B5EF4-FFF2-40B4-BE49-F238E27FC236}">
                <a16:creationId xmlns:a16="http://schemas.microsoft.com/office/drawing/2014/main" id="{DD10210A-CBB5-4DF6-B5E5-D0B257AC5EAA}"/>
              </a:ext>
            </a:extLst>
          </p:cNvPr>
          <p:cNvSpPr>
            <a:spLocks xmlns:a="http://schemas.openxmlformats.org/drawingml/2006/main" noGrp="1"/>
          </p:cNvSpPr>
          <p:nvPr/>
        </p:nvSpPr>
        <p:spPr>
          <a:xfrm xmlns:a="http://schemas.openxmlformats.org/drawingml/2006/main">
            <a:off x="8601075" y="4591050"/>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1212"/>
                </a:solidFill>
                <a:latin typeface="Liberation Sans"/>
                <a:ea typeface="Liberation Sans"/>
                <a:cs typeface="Liberation Sans"/>
              </a:defRPr>
            </a:defPPr>
          </a:lstStyle>
          <a:p xmlns:a="http://schemas.openxmlformats.org/drawingml/2006/main">
            <a:pPr algn="l">
              <a:defRPr sz="3150" b="1">
                <a:solidFill>
                  <a:srgbClr val="121212"/>
                </a:solidFill>
                <a:latin typeface="Liberation Sans"/>
                <a:ea typeface="Liberation Sans"/>
                <a:cs typeface="Liberation Sans"/>
              </a:defRPr>
            </a:pPr>
            <a:r>
              <a:rPr sz="3150" b="1">
                <a:solidFill>
                  <a:srgbClr val="121212"/>
                </a:solidFill>
                <a:latin typeface="Liberation Sans"/>
                <a:ea typeface="Liberation Sans"/>
                <a:cs typeface="Liberation Sans"/>
              </a:rPr>
              <a:t>9.0 units</a:t>
            </a:r>
          </a:p>
        </p:txBody>
      </p:sp>
      <p:sp>
        <p:nvSpPr>
          <p:cNvPr id="11" name="unmet demand remains">
            <a:extLst xmlns:a="http://schemas.openxmlformats.org/drawingml/2006/main">
              <a:ext uri="{FF2B5EF4-FFF2-40B4-BE49-F238E27FC236}">
                <a16:creationId xmlns:a16="http://schemas.microsoft.com/office/drawing/2014/main" id="{20DCEA69-B16A-4868-AF80-7BCD13B224E5}"/>
              </a:ext>
            </a:extLst>
          </p:cNvPr>
          <p:cNvSpPr>
            <a:spLocks xmlns:a="http://schemas.openxmlformats.org/drawingml/2006/main" noGrp="1"/>
          </p:cNvSpPr>
          <p:nvPr/>
        </p:nvSpPr>
        <p:spPr>
          <a:xfrm xmlns:a="http://schemas.openxmlformats.org/drawingml/2006/main">
            <a:off x="8601075" y="525780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26262"/>
                </a:solidFill>
                <a:latin typeface="Liberation Sans"/>
                <a:ea typeface="Liberation Sans"/>
                <a:cs typeface="Liberation Sans"/>
              </a:defRPr>
            </a:defPPr>
          </a:lstStyle>
          <a:p xmlns:a="http://schemas.openxmlformats.org/drawingml/2006/main">
            <a:pPr algn="l">
              <a:defRPr sz="1725" b="0">
                <a:solidFill>
                  <a:srgbClr val="626262"/>
                </a:solidFill>
                <a:latin typeface="Liberation Sans"/>
                <a:ea typeface="Liberation Sans"/>
                <a:cs typeface="Liberation Sans"/>
              </a:defRPr>
            </a:pPr>
            <a:r>
              <a:rPr sz="1725" b="0">
                <a:solidFill>
                  <a:srgbClr val="626262"/>
                </a:solidFill>
                <a:latin typeface="Liberation Sans"/>
                <a:ea typeface="Liberation Sans"/>
                <a:cs typeface="Liberation Sans"/>
              </a:rPr>
              <a:t>unmet demand remains</a:t>
            </a:r>
          </a:p>
        </p:txBody>
      </p:sp>
      <p:sp>
        <p:nvSpPr>
          <p:cNvPr id="12" name="Heat exposure is higher, too">
            <a:extLst xmlns:a="http://schemas.openxmlformats.org/drawingml/2006/main">
              <a:ext uri="{FF2B5EF4-FFF2-40B4-BE49-F238E27FC236}">
                <a16:creationId xmlns:a16="http://schemas.microsoft.com/office/drawing/2014/main" id="{F7959D53-4588-458F-A5CA-78AA6334C47D}"/>
              </a:ext>
            </a:extLst>
          </p:cNvPr>
          <p:cNvSpPr>
            <a:spLocks xmlns:a="http://schemas.openxmlformats.org/drawingml/2006/main" noGrp="1"/>
          </p:cNvSpPr>
          <p:nvPr/>
        </p:nvSpPr>
        <p:spPr>
          <a:xfrm xmlns:a="http://schemas.openxmlformats.org/drawingml/2006/main">
            <a:off x="8601075" y="57340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26262"/>
                </a:solidFill>
                <a:latin typeface="Liberation Sans"/>
                <a:ea typeface="Liberation Sans"/>
                <a:cs typeface="Liberation Sans"/>
              </a:defRPr>
            </a:defPPr>
          </a:lstStyle>
          <a:p xmlns:a="http://schemas.openxmlformats.org/drawingml/2006/main">
            <a:pPr algn="l">
              <a:defRPr sz="1350" b="0">
                <a:solidFill>
                  <a:srgbClr val="626262"/>
                </a:solidFill>
                <a:latin typeface="Liberation Sans"/>
                <a:ea typeface="Liberation Sans"/>
                <a:cs typeface="Liberation Sans"/>
              </a:defRPr>
            </a:pPr>
            <a:r>
              <a:rPr sz="1350" b="0">
                <a:solidFill>
                  <a:srgbClr val="626262"/>
                </a:solidFill>
                <a:latin typeface="Liberation Sans"/>
                <a:ea typeface="Liberation Sans"/>
                <a:cs typeface="Liberation Sans"/>
              </a:rPr>
              <a:t>Heat exposure is higher, too</a:t>
            </a:r>
          </a:p>
        </p:txBody>
      </p:sp>
    </p:spTree>
    <p:extLst>
      <p:ext uri="{BB962C8B-B14F-4D97-AF65-F5344CB8AC3E}">
        <p14:creationId xmlns:p14="http://schemas.microsoft.com/office/powerpoint/2010/main" val="1692039371"/>
      </p:ext>
    </p:extLst>
  </p:cSld>
</p:sld>
</file>

<file path=ppt/slides/slide4.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1" name="DATED UPDATE  VERSIONED ASSUMPTIONS">
            <a:extLst xmlns:a="http://schemas.openxmlformats.org/drawingml/2006/main">
              <a:ext uri="{FF2B5EF4-FFF2-40B4-BE49-F238E27FC236}">
                <a16:creationId xmlns:a16="http://schemas.microsoft.com/office/drawing/2014/main" id="{AD830425-7083-4531-BBBD-EA7C69B50109}"/>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DATED UPDATE  VERSIONED ASSUMPTIONS</a:t>
            </a:r>
          </a:p>
        </p:txBody>
      </p:sp>
      <p:sp>
        <p:nvSpPr>
          <p:cNvPr id="2" name="New observations revise the active model">
            <a:extLst xmlns:a="http://schemas.openxmlformats.org/drawingml/2006/main">
              <a:ext uri="{FF2B5EF4-FFF2-40B4-BE49-F238E27FC236}">
                <a16:creationId xmlns:a16="http://schemas.microsoft.com/office/drawing/2014/main" id="{DF41559B-55FD-4B2F-82B4-E613FAF0EF9B}"/>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New observations revise the active model</a:t>
            </a:r>
          </a:p>
        </p:txBody>
      </p:sp>
      <p:sp>
        <p:nvSpPr>
          <p:cNvPr id="3" name="04">
            <a:extLst xmlns:a="http://schemas.openxmlformats.org/drawingml/2006/main">
              <a:ext uri="{FF2B5EF4-FFF2-40B4-BE49-F238E27FC236}">
                <a16:creationId xmlns:a16="http://schemas.microsoft.com/office/drawing/2014/main" id="{53286D07-B585-4A72-9864-1177563D6EEB}"/>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04</a:t>
            </a:r>
          </a:p>
        </p:txBody>
      </p:sp>
      <p:sp>
        <p:nvSpPr>
          <p:cNvPr id="4" name="Authored synthetic sales and thermometer o">
            <a:extLst xmlns:a="http://schemas.openxmlformats.org/drawingml/2006/main">
              <a:ext uri="{FF2B5EF4-FFF2-40B4-BE49-F238E27FC236}">
                <a16:creationId xmlns:a16="http://schemas.microsoft.com/office/drawing/2014/main" id="{F2392AC2-9679-42E7-91CC-9D0C7AA7ABDD}"/>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Authored synthetic sales and thermometer observations. The refit changes model parameters; it does not retrain the frozen Q policy.</a:t>
            </a:r>
          </a:p>
        </p:txBody>
      </p:sp>
      <p:pic>
        <p:nvPicPr>
          <p:cNvPr id="5" name="">
            <a:extLst xmlns:a="http://schemas.openxmlformats.org/drawingml/2006/main">
              <a:ext uri="{FF2B5EF4-FFF2-40B4-BE49-F238E27FC236}">
                <a16:creationId xmlns:a16="http://schemas.microsoft.com/office/drawing/2014/main" id="{8A2906F4-5F52-4381-A555-5E35BCF93F5E}"/>
              </a:ext>
            </a:extLst>
          </p:cNvPr>
          <p:cNvPicPr>
            <a:picLocks xmlns:a="http://schemas.openxmlformats.org/drawingml/2006/main" noChangeAspect="1"/>
          </p:cNvPicPr>
          <p:nvPr/>
        </p:nvPicPr>
        <p:blipFill>
          <a:blip xmlns:r="http://schemas.openxmlformats.org/officeDocument/2006/relationships" xmlns:a="http://schemas.openxmlformats.org/drawingml/2006/main" r:embed="R26dfe9ca2592430a"/>
          <a:srcRect xmlns:a="http://schemas.openxmlformats.org/drawingml/2006/main" l="23500" t="43000" r="6000" b="11500"/>
          <a:stretch xmlns:a="http://schemas.openxmlformats.org/drawingml/2006/main"/>
        </p:blipFill>
        <p:spPr>
          <a:xfrm xmlns:a="http://schemas.openxmlformats.org/drawingml/2006/main">
            <a:off x="609600" y="2057400"/>
            <a:ext cx="7572375" cy="3905250"/>
          </a:xfrm>
          <a:prstGeom xmlns:a="http://schemas.openxmlformats.org/drawingml/2006/main" prst="rect">
            <a:avLst/>
          </a:prstGeom>
        </p:spPr>
      </p:pic>
      <p:sp>
        <p:nvSpPr>
          <p:cNvPr id="6" name="Release one dated day">
            <a:extLst xmlns:a="http://schemas.openxmlformats.org/drawingml/2006/main">
              <a:ext uri="{FF2B5EF4-FFF2-40B4-BE49-F238E27FC236}">
                <a16:creationId xmlns:a16="http://schemas.microsoft.com/office/drawing/2014/main" id="{103D369D-84FC-413D-8AFC-A25E28DA9FF6}"/>
              </a:ext>
            </a:extLst>
          </p:cNvPr>
          <p:cNvSpPr>
            <a:spLocks xmlns:a="http://schemas.openxmlformats.org/drawingml/2006/main" noGrp="1"/>
          </p:cNvSpPr>
          <p:nvPr/>
        </p:nvSpPr>
        <p:spPr>
          <a:xfrm xmlns:a="http://schemas.openxmlformats.org/drawingml/2006/main">
            <a:off x="8591550" y="2124075"/>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1212"/>
                </a:solidFill>
                <a:latin typeface="Liberation Sans"/>
                <a:ea typeface="Liberation Sans"/>
                <a:cs typeface="Liberation Sans"/>
              </a:defRPr>
            </a:defPPr>
          </a:lstStyle>
          <a:p xmlns:a="http://schemas.openxmlformats.org/drawingml/2006/main">
            <a:pPr algn="l">
              <a:defRPr sz="2175" b="1">
                <a:solidFill>
                  <a:srgbClr val="121212"/>
                </a:solidFill>
                <a:latin typeface="Liberation Sans"/>
                <a:ea typeface="Liberation Sans"/>
                <a:cs typeface="Liberation Sans"/>
              </a:defRPr>
            </a:pPr>
            <a:r>
              <a:rPr sz="2175" b="1">
                <a:solidFill>
                  <a:srgbClr val="121212"/>
                </a:solidFill>
                <a:latin typeface="Liberation Sans"/>
                <a:ea typeface="Liberation Sans"/>
                <a:cs typeface="Liberation Sans"/>
              </a:rPr>
              <a:t>Release one dated day</a:t>
            </a:r>
          </a:p>
        </p:txBody>
      </p:sp>
      <p:sp>
        <p:nvSpPr>
          <p:cNvPr id="7" name="Refit the rolling window&#10;Record the new ve">
            <a:extLst xmlns:a="http://schemas.openxmlformats.org/drawingml/2006/main">
              <a:ext uri="{FF2B5EF4-FFF2-40B4-BE49-F238E27FC236}">
                <a16:creationId xmlns:a16="http://schemas.microsoft.com/office/drawing/2014/main" id="{33E67221-0B1B-408D-88AE-A840B2CC3102}"/>
              </a:ext>
            </a:extLst>
          </p:cNvPr>
          <p:cNvSpPr>
            <a:spLocks xmlns:a="http://schemas.openxmlformats.org/drawingml/2006/main" noGrp="1"/>
          </p:cNvSpPr>
          <p:nvPr/>
        </p:nvSpPr>
        <p:spPr>
          <a:xfrm xmlns:a="http://schemas.openxmlformats.org/drawingml/2006/main">
            <a:off x="8591550" y="3076575"/>
            <a:ext cx="295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Refit the rolling window</a:t>
            </a:r>
          </a:p>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Record the new version</a:t>
            </a:r>
          </a:p>
        </p:txBody>
      </p:sp>
      <p:sp>
        <p:nvSpPr>
          <p:cNvPr id="8" name="">
            <a:extLst xmlns:a="http://schemas.openxmlformats.org/drawingml/2006/main">
              <a:ext uri="{FF2B5EF4-FFF2-40B4-BE49-F238E27FC236}">
                <a16:creationId xmlns:a16="http://schemas.microsoft.com/office/drawing/2014/main" id="{2EF3DD8E-E567-400C-BD5F-23B702C381C4}"/>
              </a:ext>
            </a:extLst>
          </p:cNvPr>
          <p:cNvSpPr>
            <a:spLocks xmlns:a="http://schemas.openxmlformats.org/drawingml/2006/main" noGrp="1"/>
          </p:cNvSpPr>
          <p:nvPr/>
        </p:nvSpPr>
        <p:spPr>
          <a:xfrm xmlns:a="http://schemas.openxmlformats.org/drawingml/2006/main">
            <a:off x="8591550" y="4257675"/>
            <a:ext cx="297180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9" name="Old Q policy">
            <a:extLst xmlns:a="http://schemas.openxmlformats.org/drawingml/2006/main">
              <a:ext uri="{FF2B5EF4-FFF2-40B4-BE49-F238E27FC236}">
                <a16:creationId xmlns:a16="http://schemas.microsoft.com/office/drawing/2014/main" id="{EACD9999-1520-416E-945E-2EAF8FA8E2FD}"/>
              </a:ext>
            </a:extLst>
          </p:cNvPr>
          <p:cNvSpPr>
            <a:spLocks xmlns:a="http://schemas.openxmlformats.org/drawingml/2006/main" noGrp="1"/>
          </p:cNvSpPr>
          <p:nvPr/>
        </p:nvSpPr>
        <p:spPr>
          <a:xfrm xmlns:a="http://schemas.openxmlformats.org/drawingml/2006/main">
            <a:off x="8591550" y="4524375"/>
            <a:ext cx="2924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21212"/>
                </a:solidFill>
                <a:latin typeface="Liberation Sans"/>
                <a:ea typeface="Liberation Sans"/>
                <a:cs typeface="Liberation Sans"/>
              </a:defRPr>
            </a:defPPr>
          </a:lstStyle>
          <a:p xmlns:a="http://schemas.openxmlformats.org/drawingml/2006/main">
            <a:pPr algn="l">
              <a:defRPr sz="2100" b="1">
                <a:solidFill>
                  <a:srgbClr val="121212"/>
                </a:solidFill>
                <a:latin typeface="Liberation Sans"/>
                <a:ea typeface="Liberation Sans"/>
                <a:cs typeface="Liberation Sans"/>
              </a:defRPr>
            </a:pPr>
            <a:r>
              <a:rPr sz="2100" b="1">
                <a:solidFill>
                  <a:srgbClr val="121212"/>
                </a:solidFill>
                <a:latin typeface="Liberation Sans"/>
                <a:ea typeface="Liberation Sans"/>
                <a:cs typeface="Liberation Sans"/>
              </a:rPr>
              <a:t>Old Q policy</a:t>
            </a:r>
          </a:p>
        </p:txBody>
      </p:sp>
      <p:sp>
        <p:nvSpPr>
          <p:cNvPr id="10" name="Use its disclosed fallback&#10;when the model ">
            <a:extLst xmlns:a="http://schemas.openxmlformats.org/drawingml/2006/main">
              <a:ext uri="{FF2B5EF4-FFF2-40B4-BE49-F238E27FC236}">
                <a16:creationId xmlns:a16="http://schemas.microsoft.com/office/drawing/2014/main" id="{D55620B3-00A3-4F7A-AF97-A2E8DD01666F}"/>
              </a:ext>
            </a:extLst>
          </p:cNvPr>
          <p:cNvSpPr>
            <a:spLocks xmlns:a="http://schemas.openxmlformats.org/drawingml/2006/main" noGrp="1"/>
          </p:cNvSpPr>
          <p:nvPr/>
        </p:nvSpPr>
        <p:spPr>
          <a:xfrm xmlns:a="http://schemas.openxmlformats.org/drawingml/2006/main">
            <a:off x="8591550" y="5038725"/>
            <a:ext cx="29241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Use its disclosed fallback</a:t>
            </a:r>
          </a:p>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when the model changes</a:t>
            </a:r>
          </a:p>
        </p:txBody>
      </p:sp>
    </p:spTree>
    <p:extLst>
      <p:ext uri="{BB962C8B-B14F-4D97-AF65-F5344CB8AC3E}">
        <p14:creationId xmlns:p14="http://schemas.microsoft.com/office/powerpoint/2010/main" val="1216274767"/>
      </p:ext>
    </p:extLst>
  </p:cSld>
</p:sld>
</file>

<file path=ppt/slides/slide5.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0" name="AFTER THE REFIT  MCTS DAILY TRACE">
            <a:extLst xmlns:a="http://schemas.openxmlformats.org/drawingml/2006/main">
              <a:ext uri="{FF2B5EF4-FFF2-40B4-BE49-F238E27FC236}">
                <a16:creationId xmlns:a16="http://schemas.microsoft.com/office/drawing/2014/main" id="{0B0D0D28-6788-495D-9C58-78D58CD7CE32}"/>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AFTER THE REFIT  MCTS DAILY TRACE</a:t>
            </a:r>
          </a:p>
        </p:txBody>
      </p:sp>
      <p:sp>
        <p:nvSpPr>
          <p:cNvPr id="2" name="Each action has a visible resource consequ">
            <a:extLst xmlns:a="http://schemas.openxmlformats.org/drawingml/2006/main">
              <a:ext uri="{FF2B5EF4-FFF2-40B4-BE49-F238E27FC236}">
                <a16:creationId xmlns:a16="http://schemas.microsoft.com/office/drawing/2014/main" id="{CEC2F534-163A-4AA9-AF64-4F29DF32CCD1}"/>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Each action has a visible resource consequence</a:t>
            </a:r>
          </a:p>
        </p:txBody>
      </p:sp>
      <p:sp>
        <p:nvSpPr>
          <p:cNvPr id="3" name="05">
            <a:extLst xmlns:a="http://schemas.openxmlformats.org/drawingml/2006/main">
              <a:ext uri="{FF2B5EF4-FFF2-40B4-BE49-F238E27FC236}">
                <a16:creationId xmlns:a16="http://schemas.microsoft.com/office/drawing/2014/main" id="{81A417B8-45FE-43B3-9925-EE005E07EF92}"/>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05</a:t>
            </a:r>
          </a:p>
        </p:txBody>
      </p:sp>
      <p:sp>
        <p:nvSpPr>
          <p:cNvPr id="4" name="All operating states, capacities and traje">
            <a:extLst xmlns:a="http://schemas.openxmlformats.org/drawingml/2006/main">
              <a:ext uri="{FF2B5EF4-FFF2-40B4-BE49-F238E27FC236}">
                <a16:creationId xmlns:a16="http://schemas.microsoft.com/office/drawing/2014/main" id="{F4E243A1-50F3-43E3-B687-48326EF019AD}"/>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All operating states, capacities and trajectories are synthetic. No purchase, dispatch, staff change or facility control executes.</a:t>
            </a:r>
          </a:p>
        </p:txBody>
      </p:sp>
      <p:pic>
        <p:nvPicPr>
          <p:cNvPr id="5" name="">
            <a:extLst xmlns:a="http://schemas.openxmlformats.org/drawingml/2006/main">
              <a:ext uri="{FF2B5EF4-FFF2-40B4-BE49-F238E27FC236}">
                <a16:creationId xmlns:a16="http://schemas.microsoft.com/office/drawing/2014/main" id="{9C2AF342-CD1D-4DA5-9FCC-107ABAB077C6}"/>
              </a:ext>
            </a:extLst>
          </p:cNvPr>
          <p:cNvPicPr>
            <a:picLocks xmlns:a="http://schemas.openxmlformats.org/drawingml/2006/main" noChangeAspect="1"/>
          </p:cNvPicPr>
          <p:nvPr/>
        </p:nvPicPr>
        <p:blipFill>
          <a:blip xmlns:r="http://schemas.openxmlformats.org/officeDocument/2006/relationships" xmlns:a="http://schemas.openxmlformats.org/drawingml/2006/main" r:embed="R6a8e37a564664e2a"/>
          <a:srcRect xmlns:a="http://schemas.openxmlformats.org/drawingml/2006/main" l="23500" t="45000" r="6000" b="2500"/>
          <a:stretch xmlns:a="http://schemas.openxmlformats.org/drawingml/2006/main"/>
        </p:blipFill>
        <p:spPr>
          <a:xfrm xmlns:a="http://schemas.openxmlformats.org/drawingml/2006/main">
            <a:off x="609600" y="2095500"/>
            <a:ext cx="7553325" cy="3781425"/>
          </a:xfrm>
          <a:prstGeom xmlns:a="http://schemas.openxmlformats.org/drawingml/2006/main" prst="rect">
            <a:avLst/>
          </a:prstGeom>
        </p:spPr>
      </p:pic>
      <p:sp>
        <p:nvSpPr>
          <p:cNvPr id="6" name="Inspect the daily choice">
            <a:extLst xmlns:a="http://schemas.openxmlformats.org/drawingml/2006/main">
              <a:ext uri="{FF2B5EF4-FFF2-40B4-BE49-F238E27FC236}">
                <a16:creationId xmlns:a16="http://schemas.microsoft.com/office/drawing/2014/main" id="{80501D52-6819-44BE-89BA-E188CAD576A0}"/>
              </a:ext>
            </a:extLst>
          </p:cNvPr>
          <p:cNvSpPr>
            <a:spLocks xmlns:a="http://schemas.openxmlformats.org/drawingml/2006/main" noGrp="1"/>
          </p:cNvSpPr>
          <p:nvPr/>
        </p:nvSpPr>
        <p:spPr>
          <a:xfrm xmlns:a="http://schemas.openxmlformats.org/drawingml/2006/main">
            <a:off x="8601075" y="2143125"/>
            <a:ext cx="293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1212"/>
                </a:solidFill>
                <a:latin typeface="Liberation Sans"/>
                <a:ea typeface="Liberation Sans"/>
                <a:cs typeface="Liberation Sans"/>
              </a:defRPr>
            </a:defPPr>
          </a:lstStyle>
          <a:p xmlns:a="http://schemas.openxmlformats.org/drawingml/2006/main">
            <a:pPr algn="l">
              <a:defRPr sz="2175" b="1">
                <a:solidFill>
                  <a:srgbClr val="121212"/>
                </a:solidFill>
                <a:latin typeface="Liberation Sans"/>
                <a:ea typeface="Liberation Sans"/>
                <a:cs typeface="Liberation Sans"/>
              </a:defRPr>
            </a:pPr>
            <a:r>
              <a:rPr sz="2175" b="1">
                <a:solidFill>
                  <a:srgbClr val="121212"/>
                </a:solidFill>
                <a:latin typeface="Liberation Sans"/>
                <a:ea typeface="Liberation Sans"/>
                <a:cs typeface="Liberation Sans"/>
              </a:rPr>
              <a:t>Inspect the daily choice</a:t>
            </a:r>
          </a:p>
        </p:txBody>
      </p:sp>
      <p:sp>
        <p:nvSpPr>
          <p:cNvPr id="7" name="Stock moves between sites.&#10;Cash and capaci">
            <a:extLst xmlns:a="http://schemas.openxmlformats.org/drawingml/2006/main">
              <a:ext uri="{FF2B5EF4-FFF2-40B4-BE49-F238E27FC236}">
                <a16:creationId xmlns:a16="http://schemas.microsoft.com/office/drawing/2014/main" id="{9413CB20-47B4-448E-BBE9-2EBDAE5C282D}"/>
              </a:ext>
            </a:extLst>
          </p:cNvPr>
          <p:cNvSpPr>
            <a:spLocks xmlns:a="http://schemas.openxmlformats.org/drawingml/2006/main" noGrp="1"/>
          </p:cNvSpPr>
          <p:nvPr/>
        </p:nvSpPr>
        <p:spPr>
          <a:xfrm xmlns:a="http://schemas.openxmlformats.org/drawingml/2006/main">
            <a:off x="8601075" y="3162300"/>
            <a:ext cx="29622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Stock moves between sites.</a:t>
            </a:r>
          </a:p>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Cash and capacity are used.</a:t>
            </a:r>
          </a:p>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Outstanding receipts stay visible.</a:t>
            </a:r>
          </a:p>
        </p:txBody>
      </p:sp>
      <p:sp>
        <p:nvSpPr>
          <p:cNvPr id="8" name="">
            <a:extLst xmlns:a="http://schemas.openxmlformats.org/drawingml/2006/main">
              <a:ext uri="{FF2B5EF4-FFF2-40B4-BE49-F238E27FC236}">
                <a16:creationId xmlns:a16="http://schemas.microsoft.com/office/drawing/2014/main" id="{50B2D030-0547-4F20-AD1F-F188D9F524CA}"/>
              </a:ext>
            </a:extLst>
          </p:cNvPr>
          <p:cNvSpPr>
            <a:spLocks xmlns:a="http://schemas.openxmlformats.org/drawingml/2006/main" noGrp="1"/>
          </p:cNvSpPr>
          <p:nvPr/>
        </p:nvSpPr>
        <p:spPr>
          <a:xfrm xmlns:a="http://schemas.openxmlformats.org/drawingml/2006/main">
            <a:off x="8601075" y="4876800"/>
            <a:ext cx="2962275"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9" name="No resource reset">
            <a:extLst xmlns:a="http://schemas.openxmlformats.org/drawingml/2006/main">
              <a:ext uri="{FF2B5EF4-FFF2-40B4-BE49-F238E27FC236}">
                <a16:creationId xmlns:a16="http://schemas.microsoft.com/office/drawing/2014/main" id="{C9BC19A5-0A47-4BD7-AF43-61D6D3D5F50B}"/>
              </a:ext>
            </a:extLst>
          </p:cNvPr>
          <p:cNvSpPr>
            <a:spLocks xmlns:a="http://schemas.openxmlformats.org/drawingml/2006/main" noGrp="1"/>
          </p:cNvSpPr>
          <p:nvPr/>
        </p:nvSpPr>
        <p:spPr>
          <a:xfrm xmlns:a="http://schemas.openxmlformats.org/drawingml/2006/main">
            <a:off x="8601075" y="5200650"/>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21212"/>
                </a:solidFill>
                <a:latin typeface="Liberation Sans"/>
                <a:ea typeface="Liberation Sans"/>
                <a:cs typeface="Liberation Sans"/>
              </a:defRPr>
            </a:defPPr>
          </a:lstStyle>
          <a:p xmlns:a="http://schemas.openxmlformats.org/drawingml/2006/main">
            <a:pPr algn="l">
              <a:defRPr sz="2100" b="1">
                <a:solidFill>
                  <a:srgbClr val="121212"/>
                </a:solidFill>
                <a:latin typeface="Liberation Sans"/>
                <a:ea typeface="Liberation Sans"/>
                <a:cs typeface="Liberation Sans"/>
              </a:defRPr>
            </a:pPr>
            <a:r>
              <a:rPr sz="2100" b="1">
                <a:solidFill>
                  <a:srgbClr val="121212"/>
                </a:solidFill>
                <a:latin typeface="Liberation Sans"/>
                <a:ea typeface="Liberation Sans"/>
                <a:cs typeface="Liberation Sans"/>
              </a:rPr>
              <a:t>No resource reset</a:t>
            </a:r>
          </a:p>
        </p:txBody>
      </p:sp>
    </p:spTree>
    <p:extLst>
      <p:ext uri="{BB962C8B-B14F-4D97-AF65-F5344CB8AC3E}">
        <p14:creationId xmlns:p14="http://schemas.microsoft.com/office/powerpoint/2010/main" val="782112004"/>
      </p:ext>
    </p:extLst>
  </p:cSld>
</p:sld>
</file>

<file path=ppt/slides/slide6.xml><?xml version="1.0" encoding="utf-8"?>
<p:sld xmlns:p="http://schemas.openxmlformats.org/presentationml/2006/main">
  <p:cSld>
    <p:bg>
      <p:bgPr>
        <a:solidFill xmlns:a="http://schemas.openxmlformats.org/drawingml/2006/main">
          <a:srgbClr val="121212"/>
        </a:solidFill>
      </p:bgPr>
    </p:bg>
    <p:spTree>
      <p:nvGrpSpPr>
        <p:cNvPr id="1" name=""/>
        <p:cNvGrpSpPr/>
        <p:nvPr/>
      </p:nvGrpSpPr>
      <p:grpSpPr>
        <a:xfrm xmlns:a="http://schemas.openxmlformats.org/drawingml/2006/main"/>
      </p:grpSpPr>
      <p:sp>
        <p:nvSpPr>
          <p:cNvPr id="11" name="DORMATHON">
            <a:extLst xmlns:a="http://schemas.openxmlformats.org/drawingml/2006/main">
              <a:ext uri="{FF2B5EF4-FFF2-40B4-BE49-F238E27FC236}">
                <a16:creationId xmlns:a16="http://schemas.microsoft.com/office/drawing/2014/main" id="{1F06711F-7D85-44B7-9285-F462093B3205}"/>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DADA7"/>
                </a:solidFill>
                <a:latin typeface="Liberation Sans"/>
                <a:ea typeface="Liberation Sans"/>
                <a:cs typeface="Liberation Sans"/>
              </a:defRPr>
            </a:defPPr>
          </a:lstStyle>
          <a:p xmlns:a="http://schemas.openxmlformats.org/drawingml/2006/main">
            <a:pPr algn="l">
              <a:defRPr sz="1050" b="1">
                <a:solidFill>
                  <a:srgbClr val="ADADA7"/>
                </a:solidFill>
                <a:latin typeface="Liberation Sans"/>
                <a:ea typeface="Liberation Sans"/>
                <a:cs typeface="Liberation Sans"/>
              </a:defRPr>
            </a:pPr>
            <a:r>
              <a:rPr sz="1050" b="1">
                <a:solidFill>
                  <a:srgbClr val="ADADA7"/>
                </a:solidFill>
                <a:latin typeface="Liberation Sans"/>
                <a:ea typeface="Liberation Sans"/>
                <a:cs typeface="Liberation Sans"/>
              </a:rPr>
              <a:t>DORMATHON</a:t>
            </a:r>
          </a:p>
        </p:txBody>
      </p:sp>
      <p:sp>
        <p:nvSpPr>
          <p:cNvPr id="2" name="A working review loop for retail decisions">
            <a:extLst xmlns:a="http://schemas.openxmlformats.org/drawingml/2006/main">
              <a:ext uri="{FF2B5EF4-FFF2-40B4-BE49-F238E27FC236}">
                <a16:creationId xmlns:a16="http://schemas.microsoft.com/office/drawing/2014/main" id="{C1309F5F-EA4A-4C87-964A-54F13516BE60}"/>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Liberation Sans"/>
                <a:ea typeface="Liberation Sans"/>
                <a:cs typeface="Liberation Sans"/>
              </a:defRPr>
            </a:defPPr>
          </a:lstStyle>
          <a:p xmlns:a="http://schemas.openxmlformats.org/drawingml/2006/main">
            <a:pPr algn="l">
              <a:defRPr sz="3300" b="1">
                <a:solidFill>
                  <a:srgbClr val="FFFFFF"/>
                </a:solidFill>
                <a:latin typeface="Liberation Sans"/>
                <a:ea typeface="Liberation Sans"/>
                <a:cs typeface="Liberation Sans"/>
              </a:defRPr>
            </a:pPr>
            <a:r>
              <a:rPr sz="3300" b="1">
                <a:solidFill>
                  <a:srgbClr val="FFFFFF"/>
                </a:solidFill>
                <a:latin typeface="Liberation Sans"/>
                <a:ea typeface="Liberation Sans"/>
                <a:cs typeface="Liberation Sans"/>
              </a:rPr>
              <a:t>A working review loop for retail decisions</a:t>
            </a:r>
          </a:p>
        </p:txBody>
      </p:sp>
      <p:sp>
        <p:nvSpPr>
          <p:cNvPr id="3" name="06">
            <a:extLst xmlns:a="http://schemas.openxmlformats.org/drawingml/2006/main">
              <a:ext uri="{FF2B5EF4-FFF2-40B4-BE49-F238E27FC236}">
                <a16:creationId xmlns:a16="http://schemas.microsoft.com/office/drawing/2014/main" id="{AFDB33D6-133F-4D46-A351-5FADF0EC8272}"/>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AAAAA4"/>
                </a:solidFill>
                <a:latin typeface="Liberation Sans"/>
                <a:ea typeface="Liberation Sans"/>
                <a:cs typeface="Liberation Sans"/>
              </a:defRPr>
            </a:defPPr>
          </a:lstStyle>
          <a:p xmlns:a="http://schemas.openxmlformats.org/drawingml/2006/main">
            <a:pPr algn="r">
              <a:defRPr sz="975" b="0">
                <a:solidFill>
                  <a:srgbClr val="AAAAA4"/>
                </a:solidFill>
                <a:latin typeface="Liberation Sans"/>
                <a:ea typeface="Liberation Sans"/>
                <a:cs typeface="Liberation Sans"/>
              </a:defRPr>
            </a:pPr>
            <a:r>
              <a:rPr sz="975" b="0">
                <a:solidFill>
                  <a:srgbClr val="AAAAA4"/>
                </a:solidFill>
                <a:latin typeface="Liberation Sans"/>
                <a:ea typeface="Liberation Sans"/>
                <a:cs typeface="Liberation Sans"/>
              </a:rPr>
              <a:t>06</a:t>
            </a:r>
          </a:p>
        </p:txBody>
      </p:sp>
      <p:sp>
        <p:nvSpPr>
          <p:cNvPr id="4" name="Real external evidence. Explicit hypotheti">
            <a:extLst xmlns:a="http://schemas.openxmlformats.org/drawingml/2006/main">
              <a:ext uri="{FF2B5EF4-FFF2-40B4-BE49-F238E27FC236}">
                <a16:creationId xmlns:a16="http://schemas.microsoft.com/office/drawing/2014/main" id="{4BFF6C43-668F-4991-A374-60BA857BD124}"/>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5BD"/>
                </a:solidFill>
                <a:latin typeface="Liberation Sans"/>
                <a:ea typeface="Liberation Sans"/>
                <a:cs typeface="Liberation Sans"/>
              </a:defRPr>
            </a:defPPr>
          </a:lstStyle>
          <a:p xmlns:a="http://schemas.openxmlformats.org/drawingml/2006/main">
            <a:pPr algn="l">
              <a:defRPr sz="1050" b="0">
                <a:solidFill>
                  <a:srgbClr val="C5C5BD"/>
                </a:solidFill>
                <a:latin typeface="Liberation Sans"/>
                <a:ea typeface="Liberation Sans"/>
                <a:cs typeface="Liberation Sans"/>
              </a:defRPr>
            </a:pPr>
            <a:r>
              <a:rPr sz="1050" b="0">
                <a:solidFill>
                  <a:srgbClr val="C5C5BD"/>
                </a:solidFill>
                <a:latin typeface="Liberation Sans"/>
                <a:ea typeface="Liberation Sans"/>
                <a:cs typeface="Liberation Sans"/>
              </a:rPr>
              <a:t>Real external evidence. Explicit hypothetical exposure. Synthetic decision experiments. Human review remains required.</a:t>
            </a:r>
          </a:p>
        </p:txBody>
      </p:sp>
      <p:sp>
        <p:nvSpPr>
          <p:cNvPr id="5" name="Evidence that leads&#10;to an inspectable choi">
            <a:extLst xmlns:a="http://schemas.openxmlformats.org/drawingml/2006/main">
              <a:ext uri="{FF2B5EF4-FFF2-40B4-BE49-F238E27FC236}">
                <a16:creationId xmlns:a16="http://schemas.microsoft.com/office/drawing/2014/main" id="{2E5ED89F-618A-4C6A-825B-92E7AC18A391}"/>
              </a:ext>
            </a:extLst>
          </p:cNvPr>
          <p:cNvSpPr>
            <a:spLocks xmlns:a="http://schemas.openxmlformats.org/drawingml/2006/main" noGrp="1"/>
          </p:cNvSpPr>
          <p:nvPr/>
        </p:nvSpPr>
        <p:spPr>
          <a:xfrm xmlns:a="http://schemas.openxmlformats.org/drawingml/2006/main">
            <a:off x="619125" y="2143125"/>
            <a:ext cx="7096125"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Liberation Sans"/>
                <a:ea typeface="Liberation Sans"/>
                <a:cs typeface="Liberation Sans"/>
              </a:defRPr>
            </a:defPPr>
          </a:lstStyle>
          <a:p xmlns:a="http://schemas.openxmlformats.org/drawingml/2006/main">
            <a:pPr algn="l">
              <a:defRPr sz="3600" b="1">
                <a:solidFill>
                  <a:srgbClr val="FFFFFF"/>
                </a:solidFill>
                <a:latin typeface="Liberation Sans"/>
                <a:ea typeface="Liberation Sans"/>
                <a:cs typeface="Liberation Sans"/>
              </a:defRPr>
            </a:pPr>
            <a:r>
              <a:rPr sz="3600" b="1">
                <a:solidFill>
                  <a:srgbClr val="FFFFFF"/>
                </a:solidFill>
                <a:latin typeface="Liberation Sans"/>
                <a:ea typeface="Liberation Sans"/>
                <a:cs typeface="Liberation Sans"/>
              </a:rPr>
              <a:t>Evidence that leads</a:t>
            </a:r>
          </a:p>
          <a:p xmlns:a="http://schemas.openxmlformats.org/drawingml/2006/main">
            <a:pPr algn="l">
              <a:defRPr sz="3600" b="1">
                <a:solidFill>
                  <a:srgbClr val="FFFFFF"/>
                </a:solidFill>
                <a:latin typeface="Liberation Sans"/>
                <a:ea typeface="Liberation Sans"/>
                <a:cs typeface="Liberation Sans"/>
              </a:defRPr>
            </a:pPr>
            <a:r>
              <a:rPr sz="3600" b="1">
                <a:solidFill>
                  <a:srgbClr val="FFFFFF"/>
                </a:solidFill>
                <a:latin typeface="Liberation Sans"/>
                <a:ea typeface="Liberation Sans"/>
                <a:cs typeface="Liberation Sans"/>
              </a:rPr>
              <a:t>to an inspectable choice</a:t>
            </a:r>
          </a:p>
        </p:txBody>
      </p:sp>
      <p:sp>
        <p:nvSpPr>
          <p:cNvPr id="6" name="Connect the event to an explicit exposure.">
            <a:extLst xmlns:a="http://schemas.openxmlformats.org/drawingml/2006/main">
              <a:ext uri="{FF2B5EF4-FFF2-40B4-BE49-F238E27FC236}">
                <a16:creationId xmlns:a16="http://schemas.microsoft.com/office/drawing/2014/main" id="{4EF6DCEE-2A00-4FFB-A9D6-FDE602FB61BF}"/>
              </a:ext>
            </a:extLst>
          </p:cNvPr>
          <p:cNvSpPr>
            <a:spLocks xmlns:a="http://schemas.openxmlformats.org/drawingml/2006/main" noGrp="1"/>
          </p:cNvSpPr>
          <p:nvPr/>
        </p:nvSpPr>
        <p:spPr>
          <a:xfrm xmlns:a="http://schemas.openxmlformats.org/drawingml/2006/main">
            <a:off x="647700" y="4124325"/>
            <a:ext cx="6858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C8C8C0"/>
                </a:solidFill>
                <a:latin typeface="Liberation Sans"/>
                <a:ea typeface="Liberation Sans"/>
                <a:cs typeface="Liberation Sans"/>
              </a:defRPr>
            </a:defPPr>
          </a:lstStyle>
          <a:p xmlns:a="http://schemas.openxmlformats.org/drawingml/2006/main">
            <a:pPr algn="l">
              <a:defRPr sz="2025" b="0">
                <a:solidFill>
                  <a:srgbClr val="C8C8C0"/>
                </a:solidFill>
                <a:latin typeface="Liberation Sans"/>
                <a:ea typeface="Liberation Sans"/>
                <a:cs typeface="Liberation Sans"/>
              </a:defRPr>
            </a:pPr>
            <a:r>
              <a:rPr sz="2025" b="0">
                <a:solidFill>
                  <a:srgbClr val="C8C8C0"/>
                </a:solidFill>
                <a:latin typeface="Liberation Sans"/>
                <a:ea typeface="Liberation Sans"/>
                <a:cs typeface="Liberation Sans"/>
              </a:rPr>
              <a:t>Connect the event to an explicit exposure.</a:t>
            </a:r>
          </a:p>
          <a:p xmlns:a="http://schemas.openxmlformats.org/drawingml/2006/main">
            <a:pPr algn="l">
              <a:defRPr sz="2025" b="0">
                <a:solidFill>
                  <a:srgbClr val="C8C8C0"/>
                </a:solidFill>
                <a:latin typeface="Liberation Sans"/>
                <a:ea typeface="Liberation Sans"/>
                <a:cs typeface="Liberation Sans"/>
              </a:defRPr>
            </a:pPr>
            <a:r>
              <a:rPr sz="2025" b="0">
                <a:solidFill>
                  <a:srgbClr val="C8C8C0"/>
                </a:solidFill>
                <a:latin typeface="Liberation Sans"/>
                <a:ea typeface="Liberation Sans"/>
                <a:cs typeface="Liberation Sans"/>
              </a:rPr>
              <a:t>Compare constrained responses.</a:t>
            </a:r>
          </a:p>
          <a:p xmlns:a="http://schemas.openxmlformats.org/drawingml/2006/main">
            <a:pPr algn="l">
              <a:defRPr sz="2025" b="0">
                <a:solidFill>
                  <a:srgbClr val="C8C8C0"/>
                </a:solidFill>
                <a:latin typeface="Liberation Sans"/>
                <a:ea typeface="Liberation Sans"/>
                <a:cs typeface="Liberation Sans"/>
              </a:defRPr>
            </a:pPr>
            <a:r>
              <a:rPr sz="2025" b="0">
                <a:solidFill>
                  <a:srgbClr val="C8C8C0"/>
                </a:solidFill>
                <a:latin typeface="Liberation Sans"/>
                <a:ea typeface="Liberation Sans"/>
                <a:cs typeface="Liberation Sans"/>
              </a:rPr>
              <a:t>Revise the model as observations arrive.</a:t>
            </a:r>
          </a:p>
        </p:txBody>
      </p:sp>
      <p:sp>
        <p:nvSpPr>
          <p:cNvPr id="7" name="">
            <a:extLst xmlns:a="http://schemas.openxmlformats.org/drawingml/2006/main">
              <a:ext uri="{FF2B5EF4-FFF2-40B4-BE49-F238E27FC236}">
                <a16:creationId xmlns:a16="http://schemas.microsoft.com/office/drawing/2014/main" id="{2338E44D-94DF-416C-867B-195E80F7A26F}"/>
              </a:ext>
            </a:extLst>
          </p:cNvPr>
          <p:cNvSpPr>
            <a:spLocks xmlns:a="http://schemas.openxmlformats.org/drawingml/2006/main" noGrp="1"/>
          </p:cNvSpPr>
          <p:nvPr/>
        </p:nvSpPr>
        <p:spPr>
          <a:xfrm xmlns:a="http://schemas.openxmlformats.org/drawingml/2006/main">
            <a:off x="8001000" y="2114550"/>
            <a:ext cx="0" cy="3524250"/>
          </a:xfrm>
          <a:prstGeom xmlns:a="http://schemas.openxmlformats.org/drawingml/2006/main" prst="line">
            <a:avLst/>
          </a:prstGeom>
          <a:noFill xmlns:a="http://schemas.openxmlformats.org/drawingml/2006/main"/>
          <a:ln xmlns:a="http://schemas.openxmlformats.org/drawingml/2006/main" w="9525">
            <a:solidFill>
              <a:srgbClr val="65655F"/>
            </a:solidFill>
            <a:prstDash val="solid"/>
          </a:ln>
        </p:spPr>
      </p:sp>
      <p:sp>
        <p:nvSpPr>
          <p:cNvPr id="8" name="Working today">
            <a:extLst xmlns:a="http://schemas.openxmlformats.org/drawingml/2006/main">
              <a:ext uri="{FF2B5EF4-FFF2-40B4-BE49-F238E27FC236}">
                <a16:creationId xmlns:a16="http://schemas.microsoft.com/office/drawing/2014/main" id="{C836DC3B-7EB7-4734-8DCC-FD970E1678CA}"/>
              </a:ext>
            </a:extLst>
          </p:cNvPr>
          <p:cNvSpPr>
            <a:spLocks xmlns:a="http://schemas.openxmlformats.org/drawingml/2006/main" noGrp="1"/>
          </p:cNvSpPr>
          <p:nvPr/>
        </p:nvSpPr>
        <p:spPr>
          <a:xfrm xmlns:a="http://schemas.openxmlformats.org/drawingml/2006/main">
            <a:off x="8362950" y="2238375"/>
            <a:ext cx="3105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C8C8C0"/>
                </a:solidFill>
                <a:latin typeface="Liberation Sans"/>
                <a:ea typeface="Liberation Sans"/>
                <a:cs typeface="Liberation Sans"/>
              </a:defRPr>
            </a:defPPr>
          </a:lstStyle>
          <a:p xmlns:a="http://schemas.openxmlformats.org/drawingml/2006/main">
            <a:pPr algn="l">
              <a:defRPr sz="1875" b="1">
                <a:solidFill>
                  <a:srgbClr val="C8C8C0"/>
                </a:solidFill>
                <a:latin typeface="Liberation Sans"/>
                <a:ea typeface="Liberation Sans"/>
                <a:cs typeface="Liberation Sans"/>
              </a:defRPr>
            </a:pPr>
            <a:r>
              <a:rPr sz="1875" b="1">
                <a:solidFill>
                  <a:srgbClr val="C8C8C0"/>
                </a:solidFill>
                <a:latin typeface="Liberation Sans"/>
                <a:ea typeface="Liberation Sans"/>
                <a:cs typeface="Liberation Sans"/>
              </a:rPr>
              <a:t>Working today</a:t>
            </a:r>
          </a:p>
        </p:txBody>
      </p:sp>
      <p:sp>
        <p:nvSpPr>
          <p:cNvPr id="9" name="Sourced cases&#10;Runnable comparisons&#10;Version">
            <a:extLst xmlns:a="http://schemas.openxmlformats.org/drawingml/2006/main">
              <a:ext uri="{FF2B5EF4-FFF2-40B4-BE49-F238E27FC236}">
                <a16:creationId xmlns:a16="http://schemas.microsoft.com/office/drawing/2014/main" id="{7271D623-5F7F-4A28-A70C-5CAC658179E7}"/>
              </a:ext>
            </a:extLst>
          </p:cNvPr>
          <p:cNvSpPr>
            <a:spLocks xmlns:a="http://schemas.openxmlformats.org/drawingml/2006/main" noGrp="1"/>
          </p:cNvSpPr>
          <p:nvPr/>
        </p:nvSpPr>
        <p:spPr>
          <a:xfrm xmlns:a="http://schemas.openxmlformats.org/drawingml/2006/main">
            <a:off x="8362950" y="2943225"/>
            <a:ext cx="3095625"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Liberation Sans"/>
                <a:ea typeface="Liberation Sans"/>
                <a:cs typeface="Liberation Sans"/>
              </a:defRPr>
            </a:defPPr>
          </a:lstStyle>
          <a:p xmlns:a="http://schemas.openxmlformats.org/drawingml/2006/main">
            <a:pPr algn="l">
              <a:defRPr sz="2025" b="0">
                <a:solidFill>
                  <a:srgbClr val="FFFFFF"/>
                </a:solidFill>
                <a:latin typeface="Liberation Sans"/>
                <a:ea typeface="Liberation Sans"/>
                <a:cs typeface="Liberation Sans"/>
              </a:defRPr>
            </a:pPr>
            <a:r>
              <a:rPr sz="2025" b="0">
                <a:solidFill>
                  <a:srgbClr val="FFFFFF"/>
                </a:solidFill>
                <a:latin typeface="Liberation Sans"/>
                <a:ea typeface="Liberation Sans"/>
                <a:cs typeface="Liberation Sans"/>
              </a:rPr>
              <a:t>Sourced cases</a:t>
            </a:r>
          </a:p>
          <a:p xmlns:a="http://schemas.openxmlformats.org/drawingml/2006/main">
            <a:pPr algn="l">
              <a:defRPr sz="2025" b="0">
                <a:solidFill>
                  <a:srgbClr val="FFFFFF"/>
                </a:solidFill>
                <a:latin typeface="Liberation Sans"/>
                <a:ea typeface="Liberation Sans"/>
                <a:cs typeface="Liberation Sans"/>
              </a:defRPr>
            </a:pPr>
            <a:r>
              <a:rPr sz="2025" b="0">
                <a:solidFill>
                  <a:srgbClr val="FFFFFF"/>
                </a:solidFill>
                <a:latin typeface="Liberation Sans"/>
                <a:ea typeface="Liberation Sans"/>
                <a:cs typeface="Liberation Sans"/>
              </a:rPr>
              <a:t>Runnable comparisons</a:t>
            </a:r>
          </a:p>
          <a:p xmlns:a="http://schemas.openxmlformats.org/drawingml/2006/main">
            <a:pPr algn="l">
              <a:defRPr sz="2025" b="0">
                <a:solidFill>
                  <a:srgbClr val="FFFFFF"/>
                </a:solidFill>
                <a:latin typeface="Liberation Sans"/>
                <a:ea typeface="Liberation Sans"/>
                <a:cs typeface="Liberation Sans"/>
              </a:defRPr>
            </a:pPr>
            <a:r>
              <a:rPr sz="2025" b="0">
                <a:solidFill>
                  <a:srgbClr val="FFFFFF"/>
                </a:solidFill>
                <a:latin typeface="Liberation Sans"/>
                <a:ea typeface="Liberation Sans"/>
                <a:cs typeface="Liberation Sans"/>
              </a:rPr>
              <a:t>Versioned model updates</a:t>
            </a:r>
          </a:p>
        </p:txBody>
      </p:sp>
      <p:sp>
        <p:nvSpPr>
          <p:cNvPr id="10" name="Next proof:&#10;observed operating outcomes">
            <a:extLst xmlns:a="http://schemas.openxmlformats.org/drawingml/2006/main">
              <a:ext uri="{FF2B5EF4-FFF2-40B4-BE49-F238E27FC236}">
                <a16:creationId xmlns:a16="http://schemas.microsoft.com/office/drawing/2014/main" id="{7B6D0788-B244-4EA6-852E-7C6301BA15A3}"/>
              </a:ext>
            </a:extLst>
          </p:cNvPr>
          <p:cNvSpPr>
            <a:spLocks xmlns:a="http://schemas.openxmlformats.org/drawingml/2006/main" noGrp="1"/>
          </p:cNvSpPr>
          <p:nvPr/>
        </p:nvSpPr>
        <p:spPr>
          <a:xfrm xmlns:a="http://schemas.openxmlformats.org/drawingml/2006/main">
            <a:off x="8362950" y="5057775"/>
            <a:ext cx="309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C8C8C0"/>
                </a:solidFill>
                <a:latin typeface="Liberation Sans"/>
                <a:ea typeface="Liberation Sans"/>
                <a:cs typeface="Liberation Sans"/>
              </a:defRPr>
            </a:defPPr>
          </a:lstStyle>
          <a:p xmlns:a="http://schemas.openxmlformats.org/drawingml/2006/main">
            <a:pPr algn="l">
              <a:defRPr sz="1650" b="0">
                <a:solidFill>
                  <a:srgbClr val="C8C8C0"/>
                </a:solidFill>
                <a:latin typeface="Liberation Sans"/>
                <a:ea typeface="Liberation Sans"/>
                <a:cs typeface="Liberation Sans"/>
              </a:defRPr>
            </a:pPr>
            <a:r>
              <a:rPr sz="1650" b="0">
                <a:solidFill>
                  <a:srgbClr val="C8C8C0"/>
                </a:solidFill>
                <a:latin typeface="Liberation Sans"/>
                <a:ea typeface="Liberation Sans"/>
                <a:cs typeface="Liberation Sans"/>
              </a:rPr>
              <a:t>Next proof:</a:t>
            </a:r>
          </a:p>
          <a:p xmlns:a="http://schemas.openxmlformats.org/drawingml/2006/main">
            <a:pPr algn="l">
              <a:defRPr sz="1650" b="0">
                <a:solidFill>
                  <a:srgbClr val="C8C8C0"/>
                </a:solidFill>
                <a:latin typeface="Liberation Sans"/>
                <a:ea typeface="Liberation Sans"/>
                <a:cs typeface="Liberation Sans"/>
              </a:defRPr>
            </a:pPr>
            <a:r>
              <a:rPr sz="1650" b="0">
                <a:solidFill>
                  <a:srgbClr val="C8C8C0"/>
                </a:solidFill>
                <a:latin typeface="Liberation Sans"/>
                <a:ea typeface="Liberation Sans"/>
                <a:cs typeface="Liberation Sans"/>
              </a:rPr>
              <a:t>observed operating outcomes</a:t>
            </a:r>
          </a:p>
        </p:txBody>
      </p:sp>
    </p:spTree>
    <p:extLst>
      <p:ext uri="{BB962C8B-B14F-4D97-AF65-F5344CB8AC3E}">
        <p14:creationId xmlns:p14="http://schemas.microsoft.com/office/powerpoint/2010/main" val="351126755"/>
      </p:ext>
    </p:extLst>
  </p:cSld>
</p:sld>
</file>

<file path=ppt/slides/slide7.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21" name="APPENDIX  EVENT SCOPE">
            <a:extLst xmlns:a="http://schemas.openxmlformats.org/drawingml/2006/main">
              <a:ext uri="{FF2B5EF4-FFF2-40B4-BE49-F238E27FC236}">
                <a16:creationId xmlns:a16="http://schemas.microsoft.com/office/drawing/2014/main" id="{6C239708-8AE0-4327-8B7D-26AC17CB3649}"/>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EVENT SCOPE</a:t>
            </a:r>
          </a:p>
        </p:txBody>
      </p:sp>
      <p:sp>
        <p:nvSpPr>
          <p:cNvPr id="2" name="Real events lead to different review quest">
            <a:extLst xmlns:a="http://schemas.openxmlformats.org/drawingml/2006/main">
              <a:ext uri="{FF2B5EF4-FFF2-40B4-BE49-F238E27FC236}">
                <a16:creationId xmlns:a16="http://schemas.microsoft.com/office/drawing/2014/main" id="{5E13EB2E-5B0B-463A-9540-3A9DD7834693}"/>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Real events lead to different review questions</a:t>
            </a:r>
          </a:p>
        </p:txBody>
      </p:sp>
      <p:sp>
        <p:nvSpPr>
          <p:cNvPr id="3" name="07">
            <a:extLst xmlns:a="http://schemas.openxmlformats.org/drawingml/2006/main">
              <a:ext uri="{FF2B5EF4-FFF2-40B4-BE49-F238E27FC236}">
                <a16:creationId xmlns:a16="http://schemas.microsoft.com/office/drawing/2014/main" id="{FC6A6D53-837B-4A90-A3D7-C71DB6F68E6F}"/>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07</a:t>
            </a:r>
          </a:p>
        </p:txBody>
      </p:sp>
      <p:sp>
        <p:nvSpPr>
          <p:cNvPr id="4" name="The existing 40 selected-case workflows re">
            <a:extLst xmlns:a="http://schemas.openxmlformats.org/drawingml/2006/main">
              <a:ext uri="{FF2B5EF4-FFF2-40B4-BE49-F238E27FC236}">
                <a16:creationId xmlns:a16="http://schemas.microsoft.com/office/drawing/2014/main" id="{0BB451CC-6F2C-4D26-B823-DF4E5AFD3C20}"/>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The existing 40 selected-case workflows remain. Three sourced events allow an explicit delay test; Kimi stays strategic context only.</a:t>
            </a:r>
          </a:p>
        </p:txBody>
      </p:sp>
      <p:sp>
        <p:nvSpPr>
          <p:cNvPr id="5" name="">
            <a:extLst xmlns:a="http://schemas.openxmlformats.org/drawingml/2006/main">
              <a:ext uri="{FF2B5EF4-FFF2-40B4-BE49-F238E27FC236}">
                <a16:creationId xmlns:a16="http://schemas.microsoft.com/office/drawing/2014/main" id="{7D1087A9-7672-4A7D-B7DC-B1B1A08B7001}"/>
              </a:ext>
            </a:extLst>
          </p:cNvPr>
          <p:cNvSpPr>
            <a:spLocks xmlns:a="http://schemas.openxmlformats.org/drawingml/2006/main" noGrp="1"/>
          </p:cNvSpPr>
          <p:nvPr/>
        </p:nvSpPr>
        <p:spPr>
          <a:xfrm xmlns:a="http://schemas.openxmlformats.org/drawingml/2006/main">
            <a:off x="609600" y="2076450"/>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6" name="Hormuz 2026">
            <a:extLst xmlns:a="http://schemas.openxmlformats.org/drawingml/2006/main">
              <a:ext uri="{FF2B5EF4-FFF2-40B4-BE49-F238E27FC236}">
                <a16:creationId xmlns:a16="http://schemas.microsoft.com/office/drawing/2014/main" id="{38A6679D-D519-4ADE-9CFE-ECA5739A8F71}"/>
              </a:ext>
            </a:extLst>
          </p:cNvPr>
          <p:cNvSpPr>
            <a:spLocks xmlns:a="http://schemas.openxmlformats.org/drawingml/2006/main" noGrp="1"/>
          </p:cNvSpPr>
          <p:nvPr/>
        </p:nvSpPr>
        <p:spPr>
          <a:xfrm xmlns:a="http://schemas.openxmlformats.org/drawingml/2006/main">
            <a:off x="609600" y="2238375"/>
            <a:ext cx="30194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1212"/>
                </a:solidFill>
                <a:latin typeface="Liberation Sans"/>
                <a:ea typeface="Liberation Sans"/>
                <a:cs typeface="Liberation Sans"/>
              </a:defRPr>
            </a:defPPr>
          </a:lstStyle>
          <a:p xmlns:a="http://schemas.openxmlformats.org/drawingml/2006/main">
            <a:pPr algn="l">
              <a:defRPr sz="1800" b="1">
                <a:solidFill>
                  <a:srgbClr val="121212"/>
                </a:solidFill>
                <a:latin typeface="Liberation Sans"/>
                <a:ea typeface="Liberation Sans"/>
                <a:cs typeface="Liberation Sans"/>
              </a:defRPr>
            </a:pPr>
            <a:r>
              <a:rPr sz="1800" b="1">
                <a:solidFill>
                  <a:srgbClr val="121212"/>
                </a:solidFill>
                <a:latin typeface="Liberation Sans"/>
                <a:ea typeface="Liberation Sans"/>
                <a:cs typeface="Liberation Sans"/>
              </a:rPr>
              <a:t>Hormuz 2026</a:t>
            </a:r>
          </a:p>
        </p:txBody>
      </p:sp>
      <p:sp>
        <p:nvSpPr>
          <p:cNvPr id="7" name="Partial flows and continuing constraints">
            <a:extLst xmlns:a="http://schemas.openxmlformats.org/drawingml/2006/main">
              <a:ext uri="{FF2B5EF4-FFF2-40B4-BE49-F238E27FC236}">
                <a16:creationId xmlns:a16="http://schemas.microsoft.com/office/drawing/2014/main" id="{8C3A703C-BD33-4EFB-8EB2-3403E7C91BE4}"/>
              </a:ext>
            </a:extLst>
          </p:cNvPr>
          <p:cNvSpPr>
            <a:spLocks xmlns:a="http://schemas.openxmlformats.org/drawingml/2006/main" noGrp="1"/>
          </p:cNvSpPr>
          <p:nvPr/>
        </p:nvSpPr>
        <p:spPr>
          <a:xfrm xmlns:a="http://schemas.openxmlformats.org/drawingml/2006/main">
            <a:off x="3943350" y="2209800"/>
            <a:ext cx="7572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Partial flows and continuing constraints</a:t>
            </a:r>
          </a:p>
        </p:txBody>
      </p:sp>
      <p:sp>
        <p:nvSpPr>
          <p:cNvPr id="8" name="Verify the order’s actual supplier or logi">
            <a:extLst xmlns:a="http://schemas.openxmlformats.org/drawingml/2006/main">
              <a:ext uri="{FF2B5EF4-FFF2-40B4-BE49-F238E27FC236}">
                <a16:creationId xmlns:a16="http://schemas.microsoft.com/office/drawing/2014/main" id="{FE44EE9B-42E6-4549-A141-1D19081F2B73}"/>
              </a:ext>
            </a:extLst>
          </p:cNvPr>
          <p:cNvSpPr>
            <a:spLocks xmlns:a="http://schemas.openxmlformats.org/drawingml/2006/main" noGrp="1"/>
          </p:cNvSpPr>
          <p:nvPr/>
        </p:nvSpPr>
        <p:spPr>
          <a:xfrm xmlns:a="http://schemas.openxmlformats.org/drawingml/2006/main">
            <a:off x="3943350" y="2600325"/>
            <a:ext cx="7572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Verify the order’s actual supplier or logistics exposure</a:t>
            </a:r>
          </a:p>
        </p:txBody>
      </p:sp>
      <p:sp>
        <p:nvSpPr>
          <p:cNvPr id="9" name="">
            <a:extLst xmlns:a="http://schemas.openxmlformats.org/drawingml/2006/main">
              <a:ext uri="{FF2B5EF4-FFF2-40B4-BE49-F238E27FC236}">
                <a16:creationId xmlns:a16="http://schemas.microsoft.com/office/drawing/2014/main" id="{D5348FD8-1364-42B5-A014-1F957E27CB8B}"/>
              </a:ext>
            </a:extLst>
          </p:cNvPr>
          <p:cNvSpPr>
            <a:spLocks xmlns:a="http://schemas.openxmlformats.org/drawingml/2006/main" noGrp="1"/>
          </p:cNvSpPr>
          <p:nvPr/>
        </p:nvSpPr>
        <p:spPr>
          <a:xfrm xmlns:a="http://schemas.openxmlformats.org/drawingml/2006/main">
            <a:off x="609600" y="3019425"/>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0" name="Noto earthquake 2024">
            <a:extLst xmlns:a="http://schemas.openxmlformats.org/drawingml/2006/main">
              <a:ext uri="{FF2B5EF4-FFF2-40B4-BE49-F238E27FC236}">
                <a16:creationId xmlns:a16="http://schemas.microsoft.com/office/drawing/2014/main" id="{9847E8E4-B0E2-488A-84EC-8E648AD4420F}"/>
              </a:ext>
            </a:extLst>
          </p:cNvPr>
          <p:cNvSpPr>
            <a:spLocks xmlns:a="http://schemas.openxmlformats.org/drawingml/2006/main" noGrp="1"/>
          </p:cNvSpPr>
          <p:nvPr/>
        </p:nvSpPr>
        <p:spPr>
          <a:xfrm xmlns:a="http://schemas.openxmlformats.org/drawingml/2006/main">
            <a:off x="609600" y="3181350"/>
            <a:ext cx="30194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1212"/>
                </a:solidFill>
                <a:latin typeface="Liberation Sans"/>
                <a:ea typeface="Liberation Sans"/>
                <a:cs typeface="Liberation Sans"/>
              </a:defRPr>
            </a:defPPr>
          </a:lstStyle>
          <a:p xmlns:a="http://schemas.openxmlformats.org/drawingml/2006/main">
            <a:pPr algn="l">
              <a:defRPr sz="1800" b="1">
                <a:solidFill>
                  <a:srgbClr val="121212"/>
                </a:solidFill>
                <a:latin typeface="Liberation Sans"/>
                <a:ea typeface="Liberation Sans"/>
                <a:cs typeface="Liberation Sans"/>
              </a:defRPr>
            </a:pPr>
            <a:r>
              <a:rPr sz="1800" b="1">
                <a:solidFill>
                  <a:srgbClr val="121212"/>
                </a:solidFill>
                <a:latin typeface="Liberation Sans"/>
                <a:ea typeface="Liberation Sans"/>
                <a:cs typeface="Liberation Sans"/>
              </a:rPr>
              <a:t>Noto earthquake 2024</a:t>
            </a:r>
          </a:p>
        </p:txBody>
      </p:sp>
      <p:sp>
        <p:nvSpPr>
          <p:cNvPr id="11" name="Historical JMA record, 1 January">
            <a:extLst xmlns:a="http://schemas.openxmlformats.org/drawingml/2006/main">
              <a:ext uri="{FF2B5EF4-FFF2-40B4-BE49-F238E27FC236}">
                <a16:creationId xmlns:a16="http://schemas.microsoft.com/office/drawing/2014/main" id="{1B7B36A4-2CA6-4038-9160-A77B18D9CFD3}"/>
              </a:ext>
            </a:extLst>
          </p:cNvPr>
          <p:cNvSpPr>
            <a:spLocks xmlns:a="http://schemas.openxmlformats.org/drawingml/2006/main" noGrp="1"/>
          </p:cNvSpPr>
          <p:nvPr/>
        </p:nvSpPr>
        <p:spPr>
          <a:xfrm xmlns:a="http://schemas.openxmlformats.org/drawingml/2006/main">
            <a:off x="3943350" y="3152775"/>
            <a:ext cx="7572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Historical JMA record, 1 January</a:t>
            </a:r>
          </a:p>
        </p:txBody>
      </p:sp>
      <p:sp>
        <p:nvSpPr>
          <p:cNvPr id="12" name="Check the assumed supplier’s regional link">
            <a:extLst xmlns:a="http://schemas.openxmlformats.org/drawingml/2006/main">
              <a:ext uri="{FF2B5EF4-FFF2-40B4-BE49-F238E27FC236}">
                <a16:creationId xmlns:a16="http://schemas.microsoft.com/office/drawing/2014/main" id="{44461E99-A3D4-466D-B706-64B66D3BE2D1}"/>
              </a:ext>
            </a:extLst>
          </p:cNvPr>
          <p:cNvSpPr>
            <a:spLocks xmlns:a="http://schemas.openxmlformats.org/drawingml/2006/main" noGrp="1"/>
          </p:cNvSpPr>
          <p:nvPr/>
        </p:nvSpPr>
        <p:spPr>
          <a:xfrm xmlns:a="http://schemas.openxmlformats.org/drawingml/2006/main">
            <a:off x="3943350" y="3543300"/>
            <a:ext cx="7572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Check the assumed supplier’s regional link</a:t>
            </a:r>
          </a:p>
        </p:txBody>
      </p:sp>
      <p:sp>
        <p:nvSpPr>
          <p:cNvPr id="13" name="">
            <a:extLst xmlns:a="http://schemas.openxmlformats.org/drawingml/2006/main">
              <a:ext uri="{FF2B5EF4-FFF2-40B4-BE49-F238E27FC236}">
                <a16:creationId xmlns:a16="http://schemas.microsoft.com/office/drawing/2014/main" id="{583C2117-C8DB-424C-891A-48F274F14D93}"/>
              </a:ext>
            </a:extLst>
          </p:cNvPr>
          <p:cNvSpPr>
            <a:spLocks xmlns:a="http://schemas.openxmlformats.org/drawingml/2006/main" noGrp="1"/>
          </p:cNvSpPr>
          <p:nvPr/>
        </p:nvSpPr>
        <p:spPr>
          <a:xfrm xmlns:a="http://schemas.openxmlformats.org/drawingml/2006/main">
            <a:off x="609600" y="3962400"/>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4" name="Red Sea rerouting 2024">
            <a:extLst xmlns:a="http://schemas.openxmlformats.org/drawingml/2006/main">
              <a:ext uri="{FF2B5EF4-FFF2-40B4-BE49-F238E27FC236}">
                <a16:creationId xmlns:a16="http://schemas.microsoft.com/office/drawing/2014/main" id="{11A69FA3-BFE0-489E-9331-CC24007C6242}"/>
              </a:ext>
            </a:extLst>
          </p:cNvPr>
          <p:cNvSpPr>
            <a:spLocks xmlns:a="http://schemas.openxmlformats.org/drawingml/2006/main" noGrp="1"/>
          </p:cNvSpPr>
          <p:nvPr/>
        </p:nvSpPr>
        <p:spPr>
          <a:xfrm xmlns:a="http://schemas.openxmlformats.org/drawingml/2006/main">
            <a:off x="609600" y="4124325"/>
            <a:ext cx="30194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1212"/>
                </a:solidFill>
                <a:latin typeface="Liberation Sans"/>
                <a:ea typeface="Liberation Sans"/>
                <a:cs typeface="Liberation Sans"/>
              </a:defRPr>
            </a:defPPr>
          </a:lstStyle>
          <a:p xmlns:a="http://schemas.openxmlformats.org/drawingml/2006/main">
            <a:pPr algn="l">
              <a:defRPr sz="1800" b="1">
                <a:solidFill>
                  <a:srgbClr val="121212"/>
                </a:solidFill>
                <a:latin typeface="Liberation Sans"/>
                <a:ea typeface="Liberation Sans"/>
                <a:cs typeface="Liberation Sans"/>
              </a:defRPr>
            </a:pPr>
            <a:r>
              <a:rPr sz="1800" b="1">
                <a:solidFill>
                  <a:srgbClr val="121212"/>
                </a:solidFill>
                <a:latin typeface="Liberation Sans"/>
                <a:ea typeface="Liberation Sans"/>
                <a:cs typeface="Liberation Sans"/>
              </a:rPr>
              <a:t>Red Sea rerouting 2024</a:t>
            </a:r>
          </a:p>
        </p:txBody>
      </p:sp>
      <p:sp>
        <p:nvSpPr>
          <p:cNvPr id="15" name="Maersk’s 5 January carrier decision">
            <a:extLst xmlns:a="http://schemas.openxmlformats.org/drawingml/2006/main">
              <a:ext uri="{FF2B5EF4-FFF2-40B4-BE49-F238E27FC236}">
                <a16:creationId xmlns:a16="http://schemas.microsoft.com/office/drawing/2014/main" id="{71A9BFDF-9747-4A02-B5A1-DF99AED68598}"/>
              </a:ext>
            </a:extLst>
          </p:cNvPr>
          <p:cNvSpPr>
            <a:spLocks xmlns:a="http://schemas.openxmlformats.org/drawingml/2006/main" noGrp="1"/>
          </p:cNvSpPr>
          <p:nvPr/>
        </p:nvSpPr>
        <p:spPr>
          <a:xfrm xmlns:a="http://schemas.openxmlformats.org/drawingml/2006/main">
            <a:off x="3943350" y="4095750"/>
            <a:ext cx="7572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Maersk’s 5 January carrier decision</a:t>
            </a:r>
          </a:p>
        </p:txBody>
      </p:sp>
      <p:sp>
        <p:nvSpPr>
          <p:cNvPr id="16" name="Check the relevant service, not every Asia">
            <a:extLst xmlns:a="http://schemas.openxmlformats.org/drawingml/2006/main">
              <a:ext uri="{FF2B5EF4-FFF2-40B4-BE49-F238E27FC236}">
                <a16:creationId xmlns:a16="http://schemas.microsoft.com/office/drawing/2014/main" id="{2C708F7A-B9D4-4F49-8726-2A36E9571302}"/>
              </a:ext>
            </a:extLst>
          </p:cNvPr>
          <p:cNvSpPr>
            <a:spLocks xmlns:a="http://schemas.openxmlformats.org/drawingml/2006/main" noGrp="1"/>
          </p:cNvSpPr>
          <p:nvPr/>
        </p:nvSpPr>
        <p:spPr>
          <a:xfrm xmlns:a="http://schemas.openxmlformats.org/drawingml/2006/main">
            <a:off x="3943350" y="4486275"/>
            <a:ext cx="7572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Check the relevant service, not every Asian shipment</a:t>
            </a:r>
          </a:p>
        </p:txBody>
      </p:sp>
      <p:sp>
        <p:nvSpPr>
          <p:cNvPr id="17" name="">
            <a:extLst xmlns:a="http://schemas.openxmlformats.org/drawingml/2006/main">
              <a:ext uri="{FF2B5EF4-FFF2-40B4-BE49-F238E27FC236}">
                <a16:creationId xmlns:a16="http://schemas.microsoft.com/office/drawing/2014/main" id="{B17ADC27-8521-4BEA-8BD2-1BB9E04F6649}"/>
              </a:ext>
            </a:extLst>
          </p:cNvPr>
          <p:cNvSpPr>
            <a:spLocks xmlns:a="http://schemas.openxmlformats.org/drawingml/2006/main" noGrp="1"/>
          </p:cNvSpPr>
          <p:nvPr/>
        </p:nvSpPr>
        <p:spPr>
          <a:xfrm xmlns:a="http://schemas.openxmlformats.org/drawingml/2006/main">
            <a:off x="609600" y="4905375"/>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8" name="Kimi funding / enterprise AI">
            <a:extLst xmlns:a="http://schemas.openxmlformats.org/drawingml/2006/main">
              <a:ext uri="{FF2B5EF4-FFF2-40B4-BE49-F238E27FC236}">
                <a16:creationId xmlns:a16="http://schemas.microsoft.com/office/drawing/2014/main" id="{C932F2CB-1E1B-4544-B5A5-1AAF36417723}"/>
              </a:ext>
            </a:extLst>
          </p:cNvPr>
          <p:cNvSpPr>
            <a:spLocks xmlns:a="http://schemas.openxmlformats.org/drawingml/2006/main" noGrp="1"/>
          </p:cNvSpPr>
          <p:nvPr/>
        </p:nvSpPr>
        <p:spPr>
          <a:xfrm xmlns:a="http://schemas.openxmlformats.org/drawingml/2006/main">
            <a:off x="609600" y="5067300"/>
            <a:ext cx="30194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1212"/>
                </a:solidFill>
                <a:latin typeface="Liberation Sans"/>
                <a:ea typeface="Liberation Sans"/>
                <a:cs typeface="Liberation Sans"/>
              </a:defRPr>
            </a:defPPr>
          </a:lstStyle>
          <a:p xmlns:a="http://schemas.openxmlformats.org/drawingml/2006/main">
            <a:pPr algn="l">
              <a:defRPr sz="1800" b="1">
                <a:solidFill>
                  <a:srgbClr val="121212"/>
                </a:solidFill>
                <a:latin typeface="Liberation Sans"/>
                <a:ea typeface="Liberation Sans"/>
                <a:cs typeface="Liberation Sans"/>
              </a:defRPr>
            </a:pPr>
            <a:r>
              <a:rPr sz="1800" b="1">
                <a:solidFill>
                  <a:srgbClr val="121212"/>
                </a:solidFill>
                <a:latin typeface="Liberation Sans"/>
                <a:ea typeface="Liberation Sans"/>
                <a:cs typeface="Liberation Sans"/>
              </a:rPr>
              <a:t>Kimi funding / enterprise AI</a:t>
            </a:r>
          </a:p>
        </p:txBody>
      </p:sp>
      <p:sp>
        <p:nvSpPr>
          <p:cNvPr id="19" name="Dated reported funding and official progra">
            <a:extLst xmlns:a="http://schemas.openxmlformats.org/drawingml/2006/main">
              <a:ext uri="{FF2B5EF4-FFF2-40B4-BE49-F238E27FC236}">
                <a16:creationId xmlns:a16="http://schemas.microsoft.com/office/drawing/2014/main" id="{2245A7F7-318D-4DF6-8348-4A0E179A793D}"/>
              </a:ext>
            </a:extLst>
          </p:cNvPr>
          <p:cNvSpPr>
            <a:spLocks xmlns:a="http://schemas.openxmlformats.org/drawingml/2006/main" noGrp="1"/>
          </p:cNvSpPr>
          <p:nvPr/>
        </p:nvSpPr>
        <p:spPr>
          <a:xfrm xmlns:a="http://schemas.openxmlformats.org/drawingml/2006/main">
            <a:off x="3943350" y="5038725"/>
            <a:ext cx="7572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Dated reported funding and official program</a:t>
            </a:r>
          </a:p>
        </p:txBody>
      </p:sp>
      <p:sp>
        <p:nvSpPr>
          <p:cNvPr id="20" name="Review vendor requirements; no physical su">
            <a:extLst xmlns:a="http://schemas.openxmlformats.org/drawingml/2006/main">
              <a:ext uri="{FF2B5EF4-FFF2-40B4-BE49-F238E27FC236}">
                <a16:creationId xmlns:a16="http://schemas.microsoft.com/office/drawing/2014/main" id="{FE57F147-5661-478F-B7CA-D7522A1FD2CF}"/>
              </a:ext>
            </a:extLst>
          </p:cNvPr>
          <p:cNvSpPr>
            <a:spLocks xmlns:a="http://schemas.openxmlformats.org/drawingml/2006/main" noGrp="1"/>
          </p:cNvSpPr>
          <p:nvPr/>
        </p:nvSpPr>
        <p:spPr>
          <a:xfrm xmlns:a="http://schemas.openxmlformats.org/drawingml/2006/main">
            <a:off x="3943350" y="5429250"/>
            <a:ext cx="7572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Review vendor requirements; no physical supply shock</a:t>
            </a:r>
          </a:p>
        </p:txBody>
      </p:sp>
    </p:spTree>
    <p:extLst>
      <p:ext uri="{BB962C8B-B14F-4D97-AF65-F5344CB8AC3E}">
        <p14:creationId xmlns:p14="http://schemas.microsoft.com/office/powerpoint/2010/main" val="94698111"/>
      </p:ext>
    </p:extLst>
  </p:cSld>
</p:sld>
</file>

<file path=ppt/slides/slide8.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21" name="APPENDIX  MODEL CONTRACT">
            <a:extLst xmlns:a="http://schemas.openxmlformats.org/drawingml/2006/main">
              <a:ext uri="{FF2B5EF4-FFF2-40B4-BE49-F238E27FC236}">
                <a16:creationId xmlns:a16="http://schemas.microsoft.com/office/drawing/2014/main" id="{DD916A57-A987-4D89-81A2-3AD9BC63B3AB}"/>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MODEL CONTRACT</a:t>
            </a:r>
          </a:p>
        </p:txBody>
      </p:sp>
      <p:sp>
        <p:nvSpPr>
          <p:cNvPr id="2" name="The simulator couples demand, capacity and">
            <a:extLst xmlns:a="http://schemas.openxmlformats.org/drawingml/2006/main">
              <a:ext uri="{FF2B5EF4-FFF2-40B4-BE49-F238E27FC236}">
                <a16:creationId xmlns:a16="http://schemas.microsoft.com/office/drawing/2014/main" id="{E38418BC-DEBA-4923-915A-D3FA098341A7}"/>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The simulator couples demand, capacity and resources</a:t>
            </a:r>
          </a:p>
        </p:txBody>
      </p:sp>
      <p:sp>
        <p:nvSpPr>
          <p:cNvPr id="3" name="08">
            <a:extLst xmlns:a="http://schemas.openxmlformats.org/drawingml/2006/main">
              <a:ext uri="{FF2B5EF4-FFF2-40B4-BE49-F238E27FC236}">
                <a16:creationId xmlns:a16="http://schemas.microsoft.com/office/drawing/2014/main" id="{2C6DA754-7CD0-4640-A362-2CE428D77EC1}"/>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08</a:t>
            </a:r>
          </a:p>
        </p:txBody>
      </p:sp>
      <p:sp>
        <p:nvSpPr>
          <p:cNvPr id="4" name="Seven daily decisions, 12 declared actions">
            <a:extLst xmlns:a="http://schemas.openxmlformats.org/drawingml/2006/main">
              <a:ext uri="{FF2B5EF4-FFF2-40B4-BE49-F238E27FC236}">
                <a16:creationId xmlns:a16="http://schemas.microsoft.com/office/drawing/2014/main" id="{E450EC09-475E-453C-9F56-B9E4FD215601}"/>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Seven daily decisions, 12 declared actions. Compact assumed dynamics, not a high-fidelity model of a real retailer.</a:t>
            </a:r>
          </a:p>
        </p:txBody>
      </p:sp>
      <p:sp>
        <p:nvSpPr>
          <p:cNvPr id="5" name="">
            <a:extLst xmlns:a="http://schemas.openxmlformats.org/drawingml/2006/main">
              <a:ext uri="{FF2B5EF4-FFF2-40B4-BE49-F238E27FC236}">
                <a16:creationId xmlns:a16="http://schemas.microsoft.com/office/drawing/2014/main" id="{7A0A2DA9-3F24-4EF6-8737-036B27C0CB57}"/>
              </a:ext>
            </a:extLst>
          </p:cNvPr>
          <p:cNvSpPr>
            <a:spLocks xmlns:a="http://schemas.openxmlformats.org/drawingml/2006/main" noGrp="1"/>
          </p:cNvSpPr>
          <p:nvPr/>
        </p:nvSpPr>
        <p:spPr>
          <a:xfrm xmlns:a="http://schemas.openxmlformats.org/drawingml/2006/main">
            <a:off x="609600" y="2076450"/>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6" name="Demand uncertainty">
            <a:extLst xmlns:a="http://schemas.openxmlformats.org/drawingml/2006/main">
              <a:ext uri="{FF2B5EF4-FFF2-40B4-BE49-F238E27FC236}">
                <a16:creationId xmlns:a16="http://schemas.microsoft.com/office/drawing/2014/main" id="{34C1A598-CE13-405E-9516-F86EBF41E903}"/>
              </a:ext>
            </a:extLst>
          </p:cNvPr>
          <p:cNvSpPr>
            <a:spLocks xmlns:a="http://schemas.openxmlformats.org/drawingml/2006/main" noGrp="1"/>
          </p:cNvSpPr>
          <p:nvPr/>
        </p:nvSpPr>
        <p:spPr>
          <a:xfrm xmlns:a="http://schemas.openxmlformats.org/drawingml/2006/main">
            <a:off x="609600" y="2238375"/>
            <a:ext cx="285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1212"/>
                </a:solidFill>
                <a:latin typeface="Liberation Sans"/>
                <a:ea typeface="Liberation Sans"/>
                <a:cs typeface="Liberation Sans"/>
              </a:defRPr>
            </a:defPPr>
          </a:lstStyle>
          <a:p xmlns:a="http://schemas.openxmlformats.org/drawingml/2006/main">
            <a:pPr algn="l">
              <a:defRPr sz="1800" b="1">
                <a:solidFill>
                  <a:srgbClr val="121212"/>
                </a:solidFill>
                <a:latin typeface="Liberation Sans"/>
                <a:ea typeface="Liberation Sans"/>
                <a:cs typeface="Liberation Sans"/>
              </a:defRPr>
            </a:pPr>
            <a:r>
              <a:rPr sz="1800" b="1">
                <a:solidFill>
                  <a:srgbClr val="121212"/>
                </a:solidFill>
                <a:latin typeface="Liberation Sans"/>
                <a:ea typeface="Liberation Sans"/>
                <a:cs typeface="Liberation Sans"/>
              </a:rPr>
              <a:t>Demand uncertainty</a:t>
            </a:r>
          </a:p>
        </p:txBody>
      </p:sp>
      <p:sp>
        <p:nvSpPr>
          <p:cNvPr id="7" name="Mean-reverting log-demand SDE">
            <a:extLst xmlns:a="http://schemas.openxmlformats.org/drawingml/2006/main">
              <a:ext uri="{FF2B5EF4-FFF2-40B4-BE49-F238E27FC236}">
                <a16:creationId xmlns:a16="http://schemas.microsoft.com/office/drawing/2014/main" id="{56ACA722-7D13-41EF-A354-16A6DC804686}"/>
              </a:ext>
            </a:extLst>
          </p:cNvPr>
          <p:cNvSpPr>
            <a:spLocks xmlns:a="http://schemas.openxmlformats.org/drawingml/2006/main" noGrp="1"/>
          </p:cNvSpPr>
          <p:nvPr/>
        </p:nvSpPr>
        <p:spPr>
          <a:xfrm xmlns:a="http://schemas.openxmlformats.org/drawingml/2006/main">
            <a:off x="3829050" y="2209800"/>
            <a:ext cx="7686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Mean-reverting log-demand SDE</a:t>
            </a:r>
          </a:p>
        </p:txBody>
      </p:sp>
      <p:sp>
        <p:nvSpPr>
          <p:cNvPr id="8" name="Fitted from uncensored synthetic sales">
            <a:extLst xmlns:a="http://schemas.openxmlformats.org/drawingml/2006/main">
              <a:ext uri="{FF2B5EF4-FFF2-40B4-BE49-F238E27FC236}">
                <a16:creationId xmlns:a16="http://schemas.microsoft.com/office/drawing/2014/main" id="{93381E1A-1359-4ACE-B468-9E2013D6AE2B}"/>
              </a:ext>
            </a:extLst>
          </p:cNvPr>
          <p:cNvSpPr>
            <a:spLocks xmlns:a="http://schemas.openxmlformats.org/drawingml/2006/main" noGrp="1"/>
          </p:cNvSpPr>
          <p:nvPr/>
        </p:nvSpPr>
        <p:spPr>
          <a:xfrm xmlns:a="http://schemas.openxmlformats.org/drawingml/2006/main">
            <a:off x="3829050" y="2600325"/>
            <a:ext cx="76866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Fitted from uncensored synthetic sales</a:t>
            </a:r>
          </a:p>
        </p:txBody>
      </p:sp>
      <p:sp>
        <p:nvSpPr>
          <p:cNvPr id="9" name="">
            <a:extLst xmlns:a="http://schemas.openxmlformats.org/drawingml/2006/main">
              <a:ext uri="{FF2B5EF4-FFF2-40B4-BE49-F238E27FC236}">
                <a16:creationId xmlns:a16="http://schemas.microsoft.com/office/drawing/2014/main" id="{3E9480FB-55AB-489B-BAE2-855635F34454}"/>
              </a:ext>
            </a:extLst>
          </p:cNvPr>
          <p:cNvSpPr>
            <a:spLocks xmlns:a="http://schemas.openxmlformats.org/drawingml/2006/main" noGrp="1"/>
          </p:cNvSpPr>
          <p:nvPr/>
        </p:nvSpPr>
        <p:spPr>
          <a:xfrm xmlns:a="http://schemas.openxmlformats.org/drawingml/2006/main">
            <a:off x="609600" y="3019425"/>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0" name="Thermal capacity">
            <a:extLst xmlns:a="http://schemas.openxmlformats.org/drawingml/2006/main">
              <a:ext uri="{FF2B5EF4-FFF2-40B4-BE49-F238E27FC236}">
                <a16:creationId xmlns:a16="http://schemas.microsoft.com/office/drawing/2014/main" id="{F200D2F4-2773-4283-96AE-390AF3BB9FF5}"/>
              </a:ext>
            </a:extLst>
          </p:cNvPr>
          <p:cNvSpPr>
            <a:spLocks xmlns:a="http://schemas.openxmlformats.org/drawingml/2006/main" noGrp="1"/>
          </p:cNvSpPr>
          <p:nvPr/>
        </p:nvSpPr>
        <p:spPr>
          <a:xfrm xmlns:a="http://schemas.openxmlformats.org/drawingml/2006/main">
            <a:off x="609600" y="3181350"/>
            <a:ext cx="285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1212"/>
                </a:solidFill>
                <a:latin typeface="Liberation Sans"/>
                <a:ea typeface="Liberation Sans"/>
                <a:cs typeface="Liberation Sans"/>
              </a:defRPr>
            </a:defPPr>
          </a:lstStyle>
          <a:p xmlns:a="http://schemas.openxmlformats.org/drawingml/2006/main">
            <a:pPr algn="l">
              <a:defRPr sz="1800" b="1">
                <a:solidFill>
                  <a:srgbClr val="121212"/>
                </a:solidFill>
                <a:latin typeface="Liberation Sans"/>
                <a:ea typeface="Liberation Sans"/>
                <a:cs typeface="Liberation Sans"/>
              </a:defRPr>
            </a:pPr>
            <a:r>
              <a:rPr sz="1800" b="1">
                <a:solidFill>
                  <a:srgbClr val="121212"/>
                </a:solidFill>
                <a:latin typeface="Liberation Sans"/>
                <a:ea typeface="Liberation Sans"/>
                <a:cs typeface="Liberation Sans"/>
              </a:rPr>
              <a:t>Thermal capacity</a:t>
            </a:r>
          </a:p>
        </p:txBody>
      </p:sp>
      <p:sp>
        <p:nvSpPr>
          <p:cNvPr id="11" name="One-zone RC ODE and optional PINN">
            <a:extLst xmlns:a="http://schemas.openxmlformats.org/drawingml/2006/main">
              <a:ext uri="{FF2B5EF4-FFF2-40B4-BE49-F238E27FC236}">
                <a16:creationId xmlns:a16="http://schemas.microsoft.com/office/drawing/2014/main" id="{7E631D91-23FF-4467-899C-4A4CE5744C33}"/>
              </a:ext>
            </a:extLst>
          </p:cNvPr>
          <p:cNvSpPr>
            <a:spLocks xmlns:a="http://schemas.openxmlformats.org/drawingml/2006/main" noGrp="1"/>
          </p:cNvSpPr>
          <p:nvPr/>
        </p:nvSpPr>
        <p:spPr>
          <a:xfrm xmlns:a="http://schemas.openxmlformats.org/drawingml/2006/main">
            <a:off x="3829050" y="3152775"/>
            <a:ext cx="7686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One-zone RC ODE and optional PINN</a:t>
            </a:r>
          </a:p>
        </p:txBody>
      </p:sp>
      <p:sp>
        <p:nvSpPr>
          <p:cNvPr id="12" name="Fitted thermal coefficients; exact solver ">
            <a:extLst xmlns:a="http://schemas.openxmlformats.org/drawingml/2006/main">
              <a:ext uri="{FF2B5EF4-FFF2-40B4-BE49-F238E27FC236}">
                <a16:creationId xmlns:a16="http://schemas.microsoft.com/office/drawing/2014/main" id="{2E908BE4-FFC0-4C57-BDD0-CC123CC2F8D1}"/>
              </a:ext>
            </a:extLst>
          </p:cNvPr>
          <p:cNvSpPr>
            <a:spLocks xmlns:a="http://schemas.openxmlformats.org/drawingml/2006/main" noGrp="1"/>
          </p:cNvSpPr>
          <p:nvPr/>
        </p:nvSpPr>
        <p:spPr>
          <a:xfrm xmlns:a="http://schemas.openxmlformats.org/drawingml/2006/main">
            <a:off x="3829050" y="3543300"/>
            <a:ext cx="76866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Fitted thermal coefficients; exact solver retained</a:t>
            </a:r>
          </a:p>
        </p:txBody>
      </p:sp>
      <p:sp>
        <p:nvSpPr>
          <p:cNvPr id="13" name="">
            <a:extLst xmlns:a="http://schemas.openxmlformats.org/drawingml/2006/main">
              <a:ext uri="{FF2B5EF4-FFF2-40B4-BE49-F238E27FC236}">
                <a16:creationId xmlns:a16="http://schemas.microsoft.com/office/drawing/2014/main" id="{4E328F35-F6BE-43EE-B2AA-6ADA03B9884A}"/>
              </a:ext>
            </a:extLst>
          </p:cNvPr>
          <p:cNvSpPr>
            <a:spLocks xmlns:a="http://schemas.openxmlformats.org/drawingml/2006/main" noGrp="1"/>
          </p:cNvSpPr>
          <p:nvPr/>
        </p:nvSpPr>
        <p:spPr>
          <a:xfrm xmlns:a="http://schemas.openxmlformats.org/drawingml/2006/main">
            <a:off x="609600" y="3962400"/>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4" name="Service and fatigue">
            <a:extLst xmlns:a="http://schemas.openxmlformats.org/drawingml/2006/main">
              <a:ext uri="{FF2B5EF4-FFF2-40B4-BE49-F238E27FC236}">
                <a16:creationId xmlns:a16="http://schemas.microsoft.com/office/drawing/2014/main" id="{98F03913-3996-475C-AEAF-CB0E8D390DD7}"/>
              </a:ext>
            </a:extLst>
          </p:cNvPr>
          <p:cNvSpPr>
            <a:spLocks xmlns:a="http://schemas.openxmlformats.org/drawingml/2006/main" noGrp="1"/>
          </p:cNvSpPr>
          <p:nvPr/>
        </p:nvSpPr>
        <p:spPr>
          <a:xfrm xmlns:a="http://schemas.openxmlformats.org/drawingml/2006/main">
            <a:off x="609600" y="4124325"/>
            <a:ext cx="285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1212"/>
                </a:solidFill>
                <a:latin typeface="Liberation Sans"/>
                <a:ea typeface="Liberation Sans"/>
                <a:cs typeface="Liberation Sans"/>
              </a:defRPr>
            </a:defPPr>
          </a:lstStyle>
          <a:p xmlns:a="http://schemas.openxmlformats.org/drawingml/2006/main">
            <a:pPr algn="l">
              <a:defRPr sz="1800" b="1">
                <a:solidFill>
                  <a:srgbClr val="121212"/>
                </a:solidFill>
                <a:latin typeface="Liberation Sans"/>
                <a:ea typeface="Liberation Sans"/>
                <a:cs typeface="Liberation Sans"/>
              </a:defRPr>
            </a:pPr>
            <a:r>
              <a:rPr sz="1800" b="1">
                <a:solidFill>
                  <a:srgbClr val="121212"/>
                </a:solidFill>
                <a:latin typeface="Liberation Sans"/>
                <a:ea typeface="Liberation Sans"/>
                <a:cs typeface="Liberation Sans"/>
              </a:rPr>
              <a:t>Service and fatigue</a:t>
            </a:r>
          </a:p>
        </p:txBody>
      </p:sp>
      <p:sp>
        <p:nvSpPr>
          <p:cNvPr id="15" name="Positive queue and utilization dynamics">
            <a:extLst xmlns:a="http://schemas.openxmlformats.org/drawingml/2006/main">
              <a:ext uri="{FF2B5EF4-FFF2-40B4-BE49-F238E27FC236}">
                <a16:creationId xmlns:a16="http://schemas.microsoft.com/office/drawing/2014/main" id="{76A81E88-9181-4C58-8375-142F9C4A4D5E}"/>
              </a:ext>
            </a:extLst>
          </p:cNvPr>
          <p:cNvSpPr>
            <a:spLocks xmlns:a="http://schemas.openxmlformats.org/drawingml/2006/main" noGrp="1"/>
          </p:cNvSpPr>
          <p:nvPr/>
        </p:nvSpPr>
        <p:spPr>
          <a:xfrm xmlns:a="http://schemas.openxmlformats.org/drawingml/2006/main">
            <a:off x="3829050" y="4095750"/>
            <a:ext cx="7686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Positive queue and utilization dynamics</a:t>
            </a:r>
          </a:p>
        </p:txBody>
      </p:sp>
      <p:sp>
        <p:nvSpPr>
          <p:cNvPr id="16" name="Authored coefficients, not fitted company ">
            <a:extLst xmlns:a="http://schemas.openxmlformats.org/drawingml/2006/main">
              <a:ext uri="{FF2B5EF4-FFF2-40B4-BE49-F238E27FC236}">
                <a16:creationId xmlns:a16="http://schemas.microsoft.com/office/drawing/2014/main" id="{5CF4AF6C-2388-4215-B339-8BCE9CE39FAE}"/>
              </a:ext>
            </a:extLst>
          </p:cNvPr>
          <p:cNvSpPr>
            <a:spLocks xmlns:a="http://schemas.openxmlformats.org/drawingml/2006/main" noGrp="1"/>
          </p:cNvSpPr>
          <p:nvPr/>
        </p:nvSpPr>
        <p:spPr>
          <a:xfrm xmlns:a="http://schemas.openxmlformats.org/drawingml/2006/main">
            <a:off x="3829050" y="4486275"/>
            <a:ext cx="76866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Authored coefficients, not fitted company behavior</a:t>
            </a:r>
          </a:p>
        </p:txBody>
      </p:sp>
      <p:sp>
        <p:nvSpPr>
          <p:cNvPr id="17" name="">
            <a:extLst xmlns:a="http://schemas.openxmlformats.org/drawingml/2006/main">
              <a:ext uri="{FF2B5EF4-FFF2-40B4-BE49-F238E27FC236}">
                <a16:creationId xmlns:a16="http://schemas.microsoft.com/office/drawing/2014/main" id="{4BA3ECC3-A4CF-4572-A8B6-B630AA50AEBD}"/>
              </a:ext>
            </a:extLst>
          </p:cNvPr>
          <p:cNvSpPr>
            <a:spLocks xmlns:a="http://schemas.openxmlformats.org/drawingml/2006/main" noGrp="1"/>
          </p:cNvSpPr>
          <p:nvPr/>
        </p:nvSpPr>
        <p:spPr>
          <a:xfrm xmlns:a="http://schemas.openxmlformats.org/drawingml/2006/main">
            <a:off x="609600" y="4905375"/>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8" name="Resource accounting">
            <a:extLst xmlns:a="http://schemas.openxmlformats.org/drawingml/2006/main">
              <a:ext uri="{FF2B5EF4-FFF2-40B4-BE49-F238E27FC236}">
                <a16:creationId xmlns:a16="http://schemas.microsoft.com/office/drawing/2014/main" id="{5311A218-132A-40BC-B91A-1D0335CB1C20}"/>
              </a:ext>
            </a:extLst>
          </p:cNvPr>
          <p:cNvSpPr>
            <a:spLocks xmlns:a="http://schemas.openxmlformats.org/drawingml/2006/main" noGrp="1"/>
          </p:cNvSpPr>
          <p:nvPr/>
        </p:nvSpPr>
        <p:spPr>
          <a:xfrm xmlns:a="http://schemas.openxmlformats.org/drawingml/2006/main">
            <a:off x="609600" y="5067300"/>
            <a:ext cx="285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1212"/>
                </a:solidFill>
                <a:latin typeface="Liberation Sans"/>
                <a:ea typeface="Liberation Sans"/>
                <a:cs typeface="Liberation Sans"/>
              </a:defRPr>
            </a:defPPr>
          </a:lstStyle>
          <a:p xmlns:a="http://schemas.openxmlformats.org/drawingml/2006/main">
            <a:pPr algn="l">
              <a:defRPr sz="1800" b="1">
                <a:solidFill>
                  <a:srgbClr val="121212"/>
                </a:solidFill>
                <a:latin typeface="Liberation Sans"/>
                <a:ea typeface="Liberation Sans"/>
                <a:cs typeface="Liberation Sans"/>
              </a:defRPr>
            </a:pPr>
            <a:r>
              <a:rPr sz="1800" b="1">
                <a:solidFill>
                  <a:srgbClr val="121212"/>
                </a:solidFill>
                <a:latin typeface="Liberation Sans"/>
                <a:ea typeface="Liberation Sans"/>
                <a:cs typeface="Liberation Sans"/>
              </a:rPr>
              <a:t>Resource accounting</a:t>
            </a:r>
          </a:p>
        </p:txBody>
      </p:sp>
      <p:sp>
        <p:nvSpPr>
          <p:cNvPr id="19" name="Stock, receipts, cash, fuel, staff and ene">
            <a:extLst xmlns:a="http://schemas.openxmlformats.org/drawingml/2006/main">
              <a:ext uri="{FF2B5EF4-FFF2-40B4-BE49-F238E27FC236}">
                <a16:creationId xmlns:a16="http://schemas.microsoft.com/office/drawing/2014/main" id="{6D7376B2-115B-4FB5-80B3-346F1517941C}"/>
              </a:ext>
            </a:extLst>
          </p:cNvPr>
          <p:cNvSpPr>
            <a:spLocks xmlns:a="http://schemas.openxmlformats.org/drawingml/2006/main" noGrp="1"/>
          </p:cNvSpPr>
          <p:nvPr/>
        </p:nvSpPr>
        <p:spPr>
          <a:xfrm xmlns:a="http://schemas.openxmlformats.org/drawingml/2006/main">
            <a:off x="3829050" y="5038725"/>
            <a:ext cx="7686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Stock, receipts, cash, fuel, staff and energy</a:t>
            </a:r>
          </a:p>
        </p:txBody>
      </p:sp>
      <p:sp>
        <p:nvSpPr>
          <p:cNvPr id="20" name="Conservation and feasible-action masks at ">
            <a:extLst xmlns:a="http://schemas.openxmlformats.org/drawingml/2006/main">
              <a:ext uri="{FF2B5EF4-FFF2-40B4-BE49-F238E27FC236}">
                <a16:creationId xmlns:a16="http://schemas.microsoft.com/office/drawing/2014/main" id="{A59478B2-B8FF-4174-8FBA-13DDD27348E5}"/>
              </a:ext>
            </a:extLst>
          </p:cNvPr>
          <p:cNvSpPr>
            <a:spLocks xmlns:a="http://schemas.openxmlformats.org/drawingml/2006/main" noGrp="1"/>
          </p:cNvSpPr>
          <p:nvPr/>
        </p:nvSpPr>
        <p:spPr>
          <a:xfrm xmlns:a="http://schemas.openxmlformats.org/drawingml/2006/main">
            <a:off x="3829050" y="5429250"/>
            <a:ext cx="76866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Conservation and feasible-action masks at every step</a:t>
            </a:r>
          </a:p>
        </p:txBody>
      </p:sp>
    </p:spTree>
    <p:extLst>
      <p:ext uri="{BB962C8B-B14F-4D97-AF65-F5344CB8AC3E}">
        <p14:creationId xmlns:p14="http://schemas.microsoft.com/office/powerpoint/2010/main" val="1524511638"/>
      </p:ext>
    </p:extLst>
  </p:cSld>
</p:sld>
</file>

<file path=ppt/slides/slide9.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1" name="APPENDIX  CHRONOLOGICAL SYNTHETIC EVALUATI">
            <a:extLst xmlns:a="http://schemas.openxmlformats.org/drawingml/2006/main">
              <a:ext uri="{FF2B5EF4-FFF2-40B4-BE49-F238E27FC236}">
                <a16:creationId xmlns:a16="http://schemas.microsoft.com/office/drawing/2014/main" id="{7C25967B-B5AD-44FA-8607-77442BA70C71}"/>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CHRONOLOGICAL SYNTHETIC EVALUATION</a:t>
            </a:r>
          </a:p>
        </p:txBody>
      </p:sp>
      <p:sp>
        <p:nvSpPr>
          <p:cNvPr id="2" name="Dated fitting recovers an authored demand ">
            <a:extLst xmlns:a="http://schemas.openxmlformats.org/drawingml/2006/main">
              <a:ext uri="{FF2B5EF4-FFF2-40B4-BE49-F238E27FC236}">
                <a16:creationId xmlns:a16="http://schemas.microsoft.com/office/drawing/2014/main" id="{4AF3847E-EE65-4B72-AD53-EB20E4E6DD73}"/>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Dated fitting recovers an authored demand change</a:t>
            </a:r>
          </a:p>
        </p:txBody>
      </p:sp>
      <p:sp>
        <p:nvSpPr>
          <p:cNvPr id="3" name="09">
            <a:extLst xmlns:a="http://schemas.openxmlformats.org/drawingml/2006/main">
              <a:ext uri="{FF2B5EF4-FFF2-40B4-BE49-F238E27FC236}">
                <a16:creationId xmlns:a16="http://schemas.microsoft.com/office/drawing/2014/main" id="{02CC80A1-6C63-4488-A261-1A0FE4B957D3}"/>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09</a:t>
            </a:r>
          </a:p>
        </p:txBody>
      </p:sp>
      <p:sp>
        <p:nvSpPr>
          <p:cNvPr id="4" name="Same 26 Sep–9 Oct holdout: 13 uncensored s">
            <a:extLst xmlns:a="http://schemas.openxmlformats.org/drawingml/2006/main">
              <a:ext uri="{FF2B5EF4-FFF2-40B4-BE49-F238E27FC236}">
                <a16:creationId xmlns:a16="http://schemas.microsoft.com/office/drawing/2014/main" id="{D88B98D8-78E3-430F-A2D4-A0529FBE622D}"/>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Same 26 Sep–9 Oct holdout: 13 uncensored sales rows, 56 thermal rows. Small synthetic study with an authored regime change.</a:t>
            </a:r>
          </a:p>
        </p:txBody>
      </p:sp>
      <p:sp>
        <p:nvSpPr>
          <p:cNvPr id="5" name="Demand mean absolute error, units per day">
            <a:extLst xmlns:a="http://schemas.openxmlformats.org/drawingml/2006/main">
              <a:ext uri="{FF2B5EF4-FFF2-40B4-BE49-F238E27FC236}">
                <a16:creationId xmlns:a16="http://schemas.microsoft.com/office/drawing/2014/main" id="{0707AE33-4FF2-4489-967E-1B8A7B270768}"/>
              </a:ext>
            </a:extLst>
          </p:cNvPr>
          <p:cNvSpPr>
            <a:spLocks xmlns:a="http://schemas.openxmlformats.org/drawingml/2006/main" noGrp="1"/>
          </p:cNvSpPr>
          <p:nvPr/>
        </p:nvSpPr>
        <p:spPr>
          <a:xfrm xmlns:a="http://schemas.openxmlformats.org/drawingml/2006/main">
            <a:off x="619125" y="1990725"/>
            <a:ext cx="7353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Demand mean absolute error, units per day</a:t>
            </a:r>
          </a:p>
        </p:txBody>
      </p:sp>
      <p:graphicFrame>
        <p:nvGraphicFramePr>
          <p:cNvPr id="6" name="Chart">
            <a:extLst xmlns:a="http://schemas.openxmlformats.org/drawingml/2006/main">
              <a:ext uri="{FF2B5EF4-FFF2-40B4-BE49-F238E27FC236}">
                <a16:creationId xmlns:a16="http://schemas.microsoft.com/office/drawing/2014/main" id="{757E801C-7754-4444-905B-A6D3B3C9F11D}"/>
              </a:ext>
            </a:extLst>
          </p:cNvPr>
          <p:cNvGraphicFramePr/>
          <p:nvPr/>
        </p:nvGraphicFramePr>
        <p:xfrm>
          <a:off xmlns:a="http://schemas.openxmlformats.org/drawingml/2006/main" x="600075" y="2543175"/>
          <a:ext xmlns:a="http://schemas.openxmlformats.org/drawingml/2006/main" cx="7019925" cy="3105150"/>
        </p:xfrm>
        <a:graphic xmlns:a="http://schemas.openxmlformats.org/drawingml/2006/main">
          <a:graphicData uri="http://schemas.openxmlformats.org/drawingml/2006/chart">
            <c:chart xmlns:r="http://schemas.openxmlformats.org/officeDocument/2006/relationships" xmlns:c="http://schemas.openxmlformats.org/drawingml/2006/chart" r:id="R99e521aa203d48a1"/>
          </a:graphicData>
        </a:graphic>
      </p:graphicFrame>
      <p:sp>
        <p:nvSpPr>
          <p:cNvPr id="7" name="">
            <a:extLst xmlns:a="http://schemas.openxmlformats.org/drawingml/2006/main">
              <a:ext uri="{FF2B5EF4-FFF2-40B4-BE49-F238E27FC236}">
                <a16:creationId xmlns:a16="http://schemas.microsoft.com/office/drawing/2014/main" id="{3AFA8728-BB04-4E66-9837-88BDC4A94B97}"/>
              </a:ext>
            </a:extLst>
          </p:cNvPr>
          <p:cNvSpPr>
            <a:spLocks xmlns:a="http://schemas.openxmlformats.org/drawingml/2006/main" noGrp="1"/>
          </p:cNvSpPr>
          <p:nvPr/>
        </p:nvSpPr>
        <p:spPr>
          <a:xfrm xmlns:a="http://schemas.openxmlformats.org/drawingml/2006/main">
            <a:off x="7943850" y="2028825"/>
            <a:ext cx="0" cy="3743325"/>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8" name="56 days">
            <a:extLst xmlns:a="http://schemas.openxmlformats.org/drawingml/2006/main">
              <a:ext uri="{FF2B5EF4-FFF2-40B4-BE49-F238E27FC236}">
                <a16:creationId xmlns:a16="http://schemas.microsoft.com/office/drawing/2014/main" id="{6880C905-D56E-4989-ADBD-BFF764DCD107}"/>
              </a:ext>
            </a:extLst>
          </p:cNvPr>
          <p:cNvSpPr>
            <a:spLocks xmlns:a="http://schemas.openxmlformats.org/drawingml/2006/main" noGrp="1"/>
          </p:cNvSpPr>
          <p:nvPr/>
        </p:nvSpPr>
        <p:spPr>
          <a:xfrm xmlns:a="http://schemas.openxmlformats.org/drawingml/2006/main">
            <a:off x="8334375" y="2143125"/>
            <a:ext cx="31718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121212"/>
                </a:solidFill>
                <a:latin typeface="Liberation Sans"/>
                <a:ea typeface="Liberation Sans"/>
                <a:cs typeface="Liberation Sans"/>
              </a:defRPr>
            </a:defPPr>
          </a:lstStyle>
          <a:p xmlns:a="http://schemas.openxmlformats.org/drawingml/2006/main">
            <a:pPr algn="l">
              <a:defRPr sz="3900" b="1">
                <a:solidFill>
                  <a:srgbClr val="121212"/>
                </a:solidFill>
                <a:latin typeface="Liberation Sans"/>
                <a:ea typeface="Liberation Sans"/>
                <a:cs typeface="Liberation Sans"/>
              </a:defRPr>
            </a:pPr>
            <a:r>
              <a:rPr sz="3900" b="1">
                <a:solidFill>
                  <a:srgbClr val="121212"/>
                </a:solidFill>
                <a:latin typeface="Liberation Sans"/>
                <a:ea typeface="Liberation Sans"/>
                <a:cs typeface="Liberation Sans"/>
              </a:rPr>
              <a:t>56 days</a:t>
            </a:r>
          </a:p>
        </p:txBody>
      </p:sp>
      <p:sp>
        <p:nvSpPr>
          <p:cNvPr id="9" name="past-only fitting window">
            <a:extLst xmlns:a="http://schemas.openxmlformats.org/drawingml/2006/main">
              <a:ext uri="{FF2B5EF4-FFF2-40B4-BE49-F238E27FC236}">
                <a16:creationId xmlns:a16="http://schemas.microsoft.com/office/drawing/2014/main" id="{D6138320-1D5B-44C8-921D-1D98146871CF}"/>
              </a:ext>
            </a:extLst>
          </p:cNvPr>
          <p:cNvSpPr>
            <a:spLocks xmlns:a="http://schemas.openxmlformats.org/drawingml/2006/main" noGrp="1"/>
          </p:cNvSpPr>
          <p:nvPr/>
        </p:nvSpPr>
        <p:spPr>
          <a:xfrm xmlns:a="http://schemas.openxmlformats.org/drawingml/2006/main">
            <a:off x="8362950" y="2924175"/>
            <a:ext cx="31337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past-only fitting window</a:t>
            </a:r>
          </a:p>
        </p:txBody>
      </p:sp>
      <p:sp>
        <p:nvSpPr>
          <p:cNvPr id="10" name="A newer fit consumes&#10;the old test period.&#10;">
            <a:extLst xmlns:a="http://schemas.openxmlformats.org/drawingml/2006/main">
              <a:ext uri="{FF2B5EF4-FFF2-40B4-BE49-F238E27FC236}">
                <a16:creationId xmlns:a16="http://schemas.microsoft.com/office/drawing/2014/main" id="{75FDA126-EBBD-4038-87CF-865CEF4F7482}"/>
              </a:ext>
            </a:extLst>
          </p:cNvPr>
          <p:cNvSpPr>
            <a:spLocks xmlns:a="http://schemas.openxmlformats.org/drawingml/2006/main" noGrp="1"/>
          </p:cNvSpPr>
          <p:nvPr/>
        </p:nvSpPr>
        <p:spPr>
          <a:xfrm xmlns:a="http://schemas.openxmlformats.org/drawingml/2006/main">
            <a:off x="8362950" y="4076700"/>
            <a:ext cx="31051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1212"/>
                </a:solidFill>
                <a:latin typeface="Liberation Sans"/>
                <a:ea typeface="Liberation Sans"/>
                <a:cs typeface="Liberation Sans"/>
              </a:defRPr>
            </a:defPPr>
          </a:lstStyle>
          <a:p xmlns:a="http://schemas.openxmlformats.org/drawingml/2006/main">
            <a:pPr algn="l">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A newer fit consumes</a:t>
            </a:r>
          </a:p>
          <a:p xmlns:a="http://schemas.openxmlformats.org/drawingml/2006/main">
            <a:pPr algn="l">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the old test period.</a:t>
            </a:r>
          </a:p>
          <a:p xmlns:a="http://schemas.openxmlformats.org/drawingml/2006/main">
            <a:pPr algn="l">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Its old holdout score</a:t>
            </a:r>
          </a:p>
          <a:p xmlns:a="http://schemas.openxmlformats.org/drawingml/2006/main">
            <a:pPr algn="l">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is then withheld.</a:t>
            </a:r>
          </a:p>
        </p:txBody>
      </p:sp>
    </p:spTree>
    <p:extLst>
      <p:ext uri="{BB962C8B-B14F-4D97-AF65-F5344CB8AC3E}">
        <p14:creationId xmlns:p14="http://schemas.microsoft.com/office/powerpoint/2010/main" val="705233898"/>
      </p:ext>
    </p:extLst>
  </p:cSld>
</p:sld>
</file>

<file path=ppt/slides/slide10.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APPENDIX  SCALAR THERMAL SURROGATE">
            <a:extLst xmlns:a="http://schemas.openxmlformats.org/drawingml/2006/main">
              <a:ext uri="{FF2B5EF4-FFF2-40B4-BE49-F238E27FC236}">
                <a16:creationId xmlns:a16="http://schemas.microsoft.com/office/drawing/2014/main" id="{7282CD6C-637F-4743-998D-51DB740EF4A7}"/>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SCALAR THERMAL SURROGATE</a:t>
            </a:r>
          </a:p>
        </p:txBody>
      </p:sp>
      <p:sp>
        <p:nvSpPr>
          <p:cNvPr id="2" name="The PINN is trained, and the exact solver ">
            <a:extLst xmlns:a="http://schemas.openxmlformats.org/drawingml/2006/main">
              <a:ext uri="{FF2B5EF4-FFF2-40B4-BE49-F238E27FC236}">
                <a16:creationId xmlns:a16="http://schemas.microsoft.com/office/drawing/2014/main" id="{A90F8CDB-7A9A-4D72-814D-B56E13D8F33C}"/>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The PINN is trained, and the exact solver is stronger</a:t>
            </a:r>
          </a:p>
        </p:txBody>
      </p:sp>
      <p:sp>
        <p:nvSpPr>
          <p:cNvPr id="3" name="10">
            <a:extLst xmlns:a="http://schemas.openxmlformats.org/drawingml/2006/main">
              <a:ext uri="{FF2B5EF4-FFF2-40B4-BE49-F238E27FC236}">
                <a16:creationId xmlns:a16="http://schemas.microsoft.com/office/drawing/2014/main" id="{0975B7BE-38B1-450A-ACA5-C91755BFC417}"/>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10</a:t>
            </a:r>
          </a:p>
        </p:txBody>
      </p:sp>
      <p:sp>
        <p:nvSpPr>
          <p:cNvPr id="4" name="A bounded neural approximation to an assum">
            <a:extLst xmlns:a="http://schemas.openxmlformats.org/drawingml/2006/main">
              <a:ext uri="{FF2B5EF4-FFF2-40B4-BE49-F238E27FC236}">
                <a16:creationId xmlns:a16="http://schemas.microsoft.com/office/drawing/2014/main" id="{C594349C-D90E-4DA2-BC80-6D17A98FD18D}"/>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A bounded neural approximation to an assumed RC equation. No speedup, greater physical fidelity or planning advantage is claimed.</a:t>
            </a:r>
          </a:p>
        </p:txBody>
      </p:sp>
      <p:graphicFrame>
        <p:nvGraphicFramePr>
          <p:cNvPr id="5" name="">
            <a:extLst xmlns:a="http://schemas.openxmlformats.org/drawingml/2006/main">
              <a:ext uri="{FF2B5EF4-FFF2-40B4-BE49-F238E27FC236}">
                <a16:creationId xmlns:a16="http://schemas.microsoft.com/office/drawing/2014/main" id="{6C126864-97E4-4685-9636-46D3A809471E}"/>
              </a:ext>
            </a:extLst>
          </p:cNvPr>
          <p:cNvGraphicFramePr/>
          <p:nvPr/>
        </p:nvGraphicFramePr>
        <p:xfrm>
          <a:off xmlns:a="http://schemas.openxmlformats.org/drawingml/2006/main" x="609600" y="2085975"/>
          <a:ext xmlns:a="http://schemas.openxmlformats.org/drawingml/2006/main" cx="10953750" cy="3171825"/>
        </p:xfrm>
        <a:graphic xmlns:a="http://schemas.openxmlformats.org/drawingml/2006/main">
          <a:graphicData uri="http://schemas.openxmlformats.org/drawingml/2006/table">
            <a:tbl>
              <a:tblPr/>
              <a:tblGrid>
                <a:gridCol w="5219700"/>
                <a:gridCol w="5734050"/>
              </a:tblGrid>
              <a:tr h="528638">
                <a:tc>
                  <a:txBody>
                    <a:bodyPr lIns="114300" tIns="114300" rIns="114300" bIns="114300"/>
                    <a:lstStyle/>
                    <a:p>
                      <a:r>
                        <a:rPr sz="1275" b="1">
                          <a:solidFill>
                            <a:srgbClr val="FFFFFF"/>
                          </a:solidFill>
                          <a:latin typeface="Liberation Sans"/>
                          <a:ea typeface="Liberation Sans"/>
                          <a:cs typeface="Liberation Sans"/>
                        </a:rPr>
                        <a:t>Evidence</a:t>
                      </a:r>
                    </a:p>
                  </a:txBody>
                  <a:tcPr marL="91440" marR="91440" marT="45720" marB="45720">
                    <a:solidFill>
                      <a:srgbClr val="121212"/>
                    </a:solidFill>
                  </a:tcPr>
                </a:tc>
                <a:tc>
                  <a:txBody>
                    <a:bodyPr lIns="114300" tIns="114300" rIns="114300" bIns="114300"/>
                    <a:lstStyle/>
                    <a:p>
                      <a:r>
                        <a:rPr sz="1275" b="1">
                          <a:solidFill>
                            <a:srgbClr val="FFFFFF"/>
                          </a:solidFill>
                          <a:latin typeface="Liberation Sans"/>
                          <a:ea typeface="Liberation Sans"/>
                          <a:cs typeface="Liberation Sans"/>
                        </a:rPr>
                        <a:t>Verified result</a:t>
                      </a:r>
                    </a:p>
                  </a:txBody>
                  <a:tcPr marL="91440" marR="91440" marT="45720" marB="45720">
                    <a:solidFill>
                      <a:srgbClr val="121212"/>
                    </a:solidFill>
                  </a:tcPr>
                </a:tc>
              </a:tr>
              <a:tr h="528638">
                <a:tc>
                  <a:txBody>
                    <a:bodyPr lIns="114300" tIns="114300" rIns="114300" bIns="114300"/>
                    <a:lstStyle/>
                    <a:p>
                      <a:r>
                        <a:rPr sz="1650" b="0">
                          <a:solidFill>
                            <a:srgbClr val="121212"/>
                          </a:solidFill>
                          <a:latin typeface="Liberation Sans"/>
                          <a:ea typeface="Liberation Sans"/>
                          <a:cs typeface="Liberation Sans"/>
                        </a:rPr>
                        <a:t>Training</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37 parameters, 8,000 Adam steps</a:t>
                      </a:r>
                    </a:p>
                  </a:txBody>
                  <a:tcPr marL="91440" marR="91440" marT="45720" marB="45720">
                    <a:solidFill>
                      <a:srgbClr val="FFFFFF"/>
                    </a:solidFill>
                  </a:tcPr>
                </a:tc>
              </a:tr>
              <a:tr h="528638">
                <a:tc>
                  <a:txBody>
                    <a:bodyPr lIns="114300" tIns="114300" rIns="114300" bIns="114300"/>
                    <a:lstStyle/>
                    <a:p>
                      <a:r>
                        <a:rPr sz="1650" b="0">
                          <a:solidFill>
                            <a:srgbClr val="121212"/>
                          </a:solidFill>
                          <a:latin typeface="Liberation Sans"/>
                          <a:ea typeface="Liberation Sans"/>
                          <a:cs typeface="Liberation Sans"/>
                        </a:rPr>
                        <a:t>Equation and data</a:t>
                      </a:r>
                    </a:p>
                  </a:txBody>
                  <a:tcPr marL="91440" marR="91440" marT="45720" marB="45720">
                    <a:solidFill>
                      <a:srgbClr val="F5F5F1"/>
                    </a:solidFill>
                  </a:tcPr>
                </a:tc>
                <a:tc>
                  <a:txBody>
                    <a:bodyPr lIns="114300" tIns="114300" rIns="114300" bIns="114300"/>
                    <a:lstStyle/>
                    <a:p>
                      <a:r>
                        <a:rPr sz="1650" b="0">
                          <a:solidFill>
                            <a:srgbClr val="121212"/>
                          </a:solidFill>
                          <a:latin typeface="Liberation Sans"/>
                          <a:ea typeface="Liberation Sans"/>
                          <a:cs typeface="Liberation Sans"/>
                        </a:rPr>
                        <a:t>ODE residual + 4 exact synthetic data points</a:t>
                      </a:r>
                    </a:p>
                  </a:txBody>
                  <a:tcPr marL="91440" marR="91440" marT="45720" marB="45720">
                    <a:solidFill>
                      <a:srgbClr val="F5F5F1"/>
                    </a:solidFill>
                  </a:tcPr>
                </a:tc>
              </a:tr>
              <a:tr h="528638">
                <a:tc>
                  <a:txBody>
                    <a:bodyPr lIns="114300" tIns="114300" rIns="114300" bIns="114300"/>
                    <a:lstStyle/>
                    <a:p>
                      <a:r>
                        <a:rPr sz="1650" b="0">
                          <a:solidFill>
                            <a:srgbClr val="121212"/>
                          </a:solidFill>
                          <a:latin typeface="Liberation Sans"/>
                          <a:ea typeface="Liberation Sans"/>
                          <a:cs typeface="Liberation Sans"/>
                        </a:rPr>
                        <a:t>Validation</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100 distinct off-grid locations</a:t>
                      </a:r>
                    </a:p>
                  </a:txBody>
                  <a:tcPr marL="91440" marR="91440" marT="45720" marB="45720">
                    <a:solidFill>
                      <a:srgbClr val="FFFFFF"/>
                    </a:solidFill>
                  </a:tcPr>
                </a:tc>
              </a:tr>
              <a:tr h="528638">
                <a:tc>
                  <a:txBody>
                    <a:bodyPr lIns="114300" tIns="114300" rIns="114300" bIns="114300"/>
                    <a:lstStyle/>
                    <a:p>
                      <a:r>
                        <a:rPr sz="1650" b="0">
                          <a:solidFill>
                            <a:srgbClr val="121212"/>
                          </a:solidFill>
                          <a:latin typeface="Liberation Sans"/>
                          <a:ea typeface="Liberation Sans"/>
                          <a:cs typeface="Liberation Sans"/>
                        </a:rPr>
                        <a:t>Decay RMSE</a:t>
                      </a:r>
                    </a:p>
                  </a:txBody>
                  <a:tcPr marL="91440" marR="91440" marT="45720" marB="45720">
                    <a:solidFill>
                      <a:srgbClr val="F5F5F1"/>
                    </a:solidFill>
                  </a:tcPr>
                </a:tc>
                <a:tc>
                  <a:txBody>
                    <a:bodyPr lIns="114300" tIns="114300" rIns="114300" bIns="114300"/>
                    <a:lstStyle/>
                    <a:p>
                      <a:r>
                        <a:rPr sz="1650" b="0">
                          <a:solidFill>
                            <a:srgbClr val="121212"/>
                          </a:solidFill>
                          <a:latin typeface="Liberation Sans"/>
                          <a:ea typeface="Liberation Sans"/>
                          <a:cs typeface="Liberation Sans"/>
                        </a:rPr>
                        <a:t>0.0000626</a:t>
                      </a:r>
                    </a:p>
                  </a:txBody>
                  <a:tcPr marL="91440" marR="91440" marT="45720" marB="45720">
                    <a:solidFill>
                      <a:srgbClr val="F5F5F1"/>
                    </a:solidFill>
                  </a:tcPr>
                </a:tc>
              </a:tr>
              <a:tr h="528638">
                <a:tc>
                  <a:txBody>
                    <a:bodyPr lIns="114300" tIns="114300" rIns="114300" bIns="114300"/>
                    <a:lstStyle/>
                    <a:p>
                      <a:r>
                        <a:rPr sz="1650" b="0">
                          <a:solidFill>
                            <a:srgbClr val="121212"/>
                          </a:solidFill>
                          <a:latin typeface="Liberation Sans"/>
                          <a:ea typeface="Liberation Sans"/>
                          <a:cs typeface="Liberation Sans"/>
                        </a:rPr>
                        <a:t>Frozen seven-day comparison</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Maximum daily mean 0.0001488°C</a:t>
                      </a:r>
                    </a:p>
                  </a:txBody>
                  <a:tcPr marL="91440" marR="91440" marT="45720" marB="45720">
                    <a:solidFill>
                      <a:srgbClr val="FFFFFF"/>
                    </a:solidFill>
                  </a:tcPr>
                </a:tc>
              </a:tr>
            </a:tbl>
          </a:graphicData>
        </a:graphic>
      </p:graphicFrame>
      <p:sp>
        <p:nvSpPr>
          <p:cNvPr id="6" name="Exact RC remains the reference and fallbac">
            <a:extLst xmlns:a="http://schemas.openxmlformats.org/drawingml/2006/main">
              <a:ext uri="{FF2B5EF4-FFF2-40B4-BE49-F238E27FC236}">
                <a16:creationId xmlns:a16="http://schemas.microsoft.com/office/drawing/2014/main" id="{39AEA3CB-5DD8-4F5F-B806-2B550F3F38FD}"/>
              </a:ext>
            </a:extLst>
          </p:cNvPr>
          <p:cNvSpPr>
            <a:spLocks xmlns:a="http://schemas.openxmlformats.org/drawingml/2006/main" noGrp="1"/>
          </p:cNvSpPr>
          <p:nvPr/>
        </p:nvSpPr>
        <p:spPr>
          <a:xfrm xmlns:a="http://schemas.openxmlformats.org/drawingml/2006/main">
            <a:off x="638175" y="5543550"/>
            <a:ext cx="1081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1212"/>
                </a:solidFill>
                <a:latin typeface="Liberation Sans"/>
                <a:ea typeface="Liberation Sans"/>
                <a:cs typeface="Liberation Sans"/>
              </a:defRPr>
            </a:defPPr>
          </a:lstStyle>
          <a:p xmlns:a="http://schemas.openxmlformats.org/drawingml/2006/main">
            <a:pPr algn="l">
              <a:defRPr sz="2175" b="1">
                <a:solidFill>
                  <a:srgbClr val="121212"/>
                </a:solidFill>
                <a:latin typeface="Liberation Sans"/>
                <a:ea typeface="Liberation Sans"/>
                <a:cs typeface="Liberation Sans"/>
              </a:defRPr>
            </a:pPr>
            <a:r>
              <a:rPr sz="2175" b="1">
                <a:solidFill>
                  <a:srgbClr val="121212"/>
                </a:solidFill>
                <a:latin typeface="Liberation Sans"/>
                <a:ea typeface="Liberation Sans"/>
                <a:cs typeface="Liberation Sans"/>
              </a:rPr>
              <a:t>Exact RC remains the reference and fallback</a:t>
            </a:r>
          </a:p>
        </p:txBody>
      </p:sp>
    </p:spTree>
    <p:extLst>
      <p:ext uri="{BB962C8B-B14F-4D97-AF65-F5344CB8AC3E}">
        <p14:creationId xmlns:p14="http://schemas.microsoft.com/office/powerpoint/2010/main" val="1502269266"/>
      </p:ext>
    </p:extLst>
  </p:cSld>
</p:sld>
</file>

<file path=ppt/slides/slide11.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3" name="APPENDIX  FRESH 96-SEED POLICY TEST">
            <a:extLst xmlns:a="http://schemas.openxmlformats.org/drawingml/2006/main">
              <a:ext uri="{FF2B5EF4-FFF2-40B4-BE49-F238E27FC236}">
                <a16:creationId xmlns:a16="http://schemas.microsoft.com/office/drawing/2014/main" id="{D13B73AA-8748-4105-BB44-2480BCCC511C}"/>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FRESH 96-SEED POLICY TEST</a:t>
            </a:r>
          </a:p>
        </p:txBody>
      </p:sp>
      <p:sp>
        <p:nvSpPr>
          <p:cNvPr id="2" name="The stronger controller wins on mean score">
            <a:extLst xmlns:a="http://schemas.openxmlformats.org/drawingml/2006/main">
              <a:ext uri="{FF2B5EF4-FFF2-40B4-BE49-F238E27FC236}">
                <a16:creationId xmlns:a16="http://schemas.microsoft.com/office/drawing/2014/main" id="{4DCDEF3D-B540-4E35-B6BD-91480E175E60}"/>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The stronger controller wins on mean score</a:t>
            </a:r>
          </a:p>
        </p:txBody>
      </p:sp>
      <p:sp>
        <p:nvSpPr>
          <p:cNvPr id="3" name="11">
            <a:extLst xmlns:a="http://schemas.openxmlformats.org/drawingml/2006/main">
              <a:ext uri="{FF2B5EF4-FFF2-40B4-BE49-F238E27FC236}">
                <a16:creationId xmlns:a16="http://schemas.microsoft.com/office/drawing/2014/main" id="{EFAAC417-7A14-4C03-B54F-DD41A9CD399A}"/>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11</a:t>
            </a:r>
          </a:p>
        </p:txBody>
      </p:sp>
      <p:sp>
        <p:nvSpPr>
          <p:cNvPr id="4" name="Synthetic held-out seeds in one model fami">
            <a:extLst xmlns:a="http://schemas.openxmlformats.org/drawingml/2006/main">
              <a:ext uri="{FF2B5EF4-FFF2-40B4-BE49-F238E27FC236}">
                <a16:creationId xmlns:a16="http://schemas.microsoft.com/office/drawing/2014/main" id="{F986C323-127E-4079-984B-BB29826F06F1}"/>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Synthetic held-out seeds in one model family. Primary Q fixed in advance. This is separate from the displayed Hormuz stress run.</a:t>
            </a:r>
          </a:p>
        </p:txBody>
      </p:sp>
      <p:sp>
        <p:nvSpPr>
          <p:cNvPr id="5" name="Declared penalty score, lower is better">
            <a:extLst xmlns:a="http://schemas.openxmlformats.org/drawingml/2006/main">
              <a:ext uri="{FF2B5EF4-FFF2-40B4-BE49-F238E27FC236}">
                <a16:creationId xmlns:a16="http://schemas.microsoft.com/office/drawing/2014/main" id="{F3D19EB7-5A7C-4415-8557-5ED2F39B7FF7}"/>
              </a:ext>
            </a:extLst>
          </p:cNvPr>
          <p:cNvSpPr>
            <a:spLocks xmlns:a="http://schemas.openxmlformats.org/drawingml/2006/main" noGrp="1"/>
          </p:cNvSpPr>
          <p:nvPr/>
        </p:nvSpPr>
        <p:spPr>
          <a:xfrm xmlns:a="http://schemas.openxmlformats.org/drawingml/2006/main">
            <a:off x="619125" y="1990725"/>
            <a:ext cx="709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21212"/>
                </a:solidFill>
                <a:latin typeface="Liberation Sans"/>
                <a:ea typeface="Liberation Sans"/>
                <a:cs typeface="Liberation Sans"/>
              </a:defRPr>
            </a:defPPr>
          </a:lstStyle>
          <a:p xmlns:a="http://schemas.openxmlformats.org/drawingml/2006/main">
            <a:pPr algn="l">
              <a:defRPr sz="1725" b="1">
                <a:solidFill>
                  <a:srgbClr val="121212"/>
                </a:solidFill>
                <a:latin typeface="Liberation Sans"/>
                <a:ea typeface="Liberation Sans"/>
                <a:cs typeface="Liberation Sans"/>
              </a:defRPr>
            </a:pPr>
            <a:r>
              <a:rPr sz="1725" b="1">
                <a:solidFill>
                  <a:srgbClr val="121212"/>
                </a:solidFill>
                <a:latin typeface="Liberation Sans"/>
                <a:ea typeface="Liberation Sans"/>
                <a:cs typeface="Liberation Sans"/>
              </a:rPr>
              <a:t>Declared penalty score, lower is better</a:t>
            </a:r>
          </a:p>
        </p:txBody>
      </p:sp>
      <p:graphicFrame>
        <p:nvGraphicFramePr>
          <p:cNvPr id="6" name="Chart">
            <a:extLst xmlns:a="http://schemas.openxmlformats.org/drawingml/2006/main">
              <a:ext uri="{FF2B5EF4-FFF2-40B4-BE49-F238E27FC236}">
                <a16:creationId xmlns:a16="http://schemas.microsoft.com/office/drawing/2014/main" id="{6999FDA9-D1BF-42AC-836E-405332279D5A}"/>
              </a:ext>
            </a:extLst>
          </p:cNvPr>
          <p:cNvGraphicFramePr/>
          <p:nvPr/>
        </p:nvGraphicFramePr>
        <p:xfrm>
          <a:off xmlns:a="http://schemas.openxmlformats.org/drawingml/2006/main" x="581025" y="2543175"/>
          <a:ext xmlns:a="http://schemas.openxmlformats.org/drawingml/2006/main" cx="7019925" cy="3133725"/>
        </p:xfrm>
        <a:graphic xmlns:a="http://schemas.openxmlformats.org/drawingml/2006/main">
          <a:graphicData uri="http://schemas.openxmlformats.org/drawingml/2006/chart">
            <c:chart xmlns:r="http://schemas.openxmlformats.org/officeDocument/2006/relationships" xmlns:c="http://schemas.openxmlformats.org/drawingml/2006/chart" r:id="Rffbd7f9536d74e1d"/>
          </a:graphicData>
        </a:graphic>
      </p:graphicFrame>
      <p:sp>
        <p:nvSpPr>
          <p:cNvPr id="7" name="">
            <a:extLst xmlns:a="http://schemas.openxmlformats.org/drawingml/2006/main">
              <a:ext uri="{FF2B5EF4-FFF2-40B4-BE49-F238E27FC236}">
                <a16:creationId xmlns:a16="http://schemas.microsoft.com/office/drawing/2014/main" id="{4272A6D1-06BC-4857-B3C8-AECD3E994F90}"/>
              </a:ext>
            </a:extLst>
          </p:cNvPr>
          <p:cNvSpPr>
            <a:spLocks xmlns:a="http://schemas.openxmlformats.org/drawingml/2006/main" noGrp="1"/>
          </p:cNvSpPr>
          <p:nvPr/>
        </p:nvSpPr>
        <p:spPr>
          <a:xfrm xmlns:a="http://schemas.openxmlformats.org/drawingml/2006/main">
            <a:off x="7953375" y="2047875"/>
            <a:ext cx="0" cy="3724275"/>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8" name="Q reduces shortages">
            <a:extLst xmlns:a="http://schemas.openxmlformats.org/drawingml/2006/main">
              <a:ext uri="{FF2B5EF4-FFF2-40B4-BE49-F238E27FC236}">
                <a16:creationId xmlns:a16="http://schemas.microsoft.com/office/drawing/2014/main" id="{9F42E82E-17DE-4622-8959-4AF66B509CF2}"/>
              </a:ext>
            </a:extLst>
          </p:cNvPr>
          <p:cNvSpPr>
            <a:spLocks xmlns:a="http://schemas.openxmlformats.org/drawingml/2006/main" noGrp="1"/>
          </p:cNvSpPr>
          <p:nvPr/>
        </p:nvSpPr>
        <p:spPr>
          <a:xfrm xmlns:a="http://schemas.openxmlformats.org/drawingml/2006/main">
            <a:off x="8343900" y="2152650"/>
            <a:ext cx="3162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21212"/>
                </a:solidFill>
                <a:latin typeface="Liberation Sans"/>
                <a:ea typeface="Liberation Sans"/>
                <a:cs typeface="Liberation Sans"/>
              </a:defRPr>
            </a:defPPr>
          </a:lstStyle>
          <a:p xmlns:a="http://schemas.openxmlformats.org/drawingml/2006/main">
            <a:pPr algn="l">
              <a:defRPr sz="2025" b="1">
                <a:solidFill>
                  <a:srgbClr val="121212"/>
                </a:solidFill>
                <a:latin typeface="Liberation Sans"/>
                <a:ea typeface="Liberation Sans"/>
                <a:cs typeface="Liberation Sans"/>
              </a:defRPr>
            </a:pPr>
            <a:r>
              <a:rPr sz="2025" b="1">
                <a:solidFill>
                  <a:srgbClr val="121212"/>
                </a:solidFill>
                <a:latin typeface="Liberation Sans"/>
                <a:ea typeface="Liberation Sans"/>
                <a:cs typeface="Liberation Sans"/>
              </a:rPr>
              <a:t>Q reduces shortages</a:t>
            </a:r>
          </a:p>
        </p:txBody>
      </p:sp>
      <p:sp>
        <p:nvSpPr>
          <p:cNvPr id="9" name="7.67 to 3.42 units">
            <a:extLst xmlns:a="http://schemas.openxmlformats.org/drawingml/2006/main">
              <a:ext uri="{FF2B5EF4-FFF2-40B4-BE49-F238E27FC236}">
                <a16:creationId xmlns:a16="http://schemas.microsoft.com/office/drawing/2014/main" id="{3744E6B1-973B-40AF-837B-83987094B834}"/>
              </a:ext>
            </a:extLst>
          </p:cNvPr>
          <p:cNvSpPr>
            <a:spLocks xmlns:a="http://schemas.openxmlformats.org/drawingml/2006/main" noGrp="1"/>
          </p:cNvSpPr>
          <p:nvPr/>
        </p:nvSpPr>
        <p:spPr>
          <a:xfrm xmlns:a="http://schemas.openxmlformats.org/drawingml/2006/main">
            <a:off x="8372475" y="2905125"/>
            <a:ext cx="31146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1212"/>
                </a:solidFill>
                <a:latin typeface="Liberation Sans"/>
                <a:ea typeface="Liberation Sans"/>
                <a:cs typeface="Liberation Sans"/>
              </a:defRPr>
            </a:defPPr>
          </a:lstStyle>
          <a:p xmlns:a="http://schemas.openxmlformats.org/drawingml/2006/main">
            <a:pPr algn="l">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7.67 to 3.42 units</a:t>
            </a:r>
          </a:p>
        </p:txBody>
      </p:sp>
      <p:sp>
        <p:nvSpPr>
          <p:cNvPr id="10" name="New commitments rise">
            <a:extLst xmlns:a="http://schemas.openxmlformats.org/drawingml/2006/main">
              <a:ext uri="{FF2B5EF4-FFF2-40B4-BE49-F238E27FC236}">
                <a16:creationId xmlns:a16="http://schemas.microsoft.com/office/drawing/2014/main" id="{54F14121-D2ED-4797-8F4A-0FC6851347F6}"/>
              </a:ext>
            </a:extLst>
          </p:cNvPr>
          <p:cNvSpPr>
            <a:spLocks xmlns:a="http://schemas.openxmlformats.org/drawingml/2006/main" noGrp="1"/>
          </p:cNvSpPr>
          <p:nvPr/>
        </p:nvSpPr>
        <p:spPr>
          <a:xfrm xmlns:a="http://schemas.openxmlformats.org/drawingml/2006/main">
            <a:off x="8343900" y="3838575"/>
            <a:ext cx="3162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New commitments rise</a:t>
            </a:r>
          </a:p>
        </p:txBody>
      </p:sp>
      <p:sp>
        <p:nvSpPr>
          <p:cNvPr id="11" name="MYR 89.25 to 144.21">
            <a:extLst xmlns:a="http://schemas.openxmlformats.org/drawingml/2006/main">
              <a:ext uri="{FF2B5EF4-FFF2-40B4-BE49-F238E27FC236}">
                <a16:creationId xmlns:a16="http://schemas.microsoft.com/office/drawing/2014/main" id="{74A21E30-5E5D-41F0-BD60-C94E7F50F4CA}"/>
              </a:ext>
            </a:extLst>
          </p:cNvPr>
          <p:cNvSpPr>
            <a:spLocks xmlns:a="http://schemas.openxmlformats.org/drawingml/2006/main" noGrp="1"/>
          </p:cNvSpPr>
          <p:nvPr/>
        </p:nvSpPr>
        <p:spPr>
          <a:xfrm xmlns:a="http://schemas.openxmlformats.org/drawingml/2006/main">
            <a:off x="8372475" y="4581525"/>
            <a:ext cx="3114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1212"/>
                </a:solidFill>
                <a:latin typeface="Liberation Sans"/>
                <a:ea typeface="Liberation Sans"/>
                <a:cs typeface="Liberation Sans"/>
              </a:defRPr>
            </a:defPPr>
          </a:lstStyle>
          <a:p xmlns:a="http://schemas.openxmlformats.org/drawingml/2006/main">
            <a:pPr algn="l">
              <a:defRPr sz="2025" b="0">
                <a:solidFill>
                  <a:srgbClr val="121212"/>
                </a:solidFill>
                <a:latin typeface="Liberation Sans"/>
                <a:ea typeface="Liberation Sans"/>
                <a:cs typeface="Liberation Sans"/>
              </a:defRPr>
            </a:pPr>
            <a:r>
              <a:rPr sz="2025" b="0">
                <a:solidFill>
                  <a:srgbClr val="121212"/>
                </a:solidFill>
                <a:latin typeface="Liberation Sans"/>
                <a:ea typeface="Liberation Sans"/>
                <a:cs typeface="Liberation Sans"/>
              </a:rPr>
              <a:t>MYR 89.25 to 144.21</a:t>
            </a:r>
          </a:p>
        </p:txBody>
      </p:sp>
      <p:sp>
        <p:nvSpPr>
          <p:cNvPr id="12" name="No overall score gain">
            <a:extLst xmlns:a="http://schemas.openxmlformats.org/drawingml/2006/main">
              <a:ext uri="{FF2B5EF4-FFF2-40B4-BE49-F238E27FC236}">
                <a16:creationId xmlns:a16="http://schemas.microsoft.com/office/drawing/2014/main" id="{49C674D9-1AE4-431C-B999-A20242B40E23}"/>
              </a:ext>
            </a:extLst>
          </p:cNvPr>
          <p:cNvSpPr>
            <a:spLocks xmlns:a="http://schemas.openxmlformats.org/drawingml/2006/main" noGrp="1"/>
          </p:cNvSpPr>
          <p:nvPr/>
        </p:nvSpPr>
        <p:spPr>
          <a:xfrm xmlns:a="http://schemas.openxmlformats.org/drawingml/2006/main">
            <a:off x="8372475" y="5495925"/>
            <a:ext cx="31146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26262"/>
                </a:solidFill>
                <a:latin typeface="Liberation Sans"/>
                <a:ea typeface="Liberation Sans"/>
                <a:cs typeface="Liberation Sans"/>
              </a:defRPr>
            </a:defPPr>
          </a:lstStyle>
          <a:p xmlns:a="http://schemas.openxmlformats.org/drawingml/2006/main">
            <a:pPr algn="l">
              <a:defRPr sz="1725" b="0">
                <a:solidFill>
                  <a:srgbClr val="626262"/>
                </a:solidFill>
                <a:latin typeface="Liberation Sans"/>
                <a:ea typeface="Liberation Sans"/>
                <a:cs typeface="Liberation Sans"/>
              </a:defRPr>
            </a:pPr>
            <a:r>
              <a:rPr sz="1725" b="0">
                <a:solidFill>
                  <a:srgbClr val="626262"/>
                </a:solidFill>
                <a:latin typeface="Liberation Sans"/>
                <a:ea typeface="Liberation Sans"/>
                <a:cs typeface="Liberation Sans"/>
              </a:rPr>
              <a:t>No overall score gain</a:t>
            </a:r>
          </a:p>
        </p:txBody>
      </p:sp>
    </p:spTree>
    <p:extLst>
      <p:ext uri="{BB962C8B-B14F-4D97-AF65-F5344CB8AC3E}">
        <p14:creationId xmlns:p14="http://schemas.microsoft.com/office/powerpoint/2010/main" val="975820178"/>
      </p:ext>
    </p:extLst>
  </p:cSld>
</p:sld>
</file>

<file path=ppt/slides/slide12.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APPENDIX  LEARNING AND EVALUATION PROTOCOL">
            <a:extLst xmlns:a="http://schemas.openxmlformats.org/drawingml/2006/main">
              <a:ext uri="{FF2B5EF4-FFF2-40B4-BE49-F238E27FC236}">
                <a16:creationId xmlns:a16="http://schemas.microsoft.com/office/drawing/2014/main" id="{EBD428C4-5665-424F-874E-05EA97100F34}"/>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LEARNING AND EVALUATION PROTOCOL</a:t>
            </a:r>
          </a:p>
        </p:txBody>
      </p:sp>
      <p:sp>
        <p:nvSpPr>
          <p:cNvPr id="2" name="The implementation and its failures are re">
            <a:extLst xmlns:a="http://schemas.openxmlformats.org/drawingml/2006/main">
              <a:ext uri="{FF2B5EF4-FFF2-40B4-BE49-F238E27FC236}">
                <a16:creationId xmlns:a16="http://schemas.microsoft.com/office/drawing/2014/main" id="{9269C08D-590E-47E3-8761-3CCC1A959661}"/>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The implementation and its failures are reproducible</a:t>
            </a:r>
          </a:p>
        </p:txBody>
      </p:sp>
      <p:sp>
        <p:nvSpPr>
          <p:cNvPr id="3" name="12">
            <a:extLst xmlns:a="http://schemas.openxmlformats.org/drawingml/2006/main">
              <a:ext uri="{FF2B5EF4-FFF2-40B4-BE49-F238E27FC236}">
                <a16:creationId xmlns:a16="http://schemas.microsoft.com/office/drawing/2014/main" id="{EEDCAE1F-1AF8-46A3-8617-4B894B14FF0D}"/>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12</a:t>
            </a:r>
          </a:p>
        </p:txBody>
      </p:sp>
      <p:sp>
        <p:nvSpPr>
          <p:cNvPr id="4" name="Implementation evidence supports that the ">
            <a:extLst xmlns:a="http://schemas.openxmlformats.org/drawingml/2006/main">
              <a:ext uri="{FF2B5EF4-FFF2-40B4-BE49-F238E27FC236}">
                <a16:creationId xmlns:a16="http://schemas.microsoft.com/office/drawing/2014/main" id="{FE4C02CA-2774-46FE-92D3-709A999F6202}"/>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Implementation evidence supports that the methods run. It does not validate real-company outcomes or guarantee global optimality.</a:t>
            </a:r>
          </a:p>
        </p:txBody>
      </p:sp>
      <p:graphicFrame>
        <p:nvGraphicFramePr>
          <p:cNvPr id="5" name="">
            <a:extLst xmlns:a="http://schemas.openxmlformats.org/drawingml/2006/main">
              <a:ext uri="{FF2B5EF4-FFF2-40B4-BE49-F238E27FC236}">
                <a16:creationId xmlns:a16="http://schemas.microsoft.com/office/drawing/2014/main" id="{A222C10F-5541-4D33-A5B3-806726AB5D0C}"/>
              </a:ext>
            </a:extLst>
          </p:cNvPr>
          <p:cNvGraphicFramePr/>
          <p:nvPr/>
        </p:nvGraphicFramePr>
        <p:xfrm>
          <a:off xmlns:a="http://schemas.openxmlformats.org/drawingml/2006/main" x="609600" y="2057400"/>
          <a:ext xmlns:a="http://schemas.openxmlformats.org/drawingml/2006/main" cx="10953750" cy="3305175"/>
        </p:xfrm>
        <a:graphic xmlns:a="http://schemas.openxmlformats.org/drawingml/2006/main">
          <a:graphicData uri="http://schemas.openxmlformats.org/drawingml/2006/table">
            <a:tbl>
              <a:tblPr/>
              <a:tblGrid>
                <a:gridCol w="3943350"/>
                <a:gridCol w="7010400"/>
              </a:tblGrid>
              <a:tr h="550863">
                <a:tc>
                  <a:txBody>
                    <a:bodyPr lIns="114300" tIns="114300" rIns="114300" bIns="114300"/>
                    <a:lstStyle/>
                    <a:p>
                      <a:r>
                        <a:rPr sz="1275" b="1">
                          <a:solidFill>
                            <a:srgbClr val="FFFFFF"/>
                          </a:solidFill>
                          <a:latin typeface="Liberation Sans"/>
                          <a:ea typeface="Liberation Sans"/>
                          <a:cs typeface="Liberation Sans"/>
                        </a:rPr>
                        <a:t>Component</a:t>
                      </a:r>
                    </a:p>
                  </a:txBody>
                  <a:tcPr marL="91440" marR="91440" marT="45720" marB="45720">
                    <a:solidFill>
                      <a:srgbClr val="121212"/>
                    </a:solidFill>
                  </a:tcPr>
                </a:tc>
                <a:tc>
                  <a:txBody>
                    <a:bodyPr lIns="114300" tIns="114300" rIns="114300" bIns="114300"/>
                    <a:lstStyle/>
                    <a:p>
                      <a:r>
                        <a:rPr sz="1275" b="1">
                          <a:solidFill>
                            <a:srgbClr val="FFFFFF"/>
                          </a:solidFill>
                          <a:latin typeface="Liberation Sans"/>
                          <a:ea typeface="Liberation Sans"/>
                          <a:cs typeface="Liberation Sans"/>
                        </a:rPr>
                        <a:t>Evidence and limitation</a:t>
                      </a:r>
                    </a:p>
                  </a:txBody>
                  <a:tcPr marL="91440" marR="91440" marT="45720" marB="45720">
                    <a:solidFill>
                      <a:srgbClr val="121212"/>
                    </a:solidFill>
                  </a:tcPr>
                </a:tc>
              </a:tr>
              <a:tr h="550863">
                <a:tc>
                  <a:txBody>
                    <a:bodyPr lIns="114300" tIns="114300" rIns="114300" bIns="114300"/>
                    <a:lstStyle/>
                    <a:p>
                      <a:r>
                        <a:rPr sz="1650" b="0">
                          <a:solidFill>
                            <a:srgbClr val="121212"/>
                          </a:solidFill>
                          <a:latin typeface="Liberation Sans"/>
                          <a:ea typeface="Liberation Sans"/>
                          <a:cs typeface="Liberation Sans"/>
                        </a:rPr>
                        <a:t>Tabular Q-learning</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3 seeds × 20,000 seven-day training episodes</a:t>
                      </a:r>
                    </a:p>
                  </a:txBody>
                  <a:tcPr marL="91440" marR="91440" marT="45720" marB="45720">
                    <a:solidFill>
                      <a:srgbClr val="FFFFFF"/>
                    </a:solidFill>
                  </a:tcPr>
                </a:tc>
              </a:tr>
              <a:tr h="550863">
                <a:tc>
                  <a:txBody>
                    <a:bodyPr lIns="114300" tIns="114300" rIns="114300" bIns="114300"/>
                    <a:lstStyle/>
                    <a:p>
                      <a:r>
                        <a:rPr sz="1650" b="0">
                          <a:solidFill>
                            <a:srgbClr val="121212"/>
                          </a:solidFill>
                          <a:latin typeface="Liberation Sans"/>
                          <a:ea typeface="Liberation Sans"/>
                          <a:cs typeface="Liberation Sans"/>
                        </a:rPr>
                        <a:t>Primary reproduction</a:t>
                      </a:r>
                    </a:p>
                  </a:txBody>
                  <a:tcPr marL="91440" marR="91440" marT="45720" marB="45720">
                    <a:solidFill>
                      <a:srgbClr val="F5F5F1"/>
                    </a:solidFill>
                  </a:tcPr>
                </a:tc>
                <a:tc>
                  <a:txBody>
                    <a:bodyPr lIns="114300" tIns="114300" rIns="114300" bIns="114300"/>
                    <a:lstStyle/>
                    <a:p>
                      <a:r>
                        <a:rPr sz="1650" b="0">
                          <a:solidFill>
                            <a:srgbClr val="121212"/>
                          </a:solidFill>
                          <a:latin typeface="Liberation Sans"/>
                          <a:ea typeface="Liberation Sans"/>
                          <a:cs typeface="Liberation Sans"/>
                        </a:rPr>
                        <a:t>Complete Q table and visit counts match exactly</a:t>
                      </a:r>
                    </a:p>
                  </a:txBody>
                  <a:tcPr marL="91440" marR="91440" marT="45720" marB="45720">
                    <a:solidFill>
                      <a:srgbClr val="F5F5F1"/>
                    </a:solidFill>
                  </a:tcPr>
                </a:tc>
              </a:tr>
              <a:tr h="550863">
                <a:tc>
                  <a:txBody>
                    <a:bodyPr lIns="114300" tIns="114300" rIns="114300" bIns="114300"/>
                    <a:lstStyle/>
                    <a:p>
                      <a:r>
                        <a:rPr sz="1650" b="0">
                          <a:solidFill>
                            <a:srgbClr val="121212"/>
                          </a:solidFill>
                          <a:latin typeface="Liberation Sans"/>
                          <a:ea typeface="Liberation Sans"/>
                          <a:cs typeface="Liberation Sans"/>
                        </a:rPr>
                        <a:t>Observation-history UCT</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Selection, expansion, rollout and return backup</a:t>
                      </a:r>
                    </a:p>
                  </a:txBody>
                  <a:tcPr marL="91440" marR="91440" marT="45720" marB="45720">
                    <a:solidFill>
                      <a:srgbClr val="FFFFFF"/>
                    </a:solidFill>
                  </a:tcPr>
                </a:tc>
              </a:tr>
              <a:tr h="550863">
                <a:tc>
                  <a:txBody>
                    <a:bodyPr lIns="114300" tIns="114300" rIns="114300" bIns="114300"/>
                    <a:lstStyle/>
                    <a:p>
                      <a:r>
                        <a:rPr sz="1650" b="0">
                          <a:solidFill>
                            <a:srgbClr val="121212"/>
                          </a:solidFill>
                          <a:latin typeface="Liberation Sans"/>
                          <a:ea typeface="Liberation Sans"/>
                          <a:cs typeface="Liberation Sans"/>
                        </a:rPr>
                        <a:t>Corrected comparison</a:t>
                      </a:r>
                    </a:p>
                  </a:txBody>
                  <a:tcPr marL="91440" marR="91440" marT="45720" marB="45720">
                    <a:solidFill>
                      <a:srgbClr val="F5F5F1"/>
                    </a:solidFill>
                  </a:tcPr>
                </a:tc>
                <a:tc>
                  <a:txBody>
                    <a:bodyPr lIns="114300" tIns="114300" rIns="114300" bIns="114300"/>
                    <a:lstStyle/>
                    <a:p>
                      <a:r>
                        <a:rPr sz="1650" b="0">
                          <a:solidFill>
                            <a:srgbClr val="121212"/>
                          </a:solidFill>
                          <a:latin typeface="Liberation Sans"/>
                          <a:ea typeface="Liberation Sans"/>
                          <a:cs typeface="Liberation Sans"/>
                        </a:rPr>
                        <a:t>New 96-seed block; same world, observations and masks</a:t>
                      </a:r>
                    </a:p>
                  </a:txBody>
                  <a:tcPr marL="91440" marR="91440" marT="45720" marB="45720">
                    <a:solidFill>
                      <a:srgbClr val="F5F5F1"/>
                    </a:solidFill>
                  </a:tcPr>
                </a:tc>
              </a:tr>
              <a:tr h="550863">
                <a:tc>
                  <a:txBody>
                    <a:bodyPr lIns="114300" tIns="114300" rIns="114300" bIns="114300"/>
                    <a:lstStyle/>
                    <a:p>
                      <a:r>
                        <a:rPr sz="1650" b="0">
                          <a:solidFill>
                            <a:srgbClr val="121212"/>
                          </a:solidFill>
                          <a:latin typeface="Liberation Sans"/>
                          <a:ea typeface="Liberation Sans"/>
                          <a:cs typeface="Liberation Sans"/>
                        </a:rPr>
                        <a:t>Failure disclosure</a:t>
                      </a:r>
                    </a:p>
                  </a:txBody>
                  <a:tcPr marL="91440" marR="91440" marT="45720" marB="45720">
                    <a:solidFill>
                      <a:srgbClr val="FFFFFF"/>
                    </a:solidFill>
                  </a:tcPr>
                </a:tc>
                <a:tc>
                  <a:txBody>
                    <a:bodyPr lIns="114300" tIns="114300" rIns="114300" bIns="114300"/>
                    <a:lstStyle/>
                    <a:p>
                      <a:r>
                        <a:rPr sz="1650" b="0">
                          <a:solidFill>
                            <a:srgbClr val="121212"/>
                          </a:solidFill>
                          <a:latin typeface="Liberation Sans"/>
                          <a:ea typeface="Liberation Sans"/>
                          <a:cs typeface="Liberation Sans"/>
                        </a:rPr>
                        <a:t>Primary Q 7/672 fallback decisions; 58/96 score losses</a:t>
                      </a:r>
                    </a:p>
                  </a:txBody>
                  <a:tcPr marL="91440" marR="91440" marT="45720" marB="45720">
                    <a:solidFill>
                      <a:srgbClr val="FFFFFF"/>
                    </a:solidFill>
                  </a:tcPr>
                </a:tc>
              </a:tr>
            </a:tbl>
          </a:graphicData>
        </a:graphic>
      </p:graphicFrame>
      <p:sp>
        <p:nvSpPr>
          <p:cNvPr id="6" name="The first passive baseline remains disclos">
            <a:extLst xmlns:a="http://schemas.openxmlformats.org/drawingml/2006/main">
              <a:ext uri="{FF2B5EF4-FFF2-40B4-BE49-F238E27FC236}">
                <a16:creationId xmlns:a16="http://schemas.microsoft.com/office/drawing/2014/main" id="{A0737A18-1E3E-49B6-B994-83D817E82078}"/>
              </a:ext>
            </a:extLst>
          </p:cNvPr>
          <p:cNvSpPr>
            <a:spLocks xmlns:a="http://schemas.openxmlformats.org/drawingml/2006/main" noGrp="1"/>
          </p:cNvSpPr>
          <p:nvPr/>
        </p:nvSpPr>
        <p:spPr>
          <a:xfrm xmlns:a="http://schemas.openxmlformats.org/drawingml/2006/main">
            <a:off x="638175" y="5648325"/>
            <a:ext cx="10591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21212"/>
                </a:solidFill>
                <a:latin typeface="Liberation Sans"/>
                <a:ea typeface="Liberation Sans"/>
                <a:cs typeface="Liberation Sans"/>
              </a:defRPr>
            </a:defPPr>
          </a:lstStyle>
          <a:p xmlns:a="http://schemas.openxmlformats.org/drawingml/2006/main">
            <a:pPr algn="l">
              <a:defRPr sz="2100" b="1">
                <a:solidFill>
                  <a:srgbClr val="121212"/>
                </a:solidFill>
                <a:latin typeface="Liberation Sans"/>
                <a:ea typeface="Liberation Sans"/>
                <a:cs typeface="Liberation Sans"/>
              </a:defRPr>
            </a:pPr>
            <a:r>
              <a:rPr sz="2100" b="1">
                <a:solidFill>
                  <a:srgbClr val="121212"/>
                </a:solidFill>
                <a:latin typeface="Liberation Sans"/>
                <a:ea typeface="Liberation Sans"/>
                <a:cs typeface="Liberation Sans"/>
              </a:rPr>
              <a:t>The first passive baseline remains disclosed</a:t>
            </a:r>
          </a:p>
        </p:txBody>
      </p:sp>
    </p:spTree>
    <p:extLst>
      <p:ext uri="{BB962C8B-B14F-4D97-AF65-F5344CB8AC3E}">
        <p14:creationId xmlns:p14="http://schemas.microsoft.com/office/powerpoint/2010/main" val="849007010"/>
      </p:ext>
    </p:extLst>
  </p:cSld>
</p:sld>
</file>

<file path=ppt/slides/slide13.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1" name="APPENDIX  EXTERNAL ROLLING-ORIGIN RESULTS">
            <a:extLst xmlns:a="http://schemas.openxmlformats.org/drawingml/2006/main">
              <a:ext uri="{FF2B5EF4-FFF2-40B4-BE49-F238E27FC236}">
                <a16:creationId xmlns:a16="http://schemas.microsoft.com/office/drawing/2014/main" id="{1CF3EB19-3110-442B-AF9A-4B9DBDBAD3DD}"/>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buNone/>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EXTERNAL ROLLING-ORIGIN RESULTS</a:t>
            </a:r>
          </a:p>
        </p:txBody>
      </p:sp>
      <p:sp>
        <p:nvSpPr>
          <p:cNvPr id="2" name="Weekly error improved in an exploratory st">
            <a:extLst xmlns:a="http://schemas.openxmlformats.org/drawingml/2006/main">
              <a:ext uri="{FF2B5EF4-FFF2-40B4-BE49-F238E27FC236}">
                <a16:creationId xmlns:a16="http://schemas.microsoft.com/office/drawing/2014/main" id="{98016B3F-762C-4C73-8661-3F1FEDD7AFEE}"/>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buNone/>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Weekly error improved in an exploratory study</a:t>
            </a:r>
          </a:p>
        </p:txBody>
      </p:sp>
      <p:sp>
        <p:nvSpPr>
          <p:cNvPr id="3" name="08">
            <a:extLst xmlns:a="http://schemas.openxmlformats.org/drawingml/2006/main">
              <a:ext uri="{FF2B5EF4-FFF2-40B4-BE49-F238E27FC236}">
                <a16:creationId xmlns:a16="http://schemas.microsoft.com/office/drawing/2014/main" id="{C59ABA6B-4E59-4F01-AA66-A7F59E9A4E3A}"/>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buNone/>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13</a:t>
            </a:r>
          </a:p>
        </p:txBody>
      </p:sp>
      <p:sp>
        <p:nvSpPr>
          <p:cNvPr id="4" name="UCI Online Retail II. Eight 2011 folds on ">
            <a:extLst xmlns:a="http://schemas.openxmlformats.org/drawingml/2006/main">
              <a:ext uri="{FF2B5EF4-FFF2-40B4-BE49-F238E27FC236}">
                <a16:creationId xmlns:a16="http://schemas.microsoft.com/office/drawing/2014/main" id="{B41E7EE5-556F-4940-A567-78FC4CC45954}"/>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buNone/>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UCI Online Retail II. Eight 2011 folds on previously exposed prior-training periods. Lower WAPE is better; it is not accuracy.</a:t>
            </a:r>
          </a:p>
        </p:txBody>
      </p:sp>
      <p:sp>
        <p:nvSpPr>
          <p:cNvPr id="5" name="Seven-day total WAPE, percent">
            <a:extLst xmlns:a="http://schemas.openxmlformats.org/drawingml/2006/main">
              <a:ext uri="{FF2B5EF4-FFF2-40B4-BE49-F238E27FC236}">
                <a16:creationId xmlns:a16="http://schemas.microsoft.com/office/drawing/2014/main" id="{4FE5A389-7AF5-4071-B0AA-05D46D9EA42B}"/>
              </a:ext>
            </a:extLst>
          </p:cNvPr>
          <p:cNvSpPr>
            <a:spLocks xmlns:a="http://schemas.openxmlformats.org/drawingml/2006/main" noGrp="1"/>
          </p:cNvSpPr>
          <p:nvPr/>
        </p:nvSpPr>
        <p:spPr>
          <a:xfrm xmlns:a="http://schemas.openxmlformats.org/drawingml/2006/main">
            <a:off x="619125" y="2009775"/>
            <a:ext cx="70675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21212"/>
                </a:solidFill>
                <a:latin typeface="Liberation Sans"/>
                <a:ea typeface="Liberation Sans"/>
                <a:cs typeface="Liberation Sans"/>
              </a:defRPr>
            </a:defPPr>
          </a:lstStyle>
          <a:p xmlns:a="http://schemas.openxmlformats.org/drawingml/2006/main">
            <a:pPr algn="l">
              <a:buNone/>
              <a:defRPr sz="1650" b="1">
                <a:solidFill>
                  <a:srgbClr val="121212"/>
                </a:solidFill>
                <a:latin typeface="Liberation Sans"/>
                <a:ea typeface="Liberation Sans"/>
                <a:cs typeface="Liberation Sans"/>
              </a:defRPr>
            </a:pPr>
            <a:r>
              <a:rPr sz="1650" b="1">
                <a:solidFill>
                  <a:srgbClr val="121212"/>
                </a:solidFill>
                <a:latin typeface="Liberation Sans"/>
                <a:ea typeface="Liberation Sans"/>
                <a:cs typeface="Liberation Sans"/>
              </a:rPr>
              <a:t>Seven-day total WAPE, percent</a:t>
            </a:r>
          </a:p>
        </p:txBody>
      </p:sp>
      <p:graphicFrame>
        <p:nvGraphicFramePr>
          <p:cNvPr id="6" name="Chart">
            <a:extLst xmlns:a="http://schemas.openxmlformats.org/drawingml/2006/main">
              <a:ext uri="{FF2B5EF4-FFF2-40B4-BE49-F238E27FC236}">
                <a16:creationId xmlns:a16="http://schemas.microsoft.com/office/drawing/2014/main" id="{E1888703-3F7A-455F-82FD-4E9BA891D5C9}"/>
              </a:ext>
            </a:extLst>
          </p:cNvPr>
          <p:cNvGraphicFramePr/>
          <p:nvPr/>
        </p:nvGraphicFramePr>
        <p:xfrm>
          <a:off xmlns:a="http://schemas.openxmlformats.org/drawingml/2006/main" x="581025" y="2581275"/>
          <a:ext xmlns:a="http://schemas.openxmlformats.org/drawingml/2006/main" cx="6991350" cy="3000375"/>
        </p:xfrm>
        <a:graphic xmlns:a="http://schemas.openxmlformats.org/drawingml/2006/main">
          <a:graphicData uri="http://schemas.openxmlformats.org/drawingml/2006/chart">
            <c:chart xmlns:r="http://schemas.openxmlformats.org/officeDocument/2006/relationships" xmlns:c="http://schemas.openxmlformats.org/drawingml/2006/chart" r:id="R0186ac2161ef47e1"/>
          </a:graphicData>
        </a:graphic>
      </p:graphicFrame>
      <p:sp>
        <p:nvSpPr>
          <p:cNvPr id="7" name="">
            <a:extLst xmlns:a="http://schemas.openxmlformats.org/drawingml/2006/main">
              <a:ext uri="{FF2B5EF4-FFF2-40B4-BE49-F238E27FC236}">
                <a16:creationId xmlns:a16="http://schemas.microsoft.com/office/drawing/2014/main" id="{D414099E-DC87-4A06-A222-D7D6934D6100}"/>
              </a:ext>
            </a:extLst>
          </p:cNvPr>
          <p:cNvSpPr>
            <a:spLocks xmlns:a="http://schemas.openxmlformats.org/drawingml/2006/main" noGrp="1"/>
          </p:cNvSpPr>
          <p:nvPr/>
        </p:nvSpPr>
        <p:spPr>
          <a:xfrm xmlns:a="http://schemas.openxmlformats.org/drawingml/2006/main">
            <a:off x="7905750" y="2009775"/>
            <a:ext cx="0" cy="373380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8" name="108.53%">
            <a:extLst xmlns:a="http://schemas.openxmlformats.org/drawingml/2006/main">
              <a:ext uri="{FF2B5EF4-FFF2-40B4-BE49-F238E27FC236}">
                <a16:creationId xmlns:a16="http://schemas.microsoft.com/office/drawing/2014/main" id="{59E2A753-27F6-470A-AF13-908644E45622}"/>
              </a:ext>
            </a:extLst>
          </p:cNvPr>
          <p:cNvSpPr>
            <a:spLocks xmlns:a="http://schemas.openxmlformats.org/drawingml/2006/main" noGrp="1"/>
          </p:cNvSpPr>
          <p:nvPr/>
        </p:nvSpPr>
        <p:spPr>
          <a:xfrm xmlns:a="http://schemas.openxmlformats.org/drawingml/2006/main">
            <a:off x="8267700" y="2105025"/>
            <a:ext cx="32956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121212"/>
                </a:solidFill>
                <a:latin typeface="Liberation Sans"/>
                <a:ea typeface="Liberation Sans"/>
                <a:cs typeface="Liberation Sans"/>
              </a:defRPr>
            </a:defPPr>
          </a:lstStyle>
          <a:p xmlns:a="http://schemas.openxmlformats.org/drawingml/2006/main">
            <a:pPr algn="l">
              <a:buNone/>
              <a:defRPr sz="4275" b="1">
                <a:solidFill>
                  <a:srgbClr val="121212"/>
                </a:solidFill>
                <a:latin typeface="Liberation Sans"/>
                <a:ea typeface="Liberation Sans"/>
                <a:cs typeface="Liberation Sans"/>
              </a:defRPr>
            </a:pPr>
            <a:r>
              <a:rPr sz="4275" b="1">
                <a:solidFill>
                  <a:srgbClr val="121212"/>
                </a:solidFill>
                <a:latin typeface="Liberation Sans"/>
                <a:ea typeface="Liberation Sans"/>
                <a:cs typeface="Liberation Sans"/>
              </a:rPr>
              <a:t>108.53%</a:t>
            </a:r>
          </a:p>
        </p:txBody>
      </p:sp>
      <p:sp>
        <p:nvSpPr>
          <p:cNvPr id="9" name="selector daily WAPE">
            <a:extLst xmlns:a="http://schemas.openxmlformats.org/drawingml/2006/main">
              <a:ext uri="{FF2B5EF4-FFF2-40B4-BE49-F238E27FC236}">
                <a16:creationId xmlns:a16="http://schemas.microsoft.com/office/drawing/2014/main" id="{C8913BE7-73E5-45A2-8AFB-2BF4BA246060}"/>
              </a:ext>
            </a:extLst>
          </p:cNvPr>
          <p:cNvSpPr>
            <a:spLocks xmlns:a="http://schemas.openxmlformats.org/drawingml/2006/main" noGrp="1"/>
          </p:cNvSpPr>
          <p:nvPr/>
        </p:nvSpPr>
        <p:spPr>
          <a:xfrm xmlns:a="http://schemas.openxmlformats.org/drawingml/2006/main">
            <a:off x="8296275" y="2962275"/>
            <a:ext cx="32099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buNone/>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selector daily WAPE</a:t>
            </a:r>
          </a:p>
        </p:txBody>
      </p:sp>
      <p:sp>
        <p:nvSpPr>
          <p:cNvPr id="10" name="Same-fold weekly gain:&#10;7.48 percentage poi">
            <a:extLst xmlns:a="http://schemas.openxmlformats.org/drawingml/2006/main">
              <a:ext uri="{FF2B5EF4-FFF2-40B4-BE49-F238E27FC236}">
                <a16:creationId xmlns:a16="http://schemas.microsoft.com/office/drawing/2014/main" id="{F7E8EA28-BE58-4862-9796-8B2745F985C2}"/>
              </a:ext>
            </a:extLst>
          </p:cNvPr>
          <p:cNvSpPr>
            <a:spLocks xmlns:a="http://schemas.openxmlformats.org/drawingml/2006/main" noGrp="1"/>
          </p:cNvSpPr>
          <p:nvPr/>
        </p:nvSpPr>
        <p:spPr>
          <a:xfrm xmlns:a="http://schemas.openxmlformats.org/drawingml/2006/main">
            <a:off x="8296275" y="3905250"/>
            <a:ext cx="32004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buNone/>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Same-fold weekly gain:</a:t>
            </a:r>
          </a:p>
          <a:p xmlns:a="http://schemas.openxmlformats.org/drawingml/2006/main">
            <a:pPr algn="l">
              <a:buNone/>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7.48 percentage points</a:t>
            </a:r>
          </a:p>
          <a:p xmlns:a="http://schemas.openxmlformats.org/drawingml/2006/main">
            <a:r>
              <a:t/>
            </a:r>
          </a:p>
          <a:p xmlns:a="http://schemas.openxmlformats.org/drawingml/2006/main">
            <a:pPr algn="l">
              <a:buNone/>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No pristine holdout</a:t>
            </a:r>
          </a:p>
          <a:p xmlns:a="http://schemas.openxmlformats.org/drawingml/2006/main">
            <a:pPr algn="l">
              <a:buNone/>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No company validation</a:t>
            </a:r>
          </a:p>
        </p:txBody>
      </p:sp>
    </p:spTree>
    <p:extLst>
      <p:ext uri="{BB962C8B-B14F-4D97-AF65-F5344CB8AC3E}">
        <p14:creationId xmlns:p14="http://schemas.microsoft.com/office/powerpoint/2010/main" val="1903554909"/>
      </p:ext>
    </p:extLst>
  </p:cSld>
</p:sld>
</file>

<file path=ppt/slides/slide14.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1" name="EXTERNAL PREDICTIVE EVIDENCE">
            <a:extLst xmlns:a="http://schemas.openxmlformats.org/drawingml/2006/main">
              <a:ext uri="{FF2B5EF4-FFF2-40B4-BE49-F238E27FC236}">
                <a16:creationId xmlns:a16="http://schemas.microsoft.com/office/drawing/2014/main" id="{72040EA1-493B-4104-91CD-FBE91FB5A18D}"/>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buNone/>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EXTERNAL PREDICTIVE EVIDENCE</a:t>
            </a:r>
          </a:p>
        </p:txBody>
      </p:sp>
      <p:sp>
        <p:nvSpPr>
          <p:cNvPr id="2" name="A reproducible benchmark, with high foreca">
            <a:extLst xmlns:a="http://schemas.openxmlformats.org/drawingml/2006/main">
              <a:ext uri="{FF2B5EF4-FFF2-40B4-BE49-F238E27FC236}">
                <a16:creationId xmlns:a16="http://schemas.microsoft.com/office/drawing/2014/main" id="{50F5DC12-B277-4798-A518-A189B161A663}"/>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buNone/>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A reproducible benchmark, with high forecast error</a:t>
            </a:r>
          </a:p>
        </p:txBody>
      </p:sp>
      <p:sp>
        <p:nvSpPr>
          <p:cNvPr id="3" name="07">
            <a:extLst xmlns:a="http://schemas.openxmlformats.org/drawingml/2006/main">
              <a:ext uri="{FF2B5EF4-FFF2-40B4-BE49-F238E27FC236}">
                <a16:creationId xmlns:a16="http://schemas.microsoft.com/office/drawing/2014/main" id="{DCD3B5F2-4038-4ED4-AE9A-E8E951D61D5E}"/>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buNone/>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14</a:t>
            </a:r>
          </a:p>
        </p:txBody>
      </p:sp>
      <p:sp>
        <p:nvSpPr>
          <p:cNvPr id="4" name="UCI Online Retail II, UK non-store retaile">
            <a:extLst xmlns:a="http://schemas.openxmlformats.org/drawingml/2006/main">
              <a:ext uri="{FF2B5EF4-FFF2-40B4-BE49-F238E27FC236}">
                <a16:creationId xmlns:a16="http://schemas.microsoft.com/office/drawing/2014/main" id="{3E3FA01C-FD68-4A9F-B76A-C839BB674957}"/>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buNone/>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UCI Online Retail II, UK non-store retailer. Known-SKU test: 11 Nov–8 Dec 2011. Precomputed study, separate from MR D.I.Y.</a:t>
            </a:r>
          </a:p>
        </p:txBody>
      </p:sp>
      <p:sp>
        <p:nvSpPr>
          <p:cNvPr id="5" name="Test mean absolute error, units">
            <a:extLst xmlns:a="http://schemas.openxmlformats.org/drawingml/2006/main">
              <a:ext uri="{FF2B5EF4-FFF2-40B4-BE49-F238E27FC236}">
                <a16:creationId xmlns:a16="http://schemas.microsoft.com/office/drawing/2014/main" id="{B62E7E19-76B7-4378-BF56-03D30C9CE794}"/>
              </a:ext>
            </a:extLst>
          </p:cNvPr>
          <p:cNvSpPr>
            <a:spLocks xmlns:a="http://schemas.openxmlformats.org/drawingml/2006/main" noGrp="1"/>
          </p:cNvSpPr>
          <p:nvPr/>
        </p:nvSpPr>
        <p:spPr>
          <a:xfrm xmlns:a="http://schemas.openxmlformats.org/drawingml/2006/main">
            <a:off x="628650" y="1981200"/>
            <a:ext cx="681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21212"/>
                </a:solidFill>
                <a:latin typeface="Liberation Sans"/>
                <a:ea typeface="Liberation Sans"/>
                <a:cs typeface="Liberation Sans"/>
              </a:defRPr>
            </a:defPPr>
          </a:lstStyle>
          <a:p xmlns:a="http://schemas.openxmlformats.org/drawingml/2006/main">
            <a:pPr algn="l">
              <a:buNone/>
              <a:defRPr sz="1650" b="1">
                <a:solidFill>
                  <a:srgbClr val="121212"/>
                </a:solidFill>
                <a:latin typeface="Liberation Sans"/>
                <a:ea typeface="Liberation Sans"/>
                <a:cs typeface="Liberation Sans"/>
              </a:defRPr>
            </a:pPr>
            <a:r>
              <a:rPr sz="1650" b="1">
                <a:solidFill>
                  <a:srgbClr val="121212"/>
                </a:solidFill>
                <a:latin typeface="Liberation Sans"/>
                <a:ea typeface="Liberation Sans"/>
                <a:cs typeface="Liberation Sans"/>
              </a:rPr>
              <a:t>Test mean absolute error, units</a:t>
            </a:r>
          </a:p>
        </p:txBody>
      </p:sp>
      <p:graphicFrame>
        <p:nvGraphicFramePr>
          <p:cNvPr id="6" name="Chart">
            <a:extLst xmlns:a="http://schemas.openxmlformats.org/drawingml/2006/main">
              <a:ext uri="{FF2B5EF4-FFF2-40B4-BE49-F238E27FC236}">
                <a16:creationId xmlns:a16="http://schemas.microsoft.com/office/drawing/2014/main" id="{F97B72FA-A4C5-402C-95CC-BB1B7A47C1EC}"/>
              </a:ext>
            </a:extLst>
          </p:cNvPr>
          <p:cNvGraphicFramePr/>
          <p:nvPr/>
        </p:nvGraphicFramePr>
        <p:xfrm>
          <a:off xmlns:a="http://schemas.openxmlformats.org/drawingml/2006/main" x="571500" y="2562225"/>
          <a:ext xmlns:a="http://schemas.openxmlformats.org/drawingml/2006/main" cx="6953250" cy="3028950"/>
        </p:xfrm>
        <a:graphic xmlns:a="http://schemas.openxmlformats.org/drawingml/2006/main">
          <a:graphicData uri="http://schemas.openxmlformats.org/drawingml/2006/chart">
            <c:chart xmlns:r="http://schemas.openxmlformats.org/officeDocument/2006/relationships" xmlns:c="http://schemas.openxmlformats.org/drawingml/2006/chart" r:id="R17630afea5f24f65"/>
          </a:graphicData>
        </a:graphic>
      </p:graphicFrame>
      <p:sp>
        <p:nvSpPr>
          <p:cNvPr id="7" name="">
            <a:extLst xmlns:a="http://schemas.openxmlformats.org/drawingml/2006/main">
              <a:ext uri="{FF2B5EF4-FFF2-40B4-BE49-F238E27FC236}">
                <a16:creationId xmlns:a16="http://schemas.microsoft.com/office/drawing/2014/main" id="{308280FF-4D6E-4681-9687-E712CBA7B395}"/>
              </a:ext>
            </a:extLst>
          </p:cNvPr>
          <p:cNvSpPr>
            <a:spLocks xmlns:a="http://schemas.openxmlformats.org/drawingml/2006/main" noGrp="1"/>
          </p:cNvSpPr>
          <p:nvPr/>
        </p:nvSpPr>
        <p:spPr>
          <a:xfrm xmlns:a="http://schemas.openxmlformats.org/drawingml/2006/main">
            <a:off x="7905750" y="2009775"/>
            <a:ext cx="0" cy="365760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8" name="103.41%">
            <a:extLst xmlns:a="http://schemas.openxmlformats.org/drawingml/2006/main">
              <a:ext uri="{FF2B5EF4-FFF2-40B4-BE49-F238E27FC236}">
                <a16:creationId xmlns:a16="http://schemas.microsoft.com/office/drawing/2014/main" id="{3BE269D5-D0FE-4B66-8581-760B4B57246A}"/>
              </a:ext>
            </a:extLst>
          </p:cNvPr>
          <p:cNvSpPr>
            <a:spLocks xmlns:a="http://schemas.openxmlformats.org/drawingml/2006/main" noGrp="1"/>
          </p:cNvSpPr>
          <p:nvPr/>
        </p:nvSpPr>
        <p:spPr>
          <a:xfrm xmlns:a="http://schemas.openxmlformats.org/drawingml/2006/main">
            <a:off x="8305800" y="2133600"/>
            <a:ext cx="3276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21212"/>
                </a:solidFill>
                <a:latin typeface="Liberation Sans"/>
                <a:ea typeface="Liberation Sans"/>
                <a:cs typeface="Liberation Sans"/>
              </a:defRPr>
            </a:defPPr>
          </a:lstStyle>
          <a:p xmlns:a="http://schemas.openxmlformats.org/drawingml/2006/main">
            <a:pPr algn="l">
              <a:buNone/>
              <a:defRPr sz="4500" b="1">
                <a:solidFill>
                  <a:srgbClr val="121212"/>
                </a:solidFill>
                <a:latin typeface="Liberation Sans"/>
                <a:ea typeface="Liberation Sans"/>
                <a:cs typeface="Liberation Sans"/>
              </a:defRPr>
            </a:pPr>
            <a:r>
              <a:rPr sz="4500" b="1">
                <a:solidFill>
                  <a:srgbClr val="121212"/>
                </a:solidFill>
                <a:latin typeface="Liberation Sans"/>
                <a:ea typeface="Liberation Sans"/>
                <a:cs typeface="Liberation Sans"/>
              </a:rPr>
              <a:t>103.41%</a:t>
            </a:r>
          </a:p>
        </p:txBody>
      </p:sp>
      <p:sp>
        <p:nvSpPr>
          <p:cNvPr id="9" name="retained mean test WAPE">
            <a:extLst xmlns:a="http://schemas.openxmlformats.org/drawingml/2006/main">
              <a:ext uri="{FF2B5EF4-FFF2-40B4-BE49-F238E27FC236}">
                <a16:creationId xmlns:a16="http://schemas.microsoft.com/office/drawing/2014/main" id="{DAD4923C-898F-46EA-9CCB-51C3C83DAFBC}"/>
              </a:ext>
            </a:extLst>
          </p:cNvPr>
          <p:cNvSpPr>
            <a:spLocks xmlns:a="http://schemas.openxmlformats.org/drawingml/2006/main" noGrp="1"/>
          </p:cNvSpPr>
          <p:nvPr/>
        </p:nvSpPr>
        <p:spPr>
          <a:xfrm xmlns:a="http://schemas.openxmlformats.org/drawingml/2006/main">
            <a:off x="8324850" y="3000375"/>
            <a:ext cx="31146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1212"/>
                </a:solidFill>
                <a:latin typeface="Liberation Sans"/>
                <a:ea typeface="Liberation Sans"/>
                <a:cs typeface="Liberation Sans"/>
              </a:defRPr>
            </a:defPPr>
          </a:lstStyle>
          <a:p xmlns:a="http://schemas.openxmlformats.org/drawingml/2006/main">
            <a:pPr algn="l">
              <a:buNone/>
              <a:defRPr sz="1800" b="0">
                <a:solidFill>
                  <a:srgbClr val="121212"/>
                </a:solidFill>
                <a:latin typeface="Liberation Sans"/>
                <a:ea typeface="Liberation Sans"/>
                <a:cs typeface="Liberation Sans"/>
              </a:defRPr>
            </a:pPr>
            <a:r>
              <a:rPr sz="1800" b="0">
                <a:solidFill>
                  <a:srgbClr val="121212"/>
                </a:solidFill>
                <a:latin typeface="Liberation Sans"/>
                <a:ea typeface="Liberation Sans"/>
                <a:cs typeface="Liberation Sans"/>
              </a:rPr>
              <a:t>retained mean test WAPE</a:t>
            </a:r>
          </a:p>
        </p:txBody>
      </p:sp>
      <p:sp>
        <p:nvSpPr>
          <p:cNvPr id="10" name="Validation selected the mean.&#10;The supervis">
            <a:extLst xmlns:a="http://schemas.openxmlformats.org/drawingml/2006/main">
              <a:ext uri="{FF2B5EF4-FFF2-40B4-BE49-F238E27FC236}">
                <a16:creationId xmlns:a16="http://schemas.microsoft.com/office/drawing/2014/main" id="{3799116B-F6E3-4AB1-9DD2-DBC51AE137F3}"/>
              </a:ext>
            </a:extLst>
          </p:cNvPr>
          <p:cNvSpPr>
            <a:spLocks xmlns:a="http://schemas.openxmlformats.org/drawingml/2006/main" noGrp="1"/>
          </p:cNvSpPr>
          <p:nvPr/>
        </p:nvSpPr>
        <p:spPr>
          <a:xfrm xmlns:a="http://schemas.openxmlformats.org/drawingml/2006/main">
            <a:off x="8324850" y="3943350"/>
            <a:ext cx="31242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1212"/>
                </a:solidFill>
                <a:latin typeface="Liberation Sans"/>
                <a:ea typeface="Liberation Sans"/>
                <a:cs typeface="Liberation Sans"/>
              </a:defRPr>
            </a:defPPr>
          </a:lstStyle>
          <a:p xmlns:a="http://schemas.openxmlformats.org/drawingml/2006/main">
            <a:pPr algn="l">
              <a:buNone/>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Validation selected the mean.</a:t>
            </a:r>
          </a:p>
          <a:p xmlns:a="http://schemas.openxmlformats.org/drawingml/2006/main">
            <a:pPr algn="l">
              <a:buNone/>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The supervised ridge lost.</a:t>
            </a:r>
          </a:p>
          <a:p xmlns:a="http://schemas.openxmlformats.org/drawingml/2006/main">
            <a:r>
              <a:t/>
            </a:r>
          </a:p>
          <a:p xmlns:a="http://schemas.openxmlformats.org/drawingml/2006/main">
            <a:pPr algn="l">
              <a:buNone/>
              <a:defRPr sz="1875" b="0">
                <a:solidFill>
                  <a:srgbClr val="121212"/>
                </a:solidFill>
                <a:latin typeface="Liberation Sans"/>
                <a:ea typeface="Liberation Sans"/>
                <a:cs typeface="Liberation Sans"/>
              </a:defRPr>
            </a:pPr>
            <a:r>
              <a:rPr sz="1875" b="0">
                <a:solidFill>
                  <a:srgbClr val="121212"/>
                </a:solidFill>
                <a:latin typeface="Liberation Sans"/>
                <a:ea typeface="Liberation Sans"/>
                <a:cs typeface="Liberation Sans"/>
              </a:rPr>
              <a:t>Accuracy is still weak.</a:t>
            </a:r>
          </a:p>
        </p:txBody>
      </p:sp>
    </p:spTree>
    <p:extLst>
      <p:ext uri="{BB962C8B-B14F-4D97-AF65-F5344CB8AC3E}">
        <p14:creationId xmlns:p14="http://schemas.microsoft.com/office/powerpoint/2010/main" val="664300505"/>
      </p:ext>
    </p:extLst>
  </p:cSld>
</p:sld>
</file>

<file path=ppt/slides/slide15.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7" name="APPENDIX  TWO-MINUTE Q&amp;A">
            <a:extLst xmlns:a="http://schemas.openxmlformats.org/drawingml/2006/main">
              <a:ext uri="{FF2B5EF4-FFF2-40B4-BE49-F238E27FC236}">
                <a16:creationId xmlns:a16="http://schemas.microsoft.com/office/drawing/2014/main" id="{940C5B4C-3A8F-4BF7-81F1-AB7FF476BE8E}"/>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TWO-MINUTE Q&amp;A</a:t>
            </a:r>
          </a:p>
        </p:txBody>
      </p:sp>
      <p:sp>
        <p:nvSpPr>
          <p:cNvPr id="2" name="Questions the evidence can answer">
            <a:extLst xmlns:a="http://schemas.openxmlformats.org/drawingml/2006/main">
              <a:ext uri="{FF2B5EF4-FFF2-40B4-BE49-F238E27FC236}">
                <a16:creationId xmlns:a16="http://schemas.microsoft.com/office/drawing/2014/main" id="{5A644362-540A-4058-B4FC-03A207724D80}"/>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Questions the evidence can answer</a:t>
            </a:r>
          </a:p>
        </p:txBody>
      </p:sp>
      <p:sp>
        <p:nvSpPr>
          <p:cNvPr id="3" name="13">
            <a:extLst xmlns:a="http://schemas.openxmlformats.org/drawingml/2006/main">
              <a:ext uri="{FF2B5EF4-FFF2-40B4-BE49-F238E27FC236}">
                <a16:creationId xmlns:a16="http://schemas.microsoft.com/office/drawing/2014/main" id="{0F94B3AA-3E48-4BEF-82F5-702037609635}"/>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15</a:t>
            </a:r>
          </a:p>
        </p:txBody>
      </p:sp>
      <p:sp>
        <p:nvSpPr>
          <p:cNvPr id="4" name="Real sources ground the event. Synthetic e">
            <a:extLst xmlns:a="http://schemas.openxmlformats.org/drawingml/2006/main">
              <a:ext uri="{FF2B5EF4-FFF2-40B4-BE49-F238E27FC236}">
                <a16:creationId xmlns:a16="http://schemas.microsoft.com/office/drawing/2014/main" id="{AC40E9AF-6E03-4BE3-92A6-F2BC3CB88FD9}"/>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Real sources ground the event. Synthetic exposures, operating observations and reward weights still bound every model conclusion.</a:t>
            </a:r>
          </a:p>
        </p:txBody>
      </p:sp>
      <p:sp>
        <p:nvSpPr>
          <p:cNvPr id="5" name="">
            <a:extLst xmlns:a="http://schemas.openxmlformats.org/drawingml/2006/main">
              <a:ext uri="{FF2B5EF4-FFF2-40B4-BE49-F238E27FC236}">
                <a16:creationId xmlns:a16="http://schemas.microsoft.com/office/drawing/2014/main" id="{DB8C386B-AE38-49E8-9985-D8550129FE85}"/>
              </a:ext>
            </a:extLst>
          </p:cNvPr>
          <p:cNvSpPr>
            <a:spLocks xmlns:a="http://schemas.openxmlformats.org/drawingml/2006/main" noGrp="1"/>
          </p:cNvSpPr>
          <p:nvPr/>
        </p:nvSpPr>
        <p:spPr>
          <a:xfrm xmlns:a="http://schemas.openxmlformats.org/drawingml/2006/main">
            <a:off x="609600" y="2047875"/>
            <a:ext cx="521970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6" name="Does a headline change the model?">
            <a:extLst xmlns:a="http://schemas.openxmlformats.org/drawingml/2006/main">
              <a:ext uri="{FF2B5EF4-FFF2-40B4-BE49-F238E27FC236}">
                <a16:creationId xmlns:a16="http://schemas.microsoft.com/office/drawing/2014/main" id="{E10721A6-A960-4350-90AC-967AD739449E}"/>
              </a:ext>
            </a:extLst>
          </p:cNvPr>
          <p:cNvSpPr>
            <a:spLocks xmlns:a="http://schemas.openxmlformats.org/drawingml/2006/main" noGrp="1"/>
          </p:cNvSpPr>
          <p:nvPr/>
        </p:nvSpPr>
        <p:spPr>
          <a:xfrm xmlns:a="http://schemas.openxmlformats.org/drawingml/2006/main">
            <a:off x="609600" y="2219325"/>
            <a:ext cx="5219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Does a headline change the model?</a:t>
            </a:r>
          </a:p>
        </p:txBody>
      </p:sp>
      <p:sp>
        <p:nvSpPr>
          <p:cNvPr id="7" name="Only an explicit user-selected receipt del">
            <a:extLst xmlns:a="http://schemas.openxmlformats.org/drawingml/2006/main">
              <a:ext uri="{FF2B5EF4-FFF2-40B4-BE49-F238E27FC236}">
                <a16:creationId xmlns:a16="http://schemas.microsoft.com/office/drawing/2014/main" id="{99A811E4-CEF4-416A-9F0B-41BC98E26B7A}"/>
              </a:ext>
            </a:extLst>
          </p:cNvPr>
          <p:cNvSpPr>
            <a:spLocks xmlns:a="http://schemas.openxmlformats.org/drawingml/2006/main" noGrp="1"/>
          </p:cNvSpPr>
          <p:nvPr/>
        </p:nvSpPr>
        <p:spPr>
          <a:xfrm xmlns:a="http://schemas.openxmlformats.org/drawingml/2006/main">
            <a:off x="609600" y="2952750"/>
            <a:ext cx="50768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Only an explicit user-selected receipt delay changes the new episode.</a:t>
            </a:r>
          </a:p>
        </p:txBody>
      </p:sp>
      <p:sp>
        <p:nvSpPr>
          <p:cNvPr id="8" name="">
            <a:extLst xmlns:a="http://schemas.openxmlformats.org/drawingml/2006/main">
              <a:ext uri="{FF2B5EF4-FFF2-40B4-BE49-F238E27FC236}">
                <a16:creationId xmlns:a16="http://schemas.microsoft.com/office/drawing/2014/main" id="{439387BB-0A88-4176-9688-1964472C6333}"/>
              </a:ext>
            </a:extLst>
          </p:cNvPr>
          <p:cNvSpPr>
            <a:spLocks xmlns:a="http://schemas.openxmlformats.org/drawingml/2006/main" noGrp="1"/>
          </p:cNvSpPr>
          <p:nvPr/>
        </p:nvSpPr>
        <p:spPr>
          <a:xfrm xmlns:a="http://schemas.openxmlformats.org/drawingml/2006/main">
            <a:off x="6267450" y="2047875"/>
            <a:ext cx="521970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9" name="Is the reinforcement learning real?">
            <a:extLst xmlns:a="http://schemas.openxmlformats.org/drawingml/2006/main">
              <a:ext uri="{FF2B5EF4-FFF2-40B4-BE49-F238E27FC236}">
                <a16:creationId xmlns:a16="http://schemas.microsoft.com/office/drawing/2014/main" id="{C0472733-1F29-496B-9A80-BB081032465C}"/>
              </a:ext>
            </a:extLst>
          </p:cNvPr>
          <p:cNvSpPr>
            <a:spLocks xmlns:a="http://schemas.openxmlformats.org/drawingml/2006/main" noGrp="1"/>
          </p:cNvSpPr>
          <p:nvPr/>
        </p:nvSpPr>
        <p:spPr>
          <a:xfrm xmlns:a="http://schemas.openxmlformats.org/drawingml/2006/main">
            <a:off x="6267450" y="2219325"/>
            <a:ext cx="5219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Is the reinforcement learning real?</a:t>
            </a:r>
          </a:p>
        </p:txBody>
      </p:sp>
      <p:sp>
        <p:nvSpPr>
          <p:cNvPr id="10" name="Yes. Interaction-trained tabular Q weights">
            <a:extLst xmlns:a="http://schemas.openxmlformats.org/drawingml/2006/main">
              <a:ext uri="{FF2B5EF4-FFF2-40B4-BE49-F238E27FC236}">
                <a16:creationId xmlns:a16="http://schemas.microsoft.com/office/drawing/2014/main" id="{92F13596-1294-4A2D-91EE-6F790F60ED8C}"/>
              </a:ext>
            </a:extLst>
          </p:cNvPr>
          <p:cNvSpPr>
            <a:spLocks xmlns:a="http://schemas.openxmlformats.org/drawingml/2006/main" noGrp="1"/>
          </p:cNvSpPr>
          <p:nvPr/>
        </p:nvSpPr>
        <p:spPr>
          <a:xfrm xmlns:a="http://schemas.openxmlformats.org/drawingml/2006/main">
            <a:off x="6267450" y="2952750"/>
            <a:ext cx="50768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Yes. Interaction-trained tabular Q weights are saved and independently reproduced.</a:t>
            </a:r>
          </a:p>
        </p:txBody>
      </p:sp>
      <p:sp>
        <p:nvSpPr>
          <p:cNvPr id="11" name="">
            <a:extLst xmlns:a="http://schemas.openxmlformats.org/drawingml/2006/main">
              <a:ext uri="{FF2B5EF4-FFF2-40B4-BE49-F238E27FC236}">
                <a16:creationId xmlns:a16="http://schemas.microsoft.com/office/drawing/2014/main" id="{373FD4B4-2D4B-4148-8602-BC346D45B1F5}"/>
              </a:ext>
            </a:extLst>
          </p:cNvPr>
          <p:cNvSpPr>
            <a:spLocks xmlns:a="http://schemas.openxmlformats.org/drawingml/2006/main" noGrp="1"/>
          </p:cNvSpPr>
          <p:nvPr/>
        </p:nvSpPr>
        <p:spPr>
          <a:xfrm xmlns:a="http://schemas.openxmlformats.org/drawingml/2006/main">
            <a:off x="609600" y="3990975"/>
            <a:ext cx="521970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2" name="Does the learned policy beat the baseline?">
            <a:extLst xmlns:a="http://schemas.openxmlformats.org/drawingml/2006/main">
              <a:ext uri="{FF2B5EF4-FFF2-40B4-BE49-F238E27FC236}">
                <a16:creationId xmlns:a16="http://schemas.microsoft.com/office/drawing/2014/main" id="{10092E39-1CA2-4B94-8A14-340BC25C7B40}"/>
              </a:ext>
            </a:extLst>
          </p:cNvPr>
          <p:cNvSpPr>
            <a:spLocks xmlns:a="http://schemas.openxmlformats.org/drawingml/2006/main" noGrp="1"/>
          </p:cNvSpPr>
          <p:nvPr/>
        </p:nvSpPr>
        <p:spPr>
          <a:xfrm xmlns:a="http://schemas.openxmlformats.org/drawingml/2006/main">
            <a:off x="609600" y="4162425"/>
            <a:ext cx="5219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Does the learned policy beat the baseline?</a:t>
            </a:r>
          </a:p>
        </p:txBody>
      </p:sp>
      <p:sp>
        <p:nvSpPr>
          <p:cNvPr id="13" name="Not on mean score against the stronger con">
            <a:extLst xmlns:a="http://schemas.openxmlformats.org/drawingml/2006/main">
              <a:ext uri="{FF2B5EF4-FFF2-40B4-BE49-F238E27FC236}">
                <a16:creationId xmlns:a16="http://schemas.microsoft.com/office/drawing/2014/main" id="{0EFEE3A9-6657-4D48-AAD2-855361D5511C}"/>
              </a:ext>
            </a:extLst>
          </p:cNvPr>
          <p:cNvSpPr>
            <a:spLocks xmlns:a="http://schemas.openxmlformats.org/drawingml/2006/main" noGrp="1"/>
          </p:cNvSpPr>
          <p:nvPr/>
        </p:nvSpPr>
        <p:spPr>
          <a:xfrm xmlns:a="http://schemas.openxmlformats.org/drawingml/2006/main">
            <a:off x="609600" y="4895850"/>
            <a:ext cx="50768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Not on mean score against the stronger controller. It trades spending for fewer shortages.</a:t>
            </a:r>
          </a:p>
        </p:txBody>
      </p:sp>
      <p:sp>
        <p:nvSpPr>
          <p:cNvPr id="14" name="">
            <a:extLst xmlns:a="http://schemas.openxmlformats.org/drawingml/2006/main">
              <a:ext uri="{FF2B5EF4-FFF2-40B4-BE49-F238E27FC236}">
                <a16:creationId xmlns:a16="http://schemas.microsoft.com/office/drawing/2014/main" id="{8FA6DC97-EE7D-433C-B9FF-CC13A53F261B}"/>
              </a:ext>
            </a:extLst>
          </p:cNvPr>
          <p:cNvSpPr>
            <a:spLocks xmlns:a="http://schemas.openxmlformats.org/drawingml/2006/main" noGrp="1"/>
          </p:cNvSpPr>
          <p:nvPr/>
        </p:nvSpPr>
        <p:spPr>
          <a:xfrm xmlns:a="http://schemas.openxmlformats.org/drawingml/2006/main">
            <a:off x="6267450" y="3990975"/>
            <a:ext cx="521970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5" name="Does a refit retrain the policy?">
            <a:extLst xmlns:a="http://schemas.openxmlformats.org/drawingml/2006/main">
              <a:ext uri="{FF2B5EF4-FFF2-40B4-BE49-F238E27FC236}">
                <a16:creationId xmlns:a16="http://schemas.microsoft.com/office/drawing/2014/main" id="{8EED7457-E61A-4232-BD74-2AF0F3B35D20}"/>
              </a:ext>
            </a:extLst>
          </p:cNvPr>
          <p:cNvSpPr>
            <a:spLocks xmlns:a="http://schemas.openxmlformats.org/drawingml/2006/main" noGrp="1"/>
          </p:cNvSpPr>
          <p:nvPr/>
        </p:nvSpPr>
        <p:spPr>
          <a:xfrm xmlns:a="http://schemas.openxmlformats.org/drawingml/2006/main">
            <a:off x="6267450" y="4162425"/>
            <a:ext cx="5219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Does a refit retrain the policy?</a:t>
            </a:r>
          </a:p>
        </p:txBody>
      </p:sp>
      <p:sp>
        <p:nvSpPr>
          <p:cNvPr id="16" name="No. New calibration updates the model; inc">
            <a:extLst xmlns:a="http://schemas.openxmlformats.org/drawingml/2006/main">
              <a:ext uri="{FF2B5EF4-FFF2-40B4-BE49-F238E27FC236}">
                <a16:creationId xmlns:a16="http://schemas.microsoft.com/office/drawing/2014/main" id="{301636F1-17D3-4CB6-A858-E71806ADFA29}"/>
              </a:ext>
            </a:extLst>
          </p:cNvPr>
          <p:cNvSpPr>
            <a:spLocks xmlns:a="http://schemas.openxmlformats.org/drawingml/2006/main" noGrp="1"/>
          </p:cNvSpPr>
          <p:nvPr/>
        </p:nvSpPr>
        <p:spPr>
          <a:xfrm xmlns:a="http://schemas.openxmlformats.org/drawingml/2006/main">
            <a:off x="6267450" y="4895850"/>
            <a:ext cx="50768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No. New calibration updates the model; incompatible frozen Q uses a disclosed fallback.</a:t>
            </a:r>
          </a:p>
        </p:txBody>
      </p:sp>
    </p:spTree>
    <p:extLst>
      <p:ext uri="{BB962C8B-B14F-4D97-AF65-F5344CB8AC3E}">
        <p14:creationId xmlns:p14="http://schemas.microsoft.com/office/powerpoint/2010/main" val="12261648"/>
      </p:ext>
    </p:extLst>
  </p:cSld>
</p:sld>
</file>

<file path=ppt/slides/slide16.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21" name="APPENDIX  EVIDENCE REGISTER">
            <a:extLst xmlns:a="http://schemas.openxmlformats.org/drawingml/2006/main">
              <a:ext uri="{FF2B5EF4-FFF2-40B4-BE49-F238E27FC236}">
                <a16:creationId xmlns:a16="http://schemas.microsoft.com/office/drawing/2014/main" id="{7DE65C9C-9BE5-45C3-9585-521851472120}"/>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APPENDIX  EVIDENCE REGISTER</a:t>
            </a:r>
          </a:p>
        </p:txBody>
      </p:sp>
      <p:sp>
        <p:nvSpPr>
          <p:cNvPr id="2" name="Sources and model boundaries remain tracea">
            <a:extLst xmlns:a="http://schemas.openxmlformats.org/drawingml/2006/main">
              <a:ext uri="{FF2B5EF4-FFF2-40B4-BE49-F238E27FC236}">
                <a16:creationId xmlns:a16="http://schemas.microsoft.com/office/drawing/2014/main" id="{A34ECE83-AF4C-4844-A62A-A2E3C3C45DD2}"/>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Sources and model boundaries remain traceable</a:t>
            </a:r>
          </a:p>
        </p:txBody>
      </p:sp>
      <p:sp>
        <p:nvSpPr>
          <p:cNvPr id="3" name="14">
            <a:extLst xmlns:a="http://schemas.openxmlformats.org/drawingml/2006/main">
              <a:ext uri="{FF2B5EF4-FFF2-40B4-BE49-F238E27FC236}">
                <a16:creationId xmlns:a16="http://schemas.microsoft.com/office/drawing/2014/main" id="{BA88E512-6312-473E-96EB-88AD322A7BA0}"/>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16</a:t>
            </a:r>
          </a:p>
        </p:txBody>
      </p:sp>
      <p:sp>
        <p:nvSpPr>
          <p:cNvPr id="4" name="Track 1: detect, categorize, prioritize an">
            <a:extLst xmlns:a="http://schemas.openxmlformats.org/drawingml/2006/main">
              <a:ext uri="{FF2B5EF4-FFF2-40B4-BE49-F238E27FC236}">
                <a16:creationId xmlns:a16="http://schemas.microsoft.com/office/drawing/2014/main" id="{164C3822-7A26-4795-ADDA-728B5A313829}"/>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Track 1: detect, categorize, prioritize and explain. Three-minute pitch, two-minute Q&amp;A. No company endorsement or execution.</a:t>
            </a:r>
          </a:p>
        </p:txBody>
      </p:sp>
      <p:sp>
        <p:nvSpPr>
          <p:cNvPr id="5" name="">
            <a:extLst xmlns:a="http://schemas.openxmlformats.org/drawingml/2006/main">
              <a:ext uri="{FF2B5EF4-FFF2-40B4-BE49-F238E27FC236}">
                <a16:creationId xmlns:a16="http://schemas.microsoft.com/office/drawing/2014/main" id="{449F36EF-66E1-4FE9-B0BC-F3A0805515C2}"/>
              </a:ext>
            </a:extLst>
          </p:cNvPr>
          <p:cNvSpPr>
            <a:spLocks xmlns:a="http://schemas.openxmlformats.org/drawingml/2006/main" noGrp="1"/>
          </p:cNvSpPr>
          <p:nvPr/>
        </p:nvSpPr>
        <p:spPr>
          <a:xfrm xmlns:a="http://schemas.openxmlformats.org/drawingml/2006/main">
            <a:off x="609600" y="2066925"/>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6" name="Real-world events">
            <a:extLst xmlns:a="http://schemas.openxmlformats.org/drawingml/2006/main">
              <a:ext uri="{FF2B5EF4-FFF2-40B4-BE49-F238E27FC236}">
                <a16:creationId xmlns:a16="http://schemas.microsoft.com/office/drawing/2014/main" id="{9D5CAD42-48B7-46FF-944A-CD838CBD140A}"/>
              </a:ext>
            </a:extLst>
          </p:cNvPr>
          <p:cNvSpPr>
            <a:spLocks xmlns:a="http://schemas.openxmlformats.org/drawingml/2006/main" noGrp="1"/>
          </p:cNvSpPr>
          <p:nvPr/>
        </p:nvSpPr>
        <p:spPr>
          <a:xfrm xmlns:a="http://schemas.openxmlformats.org/drawingml/2006/main">
            <a:off x="609600" y="2228850"/>
            <a:ext cx="295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1212"/>
                </a:solidFill>
                <a:latin typeface="Liberation Sans"/>
                <a:ea typeface="Liberation Sans"/>
                <a:cs typeface="Liberation Sans"/>
              </a:defRPr>
            </a:defPPr>
          </a:lstStyle>
          <a:p xmlns:a="http://schemas.openxmlformats.org/drawingml/2006/main">
            <a:pPr algn="l">
              <a:defRPr sz="1800" b="1">
                <a:solidFill>
                  <a:srgbClr val="121212"/>
                </a:solidFill>
                <a:latin typeface="Liberation Sans"/>
                <a:ea typeface="Liberation Sans"/>
                <a:cs typeface="Liberation Sans"/>
              </a:defRPr>
            </a:pPr>
            <a:r>
              <a:rPr sz="1800" b="1">
                <a:solidFill>
                  <a:srgbClr val="121212"/>
                </a:solidFill>
                <a:latin typeface="Liberation Sans"/>
                <a:ea typeface="Liberation Sans"/>
                <a:cs typeface="Liberation Sans"/>
              </a:rPr>
              <a:t>Real-world events</a:t>
            </a:r>
          </a:p>
        </p:txBody>
      </p:sp>
      <p:sp>
        <p:nvSpPr>
          <p:cNvPr id="7" name="EIA, JMA, Maersk and dated Kimi sources">
            <a:extLst xmlns:a="http://schemas.openxmlformats.org/drawingml/2006/main">
              <a:ext uri="{FF2B5EF4-FFF2-40B4-BE49-F238E27FC236}">
                <a16:creationId xmlns:a16="http://schemas.microsoft.com/office/drawing/2014/main" id="{9BA4F6D3-88FC-4F5E-92C9-33CBA4CD0B05}"/>
              </a:ext>
            </a:extLst>
          </p:cNvPr>
          <p:cNvSpPr>
            <a:spLocks xmlns:a="http://schemas.openxmlformats.org/drawingml/2006/main" noGrp="1"/>
          </p:cNvSpPr>
          <p:nvPr/>
        </p:nvSpPr>
        <p:spPr>
          <a:xfrm xmlns:a="http://schemas.openxmlformats.org/drawingml/2006/main">
            <a:off x="3829050" y="2200275"/>
            <a:ext cx="7686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EIA, JMA, Maersk and dated Kimi sources</a:t>
            </a:r>
          </a:p>
        </p:txBody>
      </p:sp>
      <p:sp>
        <p:nvSpPr>
          <p:cNvPr id="8" name="Dates and exposure limits travel with each">
            <a:extLst xmlns:a="http://schemas.openxmlformats.org/drawingml/2006/main">
              <a:ext uri="{FF2B5EF4-FFF2-40B4-BE49-F238E27FC236}">
                <a16:creationId xmlns:a16="http://schemas.microsoft.com/office/drawing/2014/main" id="{6FC556B8-1F78-4AE0-A1A4-104B7EBEB1B1}"/>
              </a:ext>
            </a:extLst>
          </p:cNvPr>
          <p:cNvSpPr>
            <a:spLocks xmlns:a="http://schemas.openxmlformats.org/drawingml/2006/main" noGrp="1"/>
          </p:cNvSpPr>
          <p:nvPr/>
        </p:nvSpPr>
        <p:spPr>
          <a:xfrm xmlns:a="http://schemas.openxmlformats.org/drawingml/2006/main">
            <a:off x="3829050" y="2590800"/>
            <a:ext cx="76866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Dates and exposure limits travel with each card</a:t>
            </a:r>
          </a:p>
        </p:txBody>
      </p:sp>
      <p:sp>
        <p:nvSpPr>
          <p:cNvPr id="9" name="">
            <a:extLst xmlns:a="http://schemas.openxmlformats.org/drawingml/2006/main">
              <a:ext uri="{FF2B5EF4-FFF2-40B4-BE49-F238E27FC236}">
                <a16:creationId xmlns:a16="http://schemas.microsoft.com/office/drawing/2014/main" id="{3FDCA472-2DEF-4EAB-9B5D-EAA5658203B0}"/>
              </a:ext>
            </a:extLst>
          </p:cNvPr>
          <p:cNvSpPr>
            <a:spLocks xmlns:a="http://schemas.openxmlformats.org/drawingml/2006/main" noGrp="1"/>
          </p:cNvSpPr>
          <p:nvPr/>
        </p:nvSpPr>
        <p:spPr>
          <a:xfrm xmlns:a="http://schemas.openxmlformats.org/drawingml/2006/main">
            <a:off x="609600" y="3009900"/>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0" name="Operating context">
            <a:extLst xmlns:a="http://schemas.openxmlformats.org/drawingml/2006/main">
              <a:ext uri="{FF2B5EF4-FFF2-40B4-BE49-F238E27FC236}">
                <a16:creationId xmlns:a16="http://schemas.microsoft.com/office/drawing/2014/main" id="{CB085D0E-834C-4468-BFE1-C95A3F0F48BC}"/>
              </a:ext>
            </a:extLst>
          </p:cNvPr>
          <p:cNvSpPr>
            <a:spLocks xmlns:a="http://schemas.openxmlformats.org/drawingml/2006/main" noGrp="1"/>
          </p:cNvSpPr>
          <p:nvPr/>
        </p:nvSpPr>
        <p:spPr>
          <a:xfrm xmlns:a="http://schemas.openxmlformats.org/drawingml/2006/main">
            <a:off x="609600" y="3171825"/>
            <a:ext cx="295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1212"/>
                </a:solidFill>
                <a:latin typeface="Liberation Sans"/>
                <a:ea typeface="Liberation Sans"/>
                <a:cs typeface="Liberation Sans"/>
              </a:defRPr>
            </a:defPPr>
          </a:lstStyle>
          <a:p xmlns:a="http://schemas.openxmlformats.org/drawingml/2006/main">
            <a:pPr algn="l">
              <a:defRPr sz="1800" b="1">
                <a:solidFill>
                  <a:srgbClr val="121212"/>
                </a:solidFill>
                <a:latin typeface="Liberation Sans"/>
                <a:ea typeface="Liberation Sans"/>
                <a:cs typeface="Liberation Sans"/>
              </a:defRPr>
            </a:pPr>
            <a:r>
              <a:rPr sz="1800" b="1">
                <a:solidFill>
                  <a:srgbClr val="121212"/>
                </a:solidFill>
                <a:latin typeface="Liberation Sans"/>
                <a:ea typeface="Liberation Sans"/>
                <a:cs typeface="Liberation Sans"/>
              </a:rPr>
              <a:t>Operating context</a:t>
            </a:r>
          </a:p>
        </p:txBody>
      </p:sp>
      <p:sp>
        <p:nvSpPr>
          <p:cNvPr id="11" name="MR D.I.Y. FY2025 public company reports">
            <a:extLst xmlns:a="http://schemas.openxmlformats.org/drawingml/2006/main">
              <a:ext uri="{FF2B5EF4-FFF2-40B4-BE49-F238E27FC236}">
                <a16:creationId xmlns:a16="http://schemas.microsoft.com/office/drawing/2014/main" id="{95D024BB-33AA-4FFB-9E56-E9626F40FFE7}"/>
              </a:ext>
            </a:extLst>
          </p:cNvPr>
          <p:cNvSpPr>
            <a:spLocks xmlns:a="http://schemas.openxmlformats.org/drawingml/2006/main" noGrp="1"/>
          </p:cNvSpPr>
          <p:nvPr/>
        </p:nvSpPr>
        <p:spPr>
          <a:xfrm xmlns:a="http://schemas.openxmlformats.org/drawingml/2006/main">
            <a:off x="3829050" y="3143250"/>
            <a:ext cx="7686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MR D.I.Y. FY2025 public company reports</a:t>
            </a:r>
          </a:p>
        </p:txBody>
      </p:sp>
      <p:sp>
        <p:nvSpPr>
          <p:cNvPr id="12" name="Internal records and company exposure rema">
            <a:extLst xmlns:a="http://schemas.openxmlformats.org/drawingml/2006/main">
              <a:ext uri="{FF2B5EF4-FFF2-40B4-BE49-F238E27FC236}">
                <a16:creationId xmlns:a16="http://schemas.microsoft.com/office/drawing/2014/main" id="{E094F8CE-AC2C-4141-A7F1-2ED49590A8BC}"/>
              </a:ext>
            </a:extLst>
          </p:cNvPr>
          <p:cNvSpPr>
            <a:spLocks xmlns:a="http://schemas.openxmlformats.org/drawingml/2006/main" noGrp="1"/>
          </p:cNvSpPr>
          <p:nvPr/>
        </p:nvSpPr>
        <p:spPr>
          <a:xfrm xmlns:a="http://schemas.openxmlformats.org/drawingml/2006/main">
            <a:off x="3829050" y="3533775"/>
            <a:ext cx="76866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Internal records and company exposure remain synthetic</a:t>
            </a:r>
          </a:p>
        </p:txBody>
      </p:sp>
      <p:sp>
        <p:nvSpPr>
          <p:cNvPr id="13" name="">
            <a:extLst xmlns:a="http://schemas.openxmlformats.org/drawingml/2006/main">
              <a:ext uri="{FF2B5EF4-FFF2-40B4-BE49-F238E27FC236}">
                <a16:creationId xmlns:a16="http://schemas.microsoft.com/office/drawing/2014/main" id="{53C55D34-0F95-4172-B3FD-64956DD0DB8B}"/>
              </a:ext>
            </a:extLst>
          </p:cNvPr>
          <p:cNvSpPr>
            <a:spLocks xmlns:a="http://schemas.openxmlformats.org/drawingml/2006/main" noGrp="1"/>
          </p:cNvSpPr>
          <p:nvPr/>
        </p:nvSpPr>
        <p:spPr>
          <a:xfrm xmlns:a="http://schemas.openxmlformats.org/drawingml/2006/main">
            <a:off x="609600" y="3952875"/>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4" name="New learning model">
            <a:extLst xmlns:a="http://schemas.openxmlformats.org/drawingml/2006/main">
              <a:ext uri="{FF2B5EF4-FFF2-40B4-BE49-F238E27FC236}">
                <a16:creationId xmlns:a16="http://schemas.microsoft.com/office/drawing/2014/main" id="{EFCBA30B-23D6-414B-B0BC-476B5A3592AC}"/>
              </a:ext>
            </a:extLst>
          </p:cNvPr>
          <p:cNvSpPr>
            <a:spLocks xmlns:a="http://schemas.openxmlformats.org/drawingml/2006/main" noGrp="1"/>
          </p:cNvSpPr>
          <p:nvPr/>
        </p:nvSpPr>
        <p:spPr>
          <a:xfrm xmlns:a="http://schemas.openxmlformats.org/drawingml/2006/main">
            <a:off x="609600" y="4114800"/>
            <a:ext cx="295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1212"/>
                </a:solidFill>
                <a:latin typeface="Liberation Sans"/>
                <a:ea typeface="Liberation Sans"/>
                <a:cs typeface="Liberation Sans"/>
              </a:defRPr>
            </a:defPPr>
          </a:lstStyle>
          <a:p xmlns:a="http://schemas.openxmlformats.org/drawingml/2006/main">
            <a:pPr algn="l">
              <a:defRPr sz="1800" b="1">
                <a:solidFill>
                  <a:srgbClr val="121212"/>
                </a:solidFill>
                <a:latin typeface="Liberation Sans"/>
                <a:ea typeface="Liberation Sans"/>
                <a:cs typeface="Liberation Sans"/>
              </a:defRPr>
            </a:pPr>
            <a:r>
              <a:rPr sz="1800" b="1">
                <a:solidFill>
                  <a:srgbClr val="121212"/>
                </a:solidFill>
                <a:latin typeface="Liberation Sans"/>
                <a:ea typeface="Liberation Sans"/>
                <a:cs typeface="Liberation Sans"/>
              </a:rPr>
              <a:t>New learning model</a:t>
            </a:r>
          </a:p>
        </p:txBody>
      </p:sp>
      <p:sp>
        <p:nvSpPr>
          <p:cNvPr id="15" name="Frozen dynamics, policy and audit artifact">
            <a:extLst xmlns:a="http://schemas.openxmlformats.org/drawingml/2006/main">
              <a:ext uri="{FF2B5EF4-FFF2-40B4-BE49-F238E27FC236}">
                <a16:creationId xmlns:a16="http://schemas.microsoft.com/office/drawing/2014/main" id="{ABB4F99A-D363-4B1C-98B8-AACB1D7CD286}"/>
              </a:ext>
            </a:extLst>
          </p:cNvPr>
          <p:cNvSpPr>
            <a:spLocks xmlns:a="http://schemas.openxmlformats.org/drawingml/2006/main" noGrp="1"/>
          </p:cNvSpPr>
          <p:nvPr/>
        </p:nvSpPr>
        <p:spPr>
          <a:xfrm xmlns:a="http://schemas.openxmlformats.org/drawingml/2006/main">
            <a:off x="3829050" y="4086225"/>
            <a:ext cx="7686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Frozen dynamics, policy and audit artifacts</a:t>
            </a:r>
          </a:p>
        </p:txBody>
      </p:sp>
      <p:sp>
        <p:nvSpPr>
          <p:cNvPr id="16" name="Distinct from the retained v76 MET/joint/s">
            <a:extLst xmlns:a="http://schemas.openxmlformats.org/drawingml/2006/main">
              <a:ext uri="{FF2B5EF4-FFF2-40B4-BE49-F238E27FC236}">
                <a16:creationId xmlns:a16="http://schemas.microsoft.com/office/drawing/2014/main" id="{B7AAF948-9F94-45CF-9BE4-AA9ED16B3C4D}"/>
              </a:ext>
            </a:extLst>
          </p:cNvPr>
          <p:cNvSpPr>
            <a:spLocks xmlns:a="http://schemas.openxmlformats.org/drawingml/2006/main" noGrp="1"/>
          </p:cNvSpPr>
          <p:nvPr/>
        </p:nvSpPr>
        <p:spPr>
          <a:xfrm xmlns:a="http://schemas.openxmlformats.org/drawingml/2006/main">
            <a:off x="3829050" y="4476750"/>
            <a:ext cx="76866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Distinct from the retained v76 MET/joint/sequential model</a:t>
            </a:r>
          </a:p>
        </p:txBody>
      </p:sp>
      <p:sp>
        <p:nvSpPr>
          <p:cNvPr id="17" name="">
            <a:extLst xmlns:a="http://schemas.openxmlformats.org/drawingml/2006/main">
              <a:ext uri="{FF2B5EF4-FFF2-40B4-BE49-F238E27FC236}">
                <a16:creationId xmlns:a16="http://schemas.microsoft.com/office/drawing/2014/main" id="{E29693D2-2C7E-4808-B817-61DA21925DA8}"/>
              </a:ext>
            </a:extLst>
          </p:cNvPr>
          <p:cNvSpPr>
            <a:spLocks xmlns:a="http://schemas.openxmlformats.org/drawingml/2006/main" noGrp="1"/>
          </p:cNvSpPr>
          <p:nvPr/>
        </p:nvSpPr>
        <p:spPr>
          <a:xfrm xmlns:a="http://schemas.openxmlformats.org/drawingml/2006/main">
            <a:off x="609600" y="4895850"/>
            <a:ext cx="10953750" cy="0"/>
          </a:xfrm>
          <a:prstGeom xmlns:a="http://schemas.openxmlformats.org/drawingml/2006/main" prst="line">
            <a:avLst/>
          </a:prstGeom>
          <a:noFill xmlns:a="http://schemas.openxmlformats.org/drawingml/2006/main"/>
          <a:ln xmlns:a="http://schemas.openxmlformats.org/drawingml/2006/main" w="9525">
            <a:solidFill>
              <a:srgbClr val="C6C6C2"/>
            </a:solidFill>
            <a:prstDash val="solid"/>
          </a:ln>
        </p:spPr>
      </p:sp>
      <p:sp>
        <p:nvSpPr>
          <p:cNvPr id="18" name="External forecast research">
            <a:extLst xmlns:a="http://schemas.openxmlformats.org/drawingml/2006/main">
              <a:ext uri="{FF2B5EF4-FFF2-40B4-BE49-F238E27FC236}">
                <a16:creationId xmlns:a16="http://schemas.microsoft.com/office/drawing/2014/main" id="{F2D71455-1867-4513-8A4F-A57E86268D56}"/>
              </a:ext>
            </a:extLst>
          </p:cNvPr>
          <p:cNvSpPr>
            <a:spLocks xmlns:a="http://schemas.openxmlformats.org/drawingml/2006/main" noGrp="1"/>
          </p:cNvSpPr>
          <p:nvPr/>
        </p:nvSpPr>
        <p:spPr>
          <a:xfrm xmlns:a="http://schemas.openxmlformats.org/drawingml/2006/main">
            <a:off x="609600" y="5057775"/>
            <a:ext cx="295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1212"/>
                </a:solidFill>
                <a:latin typeface="Liberation Sans"/>
                <a:ea typeface="Liberation Sans"/>
                <a:cs typeface="Liberation Sans"/>
              </a:defRPr>
            </a:defPPr>
          </a:lstStyle>
          <a:p xmlns:a="http://schemas.openxmlformats.org/drawingml/2006/main">
            <a:pPr algn="l">
              <a:defRPr sz="1800" b="1">
                <a:solidFill>
                  <a:srgbClr val="121212"/>
                </a:solidFill>
                <a:latin typeface="Liberation Sans"/>
                <a:ea typeface="Liberation Sans"/>
                <a:cs typeface="Liberation Sans"/>
              </a:defRPr>
            </a:pPr>
            <a:r>
              <a:rPr sz="1800" b="1">
                <a:solidFill>
                  <a:srgbClr val="121212"/>
                </a:solidFill>
                <a:latin typeface="Liberation Sans"/>
                <a:ea typeface="Liberation Sans"/>
                <a:cs typeface="Liberation Sans"/>
              </a:rPr>
              <a:t>External forecast research</a:t>
            </a:r>
          </a:p>
        </p:txBody>
      </p:sp>
      <p:sp>
        <p:nvSpPr>
          <p:cNvPr id="19" name="UCI Online Retail II, 2009–2011">
            <a:extLst xmlns:a="http://schemas.openxmlformats.org/drawingml/2006/main">
              <a:ext uri="{FF2B5EF4-FFF2-40B4-BE49-F238E27FC236}">
                <a16:creationId xmlns:a16="http://schemas.microsoft.com/office/drawing/2014/main" id="{9A17EC30-AB0B-4C76-83BC-E0D7B4567381}"/>
              </a:ext>
            </a:extLst>
          </p:cNvPr>
          <p:cNvSpPr>
            <a:spLocks xmlns:a="http://schemas.openxmlformats.org/drawingml/2006/main" noGrp="1"/>
          </p:cNvSpPr>
          <p:nvPr/>
        </p:nvSpPr>
        <p:spPr>
          <a:xfrm xmlns:a="http://schemas.openxmlformats.org/drawingml/2006/main">
            <a:off x="3829050" y="5029200"/>
            <a:ext cx="7686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1212"/>
                </a:solidFill>
                <a:latin typeface="Liberation Sans"/>
                <a:ea typeface="Liberation Sans"/>
                <a:cs typeface="Liberation Sans"/>
              </a:defRPr>
            </a:defPPr>
          </a:lstStyle>
          <a:p xmlns:a="http://schemas.openxmlformats.org/drawingml/2006/main">
            <a:pPr algn="l">
              <a:defRPr sz="1725" b="0">
                <a:solidFill>
                  <a:srgbClr val="121212"/>
                </a:solidFill>
                <a:latin typeface="Liberation Sans"/>
                <a:ea typeface="Liberation Sans"/>
                <a:cs typeface="Liberation Sans"/>
              </a:defRPr>
            </a:pPr>
            <a:r>
              <a:rPr sz="1725" b="0">
                <a:solidFill>
                  <a:srgbClr val="121212"/>
                </a:solidFill>
                <a:latin typeface="Liberation Sans"/>
                <a:ea typeface="Liberation Sans"/>
                <a:cs typeface="Liberation Sans"/>
              </a:rPr>
              <a:t>UCI Online Retail II, 2009–2011</a:t>
            </a:r>
          </a:p>
        </p:txBody>
      </p:sp>
      <p:sp>
        <p:nvSpPr>
          <p:cNvPr id="20" name="Distinct original and exploratory rolling ">
            <a:extLst xmlns:a="http://schemas.openxmlformats.org/drawingml/2006/main">
              <a:ext uri="{FF2B5EF4-FFF2-40B4-BE49-F238E27FC236}">
                <a16:creationId xmlns:a16="http://schemas.microsoft.com/office/drawing/2014/main" id="{0993C8D3-6F99-4785-8710-3F5E697C8ABB}"/>
              </a:ext>
            </a:extLst>
          </p:cNvPr>
          <p:cNvSpPr>
            <a:spLocks xmlns:a="http://schemas.openxmlformats.org/drawingml/2006/main" noGrp="1"/>
          </p:cNvSpPr>
          <p:nvPr/>
        </p:nvSpPr>
        <p:spPr>
          <a:xfrm xmlns:a="http://schemas.openxmlformats.org/drawingml/2006/main">
            <a:off x="3829050" y="5419725"/>
            <a:ext cx="76866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Liberation Sans"/>
                <a:ea typeface="Liberation Sans"/>
                <a:cs typeface="Liberation Sans"/>
              </a:defRPr>
            </a:defPPr>
          </a:lstStyle>
          <a:p xmlns:a="http://schemas.openxmlformats.org/drawingml/2006/main">
            <a:pPr algn="l">
              <a:defRPr sz="1575" b="0">
                <a:solidFill>
                  <a:srgbClr val="626262"/>
                </a:solidFill>
                <a:latin typeface="Liberation Sans"/>
                <a:ea typeface="Liberation Sans"/>
                <a:cs typeface="Liberation Sans"/>
              </a:defRPr>
            </a:pPr>
            <a:r>
              <a:rPr sz="1575" b="0">
                <a:solidFill>
                  <a:srgbClr val="626262"/>
                </a:solidFill>
                <a:latin typeface="Liberation Sans"/>
                <a:ea typeface="Liberation Sans"/>
                <a:cs typeface="Liberation Sans"/>
              </a:rPr>
              <a:t>Distinct original and exploratory rolling studies</a:t>
            </a:r>
          </a:p>
        </p:txBody>
      </p:sp>
    </p:spTree>
    <p:extLst>
      <p:ext uri="{BB962C8B-B14F-4D97-AF65-F5344CB8AC3E}">
        <p14:creationId xmlns:p14="http://schemas.microsoft.com/office/powerpoint/2010/main" val="1115773408"/>
      </p:ext>
    </p:extLst>
  </p:cSld>
</p:sld>
</file>

<file path=ppt/slides/slide17.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OFFLINE FALLBACK  SAVED V77 SCREEN">
            <a:extLst xmlns:a="http://schemas.openxmlformats.org/drawingml/2006/main">
              <a:ext uri="{FF2B5EF4-FFF2-40B4-BE49-F238E27FC236}">
                <a16:creationId xmlns:a16="http://schemas.microsoft.com/office/drawing/2014/main" id="{51B60452-3B4E-477F-8C7D-86CE1742269F}"/>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OFFLINE FALLBACK  SAVED V77 SCREEN</a:t>
            </a:r>
          </a:p>
        </p:txBody>
      </p:sp>
      <p:sp>
        <p:nvSpPr>
          <p:cNvPr id="2" name="Saved Hormuz exposure confirmation">
            <a:extLst xmlns:a="http://schemas.openxmlformats.org/drawingml/2006/main">
              <a:ext uri="{FF2B5EF4-FFF2-40B4-BE49-F238E27FC236}">
                <a16:creationId xmlns:a16="http://schemas.microsoft.com/office/drawing/2014/main" id="{3858178C-51D7-40BE-8032-28D00425191D}"/>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Saved Hormuz exposure confirmation</a:t>
            </a:r>
          </a:p>
        </p:txBody>
      </p:sp>
      <p:sp>
        <p:nvSpPr>
          <p:cNvPr id="3" name="15">
            <a:extLst xmlns:a="http://schemas.openxmlformats.org/drawingml/2006/main">
              <a:ext uri="{FF2B5EF4-FFF2-40B4-BE49-F238E27FC236}">
                <a16:creationId xmlns:a16="http://schemas.microsoft.com/office/drawing/2014/main" id="{50F22052-2E66-4FC5-B91E-064DC20AF9BE}"/>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17</a:t>
            </a:r>
          </a:p>
        </p:txBody>
      </p:sp>
      <p:sp>
        <p:nvSpPr>
          <p:cNvPr id="4" name="Actual v 77 screen, 10 Oct 2026. Sourced e">
            <a:extLst xmlns:a="http://schemas.openxmlformats.org/drawingml/2006/main">
              <a:ext uri="{FF2B5EF4-FFF2-40B4-BE49-F238E27FC236}">
                <a16:creationId xmlns:a16="http://schemas.microsoft.com/office/drawing/2014/main" id="{446BA6AB-B33C-4757-A5AC-9F40D3954593}"/>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Actual v 77 screen, 10 Oct 2026. Sourced event facts and an explicitly hypothetical three-day additional delay.</a:t>
            </a:r>
          </a:p>
        </p:txBody>
      </p:sp>
      <p:pic>
        <p:nvPicPr>
          <p:cNvPr id="5" name="">
            <a:extLst xmlns:a="http://schemas.openxmlformats.org/drawingml/2006/main">
              <a:ext uri="{FF2B5EF4-FFF2-40B4-BE49-F238E27FC236}">
                <a16:creationId xmlns:a16="http://schemas.microsoft.com/office/drawing/2014/main" id="{BD38575E-1209-4E16-8D64-8F9D39C74DEA}"/>
              </a:ext>
            </a:extLst>
          </p:cNvPr>
          <p:cNvPicPr>
            <a:picLocks xmlns:a="http://schemas.openxmlformats.org/drawingml/2006/main" noChangeAspect="1"/>
          </p:cNvPicPr>
          <p:nvPr/>
        </p:nvPicPr>
        <p:blipFill>
          <a:blip xmlns:r="http://schemas.openxmlformats.org/officeDocument/2006/relationships" xmlns:a="http://schemas.openxmlformats.org/drawingml/2006/main" r:embed="R3541dbc91a8c4837"/>
          <a:stretch xmlns:a="http://schemas.openxmlformats.org/drawingml/2006/main"/>
        </p:blipFill>
        <p:spPr>
          <a:xfrm xmlns:a="http://schemas.openxmlformats.org/drawingml/2006/main">
            <a:off x="1403056" y="1828800"/>
            <a:ext cx="6414087" cy="4114800"/>
          </a:xfrm>
          <a:prstGeom xmlns:a="http://schemas.openxmlformats.org/drawingml/2006/main" prst="rect">
            <a:avLst/>
          </a:prstGeom>
        </p:spPr>
      </p:pic>
      <p:sp>
        <p:nvSpPr>
          <p:cNvPr id="6" name="Dated EIA context&#10;&#10;Fictional order exposur">
            <a:extLst xmlns:a="http://schemas.openxmlformats.org/drawingml/2006/main">
              <a:ext uri="{FF2B5EF4-FFF2-40B4-BE49-F238E27FC236}">
                <a16:creationId xmlns:a16="http://schemas.microsoft.com/office/drawing/2014/main" id="{1156D0E6-DD9A-42D0-830B-0A111BB2BB55}"/>
              </a:ext>
            </a:extLst>
          </p:cNvPr>
          <p:cNvSpPr>
            <a:spLocks xmlns:a="http://schemas.openxmlformats.org/drawingml/2006/main" noGrp="1"/>
          </p:cNvSpPr>
          <p:nvPr/>
        </p:nvSpPr>
        <p:spPr>
          <a:xfrm xmlns:a="http://schemas.openxmlformats.org/drawingml/2006/main">
            <a:off x="9029700" y="2190750"/>
            <a:ext cx="2552700" cy="3105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Dated EIA context</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Fictional order exposure</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User chooses +3 days</a:t>
            </a:r>
          </a:p>
        </p:txBody>
      </p:sp>
    </p:spTree>
    <p:extLst>
      <p:ext uri="{BB962C8B-B14F-4D97-AF65-F5344CB8AC3E}">
        <p14:creationId xmlns:p14="http://schemas.microsoft.com/office/powerpoint/2010/main" val="562365639"/>
      </p:ext>
    </p:extLst>
  </p:cSld>
</p:sld>
</file>

<file path=ppt/slides/slide18.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OFFLINE FALLBACK  SAVED V77 SCREEN">
            <a:extLst xmlns:a="http://schemas.openxmlformats.org/drawingml/2006/main">
              <a:ext uri="{FF2B5EF4-FFF2-40B4-BE49-F238E27FC236}">
                <a16:creationId xmlns:a16="http://schemas.microsoft.com/office/drawing/2014/main" id="{3ECB6825-6925-482E-B406-7B956420DB01}"/>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OFFLINE FALLBACK  SAVED V77 SCREEN</a:t>
            </a:r>
          </a:p>
        </p:txBody>
      </p:sp>
      <p:sp>
        <p:nvSpPr>
          <p:cNvPr id="2" name="Saved same-episode policy comparison">
            <a:extLst xmlns:a="http://schemas.openxmlformats.org/drawingml/2006/main">
              <a:ext uri="{FF2B5EF4-FFF2-40B4-BE49-F238E27FC236}">
                <a16:creationId xmlns:a16="http://schemas.microsoft.com/office/drawing/2014/main" id="{DE467751-2F2D-416F-A070-FC929F00926A}"/>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Saved same-episode policy comparison</a:t>
            </a:r>
          </a:p>
        </p:txBody>
      </p:sp>
      <p:sp>
        <p:nvSpPr>
          <p:cNvPr id="3" name="16">
            <a:extLst xmlns:a="http://schemas.openxmlformats.org/drawingml/2006/main">
              <a:ext uri="{FF2B5EF4-FFF2-40B4-BE49-F238E27FC236}">
                <a16:creationId xmlns:a16="http://schemas.microsoft.com/office/drawing/2014/main" id="{830AB8EC-52B2-47B8-A6C7-C93642A2F232}"/>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18</a:t>
            </a:r>
          </a:p>
        </p:txBody>
      </p:sp>
      <p:sp>
        <p:nvSpPr>
          <p:cNvPr id="4" name="Actual v 77 screen. Initial shipped model,">
            <a:extLst xmlns:a="http://schemas.openxmlformats.org/drawingml/2006/main">
              <a:ext uri="{FF2B5EF4-FFF2-40B4-BE49-F238E27FC236}">
                <a16:creationId xmlns:a16="http://schemas.microsoft.com/office/drawing/2014/main" id="{C9E03C2B-BC05-40CE-8B39-BC184F76D5DE}"/>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Actual v 77 screen. Initial shipped model,seed 400000,MCTS 32 and confirmed Hormuz +3-day assumption.</a:t>
            </a:r>
          </a:p>
        </p:txBody>
      </p:sp>
      <p:pic>
        <p:nvPicPr>
          <p:cNvPr id="5" name="">
            <a:extLst xmlns:a="http://schemas.openxmlformats.org/drawingml/2006/main">
              <a:ext uri="{FF2B5EF4-FFF2-40B4-BE49-F238E27FC236}">
                <a16:creationId xmlns:a16="http://schemas.microsoft.com/office/drawing/2014/main" id="{04D7D51B-A759-45C6-A500-17D864E2F0B5}"/>
              </a:ext>
            </a:extLst>
          </p:cNvPr>
          <p:cNvPicPr>
            <a:picLocks xmlns:a="http://schemas.openxmlformats.org/drawingml/2006/main" noChangeAspect="1"/>
          </p:cNvPicPr>
          <p:nvPr/>
        </p:nvPicPr>
        <p:blipFill>
          <a:blip xmlns:r="http://schemas.openxmlformats.org/officeDocument/2006/relationships" xmlns:a="http://schemas.openxmlformats.org/drawingml/2006/main" r:embed="R920aa714cf1c4f9d"/>
          <a:stretch xmlns:a="http://schemas.openxmlformats.org/drawingml/2006/main"/>
        </p:blipFill>
        <p:spPr>
          <a:xfrm xmlns:a="http://schemas.openxmlformats.org/drawingml/2006/main">
            <a:off x="1403056" y="1828800"/>
            <a:ext cx="6414087" cy="4114800"/>
          </a:xfrm>
          <a:prstGeom xmlns:a="http://schemas.openxmlformats.org/drawingml/2006/main" prst="rect">
            <a:avLst/>
          </a:prstGeom>
        </p:spPr>
      </p:pic>
      <p:sp>
        <p:nvSpPr>
          <p:cNvPr id="6" name="Same episode&#10;&#10;Same feasible actions&#10;&#10;Spend">
            <a:extLst xmlns:a="http://schemas.openxmlformats.org/drawingml/2006/main">
              <a:ext uri="{FF2B5EF4-FFF2-40B4-BE49-F238E27FC236}">
                <a16:creationId xmlns:a16="http://schemas.microsoft.com/office/drawing/2014/main" id="{4F28821B-9480-4994-99C7-23EE32ED9F4C}"/>
              </a:ext>
            </a:extLst>
          </p:cNvPr>
          <p:cNvSpPr>
            <a:spLocks xmlns:a="http://schemas.openxmlformats.org/drawingml/2006/main" noGrp="1"/>
          </p:cNvSpPr>
          <p:nvPr/>
        </p:nvSpPr>
        <p:spPr>
          <a:xfrm xmlns:a="http://schemas.openxmlformats.org/drawingml/2006/main">
            <a:off x="9029700" y="2190750"/>
            <a:ext cx="2552700" cy="3105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Same episode</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Same feasible actions</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Spending and service together</a:t>
            </a:r>
          </a:p>
        </p:txBody>
      </p:sp>
    </p:spTree>
    <p:extLst>
      <p:ext uri="{BB962C8B-B14F-4D97-AF65-F5344CB8AC3E}">
        <p14:creationId xmlns:p14="http://schemas.microsoft.com/office/powerpoint/2010/main" val="1215531606"/>
      </p:ext>
    </p:extLst>
  </p:cSld>
</p:sld>
</file>

<file path=ppt/slides/slide19.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OFFLINE FALLBACK  SAVED V77 SCREEN">
            <a:extLst xmlns:a="http://schemas.openxmlformats.org/drawingml/2006/main">
              <a:ext uri="{FF2B5EF4-FFF2-40B4-BE49-F238E27FC236}">
                <a16:creationId xmlns:a16="http://schemas.microsoft.com/office/drawing/2014/main" id="{DBD952CA-F79A-45AD-B814-549ABD3B4E43}"/>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OFFLINE FALLBACK  SAVED V77 SCREEN</a:t>
            </a:r>
          </a:p>
        </p:txBody>
      </p:sp>
      <p:sp>
        <p:nvSpPr>
          <p:cNvPr id="2" name="Saved newer model after dated refit">
            <a:extLst xmlns:a="http://schemas.openxmlformats.org/drawingml/2006/main">
              <a:ext uri="{FF2B5EF4-FFF2-40B4-BE49-F238E27FC236}">
                <a16:creationId xmlns:a16="http://schemas.microsoft.com/office/drawing/2014/main" id="{935FD855-BDB9-4F42-8201-C992EA02CE33}"/>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Saved newer model after dated refit</a:t>
            </a:r>
          </a:p>
        </p:txBody>
      </p:sp>
      <p:sp>
        <p:nvSpPr>
          <p:cNvPr id="3" name="17">
            <a:extLst xmlns:a="http://schemas.openxmlformats.org/drawingml/2006/main">
              <a:ext uri="{FF2B5EF4-FFF2-40B4-BE49-F238E27FC236}">
                <a16:creationId xmlns:a16="http://schemas.microsoft.com/office/drawing/2014/main" id="{A6723A4A-EE9D-49BE-A333-4C03EC26DE58}"/>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19</a:t>
            </a:r>
          </a:p>
        </p:txBody>
      </p:sp>
      <p:sp>
        <p:nvSpPr>
          <p:cNvPr id="4" name="Actual v 77 screen. Releasing 26 Sep insta">
            <a:extLst xmlns:a="http://schemas.openxmlformats.org/drawingml/2006/main">
              <a:ext uri="{FF2B5EF4-FFF2-40B4-BE49-F238E27FC236}">
                <a16:creationId xmlns:a16="http://schemas.microsoft.com/office/drawing/2014/main" id="{17D3A681-1AE8-4831-8C6E-D4C1A43DC020}"/>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Actual v 77 screen. Releasing 26 Sep installs 27 Sep calibration; consumed holdout results are withheld.</a:t>
            </a:r>
          </a:p>
        </p:txBody>
      </p:sp>
      <p:pic>
        <p:nvPicPr>
          <p:cNvPr id="5" name="">
            <a:extLst xmlns:a="http://schemas.openxmlformats.org/drawingml/2006/main">
              <a:ext uri="{FF2B5EF4-FFF2-40B4-BE49-F238E27FC236}">
                <a16:creationId xmlns:a16="http://schemas.microsoft.com/office/drawing/2014/main" id="{A9813DC0-835E-4200-AD0B-5E20358AC623}"/>
              </a:ext>
            </a:extLst>
          </p:cNvPr>
          <p:cNvPicPr>
            <a:picLocks xmlns:a="http://schemas.openxmlformats.org/drawingml/2006/main" noChangeAspect="1"/>
          </p:cNvPicPr>
          <p:nvPr/>
        </p:nvPicPr>
        <p:blipFill>
          <a:blip xmlns:r="http://schemas.openxmlformats.org/officeDocument/2006/relationships" xmlns:a="http://schemas.openxmlformats.org/drawingml/2006/main" r:embed="Rbcab1b980c0c49a6"/>
          <a:stretch xmlns:a="http://schemas.openxmlformats.org/drawingml/2006/main"/>
        </p:blipFill>
        <p:spPr>
          <a:xfrm xmlns:a="http://schemas.openxmlformats.org/drawingml/2006/main">
            <a:off x="1403056" y="1828800"/>
            <a:ext cx="6414087" cy="4114800"/>
          </a:xfrm>
          <a:prstGeom xmlns:a="http://schemas.openxmlformats.org/drawingml/2006/main" prst="rect">
            <a:avLst/>
          </a:prstGeom>
        </p:spPr>
      </p:pic>
      <p:sp>
        <p:nvSpPr>
          <p:cNvPr id="6" name="A new fitted version&#10;&#10;Old holdout withheld">
            <a:extLst xmlns:a="http://schemas.openxmlformats.org/drawingml/2006/main">
              <a:ext uri="{FF2B5EF4-FFF2-40B4-BE49-F238E27FC236}">
                <a16:creationId xmlns:a16="http://schemas.microsoft.com/office/drawing/2014/main" id="{DEEE7C66-5661-4092-AF9A-AB636D76C168}"/>
              </a:ext>
            </a:extLst>
          </p:cNvPr>
          <p:cNvSpPr>
            <a:spLocks xmlns:a="http://schemas.openxmlformats.org/drawingml/2006/main" noGrp="1"/>
          </p:cNvSpPr>
          <p:nvPr/>
        </p:nvSpPr>
        <p:spPr>
          <a:xfrm xmlns:a="http://schemas.openxmlformats.org/drawingml/2006/main">
            <a:off x="9029700" y="2190750"/>
            <a:ext cx="2552700" cy="3105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A new fitted version</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Old holdout withheld</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Frozen Q is not retrained</a:t>
            </a:r>
          </a:p>
        </p:txBody>
      </p:sp>
    </p:spTree>
    <p:extLst>
      <p:ext uri="{BB962C8B-B14F-4D97-AF65-F5344CB8AC3E}">
        <p14:creationId xmlns:p14="http://schemas.microsoft.com/office/powerpoint/2010/main" val="375230433"/>
      </p:ext>
    </p:extLst>
  </p:cSld>
</p:sld>
</file>

<file path=ppt/slides/slide20.xml><?xml version="1.0" encoding="utf-8"?>
<p:sld xmlns:p="http://schemas.openxmlformats.org/presentationml/2006/main" show="0">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OFFLINE FALLBACK  SAVED V77 SCREEN">
            <a:extLst xmlns:a="http://schemas.openxmlformats.org/drawingml/2006/main">
              <a:ext uri="{FF2B5EF4-FFF2-40B4-BE49-F238E27FC236}">
                <a16:creationId xmlns:a16="http://schemas.microsoft.com/office/drawing/2014/main" id="{B9F35569-2D69-4A49-B9A1-5B70F52668D1}"/>
              </a:ext>
            </a:extLst>
          </p:cNvPr>
          <p:cNvSpPr>
            <a:spLocks xmlns:a="http://schemas.openxmlformats.org/drawingml/2006/main" noGrp="1"/>
          </p:cNvSpPr>
          <p:nvPr/>
        </p:nvSpPr>
        <p:spPr>
          <a:xfrm xmlns:a="http://schemas.openxmlformats.org/drawingml/2006/main">
            <a:off x="609600" y="33337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26262"/>
                </a:solidFill>
                <a:latin typeface="Liberation Sans"/>
                <a:ea typeface="Liberation Sans"/>
                <a:cs typeface="Liberation Sans"/>
              </a:defRPr>
            </a:defPPr>
          </a:lstStyle>
          <a:p xmlns:a="http://schemas.openxmlformats.org/drawingml/2006/main">
            <a:pPr algn="l">
              <a:defRPr sz="1050" b="1">
                <a:solidFill>
                  <a:srgbClr val="626262"/>
                </a:solidFill>
                <a:latin typeface="Liberation Sans"/>
                <a:ea typeface="Liberation Sans"/>
                <a:cs typeface="Liberation Sans"/>
              </a:defRPr>
            </a:pPr>
            <a:r>
              <a:rPr sz="1050" b="1">
                <a:solidFill>
                  <a:srgbClr val="626262"/>
                </a:solidFill>
                <a:latin typeface="Liberation Sans"/>
                <a:ea typeface="Liberation Sans"/>
                <a:cs typeface="Liberation Sans"/>
              </a:rPr>
              <a:t>OFFLINE FALLBACK  SAVED V77 SCREEN</a:t>
            </a:r>
          </a:p>
        </p:txBody>
      </p:sp>
      <p:sp>
        <p:nvSpPr>
          <p:cNvPr id="2" name="Saved daily response after the refit">
            <a:extLst xmlns:a="http://schemas.openxmlformats.org/drawingml/2006/main">
              <a:ext uri="{FF2B5EF4-FFF2-40B4-BE49-F238E27FC236}">
                <a16:creationId xmlns:a16="http://schemas.microsoft.com/office/drawing/2014/main" id="{CCD45110-8BAD-463C-84A2-1CCEA05FDEF0}"/>
              </a:ext>
            </a:extLst>
          </p:cNvPr>
          <p:cNvSpPr>
            <a:spLocks xmlns:a="http://schemas.openxmlformats.org/drawingml/2006/main" noGrp="1"/>
          </p:cNvSpPr>
          <p:nvPr/>
        </p:nvSpPr>
        <p:spPr>
          <a:xfrm xmlns:a="http://schemas.openxmlformats.org/drawingml/2006/main">
            <a:off x="609600" y="7810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1212"/>
                </a:solidFill>
                <a:latin typeface="Liberation Sans"/>
                <a:ea typeface="Liberation Sans"/>
                <a:cs typeface="Liberation Sans"/>
              </a:defRPr>
            </a:defPPr>
          </a:lstStyle>
          <a:p xmlns:a="http://schemas.openxmlformats.org/drawingml/2006/main">
            <a:pPr algn="l">
              <a:defRPr sz="3300" b="1">
                <a:solidFill>
                  <a:srgbClr val="121212"/>
                </a:solidFill>
                <a:latin typeface="Liberation Sans"/>
                <a:ea typeface="Liberation Sans"/>
                <a:cs typeface="Liberation Sans"/>
              </a:defRPr>
            </a:pPr>
            <a:r>
              <a:rPr sz="3300" b="1">
                <a:solidFill>
                  <a:srgbClr val="121212"/>
                </a:solidFill>
                <a:latin typeface="Liberation Sans"/>
                <a:ea typeface="Liberation Sans"/>
                <a:cs typeface="Liberation Sans"/>
              </a:rPr>
              <a:t>Saved daily response after the refit</a:t>
            </a:r>
          </a:p>
        </p:txBody>
      </p:sp>
      <p:sp>
        <p:nvSpPr>
          <p:cNvPr id="3" name="18">
            <a:extLst xmlns:a="http://schemas.openxmlformats.org/drawingml/2006/main">
              <a:ext uri="{FF2B5EF4-FFF2-40B4-BE49-F238E27FC236}">
                <a16:creationId xmlns:a16="http://schemas.microsoft.com/office/drawing/2014/main" id="{7AE9033F-0698-4F11-9675-C09DC1A3393F}"/>
              </a:ext>
            </a:extLst>
          </p:cNvPr>
          <p:cNvSpPr>
            <a:spLocks xmlns:a="http://schemas.openxmlformats.org/drawingml/2006/main" noGrp="1"/>
          </p:cNvSpPr>
          <p:nvPr/>
        </p:nvSpPr>
        <p:spPr>
          <a:xfrm xmlns:a="http://schemas.openxmlformats.org/drawingml/2006/main">
            <a:off x="11220450" y="63246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26262"/>
                </a:solidFill>
                <a:latin typeface="Liberation Sans"/>
                <a:ea typeface="Liberation Sans"/>
                <a:cs typeface="Liberation Sans"/>
              </a:defRPr>
            </a:defPPr>
          </a:lstStyle>
          <a:p xmlns:a="http://schemas.openxmlformats.org/drawingml/2006/main">
            <a:pPr algn="r">
              <a:defRPr sz="975" b="0">
                <a:solidFill>
                  <a:srgbClr val="626262"/>
                </a:solidFill>
                <a:latin typeface="Liberation Sans"/>
                <a:ea typeface="Liberation Sans"/>
                <a:cs typeface="Liberation Sans"/>
              </a:defRPr>
            </a:pPr>
            <a:r>
              <a:rPr sz="975" b="0">
                <a:solidFill>
                  <a:srgbClr val="626262"/>
                </a:solidFill>
                <a:latin typeface="Liberation Sans"/>
                <a:ea typeface="Liberation Sans"/>
                <a:cs typeface="Liberation Sans"/>
              </a:rPr>
              <a:t>20</a:t>
            </a:r>
          </a:p>
        </p:txBody>
      </p:sp>
      <p:sp>
        <p:nvSpPr>
          <p:cNvPr id="4" name="Actual v 77 screen. New 27 Sep model, same">
            <a:extLst xmlns:a="http://schemas.openxmlformats.org/drawingml/2006/main">
              <a:ext uri="{FF2B5EF4-FFF2-40B4-BE49-F238E27FC236}">
                <a16:creationId xmlns:a16="http://schemas.microsoft.com/office/drawing/2014/main" id="{BDB65AEE-DB93-4D1D-8001-73A3FFAF2EF9}"/>
              </a:ext>
            </a:extLst>
          </p:cNvPr>
          <p:cNvSpPr>
            <a:spLocks xmlns:a="http://schemas.openxmlformats.org/drawingml/2006/main" noGrp="1"/>
          </p:cNvSpPr>
          <p:nvPr/>
        </p:nvSpPr>
        <p:spPr>
          <a:xfrm xmlns:a="http://schemas.openxmlformats.org/drawingml/2006/main">
            <a:off x="609600" y="61817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26262"/>
                </a:solidFill>
                <a:latin typeface="Liberation Sans"/>
                <a:ea typeface="Liberation Sans"/>
                <a:cs typeface="Liberation Sans"/>
              </a:defRPr>
            </a:defPPr>
          </a:lstStyle>
          <a:p xmlns:a="http://schemas.openxmlformats.org/drawingml/2006/main">
            <a:pPr algn="l">
              <a:defRPr sz="1050" b="0">
                <a:solidFill>
                  <a:srgbClr val="626262"/>
                </a:solidFill>
                <a:latin typeface="Liberation Sans"/>
                <a:ea typeface="Liberation Sans"/>
                <a:cs typeface="Liberation Sans"/>
              </a:defRPr>
            </a:pPr>
            <a:r>
              <a:rPr sz="1050" b="0">
                <a:solidFill>
                  <a:srgbClr val="626262"/>
                </a:solidFill>
                <a:latin typeface="Liberation Sans"/>
                <a:ea typeface="Liberation Sans"/>
                <a:cs typeface="Liberation Sans"/>
              </a:rPr>
              <a:t>Actual v 77 screen. New 27 Sep model, same Hormuz assumption and seed. This is the MCTS trace after rerunning.</a:t>
            </a:r>
          </a:p>
        </p:txBody>
      </p:sp>
      <p:pic>
        <p:nvPicPr>
          <p:cNvPr id="5" name="">
            <a:extLst xmlns:a="http://schemas.openxmlformats.org/drawingml/2006/main">
              <a:ext uri="{FF2B5EF4-FFF2-40B4-BE49-F238E27FC236}">
                <a16:creationId xmlns:a16="http://schemas.microsoft.com/office/drawing/2014/main" id="{DA205030-A703-4B05-BB2C-6F5574A79813}"/>
              </a:ext>
            </a:extLst>
          </p:cNvPr>
          <p:cNvPicPr>
            <a:picLocks xmlns:a="http://schemas.openxmlformats.org/drawingml/2006/main" noChangeAspect="1"/>
          </p:cNvPicPr>
          <p:nvPr/>
        </p:nvPicPr>
        <p:blipFill>
          <a:blip xmlns:r="http://schemas.openxmlformats.org/officeDocument/2006/relationships" xmlns:a="http://schemas.openxmlformats.org/drawingml/2006/main" r:embed="Rba37626cc3ad489c"/>
          <a:stretch xmlns:a="http://schemas.openxmlformats.org/drawingml/2006/main"/>
        </p:blipFill>
        <p:spPr>
          <a:xfrm xmlns:a="http://schemas.openxmlformats.org/drawingml/2006/main">
            <a:off x="1403056" y="1828800"/>
            <a:ext cx="6414087" cy="4114800"/>
          </a:xfrm>
          <a:prstGeom xmlns:a="http://schemas.openxmlformats.org/drawingml/2006/main" prst="rect">
            <a:avLst/>
          </a:prstGeom>
        </p:spPr>
      </p:pic>
      <p:sp>
        <p:nvSpPr>
          <p:cNvPr id="6" name="Chosen daily action&#10;&#10;Stock and cash ledger">
            <a:extLst xmlns:a="http://schemas.openxmlformats.org/drawingml/2006/main">
              <a:ext uri="{FF2B5EF4-FFF2-40B4-BE49-F238E27FC236}">
                <a16:creationId xmlns:a16="http://schemas.microsoft.com/office/drawing/2014/main" id="{C9DA166A-09EB-4191-9F98-C0E8D26A1277}"/>
              </a:ext>
            </a:extLst>
          </p:cNvPr>
          <p:cNvSpPr>
            <a:spLocks xmlns:a="http://schemas.openxmlformats.org/drawingml/2006/main" noGrp="1"/>
          </p:cNvSpPr>
          <p:nvPr/>
        </p:nvSpPr>
        <p:spPr>
          <a:xfrm xmlns:a="http://schemas.openxmlformats.org/drawingml/2006/main">
            <a:off x="9029700" y="2190750"/>
            <a:ext cx="2552700" cy="3105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1212"/>
                </a:solidFill>
                <a:latin typeface="Liberation Sans"/>
                <a:ea typeface="Liberation Sans"/>
                <a:cs typeface="Liberation Sans"/>
              </a:defRPr>
            </a:defPPr>
          </a:lstStyle>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Chosen daily action</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Stock and cash ledger</a:t>
            </a:r>
          </a:p>
          <a:p xmlns:a="http://schemas.openxmlformats.org/drawingml/2006/main">
            <a:r>
              <a:t/>
            </a:r>
          </a:p>
          <a:p xmlns:a="http://schemas.openxmlformats.org/drawingml/2006/main">
            <a:pPr algn="l">
              <a:defRPr sz="1950" b="1">
                <a:solidFill>
                  <a:srgbClr val="121212"/>
                </a:solidFill>
                <a:latin typeface="Liberation Sans"/>
                <a:ea typeface="Liberation Sans"/>
                <a:cs typeface="Liberation Sans"/>
              </a:defRPr>
            </a:pPr>
            <a:r>
              <a:rPr sz="1950" b="1">
                <a:solidFill>
                  <a:srgbClr val="121212"/>
                </a:solidFill>
                <a:latin typeface="Liberation Sans"/>
                <a:ea typeface="Liberation Sans"/>
                <a:cs typeface="Liberation Sans"/>
              </a:rPr>
              <a:t>Capacity carries forward</a:t>
            </a:r>
          </a:p>
        </p:txBody>
      </p:sp>
    </p:spTree>
    <p:extLst>
      <p:ext uri="{BB962C8B-B14F-4D97-AF65-F5344CB8AC3E}">
        <p14:creationId xmlns:p14="http://schemas.microsoft.com/office/powerpoint/2010/main" val="14030230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2026-10-10T08:59:21.3840000Z</dcterms:created>
  <dcterms:modified xsi:type="dcterms:W3CDTF">2026-10-10T08:59:21.3840000Z</dcterms:modified>
</coreProperties>
</file>