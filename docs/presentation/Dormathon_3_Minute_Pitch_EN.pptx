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b1a5dbab1b142a3" /><Relationship Type="http://schemas.openxmlformats.org/officeDocument/2006/relationships/extended-properties" Target="/docProps/app.xml" Id="R139fca630c774c15" /><Relationship Type="http://schemas.openxmlformats.org/officeDocument/2006/relationships/officeDocument" Target="/ppt/presentation.xml" Id="R1c782c6f9bbf4c37" /></Relationships>
</file>

<file path=ppt/presentation.xml><?xml version="1.0" encoding="utf-8"?>
<p:presentation xmlns:p="http://schemas.openxmlformats.org/presentationml/2006/main">
  <p:sldMasterIdLst>
    <p:sldMasterId xmlns:r="http://schemas.openxmlformats.org/officeDocument/2006/relationships" id="2147483648" r:id="Rb3de4de28bf74b52"/>
  </p:sldMasterIdLst>
  <p:notesMasterIdLst>
    <p:notesMasterId xmlns:r="http://schemas.openxmlformats.org/officeDocument/2006/relationships" r:id="Ra7dedd9acb944cf7"/>
  </p:notesMasterIdLst>
  <p:sldIdLst>
    <p:sldId xmlns:r="http://schemas.openxmlformats.org/officeDocument/2006/relationships" id="256" r:id="Rb90b26a951d343de"/>
    <p:sldId xmlns:r="http://schemas.openxmlformats.org/officeDocument/2006/relationships" id="257" r:id="R6936a14f07dd4859"/>
    <p:sldId xmlns:r="http://schemas.openxmlformats.org/officeDocument/2006/relationships" id="258" r:id="Rd2df5f8fcc4f4a09"/>
    <p:sldId xmlns:r="http://schemas.openxmlformats.org/officeDocument/2006/relationships" id="259" r:id="Rf480f9a2573549e1"/>
    <p:sldId xmlns:r="http://schemas.openxmlformats.org/officeDocument/2006/relationships" id="260" r:id="Rbfe5d8abc815437e"/>
    <p:sldId xmlns:r="http://schemas.openxmlformats.org/officeDocument/2006/relationships" id="261" r:id="Ra2096e8c19a04a71"/>
    <p:sldId xmlns:r="http://schemas.openxmlformats.org/officeDocument/2006/relationships" id="262" r:id="Rd85fb6ae9e6940ea"/>
    <p:sldId xmlns:r="http://schemas.openxmlformats.org/officeDocument/2006/relationships" id="263" r:id="Rcb7fe05fb7024eef"/>
    <p:sldId xmlns:r="http://schemas.openxmlformats.org/officeDocument/2006/relationships" id="264" r:id="Radb42e5a6f9445b8"/>
    <p:sldId xmlns:r="http://schemas.openxmlformats.org/officeDocument/2006/relationships" id="265" r:id="R02340f4e7799445a"/>
    <p:sldId xmlns:r="http://schemas.openxmlformats.org/officeDocument/2006/relationships" id="266" r:id="Rfb2409ede03249fa"/>
    <p:sldId xmlns:r="http://schemas.openxmlformats.org/officeDocument/2006/relationships" id="267" r:id="Rb73290e455ce4e5e"/>
    <p:sldId xmlns:r="http://schemas.openxmlformats.org/officeDocument/2006/relationships" id="268" r:id="Re7f2951032784dc5"/>
    <p:sldId xmlns:r="http://schemas.openxmlformats.org/officeDocument/2006/relationships" id="269" r:id="R8774e7626b9c4919"/>
    <p:sldId xmlns:r="http://schemas.openxmlformats.org/officeDocument/2006/relationships" id="270" r:id="R59812777533e4308"/>
    <p:sldId xmlns:r="http://schemas.openxmlformats.org/officeDocument/2006/relationships" id="271" r:id="Rff3d6a8e2cce407d"/>
    <p:sldId xmlns:r="http://schemas.openxmlformats.org/officeDocument/2006/relationships" id="272" r:id="R2d66393823e24b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18c9ac562c4633" /><Relationship Type="http://schemas.openxmlformats.org/officeDocument/2006/relationships/slideMaster" Target="/ppt/slideMasters/slideMaster1.xml" Id="Rb3de4de28bf74b52" /><Relationship Type="http://schemas.openxmlformats.org/officeDocument/2006/relationships/notesMaster" Target="/ppt/notesMasters/notesMaster1.xml" Id="Ra7dedd9acb944cf7" /><Relationship Type="http://schemas.openxmlformats.org/officeDocument/2006/relationships/presProps" Target="/ppt/presProps.xml" Id="Rcd6f0b7246eb4bbd" /><Relationship Type="http://schemas.openxmlformats.org/officeDocument/2006/relationships/tableStyles" Target="/ppt/tableStyles.xml" Id="R1d60206d818242df" /><Relationship Type="http://schemas.openxmlformats.org/officeDocument/2006/relationships/slide" Target="/ppt/slides/slide1.xml" Id="Rb90b26a951d343de" /><Relationship Type="http://schemas.openxmlformats.org/officeDocument/2006/relationships/slide" Target="/ppt/slides/slide2.xml" Id="R6936a14f07dd4859" /><Relationship Type="http://schemas.openxmlformats.org/officeDocument/2006/relationships/slide" Target="/ppt/slides/slide3.xml" Id="Rd2df5f8fcc4f4a09" /><Relationship Type="http://schemas.openxmlformats.org/officeDocument/2006/relationships/slide" Target="/ppt/slides/slide4.xml" Id="Rf480f9a2573549e1" /><Relationship Type="http://schemas.openxmlformats.org/officeDocument/2006/relationships/slide" Target="/ppt/slides/slide5.xml" Id="Rbfe5d8abc815437e" /><Relationship Type="http://schemas.openxmlformats.org/officeDocument/2006/relationships/slide" Target="/ppt/slides/slide6.xml" Id="Ra2096e8c19a04a71" /><Relationship Type="http://schemas.openxmlformats.org/officeDocument/2006/relationships/slide" Target="/ppt/slides/slide7.xml" Id="Rd85fb6ae9e6940ea" /><Relationship Type="http://schemas.openxmlformats.org/officeDocument/2006/relationships/slide" Target="/ppt/slides/slide8.xml" Id="Rcb7fe05fb7024eef" /><Relationship Type="http://schemas.openxmlformats.org/officeDocument/2006/relationships/slide" Target="/ppt/slides/slide9.xml" Id="Radb42e5a6f9445b8" /><Relationship Type="http://schemas.openxmlformats.org/officeDocument/2006/relationships/slide" Target="/ppt/slides/slide10.xml" Id="R02340f4e7799445a" /><Relationship Type="http://schemas.openxmlformats.org/officeDocument/2006/relationships/slide" Target="/ppt/slides/slide11.xml" Id="Rfb2409ede03249fa" /><Relationship Type="http://schemas.openxmlformats.org/officeDocument/2006/relationships/slide" Target="/ppt/slides/slide12.xml" Id="Rb73290e455ce4e5e" /><Relationship Type="http://schemas.openxmlformats.org/officeDocument/2006/relationships/slide" Target="/ppt/slides/slide13.xml" Id="Re7f2951032784dc5" /><Relationship Type="http://schemas.openxmlformats.org/officeDocument/2006/relationships/slide" Target="/ppt/slides/slide14.xml" Id="R8774e7626b9c4919" /><Relationship Type="http://schemas.openxmlformats.org/officeDocument/2006/relationships/slide" Target="/ppt/slides/slide15.xml" Id="R59812777533e4308" /><Relationship Type="http://schemas.openxmlformats.org/officeDocument/2006/relationships/slide" Target="/ppt/slides/slide16.xml" Id="Rff3d6a8e2cce407d" /><Relationship Type="http://schemas.openxmlformats.org/officeDocument/2006/relationships/slide" Target="/ppt/slides/slide17.xml" Id="R2d66393823e24b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8e4b9ac8df47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c133a272f94841" /><Relationship Type="http://schemas.openxmlformats.org/officeDocument/2006/relationships/notesMaster" Target="/ppt/notesMasters/notesMaster1.xml" Id="R28157992e0e34b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e9333116b541fb" /><Relationship Type="http://schemas.openxmlformats.org/officeDocument/2006/relationships/notesMaster" Target="/ppt/notesMasters/notesMaster1.xml" Id="R9e7470d34a524c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73e3e4ec504784" /><Relationship Type="http://schemas.openxmlformats.org/officeDocument/2006/relationships/notesMaster" Target="/ppt/notesMasters/notesMaster1.xml" Id="R12368396e25d45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d003c2c7a640ee" /><Relationship Type="http://schemas.openxmlformats.org/officeDocument/2006/relationships/notesMaster" Target="/ppt/notesMasters/notesMaster1.xml" Id="R3cf3633f2e684f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88ecee1a6944d2" /><Relationship Type="http://schemas.openxmlformats.org/officeDocument/2006/relationships/notesMaster" Target="/ppt/notesMasters/notesMaster1.xml" Id="R3638018a44994f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d4b2c1a3ba498a" /><Relationship Type="http://schemas.openxmlformats.org/officeDocument/2006/relationships/notesMaster" Target="/ppt/notesMasters/notesMaster1.xml" Id="Rdb4e844be60d43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aaccc0cce94e1b" /><Relationship Type="http://schemas.openxmlformats.org/officeDocument/2006/relationships/notesMaster" Target="/ppt/notesMasters/notesMaster1.xml" Id="R12564c1e8dce4f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eba832ac264294" /><Relationship Type="http://schemas.openxmlformats.org/officeDocument/2006/relationships/notesMaster" Target="/ppt/notesMasters/notesMaster1.xml" Id="R08f9a720f9bd43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f5dee945a6846a0" /><Relationship Type="http://schemas.openxmlformats.org/officeDocument/2006/relationships/notesMaster" Target="/ppt/notesMasters/notesMaster1.xml" Id="R21337f24ec8c45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638ebcd24248bc" /><Relationship Type="http://schemas.openxmlformats.org/officeDocument/2006/relationships/notesMaster" Target="/ppt/notesMasters/notesMaster1.xml" Id="R6f871d2e9cbe43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d3b75998b643c9" /><Relationship Type="http://schemas.openxmlformats.org/officeDocument/2006/relationships/notesMaster" Target="/ppt/notesMasters/notesMaster1.xml" Id="R164f0ffebff948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dbce7d6e3c4f8e" /><Relationship Type="http://schemas.openxmlformats.org/officeDocument/2006/relationships/notesMaster" Target="/ppt/notesMasters/notesMaster1.xml" Id="R4551392356924e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10b9f741a894e92" /><Relationship Type="http://schemas.openxmlformats.org/officeDocument/2006/relationships/notesMaster" Target="/ppt/notesMasters/notesMaster1.xml" Id="Rfc11e50e3afc46f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3e897b38b542bb" /><Relationship Type="http://schemas.openxmlformats.org/officeDocument/2006/relationships/notesMaster" Target="/ppt/notesMasters/notesMaster1.xml" Id="R7bc4b08913444f9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7a09c58adee4ba3" /><Relationship Type="http://schemas.openxmlformats.org/officeDocument/2006/relationships/notesMaster" Target="/ppt/notesMasters/notesMaster1.xml" Id="R185cbf25d72e4ce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c26829121874660" /><Relationship Type="http://schemas.openxmlformats.org/officeDocument/2006/relationships/notesMaster" Target="/ppt/notesMasters/notesMaster1.xml" Id="R631777a261954d0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8f2116ee25a4bfd" /><Relationship Type="http://schemas.openxmlformats.org/officeDocument/2006/relationships/notesMaster" Target="/ppt/notesMasters/notesMaster1.xml" Id="R065bacda687f4d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00:00–00:15. A regional operations lead sees a delivery arriving late. Protecting service may require stock from another store, invoice review or a different receiving window. Dormathon brings the connected exceptions and their evidence into one decision workspace.</a:t>
            </a:r>
          </a:p>
          <a:p xmlns:a="http://schemas.openxmlformats.org/drawingml/2006/main">
            <a:r>
              <a:t/>
            </a:r>
          </a:p>
          <a:p xmlns:a="http://schemas.openxmlformats.org/drawingml/2006/main">
            <a:r>
              <a:t>Primary format: 3-minute pitch and 2-minute Q&amp;A, confirmed by owner. Review-ready target 20:00 Malaysia time on 10 October 2026; submission deadline 09:00 Malaysia time on 11 October 2026.</a:t>
            </a:r>
          </a:p>
          <a:p xmlns:a="http://schemas.openxmlformats.org/drawingml/2006/main">
            <a:r>
              <a:t/>
            </a:r>
          </a:p>
          <a:p xmlns:a="http://schemas.openxmlformats.org/drawingml/2006/main">
            <a:r>
              <a:t>SOURCES</a:t>
            </a:r>
          </a:p>
          <a:p xmlns:a="http://schemas.openxmlformats.org/drawingml/2006/main">
            <a:r>
              <a:t>Approved Dormathon Product Specifications v0.4.1, 10 October 2026, S01–S11. Project source: docs/specs/Dormathon_Product_Specifications_v0.4.1_EN.md.</a:t>
            </a:r>
          </a:p>
          <a:p xmlns:a="http://schemas.openxmlformats.org/drawingml/2006/main">
            <a:r>
              <a:t>Hosted product: https://dormathon-risk-private-20261007.liuyz8715.chatgpt.site/workbench.html. Site v71, source 7ab8622d73c9fc916573e9e74da47b110abc31fd, published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00:15–00:40. Those choices compete for shared resources. Our MR D.I.Y. Malaysia demonstration uses public operating context and explicitly synthetic internal data. It contains forty linked cases across supply, procurement, service and energy security. Six deep cases follow one replenishment episode.</a:t>
            </a:r>
          </a:p>
          <a:p xmlns:a="http://schemas.openxmlformats.org/drawingml/2006/main">
            <a:r>
              <a:t/>
            </a:r>
          </a:p>
          <a:p xmlns:a="http://schemas.openxmlformats.org/drawingml/2006/main">
            <a:r>
              <a:t>Primary format: 3-minute pitch and 2-minute Q&amp;A, confirmed by owner. Review-ready target 20:00 Malaysia time on 10 October 2026; submission deadline 09:00 Malaysia time on 11 October 2026.</a:t>
            </a:r>
          </a:p>
          <a:p xmlns:a="http://schemas.openxmlformats.org/drawingml/2006/main">
            <a:r>
              <a:t/>
            </a:r>
          </a:p>
          <a:p xmlns:a="http://schemas.openxmlformats.org/drawingml/2006/main">
            <a:r>
              <a:t>SOURCES</a:t>
            </a:r>
          </a:p>
          <a:p xmlns:a="http://schemas.openxmlformats.org/drawingml/2006/main">
            <a:r>
              <a:t>MR D.I.Y. Group (M) Berhad, Sustainability Report 2025, printed pp2,33,37–40,47–49. https://corporate.mrdiy.com/misc/sustainability/MRDIY-Sustainability_Report_2025.pdf</a:t>
            </a:r>
          </a:p>
          <a:p xmlns:a="http://schemas.openxmlformats.org/drawingml/2006/main">
            <a:r>
              <a:t>MR D.I.Y. Group (M) Berhad, Integrated Annual Report 2025. https://mrdiy.listedcompany.com/misc/ar/MRDIY_AR2025.pdf</a:t>
            </a:r>
          </a:p>
          <a:p xmlns:a="http://schemas.openxmlformats.org/drawingml/2006/main">
            <a:r>
              <a:t>Approved Dormathon Product Specifications v0.4.1, 10 October 2026, S01–S11. Project source: docs/specs/Dormathon_Product_Specifications_v0.4.1_EN.md.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00:40–01:20. Here, sixty available units cover three days, but delivery takes five. That leaves forty units uncovered. Under identical seven-day assumptions, no change costs MYR 496. A feasible forty-unit transfer costs MYR 61.60 with no simulated shortage. These are conditional scenario costs, not measured company savings. LIVE: show the preloaded SC01 comparison while speaking. Use fallback slide14 if needed.</a:t>
            </a:r>
          </a:p>
          <a:p xmlns:a="http://schemas.openxmlformats.org/drawingml/2006/main">
            <a:r>
              <a:t/>
            </a:r>
          </a:p>
          <a:p xmlns:a="http://schemas.openxmlformats.org/drawingml/2006/main">
            <a:r>
              <a:t>Primary format: 3-minute pitch and 2-minute Q&amp;A, confirmed by owner. Review-ready target 20:00 Malaysia time on 10 October 2026; submission deadline 09:00 Malaysia time on 11 October 2026.</a:t>
            </a:r>
          </a:p>
          <a:p xmlns:a="http://schemas.openxmlformats.org/drawingml/2006/main">
            <a:r>
              <a:t/>
            </a:r>
          </a:p>
          <a:p xmlns:a="http://schemas.openxmlformats.org/drawingml/2006/main">
            <a:r>
              <a:t>SOURCES</a:t>
            </a:r>
          </a:p>
          <a:p xmlns:a="http://schemas.openxmlformats.org/drawingml/2006/main">
            <a:r>
              <a:t>Project evidence: worker/mrdiy-operations.js and worker/mrdiy-fixture.js, operation version 0.4.1.1. SC01 compared directly from the approved frozen fixture on 10 October 2026.</a:t>
            </a:r>
          </a:p>
          <a:p xmlns:a="http://schemas.openxmlformats.org/drawingml/2006/main">
            <a:r>
              <a:t>Hosted product: https://dormathon-risk-private-20261007.liuyz8715.chatgpt.site/workbench.html. Site v71, source 7ab8622d73c9fc916573e9e74da47b110abc31fd, published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01:20–01:50. Every case draws from shared stock, cash and capacity. An option can fail when another case reserves the resource. The human can choose or reject an action, then reopen its frozen evidence. Unknown lead time produces an abstention. GPT-OSS 120B explains the governed case facts and executes no decision. LIVE: show the existing saved selected transfer. Use fallback slide15 if needed. Keep the fuel interaction for Q&amp;A.</a:t>
            </a:r>
          </a:p>
          <a:p xmlns:a="http://schemas.openxmlformats.org/drawingml/2006/main">
            <a:r>
              <a:t/>
            </a:r>
          </a:p>
          <a:p xmlns:a="http://schemas.openxmlformats.org/drawingml/2006/main">
            <a:r>
              <a:t>Primary format: 3-minute pitch and 2-minute Q&amp;A, confirmed by owner. Review-ready target 20:00 Malaysia time on 10 October 2026; submission deadline 09:00 Malaysia time on 11 October 2026.</a:t>
            </a:r>
          </a:p>
          <a:p xmlns:a="http://schemas.openxmlformats.org/drawingml/2006/main">
            <a:r>
              <a:t/>
            </a:r>
          </a:p>
          <a:p xmlns:a="http://schemas.openxmlformats.org/drawingml/2006/main">
            <a:r>
              <a:t>SOURCES</a:t>
            </a:r>
          </a:p>
          <a:p xmlns:a="http://schemas.openxmlformats.org/drawingml/2006/main">
            <a:r>
              <a:t>Project evidence: worker/mrdiy-operations.js and worker/mrdiy-fixture.js, operation version 0.4.1.1. SC01 compared directly from the approved frozen fixture on 10 October 2026.</a:t>
            </a:r>
          </a:p>
          <a:p xmlns:a="http://schemas.openxmlformats.org/drawingml/2006/main">
            <a:r>
              <a:t>Hosted QA: v71 SC01 comparison and selected-decision save/reopen, SC16 abstention and provider-response replays verified 10 October 2026. v70 live SovernStack GPT-OSS 120B verified for SC01 explanation and SC16 missing-input answer. No claim of all-case LLM validation.</a:t>
            </a:r>
          </a:p>
          <a:p xmlns:a="http://schemas.openxmlformats.org/drawingml/2006/main">
            <a:r>
              <a:t>Hosted product: https://dormathon-risk-private-20261007.liuyz8715.chatgpt.site/workbench.html. Site v71, source 7ab8622d73c9fc916573e9e74da47b110abc31fd, published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01:50–02:35. This is the working Advisor. It explains the case using its sources and declared assumptions. Calculations remain authoritative, and missing inputs produce an abstention. We verified a normal explanation and a missing-lead-time case. The screenshot shows a replay of an earlier live request. Our external forecasting study remains separate and weak, with test WAPE of 103.41 percent. We make no company-accuracy claim. Full benchmark results are in appendix16.</a:t>
            </a:r>
          </a:p>
          <a:p xmlns:a="http://schemas.openxmlformats.org/drawingml/2006/main">
            <a:r>
              <a:t/>
            </a:r>
          </a:p>
          <a:p xmlns:a="http://schemas.openxmlformats.org/drawingml/2006/main">
            <a:r>
              <a:t>Primary format: 3-minute pitch and 2-minute Q&amp;A, confirmed by owner. Review-ready target 20:00 Malaysia time on 10 October 2026; submission deadline 09:00 Malaysia time on 11 October 2026.</a:t>
            </a:r>
          </a:p>
          <a:p xmlns:a="http://schemas.openxmlformats.org/drawingml/2006/main">
            <a:r>
              <a:t/>
            </a:r>
          </a:p>
          <a:p xmlns:a="http://schemas.openxmlformats.org/drawingml/2006/main">
            <a:r>
              <a:t>SOURCES</a:t>
            </a:r>
          </a:p>
          <a:p xmlns:a="http://schemas.openxmlformats.org/drawingml/2006/main">
            <a:r>
              <a:t>Hosted product: https://dormathon-risk-private-20261007.liuyz8715.chatgpt.site/workbench.html. Site v71, source 7ab8622d73c9fc916573e9e74da47b110abc31fd, published 10 October 2026.</a:t>
            </a:r>
          </a:p>
          <a:p xmlns:a="http://schemas.openxmlformats.org/drawingml/2006/main">
            <a:r>
              <a:t>Hosted QA: v71 SC01 comparison and selected-decision save/reopen, SC16 abstention and provider-response replays verified 10 October 2026. v70 live SovernStack GPT-OSS 120B verified for SC01 explanation and SC16 missing-input answer. No claim of all-case LLM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02:35–03:00. Dormathon is a working retail decision workspace: connected cases, feasible comparisons and a human choice that can be reopened. A scoped pilot would measure warning quality and decision cost using observed operational labels. The immediate value is a decision the lead can inspect before acting and review afterward.</a:t>
            </a:r>
          </a:p>
          <a:p xmlns:a="http://schemas.openxmlformats.org/drawingml/2006/main">
            <a:r>
              <a:t/>
            </a:r>
          </a:p>
          <a:p xmlns:a="http://schemas.openxmlformats.org/drawingml/2006/main">
            <a:r>
              <a:t>Primary format: 3-minute pitch and 2-minute Q&amp;A, confirmed by owner. Review-ready target 20:00 Malaysia time on 10 October 2026; submission deadline 09:00 Malaysia time on 11 October 2026.</a:t>
            </a:r>
          </a:p>
          <a:p xmlns:a="http://schemas.openxmlformats.org/drawingml/2006/main">
            <a:r>
              <a:t/>
            </a:r>
          </a:p>
          <a:p xmlns:a="http://schemas.openxmlformats.org/drawingml/2006/main">
            <a:r>
              <a:t>SOURCES</a:t>
            </a:r>
          </a:p>
          <a:p xmlns:a="http://schemas.openxmlformats.org/drawingml/2006/main">
            <a:r>
              <a:t>Approved Dormathon Product Specifications v0.4.1, 10 October 2026, S01–S11. Project source: docs/specs/Dormathon_Product_Specifications_v0.4.1_EN.md.</a:t>
            </a:r>
          </a:p>
          <a:p xmlns:a="http://schemas.openxmlformats.org/drawingml/2006/main">
            <a:r>
              <a:t>Project evidence: docs/predictive-v0.4.1/artifacts/benchmark-report.v1.json and frozen-split.v1.json. Recomputed and checked 10 October 2026. Results are precomputed.</a:t>
            </a:r>
          </a:p>
          <a:p xmlns:a="http://schemas.openxmlformats.org/drawingml/2006/main">
            <a:r>
              <a:t>Hosted product: https://dormathon-risk-private-20261007.liuyz8715.chatgpt.site/workbench.html. Site v71, source 7ab8622d73c9fc916573e9e74da47b110abc31fd, published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forty-case scope. 0:50–1:20. The product has forty working cases: sixteen supply, ten procurement, eight service and six energy-security cases. Six deep cases follow one replenishment episode. They share business identifiers and one resource snapshot, so the same stock and fuel cannot appear as independent supplies. The other cases include normal, action-needed, risk and insufficient-data paths.</a:t>
            </a:r>
          </a:p>
          <a:p xmlns:a="http://schemas.openxmlformats.org/drawingml/2006/main">
            <a:r>
              <a:t/>
            </a:r>
          </a:p>
          <a:p xmlns:a="http://schemas.openxmlformats.org/drawingml/2006/main">
            <a:r>
              <a:t>SOURCES</a:t>
            </a:r>
          </a:p>
          <a:p xmlns:a="http://schemas.openxmlformats.org/drawingml/2006/main">
            <a:r>
              <a:t>Approved Dormathon Product Specifications v0.4.1, 10 October 2026, S01–S11. Project source: docs/specs/Dormathon_Product_Specifications_v0.4.1_EN.md.</a:t>
            </a:r>
          </a:p>
          <a:p xmlns:a="http://schemas.openxmlformats.org/drawingml/2006/main">
            <a:r>
              <a:t>Project operational package: docs/mrdiy-v0.4.1/README.md.</a:t>
            </a:r>
          </a:p>
          <a:p xmlns:a="http://schemas.openxmlformats.org/drawingml/2006/main">
            <a:r>
              <a:t>Hosted QA: v71 SC01 comparison and selected-decision save/reopen, SC16 abstention and provider-response replays verified 10 October 2026. v70 live SovernStack GPT-OSS 120B verified for SC01 explanation and SC16 missing-input answer. No claim of all-case LLM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evidence and AI architecture. 2:50–3:25. Intelligence retains source versions and supports lexical retrieval. A country headline alone cannot establish company exposure. Scenario arithmetic and constraints remain authoritative. The live GPT-OSS 120B Advisor explains those facts, with their sources and limitations. We verified a normal explanation and a missing-lead-time case. The model can help the user understand the decision, but it cannot invent a probability or execute an action.</a:t>
            </a:r>
          </a:p>
          <a:p xmlns:a="http://schemas.openxmlformats.org/drawingml/2006/main">
            <a:r>
              <a:t>The retrieval baseline is lexical FTS5/BM25, not verified general semantic or cross-language search. Public data does not establish real company incidents. Two live cases do not establish all-case explanation accuracy.</a:t>
            </a:r>
          </a:p>
          <a:p xmlns:a="http://schemas.openxmlformats.org/drawingml/2006/main">
            <a:r>
              <a:t/>
            </a:r>
          </a:p>
          <a:p xmlns:a="http://schemas.openxmlformats.org/drawingml/2006/main">
            <a:r>
              <a:t>SOURCES</a:t>
            </a:r>
          </a:p>
          <a:p xmlns:a="http://schemas.openxmlformats.org/drawingml/2006/main">
            <a:r>
              <a:t>Approved Dormathon Product Specifications v0.4.1, 10 October 2026, S01–S11. Project source: docs/specs/Dormathon_Product_Specifications_v0.4.1_EN.md.</a:t>
            </a:r>
          </a:p>
          <a:p xmlns:a="http://schemas.openxmlformats.org/drawingml/2006/main">
            <a:r>
              <a:t>Project retrieval contract: contracts/retrieval-v1.md.</a:t>
            </a:r>
          </a:p>
          <a:p xmlns:a="http://schemas.openxmlformats.org/drawingml/2006/main">
            <a:r>
              <a:t>Hosted QA: v71 SC01 comparison and selected-decision save/reopen, SC16 abstention and provider-response replays verified 10 October 2026. v70 live SovernStack GPT-OSS 120B verified for SC01 explanation and SC16 missing-input answer. No claim of all-case LLM validation.</a:t>
            </a:r>
          </a:p>
          <a:p xmlns:a="http://schemas.openxmlformats.org/drawingml/2006/main">
            <a:r>
              <a:t>Hosted product: https://dormathon-risk-private-20261007.liuyz8715.chatgpt.site/workbench.html. Site v71, source 7ab8622d73c9fc916573e9e74da47b110abc31fd, published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reference. 1,067,371 raw transaction rows across the two workbook sheets. Global exact duplicates removed with frozen row rules. 3,231 eligible known SKUs require at least 26 positive training days; 1,476 excluded using training alone. All eligible items stay in the test. Twenty-two origins times seven horizons times 3,231 items = 497,574 tasks, versus 90,468 unique item-days. Positive recorded sales are a demand proxy. Missing interior SKU-date means zero recorded sales only under the source-declared complete-ledger assumption. All 135 transaction-free dates are disclosed. Maximum transaction date 9 Dec 2011 excluded as incomplete. No customer modeling. No cold-start or cross-company claim. Original dataset licensed CC BY 4.0.</a:t>
            </a:r>
          </a:p>
          <a:p xmlns:a="http://schemas.openxmlformats.org/drawingml/2006/main">
            <a:r>
              <a:t/>
            </a:r>
          </a:p>
          <a:p xmlns:a="http://schemas.openxmlformats.org/drawingml/2006/main">
            <a:r>
              <a:t>SOURCES</a:t>
            </a:r>
          </a:p>
          <a:p xmlns:a="http://schemas.openxmlformats.org/drawingml/2006/main">
            <a:r>
              <a:t>Chen, D. (2012). Online Retail II [Dataset]. UCI Machine Learning Repository. DOI 10.24432/C5CG6D. CC BY 4.0. https://archive.ics.uci.edu/dataset/502/online+retail+ii</a:t>
            </a:r>
          </a:p>
          <a:p xmlns:a="http://schemas.openxmlformats.org/drawingml/2006/main">
            <a:r>
              <a:t>Project evidence: docs/predictive-v0.4.1/artifacts/benchmark-report.v1.json and frozen-split.v1.json. Recomputed and checked 10 October 2026. Results are precomputed.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No-change cost: 40 unmet units × MYR12 + MYR16 holding = MYR496. Transfer: 40 units × MYR1 + MYR21.60 holding = MYR61.60. Difference MYR434.40 is an illustrative cost delta, not observed savings or an ROI estimate. Demand 20 units/day; initial physical80, reserved20, usable60. A40-unit transfer is available from another synthetic store at day0. Inbound200 units arrive at day5. New replenishment costs MYR851.40 under these same assumptions. Expediting costs MYR206.40. Existing PO cash commitments remain reserved once. Parameter ranges are explicit. Change delay or shortage penalty to show sensitivity. Do not claim the transfer action was selected by a novel learned policy.</a:t>
            </a:r>
          </a:p>
          <a:p xmlns:a="http://schemas.openxmlformats.org/drawingml/2006/main">
            <a:r>
              <a:t/>
            </a:r>
          </a:p>
          <a:p xmlns:a="http://schemas.openxmlformats.org/drawingml/2006/main">
            <a:r>
              <a:t>SOURCES</a:t>
            </a:r>
          </a:p>
          <a:p xmlns:a="http://schemas.openxmlformats.org/drawingml/2006/main">
            <a:r>
              <a:t>Project evidence: worker/mrdiy-operations.js and worker/mrdiy-fixture.js, operation version 0.4.1.1. SC01 compared directly from the approved frozen fixture on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Q&amp;A: No payments, orders, staff assignments or electrical control execute from a saved plan. The source corpus is real but incomplete and heterogeneous. It cannot substitute for company operational labels. Lexical FTS5/BM25 is the retrieval baseline; no blanket semantic search claim. Two live LLM cases have passed, not all forty. The provider explanation is not independently factual certification. A zero-sales posthoc diagnostic has WAPE100%; it helps explain how sparse data can reward unusable zero forecasts and was not used to reselect the model. Real pilot access, privacy controls and operating labels remain future requirements.</a:t>
            </a:r>
          </a:p>
          <a:p xmlns:a="http://schemas.openxmlformats.org/drawingml/2006/main">
            <a:r>
              <a:t/>
            </a:r>
          </a:p>
          <a:p xmlns:a="http://schemas.openxmlformats.org/drawingml/2006/main">
            <a:r>
              <a:t>SOURCES</a:t>
            </a:r>
          </a:p>
          <a:p xmlns:a="http://schemas.openxmlformats.org/drawingml/2006/main">
            <a:r>
              <a:t>Approved Dormathon Product Specifications v0.4.1, 10 October 2026, S01–S11. Project source: docs/specs/Dormathon_Product_Specifications_v0.4.1_EN.md.</a:t>
            </a:r>
          </a:p>
          <a:p xmlns:a="http://schemas.openxmlformats.org/drawingml/2006/main">
            <a:r>
              <a:t>Project evidence: docs/predictive-v0.4.1/artifacts/benchmark-report.v1.json and frozen-split.v1.json. Recomputed and checked 10 October 2026. Results are precomputed.</a:t>
            </a:r>
          </a:p>
          <a:p xmlns:a="http://schemas.openxmlformats.org/drawingml/2006/main">
            <a:r>
              <a:t>Hosted QA: v71 SC01 comparison and selected-decision save/reopen, SC16 abstention and provider-response replays verified 10 October 2026. v70 live SovernStack GPT-OSS 120B verified for SC01 explanation and SC16 missing-input answer. No claim of all-case LLM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source links are included below and in the presenter runbook. MR D.I.Y. Group (M) Berhad FY2025 reported group scope includes Malaysia and Brunei unless otherwise specified. The operational demo is a separately marked Malaysia hardware/household synthetic workspace. No partnership or endorsement. Official owner-supplied task images: 20261010-022036, 022037, 022038. Their guidance is not a weighted rubric. Owner confirmed pitch 3 minutes, Q&amp;A 2 minutes, review-ready 20:00 Malaysia on 10 October 2026, and submission 09:00 Malaysia on 11 October 2026. These timing details come from the owner, not the supplied slides.</a:t>
            </a:r>
          </a:p>
          <a:p xmlns:a="http://schemas.openxmlformats.org/drawingml/2006/main">
            <a:r>
              <a:t/>
            </a:r>
          </a:p>
          <a:p xmlns:a="http://schemas.openxmlformats.org/drawingml/2006/main">
            <a:r>
              <a:t>SOURCES</a:t>
            </a:r>
          </a:p>
          <a:p xmlns:a="http://schemas.openxmlformats.org/drawingml/2006/main">
            <a:r>
              <a:t>MR D.I.Y. Group (M) Berhad, Integrated Annual Report 2025. https://mrdiy.listedcompany.com/misc/ar/MRDIY_AR2025.pdf</a:t>
            </a:r>
          </a:p>
          <a:p xmlns:a="http://schemas.openxmlformats.org/drawingml/2006/main">
            <a:r>
              <a:t>MR D.I.Y. Group (M) Berhad, Sustainability Report 2025, printed pp2,33,37–40,47–49. https://corporate.mrdiy.com/misc/sustainability/MRDIY-Sustainability_Report_2025.pdf</a:t>
            </a:r>
          </a:p>
          <a:p xmlns:a="http://schemas.openxmlformats.org/drawingml/2006/main">
            <a:r>
              <a:t>Chen, D. (2012). Online Retail II [Dataset]. UCI Machine Learning Repository. DOI 10.24432/C5CG6D. CC BY 4.0. https://archive.ics.uci.edu/dataset/502/online+retail+ii</a:t>
            </a:r>
          </a:p>
          <a:p xmlns:a="http://schemas.openxmlformats.org/drawingml/2006/main">
            <a:r>
              <a:t>Approved Dormathon Product Specifications v0.4.1, 10 October 2026, S01–S11. Project source: docs/specs/Dormathon_Product_Specifications_v0.4.1_EN.md.</a:t>
            </a:r>
          </a:p>
          <a:p xmlns:a="http://schemas.openxmlformats.org/drawingml/2006/main">
            <a:r>
              <a:t>Project evidence: worker/mrdiy-operations.js and worker/mrdiy-fixture.js, operation version 0.4.1.1. SC01 compared directly from the approved frozen fixture on 10 October 2026.</a:t>
            </a:r>
          </a:p>
          <a:p xmlns:a="http://schemas.openxmlformats.org/drawingml/2006/main">
            <a:r>
              <a:t>Project evidence: docs/predictive-v0.4.1/artifacts/benchmark-report.v1.json and frozen-split.v1.json. Recomputed and checked 10 October 2026. Results are precomputed.</a:t>
            </a:r>
          </a:p>
          <a:p xmlns:a="http://schemas.openxmlformats.org/drawingml/2006/main">
            <a:r>
              <a:t>Hosted QA: v71 SC01 comparison and selected-decision save/reopen, SC16 abstention and provider-response replays verified 10 October 2026. v70 live SovernStack GPT-OSS 120B verified for SC01 explanation and SC16 missing-input answer. No claim of all-case LLM validation.</a:t>
            </a:r>
          </a:p>
          <a:p xmlns:a="http://schemas.openxmlformats.org/drawingml/2006/main">
            <a:r>
              <a:t>Hosted product: https://dormathon-risk-private-20261007.liuyz8715.chatgpt.site/workbench.html. Site v71, source 7ab8622d73c9fc916573e9e74da47b110abc31fd, published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FALLBACK. This is a saved screenshot, not a live interaction. Fallback step 1. Show the organization and synthetic data labels. Select SC01 during the live version.</a:t>
            </a:r>
          </a:p>
          <a:p xmlns:a="http://schemas.openxmlformats.org/drawingml/2006/main">
            <a:r>
              <a:t/>
            </a:r>
          </a:p>
          <a:p xmlns:a="http://schemas.openxmlformats.org/drawingml/2006/main">
            <a:r>
              <a:t>SOURCES</a:t>
            </a:r>
          </a:p>
          <a:p xmlns:a="http://schemas.openxmlformats.org/drawingml/2006/main">
            <a:r>
              <a:t>Hosted product: https://dormathon-risk-private-20261007.liuyz8715.chatgpt.site/workbench.html. Site v71, source 7ab8622d73c9fc916573e9e74da47b110abc31fd, published 10 October 2026.</a:t>
            </a:r>
          </a:p>
          <a:p xmlns:a="http://schemas.openxmlformats.org/drawingml/2006/main">
            <a:r>
              <a:t>Hosted QA: v71 SC01 comparison and selected-decision save/reopen, SC16 abstention and provider-response replays verified 10 October 2026. v70 live SovernStack GPT-OSS 120B verified for SC01 explanation and SC16 missing-input answer. No claim of all-case LLM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FALLBACK. This is a saved screenshot, not a live interaction. Fallback step 2. No-change shortage40 versus transfer-rule shortage0. Cost comparison is conditional synthetic arithmetic, not observed company savings.</a:t>
            </a:r>
          </a:p>
          <a:p xmlns:a="http://schemas.openxmlformats.org/drawingml/2006/main">
            <a:r>
              <a:t/>
            </a:r>
          </a:p>
          <a:p xmlns:a="http://schemas.openxmlformats.org/drawingml/2006/main">
            <a:r>
              <a:t>SOURCES</a:t>
            </a:r>
          </a:p>
          <a:p xmlns:a="http://schemas.openxmlformats.org/drawingml/2006/main">
            <a:r>
              <a:t>Hosted product: https://dormathon-risk-private-20261007.liuyz8715.chatgpt.site/workbench.html. Site v71, source 7ab8622d73c9fc916573e9e74da47b110abc31fd, published 10 October 2026.</a:t>
            </a:r>
          </a:p>
          <a:p xmlns:a="http://schemas.openxmlformats.org/drawingml/2006/main">
            <a:r>
              <a:t>Hosted QA: v71 SC01 comparison and selected-decision save/reopen, SC16 abstention and provider-response replays verified 10 October 2026. v70 live SovernStack GPT-OSS 120B verified for SC01 explanation and SC16 missing-input answer. No claim of all-case LLM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FALLBACK. This is a saved screenshot, not a live interaction. Fallback step 3. Selected practical_rule decision saved at2026-10-10T05:20:54.573000Z. Hosted reopen shows choice, rationale and verification ok. The record is a synthetic human plan with no external action.</a:t>
            </a:r>
          </a:p>
          <a:p xmlns:a="http://schemas.openxmlformats.org/drawingml/2006/main">
            <a:r>
              <a:t/>
            </a:r>
          </a:p>
          <a:p xmlns:a="http://schemas.openxmlformats.org/drawingml/2006/main">
            <a:r>
              <a:t>SOURCES</a:t>
            </a:r>
          </a:p>
          <a:p xmlns:a="http://schemas.openxmlformats.org/drawingml/2006/main">
            <a:r>
              <a:t>Hosted product: https://dormathon-risk-private-20261007.liuyz8715.chatgpt.site/workbench.html. Site v71, source 7ab8622d73c9fc916573e9e74da47b110abc31fd, published 10 October 2026.</a:t>
            </a:r>
          </a:p>
          <a:p xmlns:a="http://schemas.openxmlformats.org/drawingml/2006/main">
            <a:r>
              <a:t>Hosted QA: v71 SC01 comparison and selected-decision save/reopen, SC16 abstention and provider-response replays verified 10 October 2026. v70 live SovernStack GPT-OSS 120B verified for SC01 explanation and SC16 missing-input answer. No claim of all-case LLM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3:25–4:15. We evaluated forecasting separately on UCI Online Retail II, a UK retailer, using a frozen chronological split. Validation selected the trailing twenty-eight-day mean. Its test mean absolute error was 6.974 units, compared with 7.727 for the weekly naive baseline. The supervised ridge model performed worse than the mean. Absolute error remains high: the retained mean has test WAPE of 103.41 percent. This is a reproducible result with a clear limitation. It does not establish MR D.I.Y. accuracy, real stockout detection or cross-company generalization.</a:t>
            </a:r>
          </a:p>
          <a:p xmlns:a="http://schemas.openxmlformats.org/drawingml/2006/main">
            <a:r>
              <a:t>Point comparison only: mean MAE is about 9.74% lower than weekly naive. No direct mean-versus-naive bootstrap interval was in the retained report, so the deck makes no significance claim. The fitted ridge candidate has test MAE 7.606658118018797. WAPE sums absolute error / actual units over forecast tasks. It is not one minus accuracy.</a:t>
            </a:r>
          </a:p>
          <a:p xmlns:a="http://schemas.openxmlformats.org/drawingml/2006/main">
            <a:r>
              <a:t/>
            </a:r>
          </a:p>
          <a:p xmlns:a="http://schemas.openxmlformats.org/drawingml/2006/main">
            <a:r>
              <a:t>SOURCES</a:t>
            </a:r>
          </a:p>
          <a:p xmlns:a="http://schemas.openxmlformats.org/drawingml/2006/main">
            <a:r>
              <a:t>Chen, D. (2012). Online Retail II [Dataset]. UCI Machine Learning Repository. DOI 10.24432/C5CG6D. CC BY 4.0. https://archive.ics.uci.edu/dataset/502/online+retail+ii</a:t>
            </a:r>
          </a:p>
          <a:p xmlns:a="http://schemas.openxmlformats.org/drawingml/2006/main">
            <a:r>
              <a:t>Project evidence: docs/predictive-v0.4.1/artifacts/benchmark-report.v1.json and frozen-split.v1.json. Recomputed and checked 10 October 2026. Results are precomputed.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FALLBACK. This is a saved screenshot, not a live interaction. Fallback step 5. Show missing lead_days, unknown uncovered demand and explicit abstention. A missing input cannot become a invented forecast, calibrated probability or recommendation.</a:t>
            </a:r>
          </a:p>
          <a:p xmlns:a="http://schemas.openxmlformats.org/drawingml/2006/main">
            <a:r>
              <a:t/>
            </a:r>
          </a:p>
          <a:p xmlns:a="http://schemas.openxmlformats.org/drawingml/2006/main">
            <a:r>
              <a:t>SOURCES</a:t>
            </a:r>
          </a:p>
          <a:p xmlns:a="http://schemas.openxmlformats.org/drawingml/2006/main">
            <a:r>
              <a:t>Hosted product: https://dormathon-risk-private-20261007.liuyz8715.chatgpt.site/workbench.html. Site v71, source 7ab8622d73c9fc916573e9e74da47b110abc31fd, published 10 October 2026.</a:t>
            </a:r>
          </a:p>
          <a:p xmlns:a="http://schemas.openxmlformats.org/drawingml/2006/main">
            <a:r>
              <a:t>Hosted QA: v71 SC01 comparison and selected-decision save/reopen, SC16 abstention and provider-response replays verified 10 October 2026. v70 live SovernStack GPT-OSS 120B verified for SC01 explanation and SC16 missing-input answer. No claim of all-case LLM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96f1cc750e4c4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89be0e6703b40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f73168f2c574d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3fcc10f8fda4cf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cad6c55587249e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50c75b5d55140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2CE1FD-320A-4329-B4DE-0BCCC33B061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D20609-A381-4FAB-B080-61497BBCE7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3E5E29-CDD7-48EE-BB6E-AE390CA472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6D0BC3-B5F1-4B51-BFFA-4B477BD7DC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43B69A-1B1E-4202-BBA7-183A9BAADF3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1029B0A-A5EB-4142-B829-F0BCD6BE67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8E4A59-E530-4467-93B5-35DD061CAA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69F80A9-BBF1-4A46-86F7-31ECBDACFCC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9B24B7-724A-46FB-927A-D6CDC56EE6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037F0D-DCA0-4A13-9C20-A0F4D85DA7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eab49dda85463a" /><Relationship Type="http://schemas.openxmlformats.org/officeDocument/2006/relationships/slideLayout" Target="/ppt/slideLayouts/slideLayout1.xml" Id="Rd84b912915a24913" /><Relationship Type="http://schemas.openxmlformats.org/officeDocument/2006/relationships/slideLayout" Target="/ppt/slideLayouts/slideLayout2.xml" Id="R34a38bf6d3a14224" /><Relationship Type="http://schemas.openxmlformats.org/officeDocument/2006/relationships/slideLayout" Target="/ppt/slideLayouts/slideLayout3.xml" Id="R57502cc72a8c43a3" /><Relationship Type="http://schemas.openxmlformats.org/officeDocument/2006/relationships/slideLayout" Target="/ppt/slideLayouts/slideLayout4.xml" Id="R8ada6172d7044337" /><Relationship Type="http://schemas.openxmlformats.org/officeDocument/2006/relationships/slideLayout" Target="/ppt/slideLayouts/slideLayout5.xml" Id="Rf95b6fe70b7a4dc5" /><Relationship Type="http://schemas.openxmlformats.org/officeDocument/2006/relationships/slideLayout" Target="/ppt/slideLayouts/slideLayout6.xml" Id="Re1cb0465e6684e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4b912915a24913"/>
    <p:sldLayoutId xmlns:r="http://schemas.openxmlformats.org/officeDocument/2006/relationships" id="2147483650" r:id="R34a38bf6d3a14224"/>
    <p:sldLayoutId xmlns:r="http://schemas.openxmlformats.org/officeDocument/2006/relationships" id="2147483651" r:id="R57502cc72a8c43a3"/>
    <p:sldLayoutId xmlns:r="http://schemas.openxmlformats.org/officeDocument/2006/relationships" id="2147483652" r:id="R8ada6172d7044337"/>
    <p:sldLayoutId xmlns:r="http://schemas.openxmlformats.org/officeDocument/2006/relationships" id="2147483653" r:id="Rf95b6fe70b7a4dc5"/>
    <p:sldLayoutId xmlns:r="http://schemas.openxmlformats.org/officeDocument/2006/relationships" id="2147483654" r:id="Re1cb0465e6684e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7ea7dd9ef0c41df" /><Relationship Type="http://schemas.openxmlformats.org/officeDocument/2006/relationships/notesSlide" Target="/ppt/notesSlides/notesSlide1.xml" Id="Rd834e98d5f7945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a56498c8ef4358" /><Relationship Type="http://schemas.openxmlformats.org/officeDocument/2006/relationships/notesSlide" Target="/ppt/notesSlides/notesSlide2.xml" Id="R6a4d5a73668045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a1a3ec964cf4deb" /><Relationship Type="http://schemas.openxmlformats.org/officeDocument/2006/relationships/notesSlide" Target="/ppt/notesSlides/notesSlide3.xml" Id="R26111d464a3e4f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5551823931d4dcf" /><Relationship Type="http://schemas.openxmlformats.org/officeDocument/2006/relationships/notesSlide" Target="/ppt/notesSlides/notesSlide4.xml" Id="R3f529c84f45946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89c7bdfe88c4d8c" /><Relationship Type="http://schemas.openxmlformats.org/officeDocument/2006/relationships/image" Target="/ppt/media/image.jpeg" Id="R99bb4da5ecac426f" /><Relationship Type="http://schemas.openxmlformats.org/officeDocument/2006/relationships/notesSlide" Target="/ppt/notesSlides/notesSlide5.xml" Id="Rb6bcfc75d8274e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db70d51e1ec4e56" /><Relationship Type="http://schemas.openxmlformats.org/officeDocument/2006/relationships/notesSlide" Target="/ppt/notesSlides/notesSlide6.xml" Id="Rc69fd254ea6146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e94b3d4c88f42d8" /><Relationship Type="http://schemas.openxmlformats.org/officeDocument/2006/relationships/notesSlide" Target="/ppt/notesSlides/notesSlide7.xml" Id="Rf95cad893c664ea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1e9a77a958d4a32" /><Relationship Type="http://schemas.openxmlformats.org/officeDocument/2006/relationships/notesSlide" Target="/ppt/notesSlides/notesSlide8.xml" Id="R6043084b45204a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0557448bf7943c2" /><Relationship Type="http://schemas.openxmlformats.org/officeDocument/2006/relationships/notesSlide" Target="/ppt/notesSlides/notesSlide9.xml" Id="R1ea8244fac8848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e316a7dfec6496f" /><Relationship Type="http://schemas.openxmlformats.org/officeDocument/2006/relationships/notesSlide" Target="/ppt/notesSlides/notesSlide10.xml" Id="Redc0d8ab1fea4f1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a8e197a58a146a4" /><Relationship Type="http://schemas.openxmlformats.org/officeDocument/2006/relationships/notesSlide" Target="/ppt/notesSlides/notesSlide11.xml" Id="R62c1281da9cd43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4cae193a48942fc" /><Relationship Type="http://schemas.openxmlformats.org/officeDocument/2006/relationships/notesSlide" Target="/ppt/notesSlides/notesSlide12.xml" Id="R27b60b14100241a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5c32ddccc224a76" /><Relationship Type="http://schemas.openxmlformats.org/officeDocument/2006/relationships/image" Target="/ppt/media/image2.jpeg" Id="Rc5a5ab5b560841a0" /><Relationship Type="http://schemas.openxmlformats.org/officeDocument/2006/relationships/notesSlide" Target="/ppt/notesSlides/notesSlide13.xml" Id="Rf240b02159b949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4cfb4e91c344411" /><Relationship Type="http://schemas.openxmlformats.org/officeDocument/2006/relationships/image" Target="/ppt/media/image3.jpeg" Id="Ra3d69229a595415c" /><Relationship Type="http://schemas.openxmlformats.org/officeDocument/2006/relationships/notesSlide" Target="/ppt/notesSlides/notesSlide14.xml" Id="R69c8881e61374be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97bb2c430724f6e" /><Relationship Type="http://schemas.openxmlformats.org/officeDocument/2006/relationships/image" Target="/ppt/media/image4.jpeg" Id="R3cc08476b6dc4649" /><Relationship Type="http://schemas.openxmlformats.org/officeDocument/2006/relationships/notesSlide" Target="/ppt/notesSlides/notesSlide15.xml" Id="R93cf35a7bf3e416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bf6959bba0b4a11" /><Relationship Type="http://schemas.openxmlformats.org/officeDocument/2006/relationships/chart" Target="/ppt/slides/charts/chart1.xml" Id="Ra3fcac97d57f4ece" /><Relationship Type="http://schemas.openxmlformats.org/officeDocument/2006/relationships/notesSlide" Target="/ppt/notesSlides/notesSlide16.xml" Id="R05983704392d414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1878aff49ec4cae" /><Relationship Type="http://schemas.openxmlformats.org/officeDocument/2006/relationships/image" Target="/ppt/media/image5.jpeg" Id="Rb0febd61426f44f0" /><Relationship Type="http://schemas.openxmlformats.org/officeDocument/2006/relationships/notesSlide" Target="/ppt/notesSlides/notesSlide17.xml" Id="R4ea38fbb2a8f4ae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Test MAE</c:v>
          </c:tx>
          <c:spPr>
            <a:solidFill xmlns:a="http://schemas.openxmlformats.org/drawingml/2006/main">
              <a:srgbClr val="969691"/>
            </a:solidFill>
          </c:spPr>
          <c:dPt>
            <c:idx val="1"/>
            <c:invertIfNegative val="0"/>
            <c:spPr>
              <a:solidFill xmlns:a="http://schemas.openxmlformats.org/drawingml/2006/main">
                <a:srgbClr val="121212"/>
              </a:solidFill>
            </c:spPr>
          </c:dPt>
          <c:cat>
            <c:strRef>
              <c:f>'Chart Data'!$A$2:$A$4</c:f>
              <c:strCache>
                <c:ptCount val="3"/>
                <c:pt idx="0">
                  <c:v>Weekly naive</c:v>
                </c:pt>
                <c:pt idx="1">
                  <c:v>28-day mean</c:v>
                </c:pt>
                <c:pt idx="2">
                  <c:v>Direct ridge</c:v>
                </c:pt>
              </c:strCache>
            </c:strRef>
          </c:cat>
          <c:val>
            <c:numRef>
              <c:f>'Chart Data'!$B$2:$B$4</c:f>
              <c:numCache>
                <c:formatCode>0.0</c:formatCode>
                <c:ptCount val="3"/>
                <c:pt idx="0">
                  <c:v>7.727</c:v>
                </c:pt>
                <c:pt idx="1">
                  <c:v>6.974</c:v>
                </c:pt>
                <c:pt idx="2">
                  <c:v>7.607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a:solidFill>
                    <a:srgbClr val="121212"/>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majorGridlines>
          <c:spPr>
            <a:ln xmlns:a="http://schemas.openxmlformats.org/drawingml/2006/main" w="4763">
              <a:solidFill>
                <a:srgbClr val="C6C6C2"/>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26262"/>
                </a:solidFill>
                <a:latin typeface="Liberation Sans"/>
                <a:ea typeface="Liberation Sans"/>
                <a:cs typeface="Liberation Sans"/>
              </a:defRPr>
            </a:pPr>
          </a:p>
        </c:txPr>
        <c:crossAx val="48672768"/>
      </c:catAx>
      <c:valAx>
        <c:axId val="48672768"/>
        <c:scaling>
          <c:orientation val="minMax"/>
          <c:max val="9"/>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21212"/>
                </a:solidFill>
                <a:latin typeface="Liberation Sans"/>
                <a:ea typeface="Liberation Sans"/>
                <a:cs typeface="Liberation Sans"/>
              </a:defRPr>
            </a:pPr>
          </a:p>
        </c:txPr>
        <c:crossAx val="48650112"/>
        <c:crossBetween val="between"/>
        <c:majorUnit val="3"/>
      </c:valAx>
      <c:spPr>
        <a:solidFill xmlns:a="http://schemas.openxmlformats.org/drawingml/2006/main">
          <a:srgbClr val="F5F5F1"/>
        </a:solidFill>
      </c:spPr>
    </c:plotArea>
    <c:plotVisOnly val="1"/>
  </c:chart>
  <c:spPr>
    <a:solidFill xmlns:a="http://schemas.openxmlformats.org/drawingml/2006/main">
      <a:srgbClr val="F5F5F1"/>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1212"/>
        </a:solidFill>
      </p:bgPr>
    </p:bg>
    <p:spTree>
      <p:nvGrpSpPr>
        <p:cNvPr id="1" name=""/>
        <p:cNvGrpSpPr/>
        <p:nvPr/>
      </p:nvGrpSpPr>
      <p:grpSpPr>
        <a:xfrm xmlns:a="http://schemas.openxmlformats.org/drawingml/2006/main"/>
      </p:grpSpPr>
      <p:sp>
        <p:nvSpPr>
          <p:cNvPr id="29" name="01">
            <a:extLst xmlns:a="http://schemas.openxmlformats.org/drawingml/2006/main">
              <a:ext uri="{FF2B5EF4-FFF2-40B4-BE49-F238E27FC236}">
                <a16:creationId xmlns:a16="http://schemas.microsoft.com/office/drawing/2014/main" id="{3A79BB62-BBC3-4B24-AC61-7D37D27A6824}"/>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AAAAA4"/>
                </a:solidFill>
                <a:latin typeface="Liberation Sans"/>
                <a:ea typeface="Liberation Sans"/>
                <a:cs typeface="Liberation Sans"/>
              </a:defRPr>
            </a:defPPr>
          </a:lstStyle>
          <a:p xmlns:a="http://schemas.openxmlformats.org/drawingml/2006/main">
            <a:pPr algn="r">
              <a:defRPr sz="975" b="0">
                <a:solidFill>
                  <a:srgbClr val="AAAAA4"/>
                </a:solidFill>
                <a:latin typeface="Liberation Sans"/>
                <a:ea typeface="Liberation Sans"/>
                <a:cs typeface="Liberation Sans"/>
              </a:defRPr>
            </a:pPr>
            <a:r>
              <a:rPr sz="975" b="0">
                <a:solidFill>
                  <a:srgbClr val="AAAAA4"/>
                </a:solidFill>
                <a:latin typeface="Liberation Sans"/>
                <a:ea typeface="Liberation Sans"/>
                <a:cs typeface="Liberation Sans"/>
              </a:rPr>
              <a:t>01</a:t>
            </a:r>
          </a:p>
        </p:txBody>
      </p:sp>
      <p:sp>
        <p:nvSpPr>
          <p:cNvPr id="2" name="Track 1 Predictive Model Track   /   Taote">
            <a:extLst xmlns:a="http://schemas.openxmlformats.org/drawingml/2006/main">
              <a:ext uri="{FF2B5EF4-FFF2-40B4-BE49-F238E27FC236}">
                <a16:creationId xmlns:a16="http://schemas.microsoft.com/office/drawing/2014/main" id="{8B81FB6E-73BA-4B56-8D51-B9C7CEEB7FED}"/>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5BD"/>
                </a:solidFill>
                <a:latin typeface="Liberation Sans"/>
                <a:ea typeface="Liberation Sans"/>
                <a:cs typeface="Liberation Sans"/>
              </a:defRPr>
            </a:defPPr>
          </a:lstStyle>
          <a:p xmlns:a="http://schemas.openxmlformats.org/drawingml/2006/main">
            <a:pPr algn="l">
              <a:defRPr sz="1050" b="0">
                <a:solidFill>
                  <a:srgbClr val="C5C5BD"/>
                </a:solidFill>
                <a:latin typeface="Liberation Sans"/>
                <a:ea typeface="Liberation Sans"/>
                <a:cs typeface="Liberation Sans"/>
              </a:defRPr>
            </a:pPr>
            <a:r>
              <a:rPr sz="1050" b="0">
                <a:solidFill>
                  <a:srgbClr val="C5C5BD"/>
                </a:solidFill>
                <a:latin typeface="Liberation Sans"/>
                <a:ea typeface="Liberation Sans"/>
                <a:cs typeface="Liberation Sans"/>
              </a:rPr>
              <a:t>Track 1 Predictive Model Track   /   Taotern   /   10 October 2026</a:t>
            </a:r>
          </a:p>
        </p:txBody>
      </p:sp>
      <p:sp>
        <p:nvSpPr>
          <p:cNvPr id="3" name="Dormathon">
            <a:extLst xmlns:a="http://schemas.openxmlformats.org/drawingml/2006/main">
              <a:ext uri="{FF2B5EF4-FFF2-40B4-BE49-F238E27FC236}">
                <a16:creationId xmlns:a16="http://schemas.microsoft.com/office/drawing/2014/main" id="{46E4DAA0-9491-475B-BB2F-6B648ED4E8DC}"/>
              </a:ext>
            </a:extLst>
          </p:cNvPr>
          <p:cNvSpPr>
            <a:spLocks xmlns:a="http://schemas.openxmlformats.org/drawingml/2006/main" noGrp="1"/>
          </p:cNvSpPr>
          <p:nvPr/>
        </p:nvSpPr>
        <p:spPr>
          <a:xfrm xmlns:a="http://schemas.openxmlformats.org/drawingml/2006/main">
            <a:off x="609600" y="1333500"/>
            <a:ext cx="7477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FFFFFF"/>
                </a:solidFill>
                <a:latin typeface="Liberation Sans"/>
                <a:ea typeface="Liberation Sans"/>
                <a:cs typeface="Liberation Sans"/>
              </a:defRPr>
            </a:defPPr>
          </a:lstStyle>
          <a:p xmlns:a="http://schemas.openxmlformats.org/drawingml/2006/main">
            <a:pPr algn="l">
              <a:defRPr sz="6300" b="1">
                <a:solidFill>
                  <a:srgbClr val="FFFFFF"/>
                </a:solidFill>
                <a:latin typeface="Liberation Sans"/>
                <a:ea typeface="Liberation Sans"/>
                <a:cs typeface="Liberation Sans"/>
              </a:defRPr>
            </a:pPr>
            <a:r>
              <a:rPr sz="6300" b="1">
                <a:solidFill>
                  <a:srgbClr val="FFFFFF"/>
                </a:solidFill>
                <a:latin typeface="Liberation Sans"/>
                <a:ea typeface="Liberation Sans"/>
                <a:cs typeface="Liberation Sans"/>
              </a:rPr>
              <a:t>Dormathon</a:t>
            </a:r>
          </a:p>
        </p:txBody>
      </p:sp>
      <p:sp>
        <p:nvSpPr>
          <p:cNvPr id="4" name="Retail decisions&#10;with evidence">
            <a:extLst xmlns:a="http://schemas.openxmlformats.org/drawingml/2006/main">
              <a:ext uri="{FF2B5EF4-FFF2-40B4-BE49-F238E27FC236}">
                <a16:creationId xmlns:a16="http://schemas.microsoft.com/office/drawing/2014/main" id="{11166B7A-CA7C-482C-B677-BD08D962A775}"/>
              </a:ext>
            </a:extLst>
          </p:cNvPr>
          <p:cNvSpPr>
            <a:spLocks xmlns:a="http://schemas.openxmlformats.org/drawingml/2006/main" noGrp="1"/>
          </p:cNvSpPr>
          <p:nvPr/>
        </p:nvSpPr>
        <p:spPr>
          <a:xfrm xmlns:a="http://schemas.openxmlformats.org/drawingml/2006/main">
            <a:off x="647700" y="2647950"/>
            <a:ext cx="6858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FFFFFF"/>
                </a:solidFill>
                <a:latin typeface="Liberation Sans"/>
                <a:ea typeface="Liberation Sans"/>
                <a:cs typeface="Liberation Sans"/>
              </a:defRPr>
            </a:defPPr>
          </a:lstStyle>
          <a:p xmlns:a="http://schemas.openxmlformats.org/drawingml/2006/main">
            <a:pPr algn="l">
              <a:defRPr sz="3600" b="0">
                <a:solidFill>
                  <a:srgbClr val="FFFFFF"/>
                </a:solidFill>
                <a:latin typeface="Liberation Sans"/>
                <a:ea typeface="Liberation Sans"/>
                <a:cs typeface="Liberation Sans"/>
              </a:defRPr>
            </a:pPr>
            <a:r>
              <a:rPr sz="3600" b="0">
                <a:solidFill>
                  <a:srgbClr val="FFFFFF"/>
                </a:solidFill>
                <a:latin typeface="Liberation Sans"/>
                <a:ea typeface="Liberation Sans"/>
                <a:cs typeface="Liberation Sans"/>
              </a:rPr>
              <a:t>Retail decisions</a:t>
            </a:r>
          </a:p>
          <a:p xmlns:a="http://schemas.openxmlformats.org/drawingml/2006/main">
            <a:pPr algn="l">
              <a:defRPr sz="3600" b="0">
                <a:solidFill>
                  <a:srgbClr val="FFFFFF"/>
                </a:solidFill>
                <a:latin typeface="Liberation Sans"/>
                <a:ea typeface="Liberation Sans"/>
                <a:cs typeface="Liberation Sans"/>
              </a:defRPr>
            </a:pPr>
            <a:r>
              <a:rPr sz="3600" b="0">
                <a:solidFill>
                  <a:srgbClr val="FFFFFF"/>
                </a:solidFill>
                <a:latin typeface="Liberation Sans"/>
                <a:ea typeface="Liberation Sans"/>
                <a:cs typeface="Liberation Sans"/>
              </a:rPr>
              <a:t>with evidence</a:t>
            </a:r>
          </a:p>
        </p:txBody>
      </p:sp>
      <p:sp>
        <p:nvSpPr>
          <p:cNvPr id="5" name="An operations workspace for connected exce">
            <a:extLst xmlns:a="http://schemas.openxmlformats.org/drawingml/2006/main">
              <a:ext uri="{FF2B5EF4-FFF2-40B4-BE49-F238E27FC236}">
                <a16:creationId xmlns:a16="http://schemas.microsoft.com/office/drawing/2014/main" id="{764664CE-3989-48D4-A205-4E610876E2CB}"/>
              </a:ext>
            </a:extLst>
          </p:cNvPr>
          <p:cNvSpPr>
            <a:spLocks xmlns:a="http://schemas.openxmlformats.org/drawingml/2006/main" noGrp="1"/>
          </p:cNvSpPr>
          <p:nvPr/>
        </p:nvSpPr>
        <p:spPr>
          <a:xfrm xmlns:a="http://schemas.openxmlformats.org/drawingml/2006/main">
            <a:off x="647700" y="4686300"/>
            <a:ext cx="604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C3C3BD"/>
                </a:solidFill>
                <a:latin typeface="Liberation Sans"/>
                <a:ea typeface="Liberation Sans"/>
                <a:cs typeface="Liberation Sans"/>
              </a:defRPr>
            </a:defPPr>
          </a:lstStyle>
          <a:p xmlns:a="http://schemas.openxmlformats.org/drawingml/2006/main">
            <a:pPr algn="l">
              <a:defRPr sz="1950" b="0">
                <a:solidFill>
                  <a:srgbClr val="C3C3BD"/>
                </a:solidFill>
                <a:latin typeface="Liberation Sans"/>
                <a:ea typeface="Liberation Sans"/>
                <a:cs typeface="Liberation Sans"/>
              </a:defRPr>
            </a:pPr>
            <a:r>
              <a:rPr sz="1950" b="0">
                <a:solidFill>
                  <a:srgbClr val="C3C3BD"/>
                </a:solidFill>
                <a:latin typeface="Liberation Sans"/>
                <a:ea typeface="Liberation Sans"/>
                <a:cs typeface="Liberation Sans"/>
              </a:rPr>
              <a:t>An operations workspace for connected exceptions</a:t>
            </a:r>
          </a:p>
        </p:txBody>
      </p:sp>
      <p:sp>
        <p:nvSpPr>
          <p:cNvPr id="6" name="">
            <a:extLst xmlns:a="http://schemas.openxmlformats.org/drawingml/2006/main">
              <a:ext uri="{FF2B5EF4-FFF2-40B4-BE49-F238E27FC236}">
                <a16:creationId xmlns:a16="http://schemas.microsoft.com/office/drawing/2014/main" id="{220B3E89-C66F-4CC9-ACF3-2B2EFB94D11C}"/>
              </a:ext>
            </a:extLst>
          </p:cNvPr>
          <p:cNvSpPr>
            <a:spLocks xmlns:a="http://schemas.openxmlformats.org/drawingml/2006/main" noGrp="1"/>
          </p:cNvSpPr>
          <p:nvPr/>
        </p:nvSpPr>
        <p:spPr>
          <a:xfrm xmlns:a="http://schemas.openxmlformats.org/drawingml/2006/main">
            <a:off x="8420100" y="1485900"/>
            <a:ext cx="2638425" cy="542925"/>
          </a:xfrm>
          <a:custGeom xmlns:a="http://schemas.openxmlformats.org/drawingml/2006/main">
            <a:pathLst>
              <a:path w="2638425" h="542925">
                <a:moveTo>
                  <a:pt x="0" y="0"/>
                </a:moveTo>
                <a:lnTo>
                  <a:pt x="1876425" y="0"/>
                </a:lnTo>
                <a:lnTo>
                  <a:pt x="2638425" y="542925"/>
                </a:lnTo>
                <a:lnTo>
                  <a:pt x="762000" y="542925"/>
                </a:lnTo>
                <a:close/>
              </a:path>
            </a:pathLst>
          </a:custGeom>
          <a:solidFill xmlns:a="http://schemas.openxmlformats.org/drawingml/2006/main">
            <a:srgbClr val="202020"/>
          </a:solidFill>
          <a:ln xmlns:a="http://schemas.openxmlformats.org/drawingml/2006/main" w="9525">
            <a:solidFill>
              <a:srgbClr val="C9C9C2"/>
            </a:solidFill>
            <a:prstDash val="solid"/>
          </a:ln>
        </p:spPr>
      </p:sp>
      <p:sp>
        <p:nvSpPr>
          <p:cNvPr id="7" name="">
            <a:extLst xmlns:a="http://schemas.openxmlformats.org/drawingml/2006/main">
              <a:ext uri="{FF2B5EF4-FFF2-40B4-BE49-F238E27FC236}">
                <a16:creationId xmlns:a16="http://schemas.microsoft.com/office/drawing/2014/main" id="{E92647DE-E3F3-4DD1-82B2-71EDF0D50E7D}"/>
              </a:ext>
            </a:extLst>
          </p:cNvPr>
          <p:cNvSpPr>
            <a:spLocks xmlns:a="http://schemas.openxmlformats.org/drawingml/2006/main" noGrp="1"/>
          </p:cNvSpPr>
          <p:nvPr/>
        </p:nvSpPr>
        <p:spPr>
          <a:xfrm xmlns:a="http://schemas.openxmlformats.org/drawingml/2006/main">
            <a:off x="8420100" y="1733550"/>
            <a:ext cx="2638425" cy="542925"/>
          </a:xfrm>
          <a:custGeom xmlns:a="http://schemas.openxmlformats.org/drawingml/2006/main">
            <a:pathLst>
              <a:path w="2638425" h="542925">
                <a:moveTo>
                  <a:pt x="0" y="0"/>
                </a:moveTo>
                <a:lnTo>
                  <a:pt x="1876425" y="0"/>
                </a:lnTo>
                <a:lnTo>
                  <a:pt x="2638425" y="542925"/>
                </a:lnTo>
                <a:lnTo>
                  <a:pt x="762000" y="542925"/>
                </a:lnTo>
                <a:close/>
              </a:path>
            </a:pathLst>
          </a:custGeom>
          <a:noFill xmlns:a="http://schemas.openxmlformats.org/drawingml/2006/main"/>
          <a:ln xmlns:a="http://schemas.openxmlformats.org/drawingml/2006/main" w="9525">
            <a:solidFill>
              <a:srgbClr val="60605B"/>
            </a:solidFill>
            <a:prstDash val="solid"/>
          </a:ln>
        </p:spPr>
      </p:sp>
      <p:sp>
        <p:nvSpPr>
          <p:cNvPr id="8" name="">
            <a:extLst xmlns:a="http://schemas.openxmlformats.org/drawingml/2006/main">
              <a:ext uri="{FF2B5EF4-FFF2-40B4-BE49-F238E27FC236}">
                <a16:creationId xmlns:a16="http://schemas.microsoft.com/office/drawing/2014/main" id="{EB5CA794-C090-4704-8B91-AFCF2DEDFB4E}"/>
              </a:ext>
            </a:extLst>
          </p:cNvPr>
          <p:cNvSpPr>
            <a:spLocks xmlns:a="http://schemas.openxmlformats.org/drawingml/2006/main" noGrp="1"/>
          </p:cNvSpPr>
          <p:nvPr/>
        </p:nvSpPr>
        <p:spPr>
          <a:xfrm xmlns:a="http://schemas.openxmlformats.org/drawingml/2006/main">
            <a:off x="8039100" y="2638425"/>
            <a:ext cx="2638425" cy="542925"/>
          </a:xfrm>
          <a:custGeom xmlns:a="http://schemas.openxmlformats.org/drawingml/2006/main">
            <a:pathLst>
              <a:path w="2638425" h="542925">
                <a:moveTo>
                  <a:pt x="0" y="0"/>
                </a:moveTo>
                <a:lnTo>
                  <a:pt x="1876425" y="0"/>
                </a:lnTo>
                <a:lnTo>
                  <a:pt x="2638425" y="542925"/>
                </a:lnTo>
                <a:lnTo>
                  <a:pt x="762000" y="542925"/>
                </a:lnTo>
                <a:close/>
              </a:path>
            </a:pathLst>
          </a:custGeom>
          <a:solidFill xmlns:a="http://schemas.openxmlformats.org/drawingml/2006/main">
            <a:srgbClr val="E8E8E1"/>
          </a:solidFill>
          <a:ln xmlns:a="http://schemas.openxmlformats.org/drawingml/2006/main" w="9525">
            <a:solidFill>
              <a:srgbClr val="E8E8E1"/>
            </a:solidFill>
            <a:prstDash val="solid"/>
          </a:ln>
        </p:spPr>
      </p:sp>
      <p:sp>
        <p:nvSpPr>
          <p:cNvPr id="9" name="">
            <a:extLst xmlns:a="http://schemas.openxmlformats.org/drawingml/2006/main">
              <a:ext uri="{FF2B5EF4-FFF2-40B4-BE49-F238E27FC236}">
                <a16:creationId xmlns:a16="http://schemas.microsoft.com/office/drawing/2014/main" id="{B33D7AF1-18D1-454D-B494-EE06D958E52B}"/>
              </a:ext>
            </a:extLst>
          </p:cNvPr>
          <p:cNvSpPr>
            <a:spLocks xmlns:a="http://schemas.openxmlformats.org/drawingml/2006/main" noGrp="1"/>
          </p:cNvSpPr>
          <p:nvPr/>
        </p:nvSpPr>
        <p:spPr>
          <a:xfrm xmlns:a="http://schemas.openxmlformats.org/drawingml/2006/main">
            <a:off x="8801100" y="3181350"/>
            <a:ext cx="1876425" cy="457200"/>
          </a:xfrm>
          <a:custGeom xmlns:a="http://schemas.openxmlformats.org/drawingml/2006/main">
            <a:pathLst>
              <a:path w="1876425" h="457200">
                <a:moveTo>
                  <a:pt x="0" y="0"/>
                </a:moveTo>
                <a:lnTo>
                  <a:pt x="1876425" y="0"/>
                </a:lnTo>
                <a:lnTo>
                  <a:pt x="1876425" y="457200"/>
                </a:lnTo>
                <a:lnTo>
                  <a:pt x="0" y="457200"/>
                </a:lnTo>
                <a:close/>
              </a:path>
            </a:pathLst>
          </a:custGeom>
          <a:solidFill xmlns:a="http://schemas.openxmlformats.org/drawingml/2006/main">
            <a:srgbClr val="85857F"/>
          </a:solidFill>
          <a:ln xmlns:a="http://schemas.openxmlformats.org/drawingml/2006/main" w="9525">
            <a:solidFill>
              <a:srgbClr val="C9C9C2"/>
            </a:solidFill>
            <a:prstDash val="solid"/>
          </a:ln>
        </p:spPr>
      </p:sp>
      <p:sp>
        <p:nvSpPr>
          <p:cNvPr id="10" name="">
            <a:extLst xmlns:a="http://schemas.openxmlformats.org/drawingml/2006/main">
              <a:ext uri="{FF2B5EF4-FFF2-40B4-BE49-F238E27FC236}">
                <a16:creationId xmlns:a16="http://schemas.microsoft.com/office/drawing/2014/main" id="{60C09C90-1194-4081-97D2-24C4EE86B270}"/>
              </a:ext>
            </a:extLst>
          </p:cNvPr>
          <p:cNvSpPr>
            <a:spLocks xmlns:a="http://schemas.openxmlformats.org/drawingml/2006/main" noGrp="1"/>
          </p:cNvSpPr>
          <p:nvPr/>
        </p:nvSpPr>
        <p:spPr>
          <a:xfrm xmlns:a="http://schemas.openxmlformats.org/drawingml/2006/main">
            <a:off x="8039100" y="2638425"/>
            <a:ext cx="762000" cy="1000125"/>
          </a:xfrm>
          <a:custGeom xmlns:a="http://schemas.openxmlformats.org/drawingml/2006/main">
            <a:pathLst>
              <a:path w="762000" h="1000125">
                <a:moveTo>
                  <a:pt x="0" y="0"/>
                </a:moveTo>
                <a:lnTo>
                  <a:pt x="762000" y="542925"/>
                </a:lnTo>
                <a:lnTo>
                  <a:pt x="762000" y="1000125"/>
                </a:lnTo>
                <a:lnTo>
                  <a:pt x="0" y="457200"/>
                </a:lnTo>
                <a:close/>
              </a:path>
            </a:pathLst>
          </a:custGeom>
          <a:solidFill xmlns:a="http://schemas.openxmlformats.org/drawingml/2006/main">
            <a:srgbClr val="BDBDB5"/>
          </a:solidFill>
          <a:ln xmlns:a="http://schemas.openxmlformats.org/drawingml/2006/main" w="9525">
            <a:solidFill>
              <a:srgbClr val="C9C9C2"/>
            </a:solidFill>
            <a:prstDash val="solid"/>
          </a:ln>
        </p:spPr>
      </p:sp>
      <p:sp>
        <p:nvSpPr>
          <p:cNvPr id="11" name="">
            <a:extLst xmlns:a="http://schemas.openxmlformats.org/drawingml/2006/main">
              <a:ext uri="{FF2B5EF4-FFF2-40B4-BE49-F238E27FC236}">
                <a16:creationId xmlns:a16="http://schemas.microsoft.com/office/drawing/2014/main" id="{F85E8ECF-7F11-45FC-8101-8B0F3FF7E3BE}"/>
              </a:ext>
            </a:extLst>
          </p:cNvPr>
          <p:cNvSpPr>
            <a:spLocks xmlns:a="http://schemas.openxmlformats.org/drawingml/2006/main" noGrp="1"/>
          </p:cNvSpPr>
          <p:nvPr/>
        </p:nvSpPr>
        <p:spPr>
          <a:xfrm xmlns:a="http://schemas.openxmlformats.org/drawingml/2006/main">
            <a:off x="8420100" y="4391025"/>
            <a:ext cx="2638425" cy="542925"/>
          </a:xfrm>
          <a:custGeom xmlns:a="http://schemas.openxmlformats.org/drawingml/2006/main">
            <a:pathLst>
              <a:path w="2638425" h="542925">
                <a:moveTo>
                  <a:pt x="0" y="0"/>
                </a:moveTo>
                <a:lnTo>
                  <a:pt x="1876425" y="0"/>
                </a:lnTo>
                <a:lnTo>
                  <a:pt x="2638425" y="542925"/>
                </a:lnTo>
                <a:lnTo>
                  <a:pt x="762000" y="542925"/>
                </a:lnTo>
                <a:close/>
              </a:path>
            </a:pathLst>
          </a:custGeom>
          <a:noFill xmlns:a="http://schemas.openxmlformats.org/drawingml/2006/main"/>
          <a:ln xmlns:a="http://schemas.openxmlformats.org/drawingml/2006/main" w="13335">
            <a:solidFill>
              <a:srgbClr val="ABABA3"/>
            </a:solidFill>
            <a:prstDash val="solid"/>
          </a:ln>
        </p:spPr>
      </p:sp>
      <p:sp>
        <p:nvSpPr>
          <p:cNvPr id="12" name="">
            <a:extLst xmlns:a="http://schemas.openxmlformats.org/drawingml/2006/main">
              <a:ext uri="{FF2B5EF4-FFF2-40B4-BE49-F238E27FC236}">
                <a16:creationId xmlns:a16="http://schemas.microsoft.com/office/drawing/2014/main" id="{F61D75BC-2AD7-4373-A7BA-3185CB31A754}"/>
              </a:ext>
            </a:extLst>
          </p:cNvPr>
          <p:cNvSpPr>
            <a:spLocks xmlns:a="http://schemas.openxmlformats.org/drawingml/2006/main" noGrp="1"/>
          </p:cNvSpPr>
          <p:nvPr/>
        </p:nvSpPr>
        <p:spPr>
          <a:xfrm xmlns:a="http://schemas.openxmlformats.org/drawingml/2006/main">
            <a:off x="8591550"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13" name="">
            <a:extLst xmlns:a="http://schemas.openxmlformats.org/drawingml/2006/main">
              <a:ext uri="{FF2B5EF4-FFF2-40B4-BE49-F238E27FC236}">
                <a16:creationId xmlns:a16="http://schemas.microsoft.com/office/drawing/2014/main" id="{5ACB3750-E864-4C87-92AD-C2AB2EDBE3F2}"/>
              </a:ext>
            </a:extLst>
          </p:cNvPr>
          <p:cNvSpPr>
            <a:spLocks xmlns:a="http://schemas.openxmlformats.org/drawingml/2006/main" noGrp="1"/>
          </p:cNvSpPr>
          <p:nvPr/>
        </p:nvSpPr>
        <p:spPr>
          <a:xfrm xmlns:a="http://schemas.openxmlformats.org/drawingml/2006/main">
            <a:off x="84296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14" name="">
            <a:extLst xmlns:a="http://schemas.openxmlformats.org/drawingml/2006/main">
              <a:ext uri="{FF2B5EF4-FFF2-40B4-BE49-F238E27FC236}">
                <a16:creationId xmlns:a16="http://schemas.microsoft.com/office/drawing/2014/main" id="{4C6E0397-ACD0-4079-9D57-0A6FFA78ED9A}"/>
              </a:ext>
            </a:extLst>
          </p:cNvPr>
          <p:cNvSpPr>
            <a:spLocks xmlns:a="http://schemas.openxmlformats.org/drawingml/2006/main" noGrp="1"/>
          </p:cNvSpPr>
          <p:nvPr/>
        </p:nvSpPr>
        <p:spPr>
          <a:xfrm xmlns:a="http://schemas.openxmlformats.org/drawingml/2006/main">
            <a:off x="8810625"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15" name="">
            <a:extLst xmlns:a="http://schemas.openxmlformats.org/drawingml/2006/main">
              <a:ext uri="{FF2B5EF4-FFF2-40B4-BE49-F238E27FC236}">
                <a16:creationId xmlns:a16="http://schemas.microsoft.com/office/drawing/2014/main" id="{8BAA0A7A-E434-46DF-8DCC-00FA6AC661EE}"/>
              </a:ext>
            </a:extLst>
          </p:cNvPr>
          <p:cNvSpPr>
            <a:spLocks xmlns:a="http://schemas.openxmlformats.org/drawingml/2006/main" noGrp="1"/>
          </p:cNvSpPr>
          <p:nvPr/>
        </p:nvSpPr>
        <p:spPr>
          <a:xfrm xmlns:a="http://schemas.openxmlformats.org/drawingml/2006/main">
            <a:off x="86963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16" name="">
            <a:extLst xmlns:a="http://schemas.openxmlformats.org/drawingml/2006/main">
              <a:ext uri="{FF2B5EF4-FFF2-40B4-BE49-F238E27FC236}">
                <a16:creationId xmlns:a16="http://schemas.microsoft.com/office/drawing/2014/main" id="{70AA3B38-20E0-469C-B2FC-8760170B89CD}"/>
              </a:ext>
            </a:extLst>
          </p:cNvPr>
          <p:cNvSpPr>
            <a:spLocks xmlns:a="http://schemas.openxmlformats.org/drawingml/2006/main" noGrp="1"/>
          </p:cNvSpPr>
          <p:nvPr/>
        </p:nvSpPr>
        <p:spPr>
          <a:xfrm xmlns:a="http://schemas.openxmlformats.org/drawingml/2006/main">
            <a:off x="9029700"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17" name="">
            <a:extLst xmlns:a="http://schemas.openxmlformats.org/drawingml/2006/main">
              <a:ext uri="{FF2B5EF4-FFF2-40B4-BE49-F238E27FC236}">
                <a16:creationId xmlns:a16="http://schemas.microsoft.com/office/drawing/2014/main" id="{ED9A02ED-3D6E-46EE-861E-924832115E98}"/>
              </a:ext>
            </a:extLst>
          </p:cNvPr>
          <p:cNvSpPr>
            <a:spLocks xmlns:a="http://schemas.openxmlformats.org/drawingml/2006/main" noGrp="1"/>
          </p:cNvSpPr>
          <p:nvPr/>
        </p:nvSpPr>
        <p:spPr>
          <a:xfrm xmlns:a="http://schemas.openxmlformats.org/drawingml/2006/main">
            <a:off x="89630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18" name="">
            <a:extLst xmlns:a="http://schemas.openxmlformats.org/drawingml/2006/main">
              <a:ext uri="{FF2B5EF4-FFF2-40B4-BE49-F238E27FC236}">
                <a16:creationId xmlns:a16="http://schemas.microsoft.com/office/drawing/2014/main" id="{16CB14C3-7EC9-4CF0-8611-4E22A2220CFA}"/>
              </a:ext>
            </a:extLst>
          </p:cNvPr>
          <p:cNvSpPr>
            <a:spLocks xmlns:a="http://schemas.openxmlformats.org/drawingml/2006/main" noGrp="1"/>
          </p:cNvSpPr>
          <p:nvPr/>
        </p:nvSpPr>
        <p:spPr>
          <a:xfrm xmlns:a="http://schemas.openxmlformats.org/drawingml/2006/main">
            <a:off x="9248775"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19" name="">
            <a:extLst xmlns:a="http://schemas.openxmlformats.org/drawingml/2006/main">
              <a:ext uri="{FF2B5EF4-FFF2-40B4-BE49-F238E27FC236}">
                <a16:creationId xmlns:a16="http://schemas.microsoft.com/office/drawing/2014/main" id="{EBEB06F4-65FD-42CB-B3B1-D27143782F8B}"/>
              </a:ext>
            </a:extLst>
          </p:cNvPr>
          <p:cNvSpPr>
            <a:spLocks xmlns:a="http://schemas.openxmlformats.org/drawingml/2006/main" noGrp="1"/>
          </p:cNvSpPr>
          <p:nvPr/>
        </p:nvSpPr>
        <p:spPr>
          <a:xfrm xmlns:a="http://schemas.openxmlformats.org/drawingml/2006/main">
            <a:off x="92297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20" name="">
            <a:extLst xmlns:a="http://schemas.openxmlformats.org/drawingml/2006/main">
              <a:ext uri="{FF2B5EF4-FFF2-40B4-BE49-F238E27FC236}">
                <a16:creationId xmlns:a16="http://schemas.microsoft.com/office/drawing/2014/main" id="{4DAA6DD0-F646-4542-A895-2B1E023BDC62}"/>
              </a:ext>
            </a:extLst>
          </p:cNvPr>
          <p:cNvSpPr>
            <a:spLocks xmlns:a="http://schemas.openxmlformats.org/drawingml/2006/main" noGrp="1"/>
          </p:cNvSpPr>
          <p:nvPr/>
        </p:nvSpPr>
        <p:spPr>
          <a:xfrm xmlns:a="http://schemas.openxmlformats.org/drawingml/2006/main">
            <a:off x="9467850"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21" name="">
            <a:extLst xmlns:a="http://schemas.openxmlformats.org/drawingml/2006/main">
              <a:ext uri="{FF2B5EF4-FFF2-40B4-BE49-F238E27FC236}">
                <a16:creationId xmlns:a16="http://schemas.microsoft.com/office/drawing/2014/main" id="{28375F9B-2299-4FF4-AD20-C9E2B2DE564B}"/>
              </a:ext>
            </a:extLst>
          </p:cNvPr>
          <p:cNvSpPr>
            <a:spLocks xmlns:a="http://schemas.openxmlformats.org/drawingml/2006/main" noGrp="1"/>
          </p:cNvSpPr>
          <p:nvPr/>
        </p:nvSpPr>
        <p:spPr>
          <a:xfrm xmlns:a="http://schemas.openxmlformats.org/drawingml/2006/main">
            <a:off x="94964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22" name="">
            <a:extLst xmlns:a="http://schemas.openxmlformats.org/drawingml/2006/main">
              <a:ext uri="{FF2B5EF4-FFF2-40B4-BE49-F238E27FC236}">
                <a16:creationId xmlns:a16="http://schemas.microsoft.com/office/drawing/2014/main" id="{7052D4DA-4C67-4A34-8958-5B9E42FAA3B4}"/>
              </a:ext>
            </a:extLst>
          </p:cNvPr>
          <p:cNvSpPr>
            <a:spLocks xmlns:a="http://schemas.openxmlformats.org/drawingml/2006/main" noGrp="1"/>
          </p:cNvSpPr>
          <p:nvPr/>
        </p:nvSpPr>
        <p:spPr>
          <a:xfrm xmlns:a="http://schemas.openxmlformats.org/drawingml/2006/main">
            <a:off x="9686925"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23" name="">
            <a:extLst xmlns:a="http://schemas.openxmlformats.org/drawingml/2006/main">
              <a:ext uri="{FF2B5EF4-FFF2-40B4-BE49-F238E27FC236}">
                <a16:creationId xmlns:a16="http://schemas.microsoft.com/office/drawing/2014/main" id="{6E5A6E78-D448-4D7C-8AC6-CBD3646A21CA}"/>
              </a:ext>
            </a:extLst>
          </p:cNvPr>
          <p:cNvSpPr>
            <a:spLocks xmlns:a="http://schemas.openxmlformats.org/drawingml/2006/main" noGrp="1"/>
          </p:cNvSpPr>
          <p:nvPr/>
        </p:nvSpPr>
        <p:spPr>
          <a:xfrm xmlns:a="http://schemas.openxmlformats.org/drawingml/2006/main">
            <a:off x="97631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24" name="">
            <a:extLst xmlns:a="http://schemas.openxmlformats.org/drawingml/2006/main">
              <a:ext uri="{FF2B5EF4-FFF2-40B4-BE49-F238E27FC236}">
                <a16:creationId xmlns:a16="http://schemas.microsoft.com/office/drawing/2014/main" id="{8E4562FF-8191-4EF4-A645-D8908C4F4759}"/>
              </a:ext>
            </a:extLst>
          </p:cNvPr>
          <p:cNvSpPr>
            <a:spLocks xmlns:a="http://schemas.openxmlformats.org/drawingml/2006/main" noGrp="1"/>
          </p:cNvSpPr>
          <p:nvPr/>
        </p:nvSpPr>
        <p:spPr>
          <a:xfrm xmlns:a="http://schemas.openxmlformats.org/drawingml/2006/main">
            <a:off x="9906000"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25" name="">
            <a:extLst xmlns:a="http://schemas.openxmlformats.org/drawingml/2006/main">
              <a:ext uri="{FF2B5EF4-FFF2-40B4-BE49-F238E27FC236}">
                <a16:creationId xmlns:a16="http://schemas.microsoft.com/office/drawing/2014/main" id="{84044223-5A67-478D-B11D-23291B4E0AAB}"/>
              </a:ext>
            </a:extLst>
          </p:cNvPr>
          <p:cNvSpPr>
            <a:spLocks xmlns:a="http://schemas.openxmlformats.org/drawingml/2006/main" noGrp="1"/>
          </p:cNvSpPr>
          <p:nvPr/>
        </p:nvSpPr>
        <p:spPr>
          <a:xfrm xmlns:a="http://schemas.openxmlformats.org/drawingml/2006/main">
            <a:off x="100298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26" name="">
            <a:extLst xmlns:a="http://schemas.openxmlformats.org/drawingml/2006/main">
              <a:ext uri="{FF2B5EF4-FFF2-40B4-BE49-F238E27FC236}">
                <a16:creationId xmlns:a16="http://schemas.microsoft.com/office/drawing/2014/main" id="{7ECB6B7E-E1E0-4582-A468-DCDDD698AFBD}"/>
              </a:ext>
            </a:extLst>
          </p:cNvPr>
          <p:cNvSpPr>
            <a:spLocks xmlns:a="http://schemas.openxmlformats.org/drawingml/2006/main" noGrp="1"/>
          </p:cNvSpPr>
          <p:nvPr/>
        </p:nvSpPr>
        <p:spPr>
          <a:xfrm xmlns:a="http://schemas.openxmlformats.org/drawingml/2006/main">
            <a:off x="8420100" y="1495425"/>
            <a:ext cx="0" cy="2886075"/>
          </a:xfrm>
          <a:prstGeom xmlns:a="http://schemas.openxmlformats.org/drawingml/2006/main" prst="line">
            <a:avLst/>
          </a:prstGeom>
          <a:noFill xmlns:a="http://schemas.openxmlformats.org/drawingml/2006/main"/>
          <a:ln xmlns:a="http://schemas.openxmlformats.org/drawingml/2006/main" w="6668">
            <a:solidFill>
              <a:srgbClr val="777771"/>
            </a:solidFill>
            <a:prstDash val="solid"/>
          </a:ln>
        </p:spPr>
      </p:sp>
      <p:sp>
        <p:nvSpPr>
          <p:cNvPr id="27" name="">
            <a:extLst xmlns:a="http://schemas.openxmlformats.org/drawingml/2006/main">
              <a:ext uri="{FF2B5EF4-FFF2-40B4-BE49-F238E27FC236}">
                <a16:creationId xmlns:a16="http://schemas.microsoft.com/office/drawing/2014/main" id="{30B0E8BA-7F5B-4792-9999-0D0584BF1D4D}"/>
              </a:ext>
            </a:extLst>
          </p:cNvPr>
          <p:cNvSpPr>
            <a:spLocks xmlns:a="http://schemas.openxmlformats.org/drawingml/2006/main" noGrp="1"/>
          </p:cNvSpPr>
          <p:nvPr/>
        </p:nvSpPr>
        <p:spPr>
          <a:xfrm xmlns:a="http://schemas.openxmlformats.org/drawingml/2006/main">
            <a:off x="11058525" y="2038350"/>
            <a:ext cx="0" cy="2905125"/>
          </a:xfrm>
          <a:prstGeom xmlns:a="http://schemas.openxmlformats.org/drawingml/2006/main" prst="line">
            <a:avLst/>
          </a:prstGeom>
          <a:noFill xmlns:a="http://schemas.openxmlformats.org/drawingml/2006/main"/>
          <a:ln xmlns:a="http://schemas.openxmlformats.org/drawingml/2006/main" w="6668">
            <a:solidFill>
              <a:srgbClr val="777771"/>
            </a:solidFill>
            <a:prstDash val="solid"/>
          </a:ln>
        </p:spPr>
      </p:sp>
      <p:sp>
        <p:nvSpPr>
          <p:cNvPr id="28" name="">
            <a:extLst xmlns:a="http://schemas.openxmlformats.org/drawingml/2006/main">
              <a:ext uri="{FF2B5EF4-FFF2-40B4-BE49-F238E27FC236}">
                <a16:creationId xmlns:a16="http://schemas.microsoft.com/office/drawing/2014/main" id="{BF67DB0B-ECD8-473A-A6A8-5A5854C5BE45}"/>
              </a:ext>
            </a:extLst>
          </p:cNvPr>
          <p:cNvSpPr>
            <a:spLocks xmlns:a="http://schemas.openxmlformats.org/drawingml/2006/main" noGrp="1"/>
          </p:cNvSpPr>
          <p:nvPr/>
        </p:nvSpPr>
        <p:spPr>
          <a:xfrm xmlns:a="http://schemas.openxmlformats.org/drawingml/2006/main">
            <a:off x="9182100" y="2028825"/>
            <a:ext cx="0" cy="2914650"/>
          </a:xfrm>
          <a:prstGeom xmlns:a="http://schemas.openxmlformats.org/drawingml/2006/main" prst="line">
            <a:avLst/>
          </a:prstGeom>
          <a:noFill xmlns:a="http://schemas.openxmlformats.org/drawingml/2006/main"/>
          <a:ln xmlns:a="http://schemas.openxmlformats.org/drawingml/2006/main" w="6668">
            <a:solidFill>
              <a:srgbClr val="777771"/>
            </a:solidFill>
            <a:prstDash val="solid"/>
          </a:ln>
        </p:spPr>
      </p:sp>
    </p:spTree>
    <p:extLst>
      <p:ext uri="{BB962C8B-B14F-4D97-AF65-F5344CB8AC3E}">
        <p14:creationId xmlns:p14="http://schemas.microsoft.com/office/powerpoint/2010/main" val="516928351"/>
      </p:ext>
    </p:extLst>
  </p:cSld>
</p:sld>
</file>

<file path=ppt/slides/slide2.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20" name="THE OPERATING PROBLEM">
            <a:extLst xmlns:a="http://schemas.openxmlformats.org/drawingml/2006/main">
              <a:ext uri="{FF2B5EF4-FFF2-40B4-BE49-F238E27FC236}">
                <a16:creationId xmlns:a16="http://schemas.microsoft.com/office/drawing/2014/main" id="{D1F482FA-7484-4EC9-9180-E37348FF0251}"/>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THE OPERATING PROBLEM</a:t>
            </a:r>
          </a:p>
        </p:txBody>
      </p:sp>
      <p:sp>
        <p:nvSpPr>
          <p:cNvPr id="2" name="A delayed delivery changes more than stock">
            <a:extLst xmlns:a="http://schemas.openxmlformats.org/drawingml/2006/main">
              <a:ext uri="{FF2B5EF4-FFF2-40B4-BE49-F238E27FC236}">
                <a16:creationId xmlns:a16="http://schemas.microsoft.com/office/drawing/2014/main" id="{37D1232A-D744-4EEA-BDC3-DF796FADF878}"/>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A delayed delivery changes more than stock</a:t>
            </a:r>
          </a:p>
        </p:txBody>
      </p:sp>
      <p:sp>
        <p:nvSpPr>
          <p:cNvPr id="3" name="02">
            <a:extLst xmlns:a="http://schemas.openxmlformats.org/drawingml/2006/main">
              <a:ext uri="{FF2B5EF4-FFF2-40B4-BE49-F238E27FC236}">
                <a16:creationId xmlns:a16="http://schemas.microsoft.com/office/drawing/2014/main" id="{F59BFBDB-E89F-4537-8006-E8EDD056BCAF}"/>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02</a:t>
            </a:r>
          </a:p>
        </p:txBody>
      </p:sp>
      <p:sp>
        <p:nvSpPr>
          <p:cNvPr id="4" name="MR D.I.Y. public disclosures describe exis">
            <a:extLst xmlns:a="http://schemas.openxmlformats.org/drawingml/2006/main">
              <a:ext uri="{FF2B5EF4-FFF2-40B4-BE49-F238E27FC236}">
                <a16:creationId xmlns:a16="http://schemas.microsoft.com/office/drawing/2014/main" id="{5D78D64C-4969-4DDD-AFF3-D1F2282DFD3D}"/>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MR D.I.Y. public disclosures describe existing analytics, automation and service systems. Our incidents are hypothetical.</a:t>
            </a:r>
          </a:p>
        </p:txBody>
      </p:sp>
      <p:sp>
        <p:nvSpPr>
          <p:cNvPr id="5" name="The user">
            <a:extLst xmlns:a="http://schemas.openxmlformats.org/drawingml/2006/main">
              <a:ext uri="{FF2B5EF4-FFF2-40B4-BE49-F238E27FC236}">
                <a16:creationId xmlns:a16="http://schemas.microsoft.com/office/drawing/2014/main" id="{E3AFDA26-DE95-4613-86AE-EC939C8357B0}"/>
              </a:ext>
            </a:extLst>
          </p:cNvPr>
          <p:cNvSpPr>
            <a:spLocks xmlns:a="http://schemas.openxmlformats.org/drawingml/2006/main" noGrp="1"/>
          </p:cNvSpPr>
          <p:nvPr/>
        </p:nvSpPr>
        <p:spPr>
          <a:xfrm xmlns:a="http://schemas.openxmlformats.org/drawingml/2006/main">
            <a:off x="628650" y="20764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626262"/>
                </a:solidFill>
                <a:latin typeface="Liberation Sans"/>
                <a:ea typeface="Liberation Sans"/>
                <a:cs typeface="Liberation Sans"/>
              </a:defRPr>
            </a:defPPr>
          </a:lstStyle>
          <a:p xmlns:a="http://schemas.openxmlformats.org/drawingml/2006/main">
            <a:pPr algn="l">
              <a:defRPr sz="1350" b="1">
                <a:solidFill>
                  <a:srgbClr val="626262"/>
                </a:solidFill>
                <a:latin typeface="Liberation Sans"/>
                <a:ea typeface="Liberation Sans"/>
                <a:cs typeface="Liberation Sans"/>
              </a:defRPr>
            </a:pPr>
            <a:r>
              <a:rPr sz="1350" b="1">
                <a:solidFill>
                  <a:srgbClr val="626262"/>
                </a:solidFill>
                <a:latin typeface="Liberation Sans"/>
                <a:ea typeface="Liberation Sans"/>
                <a:cs typeface="Liberation Sans"/>
              </a:rPr>
              <a:t>The user</a:t>
            </a:r>
          </a:p>
        </p:txBody>
      </p:sp>
      <p:sp>
        <p:nvSpPr>
          <p:cNvPr id="6" name="Regional&#10;operations lead">
            <a:extLst xmlns:a="http://schemas.openxmlformats.org/drawingml/2006/main">
              <a:ext uri="{FF2B5EF4-FFF2-40B4-BE49-F238E27FC236}">
                <a16:creationId xmlns:a16="http://schemas.microsoft.com/office/drawing/2014/main" id="{313BC64B-F381-4DC9-B80F-1D496F85818C}"/>
              </a:ext>
            </a:extLst>
          </p:cNvPr>
          <p:cNvSpPr>
            <a:spLocks xmlns:a="http://schemas.openxmlformats.org/drawingml/2006/main" noGrp="1"/>
          </p:cNvSpPr>
          <p:nvPr/>
        </p:nvSpPr>
        <p:spPr>
          <a:xfrm xmlns:a="http://schemas.openxmlformats.org/drawingml/2006/main">
            <a:off x="609600" y="2447925"/>
            <a:ext cx="36004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1212"/>
                </a:solidFill>
                <a:latin typeface="Liberation Sans"/>
                <a:ea typeface="Liberation Sans"/>
                <a:cs typeface="Liberation Sans"/>
              </a:defRPr>
            </a:defPPr>
          </a:lstStyle>
          <a:p xmlns:a="http://schemas.openxmlformats.org/drawingml/2006/main">
            <a:pPr algn="l">
              <a:defRPr sz="3150" b="1">
                <a:solidFill>
                  <a:srgbClr val="121212"/>
                </a:solidFill>
                <a:latin typeface="Liberation Sans"/>
                <a:ea typeface="Liberation Sans"/>
                <a:cs typeface="Liberation Sans"/>
              </a:defRPr>
            </a:pPr>
            <a:r>
              <a:rPr sz="3150" b="1">
                <a:solidFill>
                  <a:srgbClr val="121212"/>
                </a:solidFill>
                <a:latin typeface="Liberation Sans"/>
                <a:ea typeface="Liberation Sans"/>
                <a:cs typeface="Liberation Sans"/>
              </a:rPr>
              <a:t>Regional</a:t>
            </a:r>
          </a:p>
          <a:p xmlns:a="http://schemas.openxmlformats.org/drawingml/2006/main">
            <a:pPr algn="l">
              <a:defRPr sz="3150" b="1">
                <a:solidFill>
                  <a:srgbClr val="121212"/>
                </a:solidFill>
                <a:latin typeface="Liberation Sans"/>
                <a:ea typeface="Liberation Sans"/>
                <a:cs typeface="Liberation Sans"/>
              </a:defRPr>
            </a:pPr>
            <a:r>
              <a:rPr sz="3150" b="1">
                <a:solidFill>
                  <a:srgbClr val="121212"/>
                </a:solidFill>
                <a:latin typeface="Liberation Sans"/>
                <a:ea typeface="Liberation Sans"/>
                <a:cs typeface="Liberation Sans"/>
              </a:rPr>
              <a:t>operations lead</a:t>
            </a:r>
          </a:p>
        </p:txBody>
      </p:sp>
      <p:sp>
        <p:nvSpPr>
          <p:cNvPr id="7" name="One decision can create a new constraint f">
            <a:extLst xmlns:a="http://schemas.openxmlformats.org/drawingml/2006/main">
              <a:ext uri="{FF2B5EF4-FFF2-40B4-BE49-F238E27FC236}">
                <a16:creationId xmlns:a16="http://schemas.microsoft.com/office/drawing/2014/main" id="{0B90F533-CF21-4ED9-B36F-B099D30EE658}"/>
              </a:ext>
            </a:extLst>
          </p:cNvPr>
          <p:cNvSpPr>
            <a:spLocks xmlns:a="http://schemas.openxmlformats.org/drawingml/2006/main" noGrp="1"/>
          </p:cNvSpPr>
          <p:nvPr/>
        </p:nvSpPr>
        <p:spPr>
          <a:xfrm xmlns:a="http://schemas.openxmlformats.org/drawingml/2006/main">
            <a:off x="628650" y="4095750"/>
            <a:ext cx="3209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1212"/>
                </a:solidFill>
                <a:latin typeface="Liberation Sans"/>
                <a:ea typeface="Liberation Sans"/>
                <a:cs typeface="Liberation Sans"/>
              </a:defRPr>
            </a:defPPr>
          </a:lstStyle>
          <a:p xmlns:a="http://schemas.openxmlformats.org/drawingml/2006/main">
            <a:pPr algn="l">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One decision can create a new constraint for another team.</a:t>
            </a:r>
          </a:p>
        </p:txBody>
      </p:sp>
      <p:sp>
        <p:nvSpPr>
          <p:cNvPr id="8" name="">
            <a:extLst xmlns:a="http://schemas.openxmlformats.org/drawingml/2006/main">
              <a:ext uri="{FF2B5EF4-FFF2-40B4-BE49-F238E27FC236}">
                <a16:creationId xmlns:a16="http://schemas.microsoft.com/office/drawing/2014/main" id="{FCA4982A-3B8E-456F-A790-0628030836A8}"/>
              </a:ext>
            </a:extLst>
          </p:cNvPr>
          <p:cNvSpPr>
            <a:spLocks xmlns:a="http://schemas.openxmlformats.org/drawingml/2006/main" noGrp="1"/>
          </p:cNvSpPr>
          <p:nvPr/>
        </p:nvSpPr>
        <p:spPr>
          <a:xfrm xmlns:a="http://schemas.openxmlformats.org/drawingml/2006/main">
            <a:off x="4810125" y="2143125"/>
            <a:ext cx="6762750" cy="0"/>
          </a:xfrm>
          <a:prstGeom xmlns:a="http://schemas.openxmlformats.org/drawingml/2006/main" prst="line">
            <a:avLst/>
          </a:prstGeom>
          <a:noFill xmlns:a="http://schemas.openxmlformats.org/drawingml/2006/main"/>
          <a:ln xmlns:a="http://schemas.openxmlformats.org/drawingml/2006/main" w="19050">
            <a:solidFill>
              <a:srgbClr val="121212"/>
            </a:solidFill>
            <a:prstDash val="solid"/>
          </a:ln>
        </p:spPr>
      </p:sp>
      <p:sp>
        <p:nvSpPr>
          <p:cNvPr id="9" name="Supply">
            <a:extLst xmlns:a="http://schemas.openxmlformats.org/drawingml/2006/main">
              <a:ext uri="{FF2B5EF4-FFF2-40B4-BE49-F238E27FC236}">
                <a16:creationId xmlns:a16="http://schemas.microsoft.com/office/drawing/2014/main" id="{6FFDB0A4-EDF9-4C9D-B43B-AABC0D78C0CD}"/>
              </a:ext>
            </a:extLst>
          </p:cNvPr>
          <p:cNvSpPr>
            <a:spLocks xmlns:a="http://schemas.openxmlformats.org/drawingml/2006/main" noGrp="1"/>
          </p:cNvSpPr>
          <p:nvPr/>
        </p:nvSpPr>
        <p:spPr>
          <a:xfrm xmlns:a="http://schemas.openxmlformats.org/drawingml/2006/main">
            <a:off x="4810125" y="23145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Supply</a:t>
            </a:r>
          </a:p>
        </p:txBody>
      </p:sp>
      <p:sp>
        <p:nvSpPr>
          <p:cNvPr id="10" name="Which stock covers the gap?">
            <a:extLst xmlns:a="http://schemas.openxmlformats.org/drawingml/2006/main">
              <a:ext uri="{FF2B5EF4-FFF2-40B4-BE49-F238E27FC236}">
                <a16:creationId xmlns:a16="http://schemas.microsoft.com/office/drawing/2014/main" id="{9213C87A-7E4D-4296-A72F-18992BBABDCE}"/>
              </a:ext>
            </a:extLst>
          </p:cNvPr>
          <p:cNvSpPr>
            <a:spLocks xmlns:a="http://schemas.openxmlformats.org/drawingml/2006/main" noGrp="1"/>
          </p:cNvSpPr>
          <p:nvPr/>
        </p:nvSpPr>
        <p:spPr>
          <a:xfrm xmlns:a="http://schemas.openxmlformats.org/drawingml/2006/main">
            <a:off x="6905625" y="2314575"/>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Which stock covers the gap?</a:t>
            </a:r>
          </a:p>
        </p:txBody>
      </p:sp>
      <p:sp>
        <p:nvSpPr>
          <p:cNvPr id="11" name="">
            <a:extLst xmlns:a="http://schemas.openxmlformats.org/drawingml/2006/main">
              <a:ext uri="{FF2B5EF4-FFF2-40B4-BE49-F238E27FC236}">
                <a16:creationId xmlns:a16="http://schemas.microsoft.com/office/drawing/2014/main" id="{B97CD78A-263F-459D-A246-7F8B98947967}"/>
              </a:ext>
            </a:extLst>
          </p:cNvPr>
          <p:cNvSpPr>
            <a:spLocks xmlns:a="http://schemas.openxmlformats.org/drawingml/2006/main" noGrp="1"/>
          </p:cNvSpPr>
          <p:nvPr/>
        </p:nvSpPr>
        <p:spPr>
          <a:xfrm xmlns:a="http://schemas.openxmlformats.org/drawingml/2006/main">
            <a:off x="4810125" y="3009900"/>
            <a:ext cx="6762750" cy="0"/>
          </a:xfrm>
          <a:prstGeom xmlns:a="http://schemas.openxmlformats.org/drawingml/2006/main" prst="line">
            <a:avLst/>
          </a:prstGeom>
          <a:noFill xmlns:a="http://schemas.openxmlformats.org/drawingml/2006/main"/>
          <a:ln xmlns:a="http://schemas.openxmlformats.org/drawingml/2006/main" w="9525">
            <a:solidFill>
              <a:srgbClr val="121212"/>
            </a:solidFill>
            <a:prstDash val="solid"/>
          </a:ln>
        </p:spPr>
      </p:sp>
      <p:sp>
        <p:nvSpPr>
          <p:cNvPr id="12" name="Procurement">
            <a:extLst xmlns:a="http://schemas.openxmlformats.org/drawingml/2006/main">
              <a:ext uri="{FF2B5EF4-FFF2-40B4-BE49-F238E27FC236}">
                <a16:creationId xmlns:a16="http://schemas.microsoft.com/office/drawing/2014/main" id="{3861CBFE-ACE2-41B3-83BE-10A3E656FB46}"/>
              </a:ext>
            </a:extLst>
          </p:cNvPr>
          <p:cNvSpPr>
            <a:spLocks xmlns:a="http://schemas.openxmlformats.org/drawingml/2006/main" noGrp="1"/>
          </p:cNvSpPr>
          <p:nvPr/>
        </p:nvSpPr>
        <p:spPr>
          <a:xfrm xmlns:a="http://schemas.openxmlformats.org/drawingml/2006/main">
            <a:off x="4810125" y="31813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Procurement</a:t>
            </a:r>
          </a:p>
        </p:txBody>
      </p:sp>
      <p:sp>
        <p:nvSpPr>
          <p:cNvPr id="13" name="Can the invoice pass review?">
            <a:extLst xmlns:a="http://schemas.openxmlformats.org/drawingml/2006/main">
              <a:ext uri="{FF2B5EF4-FFF2-40B4-BE49-F238E27FC236}">
                <a16:creationId xmlns:a16="http://schemas.microsoft.com/office/drawing/2014/main" id="{FA6ED108-2D86-4A26-986B-7877E77453BA}"/>
              </a:ext>
            </a:extLst>
          </p:cNvPr>
          <p:cNvSpPr>
            <a:spLocks xmlns:a="http://schemas.openxmlformats.org/drawingml/2006/main" noGrp="1"/>
          </p:cNvSpPr>
          <p:nvPr/>
        </p:nvSpPr>
        <p:spPr>
          <a:xfrm xmlns:a="http://schemas.openxmlformats.org/drawingml/2006/main">
            <a:off x="6905625" y="3181350"/>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Can the invoice pass review?</a:t>
            </a:r>
          </a:p>
        </p:txBody>
      </p:sp>
      <p:sp>
        <p:nvSpPr>
          <p:cNvPr id="14" name="">
            <a:extLst xmlns:a="http://schemas.openxmlformats.org/drawingml/2006/main">
              <a:ext uri="{FF2B5EF4-FFF2-40B4-BE49-F238E27FC236}">
                <a16:creationId xmlns:a16="http://schemas.microsoft.com/office/drawing/2014/main" id="{199CD7F1-A1EF-4A6A-90A5-C36F62491807}"/>
              </a:ext>
            </a:extLst>
          </p:cNvPr>
          <p:cNvSpPr>
            <a:spLocks xmlns:a="http://schemas.openxmlformats.org/drawingml/2006/main" noGrp="1"/>
          </p:cNvSpPr>
          <p:nvPr/>
        </p:nvSpPr>
        <p:spPr>
          <a:xfrm xmlns:a="http://schemas.openxmlformats.org/drawingml/2006/main">
            <a:off x="4810125" y="3876675"/>
            <a:ext cx="6762750" cy="0"/>
          </a:xfrm>
          <a:prstGeom xmlns:a="http://schemas.openxmlformats.org/drawingml/2006/main" prst="line">
            <a:avLst/>
          </a:prstGeom>
          <a:noFill xmlns:a="http://schemas.openxmlformats.org/drawingml/2006/main"/>
          <a:ln xmlns:a="http://schemas.openxmlformats.org/drawingml/2006/main" w="9525">
            <a:solidFill>
              <a:srgbClr val="121212"/>
            </a:solidFill>
            <a:prstDash val="solid"/>
          </a:ln>
        </p:spPr>
      </p:sp>
      <p:sp>
        <p:nvSpPr>
          <p:cNvPr id="15" name="Service">
            <a:extLst xmlns:a="http://schemas.openxmlformats.org/drawingml/2006/main">
              <a:ext uri="{FF2B5EF4-FFF2-40B4-BE49-F238E27FC236}">
                <a16:creationId xmlns:a16="http://schemas.microsoft.com/office/drawing/2014/main" id="{9F8C3B90-6517-4682-AFF5-E1745BE7BFA8}"/>
              </a:ext>
            </a:extLst>
          </p:cNvPr>
          <p:cNvSpPr>
            <a:spLocks xmlns:a="http://schemas.openxmlformats.org/drawingml/2006/main" noGrp="1"/>
          </p:cNvSpPr>
          <p:nvPr/>
        </p:nvSpPr>
        <p:spPr>
          <a:xfrm xmlns:a="http://schemas.openxmlformats.org/drawingml/2006/main">
            <a:off x="4810125" y="404812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Service</a:t>
            </a:r>
          </a:p>
        </p:txBody>
      </p:sp>
      <p:sp>
        <p:nvSpPr>
          <p:cNvPr id="16" name="Which promise depends on that stock?">
            <a:extLst xmlns:a="http://schemas.openxmlformats.org/drawingml/2006/main">
              <a:ext uri="{FF2B5EF4-FFF2-40B4-BE49-F238E27FC236}">
                <a16:creationId xmlns:a16="http://schemas.microsoft.com/office/drawing/2014/main" id="{C45BB8B9-6393-4A10-894F-A95DFB681D67}"/>
              </a:ext>
            </a:extLst>
          </p:cNvPr>
          <p:cNvSpPr>
            <a:spLocks xmlns:a="http://schemas.openxmlformats.org/drawingml/2006/main" noGrp="1"/>
          </p:cNvSpPr>
          <p:nvPr/>
        </p:nvSpPr>
        <p:spPr>
          <a:xfrm xmlns:a="http://schemas.openxmlformats.org/drawingml/2006/main">
            <a:off x="6905625" y="4048125"/>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Which promise depends on that stock?</a:t>
            </a:r>
          </a:p>
        </p:txBody>
      </p:sp>
      <p:sp>
        <p:nvSpPr>
          <p:cNvPr id="17" name="">
            <a:extLst xmlns:a="http://schemas.openxmlformats.org/drawingml/2006/main">
              <a:ext uri="{FF2B5EF4-FFF2-40B4-BE49-F238E27FC236}">
                <a16:creationId xmlns:a16="http://schemas.microsoft.com/office/drawing/2014/main" id="{D65BCE9B-B840-408C-983F-3D118CE4060C}"/>
              </a:ext>
            </a:extLst>
          </p:cNvPr>
          <p:cNvSpPr>
            <a:spLocks xmlns:a="http://schemas.openxmlformats.org/drawingml/2006/main" noGrp="1"/>
          </p:cNvSpPr>
          <p:nvPr/>
        </p:nvSpPr>
        <p:spPr>
          <a:xfrm xmlns:a="http://schemas.openxmlformats.org/drawingml/2006/main">
            <a:off x="4810125" y="4743450"/>
            <a:ext cx="6762750" cy="0"/>
          </a:xfrm>
          <a:prstGeom xmlns:a="http://schemas.openxmlformats.org/drawingml/2006/main" prst="line">
            <a:avLst/>
          </a:prstGeom>
          <a:noFill xmlns:a="http://schemas.openxmlformats.org/drawingml/2006/main"/>
          <a:ln xmlns:a="http://schemas.openxmlformats.org/drawingml/2006/main" w="9525">
            <a:solidFill>
              <a:srgbClr val="121212"/>
            </a:solidFill>
            <a:prstDash val="solid"/>
          </a:ln>
        </p:spPr>
      </p:sp>
      <p:sp>
        <p:nvSpPr>
          <p:cNvPr id="18" name="Continuity">
            <a:extLst xmlns:a="http://schemas.openxmlformats.org/drawingml/2006/main">
              <a:ext uri="{FF2B5EF4-FFF2-40B4-BE49-F238E27FC236}">
                <a16:creationId xmlns:a16="http://schemas.microsoft.com/office/drawing/2014/main" id="{B1BE77A2-B615-49D2-8496-7816328E391C}"/>
              </a:ext>
            </a:extLst>
          </p:cNvPr>
          <p:cNvSpPr>
            <a:spLocks xmlns:a="http://schemas.openxmlformats.org/drawingml/2006/main" noGrp="1"/>
          </p:cNvSpPr>
          <p:nvPr/>
        </p:nvSpPr>
        <p:spPr>
          <a:xfrm xmlns:a="http://schemas.openxmlformats.org/drawingml/2006/main">
            <a:off x="4810125" y="49149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Continuity</a:t>
            </a:r>
          </a:p>
        </p:txBody>
      </p:sp>
      <p:sp>
        <p:nvSpPr>
          <p:cNvPr id="19" name="Can receiving safely keep running?">
            <a:extLst xmlns:a="http://schemas.openxmlformats.org/drawingml/2006/main">
              <a:ext uri="{FF2B5EF4-FFF2-40B4-BE49-F238E27FC236}">
                <a16:creationId xmlns:a16="http://schemas.microsoft.com/office/drawing/2014/main" id="{AC65AB23-AB75-43BD-8DA7-56886B054166}"/>
              </a:ext>
            </a:extLst>
          </p:cNvPr>
          <p:cNvSpPr>
            <a:spLocks xmlns:a="http://schemas.openxmlformats.org/drawingml/2006/main" noGrp="1"/>
          </p:cNvSpPr>
          <p:nvPr/>
        </p:nvSpPr>
        <p:spPr>
          <a:xfrm xmlns:a="http://schemas.openxmlformats.org/drawingml/2006/main">
            <a:off x="6905625" y="4914900"/>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Can receiving safely keep running?</a:t>
            </a:r>
          </a:p>
        </p:txBody>
      </p:sp>
    </p:spTree>
    <p:extLst>
      <p:ext uri="{BB962C8B-B14F-4D97-AF65-F5344CB8AC3E}">
        <p14:creationId xmlns:p14="http://schemas.microsoft.com/office/powerpoint/2010/main" val="1915488745"/>
      </p:ext>
    </p:extLst>
  </p:cSld>
</p:sld>
</file>

<file path=ppt/slides/slide3.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4" name="SC01 CONDITIONAL COMPARISON">
            <a:extLst xmlns:a="http://schemas.openxmlformats.org/drawingml/2006/main">
              <a:ext uri="{FF2B5EF4-FFF2-40B4-BE49-F238E27FC236}">
                <a16:creationId xmlns:a16="http://schemas.microsoft.com/office/drawing/2014/main" id="{476209A9-955E-4272-A0F9-8EAC163EDEAD}"/>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SC01 CONDITIONAL COMPARISON</a:t>
            </a:r>
          </a:p>
        </p:txBody>
      </p:sp>
      <p:sp>
        <p:nvSpPr>
          <p:cNvPr id="2" name="A 40-unit gap, with a feasible response">
            <a:extLst xmlns:a="http://schemas.openxmlformats.org/drawingml/2006/main">
              <a:ext uri="{FF2B5EF4-FFF2-40B4-BE49-F238E27FC236}">
                <a16:creationId xmlns:a16="http://schemas.microsoft.com/office/drawing/2014/main" id="{B662A49B-69B7-4E42-A4D3-19DEB638220C}"/>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A 40-unit gap, with a feasible response</a:t>
            </a:r>
          </a:p>
        </p:txBody>
      </p:sp>
      <p:sp>
        <p:nvSpPr>
          <p:cNvPr id="3" name="04">
            <a:extLst xmlns:a="http://schemas.openxmlformats.org/drawingml/2006/main">
              <a:ext uri="{FF2B5EF4-FFF2-40B4-BE49-F238E27FC236}">
                <a16:creationId xmlns:a16="http://schemas.microsoft.com/office/drawing/2014/main" id="{F3612BFE-97C3-4F14-BC06-1D22EB549931}"/>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03</a:t>
            </a:r>
          </a:p>
        </p:txBody>
      </p:sp>
      <p:sp>
        <p:nvSpPr>
          <p:cNvPr id="4" name="Seven-day synthetic scenario. MYR costs in">
            <a:extLst xmlns:a="http://schemas.openxmlformats.org/drawingml/2006/main">
              <a:ext uri="{FF2B5EF4-FFF2-40B4-BE49-F238E27FC236}">
                <a16:creationId xmlns:a16="http://schemas.microsoft.com/office/drawing/2014/main" id="{A2834F62-105B-48C6-B511-DA9772EB85D9}"/>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Seven-day synthetic scenario. MYR costs include declared shortage, holding and action costs. They are not observed savings.</a:t>
            </a:r>
          </a:p>
        </p:txBody>
      </p:sp>
      <p:sp>
        <p:nvSpPr>
          <p:cNvPr id="5" name="60">
            <a:extLst xmlns:a="http://schemas.openxmlformats.org/drawingml/2006/main">
              <a:ext uri="{FF2B5EF4-FFF2-40B4-BE49-F238E27FC236}">
                <a16:creationId xmlns:a16="http://schemas.microsoft.com/office/drawing/2014/main" id="{B79D4912-5253-4A02-B643-8DDC409E04C1}"/>
              </a:ext>
            </a:extLst>
          </p:cNvPr>
          <p:cNvSpPr>
            <a:spLocks xmlns:a="http://schemas.openxmlformats.org/drawingml/2006/main" noGrp="1"/>
          </p:cNvSpPr>
          <p:nvPr/>
        </p:nvSpPr>
        <p:spPr>
          <a:xfrm xmlns:a="http://schemas.openxmlformats.org/drawingml/2006/main">
            <a:off x="619125" y="1981200"/>
            <a:ext cx="2333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121212"/>
                </a:solidFill>
                <a:latin typeface="Liberation Sans"/>
                <a:ea typeface="Liberation Sans"/>
                <a:cs typeface="Liberation Sans"/>
              </a:defRPr>
            </a:defPPr>
          </a:lstStyle>
          <a:p xmlns:a="http://schemas.openxmlformats.org/drawingml/2006/main">
            <a:pPr algn="l">
              <a:defRPr sz="4875" b="1">
                <a:solidFill>
                  <a:srgbClr val="121212"/>
                </a:solidFill>
                <a:latin typeface="Liberation Sans"/>
                <a:ea typeface="Liberation Sans"/>
                <a:cs typeface="Liberation Sans"/>
              </a:defRPr>
            </a:pPr>
            <a:r>
              <a:rPr sz="4875" b="1">
                <a:solidFill>
                  <a:srgbClr val="121212"/>
                </a:solidFill>
                <a:latin typeface="Liberation Sans"/>
                <a:ea typeface="Liberation Sans"/>
                <a:cs typeface="Liberation Sans"/>
              </a:rPr>
              <a:t>60</a:t>
            </a:r>
          </a:p>
        </p:txBody>
      </p:sp>
      <p:sp>
        <p:nvSpPr>
          <p:cNvPr id="6" name="available units">
            <a:extLst xmlns:a="http://schemas.openxmlformats.org/drawingml/2006/main">
              <a:ext uri="{FF2B5EF4-FFF2-40B4-BE49-F238E27FC236}">
                <a16:creationId xmlns:a16="http://schemas.microsoft.com/office/drawing/2014/main" id="{FA2D3532-C4B3-4629-939B-650C944FAD1F}"/>
              </a:ext>
            </a:extLst>
          </p:cNvPr>
          <p:cNvSpPr>
            <a:spLocks xmlns:a="http://schemas.openxmlformats.org/drawingml/2006/main" noGrp="1"/>
          </p:cNvSpPr>
          <p:nvPr/>
        </p:nvSpPr>
        <p:spPr>
          <a:xfrm xmlns:a="http://schemas.openxmlformats.org/drawingml/2006/main">
            <a:off x="619125" y="2857500"/>
            <a:ext cx="2419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6262"/>
                </a:solidFill>
                <a:latin typeface="Liberation Sans"/>
                <a:ea typeface="Liberation Sans"/>
                <a:cs typeface="Liberation Sans"/>
              </a:defRPr>
            </a:defPPr>
          </a:lstStyle>
          <a:p xmlns:a="http://schemas.openxmlformats.org/drawingml/2006/main">
            <a:pPr algn="l">
              <a:defRPr sz="1650" b="0">
                <a:solidFill>
                  <a:srgbClr val="626262"/>
                </a:solidFill>
                <a:latin typeface="Liberation Sans"/>
                <a:ea typeface="Liberation Sans"/>
                <a:cs typeface="Liberation Sans"/>
              </a:defRPr>
            </a:pPr>
            <a:r>
              <a:rPr sz="1650" b="0">
                <a:solidFill>
                  <a:srgbClr val="626262"/>
                </a:solidFill>
                <a:latin typeface="Liberation Sans"/>
                <a:ea typeface="Liberation Sans"/>
                <a:cs typeface="Liberation Sans"/>
              </a:rPr>
              <a:t>available units</a:t>
            </a:r>
          </a:p>
        </p:txBody>
      </p:sp>
      <p:sp>
        <p:nvSpPr>
          <p:cNvPr id="7" name="20">
            <a:extLst xmlns:a="http://schemas.openxmlformats.org/drawingml/2006/main">
              <a:ext uri="{FF2B5EF4-FFF2-40B4-BE49-F238E27FC236}">
                <a16:creationId xmlns:a16="http://schemas.microsoft.com/office/drawing/2014/main" id="{4084555A-C155-496E-860F-31036FF5F7AD}"/>
              </a:ext>
            </a:extLst>
          </p:cNvPr>
          <p:cNvSpPr>
            <a:spLocks xmlns:a="http://schemas.openxmlformats.org/drawingml/2006/main" noGrp="1"/>
          </p:cNvSpPr>
          <p:nvPr/>
        </p:nvSpPr>
        <p:spPr>
          <a:xfrm xmlns:a="http://schemas.openxmlformats.org/drawingml/2006/main">
            <a:off x="3343275" y="1981200"/>
            <a:ext cx="2333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121212"/>
                </a:solidFill>
                <a:latin typeface="Liberation Sans"/>
                <a:ea typeface="Liberation Sans"/>
                <a:cs typeface="Liberation Sans"/>
              </a:defRPr>
            </a:defPPr>
          </a:lstStyle>
          <a:p xmlns:a="http://schemas.openxmlformats.org/drawingml/2006/main">
            <a:pPr algn="l">
              <a:defRPr sz="4875" b="1">
                <a:solidFill>
                  <a:srgbClr val="121212"/>
                </a:solidFill>
                <a:latin typeface="Liberation Sans"/>
                <a:ea typeface="Liberation Sans"/>
                <a:cs typeface="Liberation Sans"/>
              </a:defRPr>
            </a:pPr>
            <a:r>
              <a:rPr sz="4875" b="1">
                <a:solidFill>
                  <a:srgbClr val="121212"/>
                </a:solidFill>
                <a:latin typeface="Liberation Sans"/>
                <a:ea typeface="Liberation Sans"/>
                <a:cs typeface="Liberation Sans"/>
              </a:rPr>
              <a:t>20</a:t>
            </a:r>
          </a:p>
        </p:txBody>
      </p:sp>
      <p:sp>
        <p:nvSpPr>
          <p:cNvPr id="8" name="units per day">
            <a:extLst xmlns:a="http://schemas.openxmlformats.org/drawingml/2006/main">
              <a:ext uri="{FF2B5EF4-FFF2-40B4-BE49-F238E27FC236}">
                <a16:creationId xmlns:a16="http://schemas.microsoft.com/office/drawing/2014/main" id="{A3F86F50-C31B-4378-BFF5-0BE4AE38A1FF}"/>
              </a:ext>
            </a:extLst>
          </p:cNvPr>
          <p:cNvSpPr>
            <a:spLocks xmlns:a="http://schemas.openxmlformats.org/drawingml/2006/main" noGrp="1"/>
          </p:cNvSpPr>
          <p:nvPr/>
        </p:nvSpPr>
        <p:spPr>
          <a:xfrm xmlns:a="http://schemas.openxmlformats.org/drawingml/2006/main">
            <a:off x="3343275" y="2857500"/>
            <a:ext cx="2419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6262"/>
                </a:solidFill>
                <a:latin typeface="Liberation Sans"/>
                <a:ea typeface="Liberation Sans"/>
                <a:cs typeface="Liberation Sans"/>
              </a:defRPr>
            </a:defPPr>
          </a:lstStyle>
          <a:p xmlns:a="http://schemas.openxmlformats.org/drawingml/2006/main">
            <a:pPr algn="l">
              <a:defRPr sz="1650" b="0">
                <a:solidFill>
                  <a:srgbClr val="626262"/>
                </a:solidFill>
                <a:latin typeface="Liberation Sans"/>
                <a:ea typeface="Liberation Sans"/>
                <a:cs typeface="Liberation Sans"/>
              </a:defRPr>
            </a:pPr>
            <a:r>
              <a:rPr sz="1650" b="0">
                <a:solidFill>
                  <a:srgbClr val="626262"/>
                </a:solidFill>
                <a:latin typeface="Liberation Sans"/>
                <a:ea typeface="Liberation Sans"/>
                <a:cs typeface="Liberation Sans"/>
              </a:rPr>
              <a:t>units per day</a:t>
            </a:r>
          </a:p>
        </p:txBody>
      </p:sp>
      <p:sp>
        <p:nvSpPr>
          <p:cNvPr id="9" name="5">
            <a:extLst xmlns:a="http://schemas.openxmlformats.org/drawingml/2006/main">
              <a:ext uri="{FF2B5EF4-FFF2-40B4-BE49-F238E27FC236}">
                <a16:creationId xmlns:a16="http://schemas.microsoft.com/office/drawing/2014/main" id="{F010683A-F15D-42F9-AD5F-C6548D6D6849}"/>
              </a:ext>
            </a:extLst>
          </p:cNvPr>
          <p:cNvSpPr>
            <a:spLocks xmlns:a="http://schemas.openxmlformats.org/drawingml/2006/main" noGrp="1"/>
          </p:cNvSpPr>
          <p:nvPr/>
        </p:nvSpPr>
        <p:spPr>
          <a:xfrm xmlns:a="http://schemas.openxmlformats.org/drawingml/2006/main">
            <a:off x="6067425" y="1981200"/>
            <a:ext cx="2333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121212"/>
                </a:solidFill>
                <a:latin typeface="Liberation Sans"/>
                <a:ea typeface="Liberation Sans"/>
                <a:cs typeface="Liberation Sans"/>
              </a:defRPr>
            </a:defPPr>
          </a:lstStyle>
          <a:p xmlns:a="http://schemas.openxmlformats.org/drawingml/2006/main">
            <a:pPr algn="l">
              <a:defRPr sz="4875" b="1">
                <a:solidFill>
                  <a:srgbClr val="121212"/>
                </a:solidFill>
                <a:latin typeface="Liberation Sans"/>
                <a:ea typeface="Liberation Sans"/>
                <a:cs typeface="Liberation Sans"/>
              </a:defRPr>
            </a:pPr>
            <a:r>
              <a:rPr sz="4875" b="1">
                <a:solidFill>
                  <a:srgbClr val="121212"/>
                </a:solidFill>
                <a:latin typeface="Liberation Sans"/>
                <a:ea typeface="Liberation Sans"/>
                <a:cs typeface="Liberation Sans"/>
              </a:rPr>
              <a:t>5</a:t>
            </a:r>
          </a:p>
        </p:txBody>
      </p:sp>
      <p:sp>
        <p:nvSpPr>
          <p:cNvPr id="10" name="days to arrival">
            <a:extLst xmlns:a="http://schemas.openxmlformats.org/drawingml/2006/main">
              <a:ext uri="{FF2B5EF4-FFF2-40B4-BE49-F238E27FC236}">
                <a16:creationId xmlns:a16="http://schemas.microsoft.com/office/drawing/2014/main" id="{492E92BC-1733-4E96-A7B8-E50CE68C9801}"/>
              </a:ext>
            </a:extLst>
          </p:cNvPr>
          <p:cNvSpPr>
            <a:spLocks xmlns:a="http://schemas.openxmlformats.org/drawingml/2006/main" noGrp="1"/>
          </p:cNvSpPr>
          <p:nvPr/>
        </p:nvSpPr>
        <p:spPr>
          <a:xfrm xmlns:a="http://schemas.openxmlformats.org/drawingml/2006/main">
            <a:off x="6067425" y="2857500"/>
            <a:ext cx="2419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6262"/>
                </a:solidFill>
                <a:latin typeface="Liberation Sans"/>
                <a:ea typeface="Liberation Sans"/>
                <a:cs typeface="Liberation Sans"/>
              </a:defRPr>
            </a:defPPr>
          </a:lstStyle>
          <a:p xmlns:a="http://schemas.openxmlformats.org/drawingml/2006/main">
            <a:pPr algn="l">
              <a:defRPr sz="1650" b="0">
                <a:solidFill>
                  <a:srgbClr val="626262"/>
                </a:solidFill>
                <a:latin typeface="Liberation Sans"/>
                <a:ea typeface="Liberation Sans"/>
                <a:cs typeface="Liberation Sans"/>
              </a:defRPr>
            </a:pPr>
            <a:r>
              <a:rPr sz="1650" b="0">
                <a:solidFill>
                  <a:srgbClr val="626262"/>
                </a:solidFill>
                <a:latin typeface="Liberation Sans"/>
                <a:ea typeface="Liberation Sans"/>
                <a:cs typeface="Liberation Sans"/>
              </a:rPr>
              <a:t>days to arrival</a:t>
            </a:r>
          </a:p>
        </p:txBody>
      </p:sp>
      <p:sp>
        <p:nvSpPr>
          <p:cNvPr id="11" name="40">
            <a:extLst xmlns:a="http://schemas.openxmlformats.org/drawingml/2006/main">
              <a:ext uri="{FF2B5EF4-FFF2-40B4-BE49-F238E27FC236}">
                <a16:creationId xmlns:a16="http://schemas.microsoft.com/office/drawing/2014/main" id="{C853652C-76DA-4C6F-8B05-451FE1F49C37}"/>
              </a:ext>
            </a:extLst>
          </p:cNvPr>
          <p:cNvSpPr>
            <a:spLocks xmlns:a="http://schemas.openxmlformats.org/drawingml/2006/main" noGrp="1"/>
          </p:cNvSpPr>
          <p:nvPr/>
        </p:nvSpPr>
        <p:spPr>
          <a:xfrm xmlns:a="http://schemas.openxmlformats.org/drawingml/2006/main">
            <a:off x="8791575" y="1981200"/>
            <a:ext cx="2333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121212"/>
                </a:solidFill>
                <a:latin typeface="Liberation Sans"/>
                <a:ea typeface="Liberation Sans"/>
                <a:cs typeface="Liberation Sans"/>
              </a:defRPr>
            </a:defPPr>
          </a:lstStyle>
          <a:p xmlns:a="http://schemas.openxmlformats.org/drawingml/2006/main">
            <a:pPr algn="l">
              <a:defRPr sz="4875" b="1">
                <a:solidFill>
                  <a:srgbClr val="121212"/>
                </a:solidFill>
                <a:latin typeface="Liberation Sans"/>
                <a:ea typeface="Liberation Sans"/>
                <a:cs typeface="Liberation Sans"/>
              </a:defRPr>
            </a:pPr>
            <a:r>
              <a:rPr sz="4875" b="1">
                <a:solidFill>
                  <a:srgbClr val="121212"/>
                </a:solidFill>
                <a:latin typeface="Liberation Sans"/>
                <a:ea typeface="Liberation Sans"/>
                <a:cs typeface="Liberation Sans"/>
              </a:rPr>
              <a:t>40</a:t>
            </a:r>
          </a:p>
        </p:txBody>
      </p:sp>
      <p:sp>
        <p:nvSpPr>
          <p:cNvPr id="12" name="uncovered units">
            <a:extLst xmlns:a="http://schemas.openxmlformats.org/drawingml/2006/main">
              <a:ext uri="{FF2B5EF4-FFF2-40B4-BE49-F238E27FC236}">
                <a16:creationId xmlns:a16="http://schemas.microsoft.com/office/drawing/2014/main" id="{DDE1817F-441D-42C6-A5DA-74ADB53FE36F}"/>
              </a:ext>
            </a:extLst>
          </p:cNvPr>
          <p:cNvSpPr>
            <a:spLocks xmlns:a="http://schemas.openxmlformats.org/drawingml/2006/main" noGrp="1"/>
          </p:cNvSpPr>
          <p:nvPr/>
        </p:nvSpPr>
        <p:spPr>
          <a:xfrm xmlns:a="http://schemas.openxmlformats.org/drawingml/2006/main">
            <a:off x="8791575" y="2857500"/>
            <a:ext cx="2419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6262"/>
                </a:solidFill>
                <a:latin typeface="Liberation Sans"/>
                <a:ea typeface="Liberation Sans"/>
                <a:cs typeface="Liberation Sans"/>
              </a:defRPr>
            </a:defPPr>
          </a:lstStyle>
          <a:p xmlns:a="http://schemas.openxmlformats.org/drawingml/2006/main">
            <a:pPr algn="l">
              <a:defRPr sz="1650" b="0">
                <a:solidFill>
                  <a:srgbClr val="626262"/>
                </a:solidFill>
                <a:latin typeface="Liberation Sans"/>
                <a:ea typeface="Liberation Sans"/>
                <a:cs typeface="Liberation Sans"/>
              </a:defRPr>
            </a:pPr>
            <a:r>
              <a:rPr sz="1650" b="0">
                <a:solidFill>
                  <a:srgbClr val="626262"/>
                </a:solidFill>
                <a:latin typeface="Liberation Sans"/>
                <a:ea typeface="Liberation Sans"/>
                <a:cs typeface="Liberation Sans"/>
              </a:rPr>
              <a:t>uncovered units</a:t>
            </a:r>
          </a:p>
        </p:txBody>
      </p:sp>
      <p:graphicFrame>
        <p:nvGraphicFramePr>
          <p:cNvPr id="13" name="">
            <a:extLst xmlns:a="http://schemas.openxmlformats.org/drawingml/2006/main">
              <a:ext uri="{FF2B5EF4-FFF2-40B4-BE49-F238E27FC236}">
                <a16:creationId xmlns:a16="http://schemas.microsoft.com/office/drawing/2014/main" id="{D40C1FEC-C18E-4DF8-B4D7-F9A470D420D5}"/>
              </a:ext>
            </a:extLst>
          </p:cNvPr>
          <p:cNvGraphicFramePr/>
          <p:nvPr/>
        </p:nvGraphicFramePr>
        <p:xfrm>
          <a:off xmlns:a="http://schemas.openxmlformats.org/drawingml/2006/main" x="609600" y="3524250"/>
          <a:ext xmlns:a="http://schemas.openxmlformats.org/drawingml/2006/main" cx="10953750" cy="2114550"/>
        </p:xfrm>
        <a:graphic xmlns:a="http://schemas.openxmlformats.org/drawingml/2006/main">
          <a:graphicData uri="http://schemas.openxmlformats.org/drawingml/2006/table">
            <a:tbl>
              <a:tblPr/>
              <a:tblGrid>
                <a:gridCol w="5848350"/>
                <a:gridCol w="2209800"/>
                <a:gridCol w="2895600"/>
              </a:tblGrid>
              <a:tr h="528638">
                <a:tc>
                  <a:txBody>
                    <a:bodyPr lIns="114300" tIns="114300" rIns="114300" bIns="114300"/>
                    <a:lstStyle/>
                    <a:p>
                      <a:r>
                        <a:rPr sz="1275" b="1">
                          <a:solidFill>
                            <a:srgbClr val="FFFFFF"/>
                          </a:solidFill>
                          <a:latin typeface="Liberation Sans"/>
                          <a:ea typeface="Liberation Sans"/>
                          <a:cs typeface="Liberation Sans"/>
                        </a:rPr>
                        <a:t>Action</a:t>
                      </a:r>
                    </a:p>
                  </a:txBody>
                  <a:tcPr marL="91440" marR="91440" marT="45720" marB="45720">
                    <a:solidFill>
                      <a:srgbClr val="121212"/>
                    </a:solidFill>
                  </a:tcPr>
                </a:tc>
                <a:tc>
                  <a:txBody>
                    <a:bodyPr lIns="114300" tIns="114300" rIns="114300" bIns="114300"/>
                    <a:lstStyle/>
                    <a:p>
                      <a:r>
                        <a:rPr sz="1275" b="1">
                          <a:solidFill>
                            <a:srgbClr val="FFFFFF"/>
                          </a:solidFill>
                          <a:latin typeface="Liberation Sans"/>
                          <a:ea typeface="Liberation Sans"/>
                          <a:cs typeface="Liberation Sans"/>
                        </a:rPr>
                        <a:t>Shortage</a:t>
                      </a:r>
                    </a:p>
                  </a:txBody>
                  <a:tcPr marL="91440" marR="91440" marT="45720" marB="45720">
                    <a:solidFill>
                      <a:srgbClr val="121212"/>
                    </a:solidFill>
                  </a:tcPr>
                </a:tc>
                <a:tc>
                  <a:txBody>
                    <a:bodyPr lIns="114300" tIns="114300" rIns="114300" bIns="114300"/>
                    <a:lstStyle/>
                    <a:p>
                      <a:r>
                        <a:rPr sz="1275" b="1">
                          <a:solidFill>
                            <a:srgbClr val="FFFFFF"/>
                          </a:solidFill>
                          <a:latin typeface="Liberation Sans"/>
                          <a:ea typeface="Liberation Sans"/>
                          <a:cs typeface="Liberation Sans"/>
                        </a:rPr>
                        <a:t>Scenario cost</a:t>
                      </a:r>
                    </a:p>
                  </a:txBody>
                  <a:tcPr marL="91440" marR="91440" marT="45720" marB="45720">
                    <a:solidFill>
                      <a:srgbClr val="121212"/>
                    </a:solidFill>
                  </a:tcPr>
                </a:tc>
              </a:tr>
              <a:tr h="528638">
                <a:tc>
                  <a:txBody>
                    <a:bodyPr lIns="114300" tIns="114300" rIns="114300" bIns="114300"/>
                    <a:lstStyle/>
                    <a:p>
                      <a:r>
                        <a:rPr sz="1650" b="0">
                          <a:solidFill>
                            <a:srgbClr val="121212"/>
                          </a:solidFill>
                          <a:latin typeface="Liberation Sans"/>
                          <a:ea typeface="Liberation Sans"/>
                          <a:cs typeface="Liberation Sans"/>
                        </a:rPr>
                        <a:t>No change</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40 units</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MYR 496.00</a:t>
                      </a:r>
                    </a:p>
                  </a:txBody>
                  <a:tcPr marL="91440" marR="91440" marT="45720" marB="45720">
                    <a:solidFill>
                      <a:srgbClr val="FFFFFF"/>
                    </a:solidFill>
                  </a:tcPr>
                </a:tc>
              </a:tr>
              <a:tr h="528638">
                <a:tc>
                  <a:txBody>
                    <a:bodyPr lIns="114300" tIns="114300" rIns="114300" bIns="114300"/>
                    <a:lstStyle/>
                    <a:p>
                      <a:r>
                        <a:rPr sz="1650" b="0">
                          <a:solidFill>
                            <a:srgbClr val="121212"/>
                          </a:solidFill>
                          <a:latin typeface="Liberation Sans"/>
                          <a:ea typeface="Liberation Sans"/>
                          <a:cs typeface="Liberation Sans"/>
                        </a:rPr>
                        <a:t>Transfer 40 available units</a:t>
                      </a:r>
                    </a:p>
                  </a:txBody>
                  <a:tcPr marL="91440" marR="91440" marT="45720" marB="45720">
                    <a:solidFill>
                      <a:srgbClr val="F5F5F1"/>
                    </a:solidFill>
                  </a:tcPr>
                </a:tc>
                <a:tc>
                  <a:txBody>
                    <a:bodyPr lIns="114300" tIns="114300" rIns="114300" bIns="114300"/>
                    <a:lstStyle/>
                    <a:p>
                      <a:r>
                        <a:rPr sz="1650" b="0">
                          <a:solidFill>
                            <a:srgbClr val="121212"/>
                          </a:solidFill>
                          <a:latin typeface="Liberation Sans"/>
                          <a:ea typeface="Liberation Sans"/>
                          <a:cs typeface="Liberation Sans"/>
                        </a:rPr>
                        <a:t>0 units</a:t>
                      </a:r>
                    </a:p>
                  </a:txBody>
                  <a:tcPr marL="91440" marR="91440" marT="45720" marB="45720">
                    <a:solidFill>
                      <a:srgbClr val="F5F5F1"/>
                    </a:solidFill>
                  </a:tcPr>
                </a:tc>
                <a:tc>
                  <a:txBody>
                    <a:bodyPr lIns="114300" tIns="114300" rIns="114300" bIns="114300"/>
                    <a:lstStyle/>
                    <a:p>
                      <a:r>
                        <a:rPr sz="1650" b="0">
                          <a:solidFill>
                            <a:srgbClr val="121212"/>
                          </a:solidFill>
                          <a:latin typeface="Liberation Sans"/>
                          <a:ea typeface="Liberation Sans"/>
                          <a:cs typeface="Liberation Sans"/>
                        </a:rPr>
                        <a:t>MYR 61.60</a:t>
                      </a:r>
                    </a:p>
                  </a:txBody>
                  <a:tcPr marL="91440" marR="91440" marT="45720" marB="45720">
                    <a:solidFill>
                      <a:srgbClr val="F5F5F1"/>
                    </a:solidFill>
                  </a:tcPr>
                </a:tc>
              </a:tr>
              <a:tr h="528638">
                <a:tc>
                  <a:txBody>
                    <a:bodyPr lIns="114300" tIns="114300" rIns="114300" bIns="114300"/>
                    <a:lstStyle/>
                    <a:p>
                      <a:r>
                        <a:rPr sz="1650" b="0">
                          <a:solidFill>
                            <a:srgbClr val="121212"/>
                          </a:solidFill>
                          <a:latin typeface="Liberation Sans"/>
                          <a:ea typeface="Liberation Sans"/>
                          <a:cs typeface="Liberation Sans"/>
                        </a:rPr>
                        <a:t>Expedite the inbound shipment</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0 units</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MYR 206.40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949499917"/>
      </p:ext>
    </p:extLst>
  </p:cSld>
</p:sld>
</file>

<file path=ppt/slides/slide4.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8" name="DECISION INTEGRITY">
            <a:extLst xmlns:a="http://schemas.openxmlformats.org/drawingml/2006/main">
              <a:ext uri="{FF2B5EF4-FFF2-40B4-BE49-F238E27FC236}">
                <a16:creationId xmlns:a16="http://schemas.microsoft.com/office/drawing/2014/main" id="{32FC92EC-32DF-4363-A01D-5F0CEA44AD97}"/>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DECISION INTEGRITY</a:t>
            </a:r>
          </a:p>
        </p:txBody>
      </p:sp>
      <p:sp>
        <p:nvSpPr>
          <p:cNvPr id="2" name="Shared constraints keep the plan feasible">
            <a:extLst xmlns:a="http://schemas.openxmlformats.org/drawingml/2006/main">
              <a:ext uri="{FF2B5EF4-FFF2-40B4-BE49-F238E27FC236}">
                <a16:creationId xmlns:a16="http://schemas.microsoft.com/office/drawing/2014/main" id="{83AFC602-FDCA-4B60-A55C-28415CFBF959}"/>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Shared constraints keep the plan feasible</a:t>
            </a:r>
          </a:p>
        </p:txBody>
      </p:sp>
      <p:sp>
        <p:nvSpPr>
          <p:cNvPr id="3" name="05">
            <a:extLst xmlns:a="http://schemas.openxmlformats.org/drawingml/2006/main">
              <a:ext uri="{FF2B5EF4-FFF2-40B4-BE49-F238E27FC236}">
                <a16:creationId xmlns:a16="http://schemas.microsoft.com/office/drawing/2014/main" id="{FE1CF714-7F64-4368-B5C0-30B31CFD2092}"/>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04</a:t>
            </a:r>
          </a:p>
        </p:txBody>
      </p:sp>
      <p:sp>
        <p:nvSpPr>
          <p:cNvPr id="4" name="Session reservations are a sandbox. A save">
            <a:extLst xmlns:a="http://schemas.openxmlformats.org/drawingml/2006/main">
              <a:ext uri="{FF2B5EF4-FFF2-40B4-BE49-F238E27FC236}">
                <a16:creationId xmlns:a16="http://schemas.microsoft.com/office/drawing/2014/main" id="{B750BCB8-F6F3-4D20-B9F7-FAF636ABAA23}"/>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Session reservations are a sandbox. A saved decision records a human plan or rejection and executes no external action.</a:t>
            </a:r>
          </a:p>
        </p:txBody>
      </p:sp>
      <p:sp>
        <p:nvSpPr>
          <p:cNvPr id="5" name="30 L">
            <a:extLst xmlns:a="http://schemas.openxmlformats.org/drawingml/2006/main">
              <a:ext uri="{FF2B5EF4-FFF2-40B4-BE49-F238E27FC236}">
                <a16:creationId xmlns:a16="http://schemas.microsoft.com/office/drawing/2014/main" id="{6A2EE4B2-B5CF-4536-9952-72226677D7B3}"/>
              </a:ext>
            </a:extLst>
          </p:cNvPr>
          <p:cNvSpPr>
            <a:spLocks xmlns:a="http://schemas.openxmlformats.org/drawingml/2006/main" noGrp="1"/>
          </p:cNvSpPr>
          <p:nvPr/>
        </p:nvSpPr>
        <p:spPr>
          <a:xfrm xmlns:a="http://schemas.openxmlformats.org/drawingml/2006/main">
            <a:off x="619125" y="2143125"/>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21212"/>
                </a:solidFill>
                <a:latin typeface="Liberation Sans"/>
                <a:ea typeface="Liberation Sans"/>
                <a:cs typeface="Liberation Sans"/>
              </a:defRPr>
            </a:defPPr>
          </a:lstStyle>
          <a:p xmlns:a="http://schemas.openxmlformats.org/drawingml/2006/main">
            <a:pPr algn="l">
              <a:defRPr sz="4950" b="1">
                <a:solidFill>
                  <a:srgbClr val="121212"/>
                </a:solidFill>
                <a:latin typeface="Liberation Sans"/>
                <a:ea typeface="Liberation Sans"/>
                <a:cs typeface="Liberation Sans"/>
              </a:defRPr>
            </a:pPr>
            <a:r>
              <a:rPr sz="4950" b="1">
                <a:solidFill>
                  <a:srgbClr val="121212"/>
                </a:solidFill>
                <a:latin typeface="Liberation Sans"/>
                <a:ea typeface="Liberation Sans"/>
                <a:cs typeface="Liberation Sans"/>
              </a:rPr>
              <a:t>30 L</a:t>
            </a:r>
          </a:p>
        </p:txBody>
      </p:sp>
      <p:sp>
        <p:nvSpPr>
          <p:cNvPr id="6" name="shared fleet fuel">
            <a:extLst xmlns:a="http://schemas.openxmlformats.org/drawingml/2006/main">
              <a:ext uri="{FF2B5EF4-FFF2-40B4-BE49-F238E27FC236}">
                <a16:creationId xmlns:a16="http://schemas.microsoft.com/office/drawing/2014/main" id="{9BBD5A31-FC05-44E8-B87F-877FAAE2BFC3}"/>
              </a:ext>
            </a:extLst>
          </p:cNvPr>
          <p:cNvSpPr>
            <a:spLocks xmlns:a="http://schemas.openxmlformats.org/drawingml/2006/main" noGrp="1"/>
          </p:cNvSpPr>
          <p:nvPr/>
        </p:nvSpPr>
        <p:spPr>
          <a:xfrm xmlns:a="http://schemas.openxmlformats.org/drawingml/2006/main">
            <a:off x="628650" y="2933700"/>
            <a:ext cx="3190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1212"/>
                </a:solidFill>
                <a:latin typeface="Liberation Sans"/>
                <a:ea typeface="Liberation Sans"/>
                <a:cs typeface="Liberation Sans"/>
              </a:defRPr>
            </a:defPPr>
          </a:lstStyle>
          <a:p xmlns:a="http://schemas.openxmlformats.org/drawingml/2006/main">
            <a:pPr algn="l">
              <a:defRPr sz="1950" b="0">
                <a:solidFill>
                  <a:srgbClr val="121212"/>
                </a:solidFill>
                <a:latin typeface="Liberation Sans"/>
                <a:ea typeface="Liberation Sans"/>
                <a:cs typeface="Liberation Sans"/>
              </a:defRPr>
            </a:pPr>
            <a:r>
              <a:rPr sz="1950" b="0">
                <a:solidFill>
                  <a:srgbClr val="121212"/>
                </a:solidFill>
                <a:latin typeface="Liberation Sans"/>
                <a:ea typeface="Liberation Sans"/>
                <a:cs typeface="Liberation Sans"/>
              </a:rPr>
              <a:t>shared fleet fuel</a:t>
            </a:r>
          </a:p>
        </p:txBody>
      </p:sp>
      <p:sp>
        <p:nvSpPr>
          <p:cNvPr id="7" name="SC01 expedite reserves 18 L&#10;12 L remains&#10;S">
            <a:extLst xmlns:a="http://schemas.openxmlformats.org/drawingml/2006/main">
              <a:ext uri="{FF2B5EF4-FFF2-40B4-BE49-F238E27FC236}">
                <a16:creationId xmlns:a16="http://schemas.microsoft.com/office/drawing/2014/main" id="{17C69B05-85A5-4C81-9125-9EAD83019856}"/>
              </a:ext>
            </a:extLst>
          </p:cNvPr>
          <p:cNvSpPr>
            <a:spLocks xmlns:a="http://schemas.openxmlformats.org/drawingml/2006/main" noGrp="1"/>
          </p:cNvSpPr>
          <p:nvPr/>
        </p:nvSpPr>
        <p:spPr>
          <a:xfrm xmlns:a="http://schemas.openxmlformats.org/drawingml/2006/main">
            <a:off x="628650" y="3743325"/>
            <a:ext cx="4857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1212"/>
                </a:solidFill>
                <a:latin typeface="Liberation Sans"/>
                <a:ea typeface="Liberation Sans"/>
                <a:cs typeface="Liberation Sans"/>
              </a:defRPr>
            </a:defPPr>
          </a:lstStyle>
          <a:p xmlns:a="http://schemas.openxmlformats.org/drawingml/2006/main">
            <a:pPr algn="l">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SC01 expedite reserves 18 L</a:t>
            </a:r>
          </a:p>
          <a:p xmlns:a="http://schemas.openxmlformats.org/drawingml/2006/main">
            <a:pPr algn="l">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12 L remains</a:t>
            </a:r>
          </a:p>
          <a:p xmlns:a="http://schemas.openxmlformats.org/drawingml/2006/main">
            <a:pPr algn="l">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SC02 request for 18 L is blocked</a:t>
            </a:r>
          </a:p>
        </p:txBody>
      </p:sp>
      <p:sp>
        <p:nvSpPr>
          <p:cNvPr id="8" name="">
            <a:extLst xmlns:a="http://schemas.openxmlformats.org/drawingml/2006/main">
              <a:ext uri="{FF2B5EF4-FFF2-40B4-BE49-F238E27FC236}">
                <a16:creationId xmlns:a16="http://schemas.microsoft.com/office/drawing/2014/main" id="{08256F8C-6F0B-411E-AF21-7CBEB274E23D}"/>
              </a:ext>
            </a:extLst>
          </p:cNvPr>
          <p:cNvSpPr>
            <a:spLocks xmlns:a="http://schemas.openxmlformats.org/drawingml/2006/main" noGrp="1"/>
          </p:cNvSpPr>
          <p:nvPr/>
        </p:nvSpPr>
        <p:spPr>
          <a:xfrm xmlns:a="http://schemas.openxmlformats.org/drawingml/2006/main">
            <a:off x="6238875" y="2143125"/>
            <a:ext cx="5286375" cy="1428750"/>
          </a:xfrm>
          <a:prstGeom xmlns:a="http://schemas.openxmlformats.org/drawingml/2006/main" prst="rect">
            <a:avLst/>
          </a:prstGeom>
          <a:solidFill xmlns:a="http://schemas.openxmlformats.org/drawingml/2006/main">
            <a:srgbClr val="121212"/>
          </a:solidFill>
          <a:ln xmlns:a="http://schemas.openxmlformats.org/drawingml/2006/main" w="0">
            <a:noFill/>
            <a:prstDash val="solid"/>
          </a:ln>
        </p:spPr>
      </p:sp>
      <p:sp>
        <p:nvSpPr>
          <p:cNvPr id="9" name="Saved human decision">
            <a:extLst xmlns:a="http://schemas.openxmlformats.org/drawingml/2006/main">
              <a:ext uri="{FF2B5EF4-FFF2-40B4-BE49-F238E27FC236}">
                <a16:creationId xmlns:a16="http://schemas.microsoft.com/office/drawing/2014/main" id="{FD81684D-720E-4F5A-A735-CFF07F5F5FA5}"/>
              </a:ext>
            </a:extLst>
          </p:cNvPr>
          <p:cNvSpPr>
            <a:spLocks xmlns:a="http://schemas.openxmlformats.org/drawingml/2006/main" noGrp="1"/>
          </p:cNvSpPr>
          <p:nvPr/>
        </p:nvSpPr>
        <p:spPr>
          <a:xfrm xmlns:a="http://schemas.openxmlformats.org/drawingml/2006/main">
            <a:off x="6477000" y="2352675"/>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Liberation Sans"/>
                <a:ea typeface="Liberation Sans"/>
                <a:cs typeface="Liberation Sans"/>
              </a:defRPr>
            </a:defPPr>
          </a:lstStyle>
          <a:p xmlns:a="http://schemas.openxmlformats.org/drawingml/2006/main">
            <a:pPr algn="l">
              <a:defRPr sz="2400" b="1">
                <a:solidFill>
                  <a:srgbClr val="FFFFFF"/>
                </a:solidFill>
                <a:latin typeface="Liberation Sans"/>
                <a:ea typeface="Liberation Sans"/>
                <a:cs typeface="Liberation Sans"/>
              </a:defRPr>
            </a:pPr>
            <a:r>
              <a:rPr sz="2400" b="1">
                <a:solidFill>
                  <a:srgbClr val="FFFFFF"/>
                </a:solidFill>
                <a:latin typeface="Liberation Sans"/>
                <a:ea typeface="Liberation Sans"/>
                <a:cs typeface="Liberation Sans"/>
              </a:rPr>
              <a:t>Saved human decision</a:t>
            </a:r>
          </a:p>
        </p:txBody>
      </p:sp>
      <p:sp>
        <p:nvSpPr>
          <p:cNvPr id="10" name="Choice and rationale stay attached&#10;to the ">
            <a:extLst xmlns:a="http://schemas.openxmlformats.org/drawingml/2006/main">
              <a:ext uri="{FF2B5EF4-FFF2-40B4-BE49-F238E27FC236}">
                <a16:creationId xmlns:a16="http://schemas.microsoft.com/office/drawing/2014/main" id="{5E911181-BA9E-4C15-BDC5-71D3AC6090D6}"/>
              </a:ext>
            </a:extLst>
          </p:cNvPr>
          <p:cNvSpPr>
            <a:spLocks xmlns:a="http://schemas.openxmlformats.org/drawingml/2006/main" noGrp="1"/>
          </p:cNvSpPr>
          <p:nvPr/>
        </p:nvSpPr>
        <p:spPr>
          <a:xfrm xmlns:a="http://schemas.openxmlformats.org/drawingml/2006/main">
            <a:off x="6477000" y="2886075"/>
            <a:ext cx="46958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Liberation Sans"/>
                <a:ea typeface="Liberation Sans"/>
                <a:cs typeface="Liberation Sans"/>
              </a:defRPr>
            </a:defPPr>
          </a:lstStyle>
          <a:p xmlns:a="http://schemas.openxmlformats.org/drawingml/2006/main">
            <a:pPr algn="l">
              <a:defRPr sz="1800" b="0">
                <a:solidFill>
                  <a:srgbClr val="FFFFFF"/>
                </a:solidFill>
                <a:latin typeface="Liberation Sans"/>
                <a:ea typeface="Liberation Sans"/>
                <a:cs typeface="Liberation Sans"/>
              </a:defRPr>
            </a:pPr>
            <a:r>
              <a:rPr sz="1800" b="0">
                <a:solidFill>
                  <a:srgbClr val="FFFFFF"/>
                </a:solidFill>
                <a:latin typeface="Liberation Sans"/>
                <a:ea typeface="Liberation Sans"/>
                <a:cs typeface="Liberation Sans"/>
              </a:rPr>
              <a:t>Choice and rationale stay attached</a:t>
            </a:r>
          </a:p>
          <a:p xmlns:a="http://schemas.openxmlformats.org/drawingml/2006/main">
            <a:pPr algn="l">
              <a:defRPr sz="1800" b="0">
                <a:solidFill>
                  <a:srgbClr val="FFFFFF"/>
                </a:solidFill>
                <a:latin typeface="Liberation Sans"/>
                <a:ea typeface="Liberation Sans"/>
                <a:cs typeface="Liberation Sans"/>
              </a:defRPr>
            </a:pPr>
            <a:r>
              <a:rPr sz="1800" b="0">
                <a:solidFill>
                  <a:srgbClr val="FFFFFF"/>
                </a:solidFill>
                <a:latin typeface="Liberation Sans"/>
                <a:ea typeface="Liberation Sans"/>
                <a:cs typeface="Liberation Sans"/>
              </a:rPr>
              <a:t>to the exact decision basis</a:t>
            </a:r>
          </a:p>
        </p:txBody>
      </p:sp>
      <p:sp>
        <p:nvSpPr>
          <p:cNvPr id="11" name="">
            <a:extLst xmlns:a="http://schemas.openxmlformats.org/drawingml/2006/main">
              <a:ext uri="{FF2B5EF4-FFF2-40B4-BE49-F238E27FC236}">
                <a16:creationId xmlns:a16="http://schemas.microsoft.com/office/drawing/2014/main" id="{6045063E-5207-4D67-A856-99354CF825AF}"/>
              </a:ext>
            </a:extLst>
          </p:cNvPr>
          <p:cNvSpPr>
            <a:spLocks xmlns:a="http://schemas.openxmlformats.org/drawingml/2006/main" noGrp="1"/>
          </p:cNvSpPr>
          <p:nvPr/>
        </p:nvSpPr>
        <p:spPr>
          <a:xfrm xmlns:a="http://schemas.openxmlformats.org/drawingml/2006/main">
            <a:off x="6581775" y="3571875"/>
            <a:ext cx="0" cy="1952625"/>
          </a:xfrm>
          <a:prstGeom xmlns:a="http://schemas.openxmlformats.org/drawingml/2006/main" prst="line">
            <a:avLst/>
          </a:prstGeom>
          <a:noFill xmlns:a="http://schemas.openxmlformats.org/drawingml/2006/main"/>
          <a:ln xmlns:a="http://schemas.openxmlformats.org/drawingml/2006/main" w="9525">
            <a:solidFill>
              <a:srgbClr val="969691"/>
            </a:solidFill>
            <a:prstDash val="solid"/>
          </a:ln>
        </p:spPr>
      </p:sp>
      <p:sp>
        <p:nvSpPr>
          <p:cNvPr id="12" name="">
            <a:extLst xmlns:a="http://schemas.openxmlformats.org/drawingml/2006/main">
              <a:ext uri="{FF2B5EF4-FFF2-40B4-BE49-F238E27FC236}">
                <a16:creationId xmlns:a16="http://schemas.microsoft.com/office/drawing/2014/main" id="{A65ECBB8-8C07-4446-9583-B034070398A8}"/>
              </a:ext>
            </a:extLst>
          </p:cNvPr>
          <p:cNvSpPr>
            <a:spLocks xmlns:a="http://schemas.openxmlformats.org/drawingml/2006/main" noGrp="1"/>
          </p:cNvSpPr>
          <p:nvPr/>
        </p:nvSpPr>
        <p:spPr>
          <a:xfrm xmlns:a="http://schemas.openxmlformats.org/drawingml/2006/main">
            <a:off x="6581775" y="4057650"/>
            <a:ext cx="285750" cy="0"/>
          </a:xfrm>
          <a:prstGeom xmlns:a="http://schemas.openxmlformats.org/drawingml/2006/main" prst="line">
            <a:avLst/>
          </a:prstGeom>
          <a:noFill xmlns:a="http://schemas.openxmlformats.org/drawingml/2006/main"/>
          <a:ln xmlns:a="http://schemas.openxmlformats.org/drawingml/2006/main" w="9525">
            <a:solidFill>
              <a:srgbClr val="969691"/>
            </a:solidFill>
            <a:prstDash val="solid"/>
          </a:ln>
        </p:spPr>
      </p:sp>
      <p:sp>
        <p:nvSpPr>
          <p:cNvPr id="13" name="Sources and assumptions">
            <a:extLst xmlns:a="http://schemas.openxmlformats.org/drawingml/2006/main">
              <a:ext uri="{FF2B5EF4-FFF2-40B4-BE49-F238E27FC236}">
                <a16:creationId xmlns:a16="http://schemas.microsoft.com/office/drawing/2014/main" id="{81A1BA92-86E3-4B17-A196-C23BBF7454EE}"/>
              </a:ext>
            </a:extLst>
          </p:cNvPr>
          <p:cNvSpPr>
            <a:spLocks xmlns:a="http://schemas.openxmlformats.org/drawingml/2006/main" noGrp="1"/>
          </p:cNvSpPr>
          <p:nvPr/>
        </p:nvSpPr>
        <p:spPr>
          <a:xfrm xmlns:a="http://schemas.openxmlformats.org/drawingml/2006/main">
            <a:off x="7010400" y="3962400"/>
            <a:ext cx="442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Sources and assumptions</a:t>
            </a:r>
          </a:p>
        </p:txBody>
      </p:sp>
      <p:sp>
        <p:nvSpPr>
          <p:cNvPr id="14" name="">
            <a:extLst xmlns:a="http://schemas.openxmlformats.org/drawingml/2006/main">
              <a:ext uri="{FF2B5EF4-FFF2-40B4-BE49-F238E27FC236}">
                <a16:creationId xmlns:a16="http://schemas.microsoft.com/office/drawing/2014/main" id="{47457E59-6E73-4B5A-BD55-1471701A1607}"/>
              </a:ext>
            </a:extLst>
          </p:cNvPr>
          <p:cNvSpPr>
            <a:spLocks xmlns:a="http://schemas.openxmlformats.org/drawingml/2006/main" noGrp="1"/>
          </p:cNvSpPr>
          <p:nvPr/>
        </p:nvSpPr>
        <p:spPr>
          <a:xfrm xmlns:a="http://schemas.openxmlformats.org/drawingml/2006/main">
            <a:off x="6581775" y="4733925"/>
            <a:ext cx="285750" cy="0"/>
          </a:xfrm>
          <a:prstGeom xmlns:a="http://schemas.openxmlformats.org/drawingml/2006/main" prst="line">
            <a:avLst/>
          </a:prstGeom>
          <a:noFill xmlns:a="http://schemas.openxmlformats.org/drawingml/2006/main"/>
          <a:ln xmlns:a="http://schemas.openxmlformats.org/drawingml/2006/main" w="9525">
            <a:solidFill>
              <a:srgbClr val="969691"/>
            </a:solidFill>
            <a:prstDash val="solid"/>
          </a:ln>
        </p:spPr>
      </p:sp>
      <p:sp>
        <p:nvSpPr>
          <p:cNvPr id="15" name="Frozen stock and shared resources">
            <a:extLst xmlns:a="http://schemas.openxmlformats.org/drawingml/2006/main">
              <a:ext uri="{FF2B5EF4-FFF2-40B4-BE49-F238E27FC236}">
                <a16:creationId xmlns:a16="http://schemas.microsoft.com/office/drawing/2014/main" id="{2387ECFC-8BD7-412D-AAF8-EFD6CF1C7805}"/>
              </a:ext>
            </a:extLst>
          </p:cNvPr>
          <p:cNvSpPr>
            <a:spLocks xmlns:a="http://schemas.openxmlformats.org/drawingml/2006/main" noGrp="1"/>
          </p:cNvSpPr>
          <p:nvPr/>
        </p:nvSpPr>
        <p:spPr>
          <a:xfrm xmlns:a="http://schemas.openxmlformats.org/drawingml/2006/main">
            <a:off x="7010400" y="4638675"/>
            <a:ext cx="442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Frozen stock and shared resources</a:t>
            </a:r>
          </a:p>
        </p:txBody>
      </p:sp>
      <p:sp>
        <p:nvSpPr>
          <p:cNvPr id="16" name="">
            <a:extLst xmlns:a="http://schemas.openxmlformats.org/drawingml/2006/main">
              <a:ext uri="{FF2B5EF4-FFF2-40B4-BE49-F238E27FC236}">
                <a16:creationId xmlns:a16="http://schemas.microsoft.com/office/drawing/2014/main" id="{D0EBE03E-E4DE-407B-9024-2BC0AE6ABB93}"/>
              </a:ext>
            </a:extLst>
          </p:cNvPr>
          <p:cNvSpPr>
            <a:spLocks xmlns:a="http://schemas.openxmlformats.org/drawingml/2006/main" noGrp="1"/>
          </p:cNvSpPr>
          <p:nvPr/>
        </p:nvSpPr>
        <p:spPr>
          <a:xfrm xmlns:a="http://schemas.openxmlformats.org/drawingml/2006/main">
            <a:off x="6581775" y="5410200"/>
            <a:ext cx="285750" cy="0"/>
          </a:xfrm>
          <a:prstGeom xmlns:a="http://schemas.openxmlformats.org/drawingml/2006/main" prst="line">
            <a:avLst/>
          </a:prstGeom>
          <a:noFill xmlns:a="http://schemas.openxmlformats.org/drawingml/2006/main"/>
          <a:ln xmlns:a="http://schemas.openxmlformats.org/drawingml/2006/main" w="9525">
            <a:solidFill>
              <a:srgbClr val="969691"/>
            </a:solidFill>
            <a:prstDash val="solid"/>
          </a:ln>
        </p:spPr>
      </p:sp>
      <p:sp>
        <p:nvSpPr>
          <p:cNvPr id="17" name="Model or policy version and baseline">
            <a:extLst xmlns:a="http://schemas.openxmlformats.org/drawingml/2006/main">
              <a:ext uri="{FF2B5EF4-FFF2-40B4-BE49-F238E27FC236}">
                <a16:creationId xmlns:a16="http://schemas.microsoft.com/office/drawing/2014/main" id="{3DB84BAC-0571-4C85-ABAC-B8225543B4A0}"/>
              </a:ext>
            </a:extLst>
          </p:cNvPr>
          <p:cNvSpPr>
            <a:spLocks xmlns:a="http://schemas.openxmlformats.org/drawingml/2006/main" noGrp="1"/>
          </p:cNvSpPr>
          <p:nvPr/>
        </p:nvSpPr>
        <p:spPr>
          <a:xfrm xmlns:a="http://schemas.openxmlformats.org/drawingml/2006/main">
            <a:off x="7010400" y="5314950"/>
            <a:ext cx="442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Model or policy version and baseline</a:t>
            </a:r>
          </a:p>
        </p:txBody>
      </p:sp>
    </p:spTree>
    <p:extLst>
      <p:ext uri="{BB962C8B-B14F-4D97-AF65-F5344CB8AC3E}">
        <p14:creationId xmlns:p14="http://schemas.microsoft.com/office/powerpoint/2010/main" val="2042498328"/>
      </p:ext>
    </p:extLst>
  </p:cSld>
</p:sld>
</file>

<file path=ppt/slides/slide5.xml><?xml version="1.0" encoding="utf-8"?>
<p:sld xmlns:p="http://schemas.openxmlformats.org/presentationml/2006/main" show="1">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VERIFIED PRODUCT  ADVISOR">
            <a:extLst xmlns:a="http://schemas.openxmlformats.org/drawingml/2006/main">
              <a:ext uri="{FF2B5EF4-FFF2-40B4-BE49-F238E27FC236}">
                <a16:creationId xmlns:a16="http://schemas.microsoft.com/office/drawing/2014/main" id="{8EAE41A9-5C88-465E-8A21-DEF656E32042}"/>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VERIFIED PRODUCT  ADVISOR</a:t>
            </a:r>
          </a:p>
        </p:txBody>
      </p:sp>
      <p:sp>
        <p:nvSpPr>
          <p:cNvPr id="2" name="A working product with traceable explanati">
            <a:extLst xmlns:a="http://schemas.openxmlformats.org/drawingml/2006/main">
              <a:ext uri="{FF2B5EF4-FFF2-40B4-BE49-F238E27FC236}">
                <a16:creationId xmlns:a16="http://schemas.microsoft.com/office/drawing/2014/main" id="{46CEE955-4166-46D0-AD3C-8B477A58B81D}"/>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A working product with traceable explanations</a:t>
            </a:r>
          </a:p>
        </p:txBody>
      </p:sp>
      <p:sp>
        <p:nvSpPr>
          <p:cNvPr id="3" name="16">
            <a:extLst xmlns:a="http://schemas.openxmlformats.org/drawingml/2006/main">
              <a:ext uri="{FF2B5EF4-FFF2-40B4-BE49-F238E27FC236}">
                <a16:creationId xmlns:a16="http://schemas.microsoft.com/office/drawing/2014/main" id="{FC433BE0-F805-4548-B545-C68C5D201504}"/>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05</a:t>
            </a:r>
          </a:p>
        </p:txBody>
      </p:sp>
      <p:sp>
        <p:nvSpPr>
          <p:cNvPr id="4" name="Saved v71 screen, 10 Oct 2026. Provider-re">
            <a:extLst xmlns:a="http://schemas.openxmlformats.org/drawingml/2006/main">
              <a:ext uri="{FF2B5EF4-FFF2-40B4-BE49-F238E27FC236}">
                <a16:creationId xmlns:a16="http://schemas.microsoft.com/office/drawing/2014/main" id="{02748ACD-3DF9-4113-9D4B-5539904FF998}"/>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Saved v71 screen, 10 Oct 2026. Provider-response replay. Synthetic inputs and rule-based calculations. No action executes.</a:t>
            </a:r>
          </a:p>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External UCI benchmark: test WAPE 103.41%, high error. No MR D.I.Y. predictive validation.</a:t>
            </a:r>
          </a:p>
        </p:txBody>
      </p:sp>
      <p:pic>
        <p:nvPicPr>
          <p:cNvPr id="5" name="">
            <a:extLst xmlns:a="http://schemas.openxmlformats.org/drawingml/2006/main">
              <a:ext uri="{FF2B5EF4-FFF2-40B4-BE49-F238E27FC236}">
                <a16:creationId xmlns:a16="http://schemas.microsoft.com/office/drawing/2014/main" id="{CD68CB4C-C1FF-4797-9133-869F39BEBAFF}"/>
              </a:ext>
            </a:extLst>
          </p:cNvPr>
          <p:cNvPicPr>
            <a:picLocks xmlns:a="http://schemas.openxmlformats.org/drawingml/2006/main" noChangeAspect="1"/>
          </p:cNvPicPr>
          <p:nvPr/>
        </p:nvPicPr>
        <p:blipFill>
          <a:blip xmlns:r="http://schemas.openxmlformats.org/officeDocument/2006/relationships" xmlns:a="http://schemas.openxmlformats.org/drawingml/2006/main" r:embed="R99bb4da5ecac426f"/>
          <a:srcRect xmlns:a="http://schemas.openxmlformats.org/drawingml/2006/main" l="18000" t="34000" r="2000" b="5000"/>
          <a:stretch xmlns:a="http://schemas.openxmlformats.org/drawingml/2006/main"/>
        </p:blipFill>
        <p:spPr>
          <a:xfrm xmlns:a="http://schemas.openxmlformats.org/drawingml/2006/main">
            <a:off x="609600" y="1838325"/>
            <a:ext cx="7905750" cy="4048125"/>
          </a:xfrm>
          <a:prstGeom xmlns:a="http://schemas.openxmlformats.org/drawingml/2006/main" prst="rect">
            <a:avLst/>
          </a:prstGeom>
        </p:spPr>
      </p:pic>
      <p:sp>
        <p:nvSpPr>
          <p:cNvPr id="6" name="Case facts and sources&#10;&#10;GPT-OSS 120B expla">
            <a:extLst xmlns:a="http://schemas.openxmlformats.org/drawingml/2006/main">
              <a:ext uri="{FF2B5EF4-FFF2-40B4-BE49-F238E27FC236}">
                <a16:creationId xmlns:a16="http://schemas.microsoft.com/office/drawing/2014/main" id="{D2CBE04A-A680-462C-8CB2-CAA389581AD3}"/>
              </a:ext>
            </a:extLst>
          </p:cNvPr>
          <p:cNvSpPr>
            <a:spLocks xmlns:a="http://schemas.openxmlformats.org/drawingml/2006/main" noGrp="1"/>
          </p:cNvSpPr>
          <p:nvPr/>
        </p:nvSpPr>
        <p:spPr>
          <a:xfrm xmlns:a="http://schemas.openxmlformats.org/drawingml/2006/main">
            <a:off x="9086850" y="2133600"/>
            <a:ext cx="24860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1212"/>
                </a:solidFill>
                <a:latin typeface="Liberation Sans"/>
                <a:ea typeface="Liberation Sans"/>
                <a:cs typeface="Liberation Sans"/>
              </a:defRPr>
            </a:defPPr>
          </a:lstStyle>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Case facts and sources</a:t>
            </a:r>
          </a:p>
          <a:p xmlns:a="http://schemas.openxmlformats.org/drawingml/2006/main">
            <a:r>
              <a:t/>
            </a:r>
          </a:p>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GPT-OSS 120B explanation</a:t>
            </a:r>
          </a:p>
          <a:p xmlns:a="http://schemas.openxmlformats.org/drawingml/2006/main">
            <a:r>
              <a:t/>
            </a:r>
          </a:p>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Human decision retained</a:t>
            </a:r>
          </a:p>
        </p:txBody>
      </p:sp>
    </p:spTree>
    <p:extLst>
      <p:ext uri="{BB962C8B-B14F-4D97-AF65-F5344CB8AC3E}">
        <p14:creationId xmlns:p14="http://schemas.microsoft.com/office/powerpoint/2010/main" val="1495219735"/>
      </p:ext>
    </p:extLst>
  </p:cSld>
</p:sld>
</file>

<file path=ppt/slides/slide6.xml><?xml version="1.0" encoding="utf-8"?>
<p:sld xmlns:p="http://schemas.openxmlformats.org/presentationml/2006/main">
  <p:cSld>
    <p:bg>
      <p:bgPr>
        <a:solidFill xmlns:a="http://schemas.openxmlformats.org/drawingml/2006/main">
          <a:srgbClr val="121212"/>
        </a:solidFill>
      </p:bgPr>
    </p:bg>
    <p:spTree>
      <p:nvGrpSpPr>
        <p:cNvPr id="1" name=""/>
        <p:cNvGrpSpPr/>
        <p:nvPr/>
      </p:nvGrpSpPr>
      <p:grpSpPr>
        <a:xfrm xmlns:a="http://schemas.openxmlformats.org/drawingml/2006/main"/>
      </p:grpSpPr>
      <p:sp>
        <p:nvSpPr>
          <p:cNvPr id="10" name="WHAT THIS PROTOTYPE ESTABLISHES">
            <a:extLst xmlns:a="http://schemas.openxmlformats.org/drawingml/2006/main">
              <a:ext uri="{FF2B5EF4-FFF2-40B4-BE49-F238E27FC236}">
                <a16:creationId xmlns:a16="http://schemas.microsoft.com/office/drawing/2014/main" id="{89B2C766-505F-4733-AC23-384C70BF5A0D}"/>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DADA7"/>
                </a:solidFill>
                <a:latin typeface="Liberation Sans"/>
                <a:ea typeface="Liberation Sans"/>
                <a:cs typeface="Liberation Sans"/>
              </a:defRPr>
            </a:defPPr>
          </a:lstStyle>
          <a:p xmlns:a="http://schemas.openxmlformats.org/drawingml/2006/main">
            <a:pPr algn="l">
              <a:defRPr sz="1050" b="1">
                <a:solidFill>
                  <a:srgbClr val="ADADA7"/>
                </a:solidFill>
                <a:latin typeface="Liberation Sans"/>
                <a:ea typeface="Liberation Sans"/>
                <a:cs typeface="Liberation Sans"/>
              </a:defRPr>
            </a:pPr>
            <a:r>
              <a:rPr sz="1050" b="1">
                <a:solidFill>
                  <a:srgbClr val="ADADA7"/>
                </a:solidFill>
                <a:latin typeface="Liberation Sans"/>
                <a:ea typeface="Liberation Sans"/>
                <a:cs typeface="Liberation Sans"/>
              </a:rPr>
              <a:t>WHAT THIS PROTOTYPE ESTABLISHES</a:t>
            </a:r>
          </a:p>
        </p:txBody>
      </p:sp>
      <p:sp>
        <p:nvSpPr>
          <p:cNvPr id="2" name="A working retail decision workspace">
            <a:extLst xmlns:a="http://schemas.openxmlformats.org/drawingml/2006/main">
              <a:ext uri="{FF2B5EF4-FFF2-40B4-BE49-F238E27FC236}">
                <a16:creationId xmlns:a16="http://schemas.microsoft.com/office/drawing/2014/main" id="{AAF7519A-FDDF-48A9-845B-7CA03AC39941}"/>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Liberation Sans"/>
                <a:ea typeface="Liberation Sans"/>
                <a:cs typeface="Liberation Sans"/>
              </a:defRPr>
            </a:defPPr>
          </a:lstStyle>
          <a:p xmlns:a="http://schemas.openxmlformats.org/drawingml/2006/main">
            <a:pPr algn="l">
              <a:defRPr sz="3300" b="1">
                <a:solidFill>
                  <a:srgbClr val="FFFFFF"/>
                </a:solidFill>
                <a:latin typeface="Liberation Sans"/>
                <a:ea typeface="Liberation Sans"/>
                <a:cs typeface="Liberation Sans"/>
              </a:defRPr>
            </a:pPr>
            <a:r>
              <a:rPr sz="3300" b="1">
                <a:solidFill>
                  <a:srgbClr val="FFFFFF"/>
                </a:solidFill>
                <a:latin typeface="Liberation Sans"/>
                <a:ea typeface="Liberation Sans"/>
                <a:cs typeface="Liberation Sans"/>
              </a:rPr>
              <a:t>A working retail decision workspace</a:t>
            </a:r>
          </a:p>
        </p:txBody>
      </p:sp>
      <p:sp>
        <p:nvSpPr>
          <p:cNvPr id="3" name="08">
            <a:extLst xmlns:a="http://schemas.openxmlformats.org/drawingml/2006/main">
              <a:ext uri="{FF2B5EF4-FFF2-40B4-BE49-F238E27FC236}">
                <a16:creationId xmlns:a16="http://schemas.microsoft.com/office/drawing/2014/main" id="{137DB679-0C56-464F-89DA-F72A6E205EC2}"/>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AAAAA4"/>
                </a:solidFill>
                <a:latin typeface="Liberation Sans"/>
                <a:ea typeface="Liberation Sans"/>
                <a:cs typeface="Liberation Sans"/>
              </a:defRPr>
            </a:defPPr>
          </a:lstStyle>
          <a:p xmlns:a="http://schemas.openxmlformats.org/drawingml/2006/main">
            <a:pPr algn="r">
              <a:defRPr sz="975" b="0">
                <a:solidFill>
                  <a:srgbClr val="AAAAA4"/>
                </a:solidFill>
                <a:latin typeface="Liberation Sans"/>
                <a:ea typeface="Liberation Sans"/>
                <a:cs typeface="Liberation Sans"/>
              </a:defRPr>
            </a:pPr>
            <a:r>
              <a:rPr sz="975" b="0">
                <a:solidFill>
                  <a:srgbClr val="AAAAA4"/>
                </a:solidFill>
                <a:latin typeface="Liberation Sans"/>
                <a:ea typeface="Liberation Sans"/>
                <a:cs typeface="Liberation Sans"/>
              </a:rPr>
              <a:t>06</a:t>
            </a:r>
          </a:p>
        </p:txBody>
      </p:sp>
      <p:sp>
        <p:nvSpPr>
          <p:cNvPr id="4" name="Functional prototype and bounded empirical">
            <a:extLst xmlns:a="http://schemas.openxmlformats.org/drawingml/2006/main">
              <a:ext uri="{FF2B5EF4-FFF2-40B4-BE49-F238E27FC236}">
                <a16:creationId xmlns:a16="http://schemas.microsoft.com/office/drawing/2014/main" id="{228CE659-AE96-4E67-ADA4-09CD2B9386EC}"/>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5BD"/>
                </a:solidFill>
                <a:latin typeface="Liberation Sans"/>
                <a:ea typeface="Liberation Sans"/>
                <a:cs typeface="Liberation Sans"/>
              </a:defRPr>
            </a:defPPr>
          </a:lstStyle>
          <a:p xmlns:a="http://schemas.openxmlformats.org/drawingml/2006/main">
            <a:pPr algn="l">
              <a:defRPr sz="1050" b="0">
                <a:solidFill>
                  <a:srgbClr val="C5C5BD"/>
                </a:solidFill>
                <a:latin typeface="Liberation Sans"/>
                <a:ea typeface="Liberation Sans"/>
                <a:cs typeface="Liberation Sans"/>
              </a:defRPr>
            </a:pPr>
            <a:r>
              <a:rPr sz="1050" b="0">
                <a:solidFill>
                  <a:srgbClr val="C5C5BD"/>
                </a:solidFill>
                <a:latin typeface="Liberation Sans"/>
                <a:ea typeface="Liberation Sans"/>
                <a:cs typeface="Liberation Sans"/>
              </a:rPr>
              <a:t>Functional prototype and bounded empirical study. No company endorsement, causal savings claim or autonomous execution.</a:t>
            </a:r>
          </a:p>
        </p:txBody>
      </p:sp>
      <p:sp>
        <p:nvSpPr>
          <p:cNvPr id="5" name="Inspect a choice.&#10;Reopen its exact basis.">
            <a:extLst xmlns:a="http://schemas.openxmlformats.org/drawingml/2006/main">
              <a:ext uri="{FF2B5EF4-FFF2-40B4-BE49-F238E27FC236}">
                <a16:creationId xmlns:a16="http://schemas.microsoft.com/office/drawing/2014/main" id="{0FF282ED-72B2-4068-8676-09053A4932D4}"/>
              </a:ext>
            </a:extLst>
          </p:cNvPr>
          <p:cNvSpPr>
            <a:spLocks xmlns:a="http://schemas.openxmlformats.org/drawingml/2006/main" noGrp="1"/>
          </p:cNvSpPr>
          <p:nvPr/>
        </p:nvSpPr>
        <p:spPr>
          <a:xfrm xmlns:a="http://schemas.openxmlformats.org/drawingml/2006/main">
            <a:off x="619125" y="2181225"/>
            <a:ext cx="61531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Liberation Sans"/>
                <a:ea typeface="Liberation Sans"/>
                <a:cs typeface="Liberation Sans"/>
              </a:defRPr>
            </a:defPPr>
          </a:lstStyle>
          <a:p xmlns:a="http://schemas.openxmlformats.org/drawingml/2006/main">
            <a:pPr algn="l">
              <a:defRPr sz="3600" b="1">
                <a:solidFill>
                  <a:srgbClr val="FFFFFF"/>
                </a:solidFill>
                <a:latin typeface="Liberation Sans"/>
                <a:ea typeface="Liberation Sans"/>
                <a:cs typeface="Liberation Sans"/>
              </a:defRPr>
            </a:pPr>
            <a:r>
              <a:rPr sz="3600" b="1">
                <a:solidFill>
                  <a:srgbClr val="FFFFFF"/>
                </a:solidFill>
                <a:latin typeface="Liberation Sans"/>
                <a:ea typeface="Liberation Sans"/>
                <a:cs typeface="Liberation Sans"/>
              </a:rPr>
              <a:t>Inspect a choice.</a:t>
            </a:r>
          </a:p>
          <a:p xmlns:a="http://schemas.openxmlformats.org/drawingml/2006/main">
            <a:pPr algn="l">
              <a:defRPr sz="3600" b="1">
                <a:solidFill>
                  <a:srgbClr val="FFFFFF"/>
                </a:solidFill>
                <a:latin typeface="Liberation Sans"/>
                <a:ea typeface="Liberation Sans"/>
                <a:cs typeface="Liberation Sans"/>
              </a:defRPr>
            </a:pPr>
            <a:r>
              <a:rPr sz="3600" b="1">
                <a:solidFill>
                  <a:srgbClr val="FFFFFF"/>
                </a:solidFill>
                <a:latin typeface="Liberation Sans"/>
                <a:ea typeface="Liberation Sans"/>
                <a:cs typeface="Liberation Sans"/>
              </a:rPr>
              <a:t>Reopen its exact basis.</a:t>
            </a:r>
          </a:p>
        </p:txBody>
      </p:sp>
      <p:sp>
        <p:nvSpPr>
          <p:cNvPr id="6" name="Connected cases, explicit trade-offs,&#10;hard">
            <a:extLst xmlns:a="http://schemas.openxmlformats.org/drawingml/2006/main">
              <a:ext uri="{FF2B5EF4-FFF2-40B4-BE49-F238E27FC236}">
                <a16:creationId xmlns:a16="http://schemas.microsoft.com/office/drawing/2014/main" id="{FE63B9B5-4A78-46A1-93E5-2680D9EEA3F4}"/>
              </a:ext>
            </a:extLst>
          </p:cNvPr>
          <p:cNvSpPr>
            <a:spLocks xmlns:a="http://schemas.openxmlformats.org/drawingml/2006/main" noGrp="1"/>
          </p:cNvSpPr>
          <p:nvPr/>
        </p:nvSpPr>
        <p:spPr>
          <a:xfrm xmlns:a="http://schemas.openxmlformats.org/drawingml/2006/main">
            <a:off x="647700" y="4010025"/>
            <a:ext cx="59245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8C8C0"/>
                </a:solidFill>
                <a:latin typeface="Liberation Sans"/>
                <a:ea typeface="Liberation Sans"/>
                <a:cs typeface="Liberation Sans"/>
              </a:defRPr>
            </a:defPPr>
          </a:lstStyle>
          <a:p xmlns:a="http://schemas.openxmlformats.org/drawingml/2006/main">
            <a:pPr algn="l">
              <a:defRPr sz="2025" b="0">
                <a:solidFill>
                  <a:srgbClr val="C8C8C0"/>
                </a:solidFill>
                <a:latin typeface="Liberation Sans"/>
                <a:ea typeface="Liberation Sans"/>
                <a:cs typeface="Liberation Sans"/>
              </a:defRPr>
            </a:pPr>
            <a:r>
              <a:rPr sz="2025" b="0">
                <a:solidFill>
                  <a:srgbClr val="C8C8C0"/>
                </a:solidFill>
                <a:latin typeface="Liberation Sans"/>
                <a:ea typeface="Liberation Sans"/>
                <a:cs typeface="Liberation Sans"/>
              </a:rPr>
              <a:t>Connected cases, explicit trade-offs,</a:t>
            </a:r>
          </a:p>
          <a:p xmlns:a="http://schemas.openxmlformats.org/drawingml/2006/main">
            <a:pPr algn="l">
              <a:defRPr sz="2025" b="0">
                <a:solidFill>
                  <a:srgbClr val="C8C8C0"/>
                </a:solidFill>
                <a:latin typeface="Liberation Sans"/>
                <a:ea typeface="Liberation Sans"/>
                <a:cs typeface="Liberation Sans"/>
              </a:defRPr>
            </a:pPr>
            <a:r>
              <a:rPr sz="2025" b="0">
                <a:solidFill>
                  <a:srgbClr val="C8C8C0"/>
                </a:solidFill>
                <a:latin typeface="Liberation Sans"/>
                <a:ea typeface="Liberation Sans"/>
                <a:cs typeface="Liberation Sans"/>
              </a:rPr>
              <a:t>hard constraints and a saved human choice</a:t>
            </a:r>
          </a:p>
        </p:txBody>
      </p:sp>
      <p:sp>
        <p:nvSpPr>
          <p:cNvPr id="7" name="">
            <a:extLst xmlns:a="http://schemas.openxmlformats.org/drawingml/2006/main">
              <a:ext uri="{FF2B5EF4-FFF2-40B4-BE49-F238E27FC236}">
                <a16:creationId xmlns:a16="http://schemas.microsoft.com/office/drawing/2014/main" id="{E24CCF7F-E33D-408A-B016-B1E4451CEEB1}"/>
              </a:ext>
            </a:extLst>
          </p:cNvPr>
          <p:cNvSpPr>
            <a:spLocks xmlns:a="http://schemas.openxmlformats.org/drawingml/2006/main" noGrp="1"/>
          </p:cNvSpPr>
          <p:nvPr/>
        </p:nvSpPr>
        <p:spPr>
          <a:xfrm xmlns:a="http://schemas.openxmlformats.org/drawingml/2006/main">
            <a:off x="7439025" y="2114550"/>
            <a:ext cx="0" cy="3457575"/>
          </a:xfrm>
          <a:prstGeom xmlns:a="http://schemas.openxmlformats.org/drawingml/2006/main" prst="line">
            <a:avLst/>
          </a:prstGeom>
          <a:noFill xmlns:a="http://schemas.openxmlformats.org/drawingml/2006/main"/>
          <a:ln xmlns:a="http://schemas.openxmlformats.org/drawingml/2006/main" w="9525">
            <a:solidFill>
              <a:srgbClr val="65655F"/>
            </a:solidFill>
            <a:prstDash val="solid"/>
          </a:ln>
        </p:spPr>
      </p:sp>
      <p:sp>
        <p:nvSpPr>
          <p:cNvPr id="8" name="Next validation">
            <a:extLst xmlns:a="http://schemas.openxmlformats.org/drawingml/2006/main">
              <a:ext uri="{FF2B5EF4-FFF2-40B4-BE49-F238E27FC236}">
                <a16:creationId xmlns:a16="http://schemas.microsoft.com/office/drawing/2014/main" id="{AB7EFFB2-9365-4C0C-AD31-8BC05DA2A26D}"/>
              </a:ext>
            </a:extLst>
          </p:cNvPr>
          <p:cNvSpPr>
            <a:spLocks xmlns:a="http://schemas.openxmlformats.org/drawingml/2006/main" noGrp="1"/>
          </p:cNvSpPr>
          <p:nvPr/>
        </p:nvSpPr>
        <p:spPr>
          <a:xfrm xmlns:a="http://schemas.openxmlformats.org/drawingml/2006/main">
            <a:off x="7848600" y="2181225"/>
            <a:ext cx="36099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C7C7BF"/>
                </a:solidFill>
                <a:latin typeface="Liberation Sans"/>
                <a:ea typeface="Liberation Sans"/>
                <a:cs typeface="Liberation Sans"/>
              </a:defRPr>
            </a:defPPr>
          </a:lstStyle>
          <a:p xmlns:a="http://schemas.openxmlformats.org/drawingml/2006/main">
            <a:pPr algn="l">
              <a:defRPr sz="1725" b="1">
                <a:solidFill>
                  <a:srgbClr val="C7C7BF"/>
                </a:solidFill>
                <a:latin typeface="Liberation Sans"/>
                <a:ea typeface="Liberation Sans"/>
                <a:cs typeface="Liberation Sans"/>
              </a:defRPr>
            </a:pPr>
            <a:r>
              <a:rPr sz="1725" b="1">
                <a:solidFill>
                  <a:srgbClr val="C7C7BF"/>
                </a:solidFill>
                <a:latin typeface="Liberation Sans"/>
                <a:ea typeface="Liberation Sans"/>
                <a:cs typeface="Liberation Sans"/>
              </a:rPr>
              <a:t>Next validation</a:t>
            </a:r>
          </a:p>
        </p:txBody>
      </p:sp>
      <p:sp>
        <p:nvSpPr>
          <p:cNvPr id="9" name="Observed operational labels&#10;&#10;Warning quali">
            <a:extLst xmlns:a="http://schemas.openxmlformats.org/drawingml/2006/main">
              <a:ext uri="{FF2B5EF4-FFF2-40B4-BE49-F238E27FC236}">
                <a16:creationId xmlns:a16="http://schemas.microsoft.com/office/drawing/2014/main" id="{0FBFD735-0B53-4CAA-821C-54CA3670F77C}"/>
              </a:ext>
            </a:extLst>
          </p:cNvPr>
          <p:cNvSpPr>
            <a:spLocks xmlns:a="http://schemas.openxmlformats.org/drawingml/2006/main" noGrp="1"/>
          </p:cNvSpPr>
          <p:nvPr/>
        </p:nvSpPr>
        <p:spPr>
          <a:xfrm xmlns:a="http://schemas.openxmlformats.org/drawingml/2006/main">
            <a:off x="7848600" y="2857500"/>
            <a:ext cx="35814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Liberation Sans"/>
                <a:ea typeface="Liberation Sans"/>
                <a:cs typeface="Liberation Sans"/>
              </a:defRPr>
            </a:defPPr>
          </a:lstStyle>
          <a:p xmlns:a="http://schemas.openxmlformats.org/drawingml/2006/main">
            <a:pPr algn="l">
              <a:defRPr sz="1725" b="0">
                <a:solidFill>
                  <a:srgbClr val="FFFFFF"/>
                </a:solidFill>
                <a:latin typeface="Liberation Sans"/>
                <a:ea typeface="Liberation Sans"/>
                <a:cs typeface="Liberation Sans"/>
              </a:defRPr>
            </a:pPr>
            <a:r>
              <a:rPr sz="1725" b="0">
                <a:solidFill>
                  <a:srgbClr val="FFFFFF"/>
                </a:solidFill>
                <a:latin typeface="Liberation Sans"/>
                <a:ea typeface="Liberation Sans"/>
                <a:cs typeface="Liberation Sans"/>
              </a:rPr>
              <a:t>Observed operational labels</a:t>
            </a:r>
          </a:p>
          <a:p xmlns:a="http://schemas.openxmlformats.org/drawingml/2006/main">
            <a:r>
              <a:t/>
            </a:r>
          </a:p>
          <a:p xmlns:a="http://schemas.openxmlformats.org/drawingml/2006/main">
            <a:pPr algn="l">
              <a:defRPr sz="1725" b="0">
                <a:solidFill>
                  <a:srgbClr val="FFFFFF"/>
                </a:solidFill>
                <a:latin typeface="Liberation Sans"/>
                <a:ea typeface="Liberation Sans"/>
                <a:cs typeface="Liberation Sans"/>
              </a:defRPr>
            </a:pPr>
            <a:r>
              <a:rPr sz="1725" b="0">
                <a:solidFill>
                  <a:srgbClr val="FFFFFF"/>
                </a:solidFill>
                <a:latin typeface="Liberation Sans"/>
                <a:ea typeface="Liberation Sans"/>
                <a:cs typeface="Liberation Sans"/>
              </a:rPr>
              <a:t>Warning quality and useful lead time</a:t>
            </a:r>
          </a:p>
          <a:p xmlns:a="http://schemas.openxmlformats.org/drawingml/2006/main">
            <a:r>
              <a:t/>
            </a:r>
          </a:p>
          <a:p xmlns:a="http://schemas.openxmlformats.org/drawingml/2006/main">
            <a:pPr algn="l">
              <a:defRPr sz="1725" b="0">
                <a:solidFill>
                  <a:srgbClr val="FFFFFF"/>
                </a:solidFill>
                <a:latin typeface="Liberation Sans"/>
                <a:ea typeface="Liberation Sans"/>
                <a:cs typeface="Liberation Sans"/>
              </a:defRPr>
            </a:pPr>
            <a:r>
              <a:rPr sz="1725" b="0">
                <a:solidFill>
                  <a:srgbClr val="FFFFFF"/>
                </a:solidFill>
                <a:latin typeface="Liberation Sans"/>
                <a:ea typeface="Liberation Sans"/>
                <a:cs typeface="Liberation Sans"/>
              </a:rPr>
              <a:t>Decision costs in a controlled pilot</a:t>
            </a:r>
          </a:p>
        </p:txBody>
      </p:sp>
    </p:spTree>
    <p:extLst>
      <p:ext uri="{BB962C8B-B14F-4D97-AF65-F5344CB8AC3E}">
        <p14:creationId xmlns:p14="http://schemas.microsoft.com/office/powerpoint/2010/main" val="476000274"/>
      </p:ext>
    </p:extLst>
  </p:cSld>
</p:sld>
</file>

<file path=ppt/slides/slide7.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22" name="PRODUCT SCOPE">
            <a:extLst xmlns:a="http://schemas.openxmlformats.org/drawingml/2006/main">
              <a:ext uri="{FF2B5EF4-FFF2-40B4-BE49-F238E27FC236}">
                <a16:creationId xmlns:a16="http://schemas.microsoft.com/office/drawing/2014/main" id="{8CEB3808-AA40-4219-BA97-C0C8A7EE0939}"/>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PRODUCT SCOPE</a:t>
            </a:r>
          </a:p>
        </p:txBody>
      </p:sp>
      <p:sp>
        <p:nvSpPr>
          <p:cNvPr id="2" name="40 cases share one operating snapshot">
            <a:extLst xmlns:a="http://schemas.openxmlformats.org/drawingml/2006/main">
              <a:ext uri="{FF2B5EF4-FFF2-40B4-BE49-F238E27FC236}">
                <a16:creationId xmlns:a16="http://schemas.microsoft.com/office/drawing/2014/main" id="{C059D621-C089-42C0-A1CF-5F9552CA11E5}"/>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40 cases share one operating snapshot</a:t>
            </a:r>
          </a:p>
        </p:txBody>
      </p:sp>
      <p:sp>
        <p:nvSpPr>
          <p:cNvPr id="3" name="03">
            <a:extLst xmlns:a="http://schemas.openxmlformats.org/drawingml/2006/main">
              <a:ext uri="{FF2B5EF4-FFF2-40B4-BE49-F238E27FC236}">
                <a16:creationId xmlns:a16="http://schemas.microsoft.com/office/drawing/2014/main" id="{18146956-EEFB-4D3F-92FB-B71903138C69}"/>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07</a:t>
            </a:r>
          </a:p>
        </p:txBody>
      </p:sp>
      <p:sp>
        <p:nvSpPr>
          <p:cNvPr id="4" name="Synthetic MR D.I.Y. Malaysia workspace: 2 ">
            <a:extLst xmlns:a="http://schemas.openxmlformats.org/drawingml/2006/main">
              <a:ext uri="{FF2B5EF4-FFF2-40B4-BE49-F238E27FC236}">
                <a16:creationId xmlns:a16="http://schemas.microsoft.com/office/drawing/2014/main" id="{212BB7F9-B452-43BF-8F47-EFF02E014C0B}"/>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Synthetic MR D.I.Y. Malaysia workspace: 2 distribution clusters, 8 stores and 24 SKUs. Six cases form the deep demonstration.</a:t>
            </a:r>
          </a:p>
        </p:txBody>
      </p:sp>
      <p:sp>
        <p:nvSpPr>
          <p:cNvPr id="5" name="40">
            <a:extLst xmlns:a="http://schemas.openxmlformats.org/drawingml/2006/main">
              <a:ext uri="{FF2B5EF4-FFF2-40B4-BE49-F238E27FC236}">
                <a16:creationId xmlns:a16="http://schemas.microsoft.com/office/drawing/2014/main" id="{23A9B6FF-C898-4274-BBF8-811716B90866}"/>
              </a:ext>
            </a:extLst>
          </p:cNvPr>
          <p:cNvSpPr>
            <a:spLocks xmlns:a="http://schemas.openxmlformats.org/drawingml/2006/main" noGrp="1"/>
          </p:cNvSpPr>
          <p:nvPr/>
        </p:nvSpPr>
        <p:spPr>
          <a:xfrm xmlns:a="http://schemas.openxmlformats.org/drawingml/2006/main">
            <a:off x="581025" y="2028825"/>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0" b="1">
                <a:solidFill>
                  <a:srgbClr val="121212"/>
                </a:solidFill>
                <a:latin typeface="Liberation Sans"/>
                <a:ea typeface="Liberation Sans"/>
                <a:cs typeface="Liberation Sans"/>
              </a:defRPr>
            </a:defPPr>
          </a:lstStyle>
          <a:p xmlns:a="http://schemas.openxmlformats.org/drawingml/2006/main">
            <a:pPr algn="l">
              <a:defRPr sz="9900" b="1">
                <a:solidFill>
                  <a:srgbClr val="121212"/>
                </a:solidFill>
                <a:latin typeface="Liberation Sans"/>
                <a:ea typeface="Liberation Sans"/>
                <a:cs typeface="Liberation Sans"/>
              </a:defRPr>
            </a:pPr>
            <a:r>
              <a:rPr sz="9900" b="1">
                <a:solidFill>
                  <a:srgbClr val="121212"/>
                </a:solidFill>
                <a:latin typeface="Liberation Sans"/>
                <a:ea typeface="Liberation Sans"/>
                <a:cs typeface="Liberation Sans"/>
              </a:rPr>
              <a:t>40</a:t>
            </a:r>
          </a:p>
        </p:txBody>
      </p:sp>
      <p:sp>
        <p:nvSpPr>
          <p:cNvPr id="6" name="complete case workflows">
            <a:extLst xmlns:a="http://schemas.openxmlformats.org/drawingml/2006/main">
              <a:ext uri="{FF2B5EF4-FFF2-40B4-BE49-F238E27FC236}">
                <a16:creationId xmlns:a16="http://schemas.microsoft.com/office/drawing/2014/main" id="{4B7DB861-BDE2-46C3-952E-6B3A5BDD705F}"/>
              </a:ext>
            </a:extLst>
          </p:cNvPr>
          <p:cNvSpPr>
            <a:spLocks xmlns:a="http://schemas.openxmlformats.org/drawingml/2006/main" noGrp="1"/>
          </p:cNvSpPr>
          <p:nvPr/>
        </p:nvSpPr>
        <p:spPr>
          <a:xfrm xmlns:a="http://schemas.openxmlformats.org/drawingml/2006/main">
            <a:off x="647700" y="3476625"/>
            <a:ext cx="328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21212"/>
                </a:solidFill>
                <a:latin typeface="Liberation Sans"/>
                <a:ea typeface="Liberation Sans"/>
                <a:cs typeface="Liberation Sans"/>
              </a:defRPr>
            </a:defPPr>
          </a:lstStyle>
          <a:p xmlns:a="http://schemas.openxmlformats.org/drawingml/2006/main">
            <a:pPr algn="l">
              <a:defRPr sz="2100" b="0">
                <a:solidFill>
                  <a:srgbClr val="121212"/>
                </a:solidFill>
                <a:latin typeface="Liberation Sans"/>
                <a:ea typeface="Liberation Sans"/>
                <a:cs typeface="Liberation Sans"/>
              </a:defRPr>
            </a:pPr>
            <a:r>
              <a:rPr sz="2100" b="0">
                <a:solidFill>
                  <a:srgbClr val="121212"/>
                </a:solidFill>
                <a:latin typeface="Liberation Sans"/>
                <a:ea typeface="Liberation Sans"/>
                <a:cs typeface="Liberation Sans"/>
              </a:rPr>
              <a:t>complete case workflows</a:t>
            </a:r>
          </a:p>
        </p:txBody>
      </p:sp>
      <p:sp>
        <p:nvSpPr>
          <p:cNvPr id="7" name="Inspect evidence and options.&#10;Save and reo">
            <a:extLst xmlns:a="http://schemas.openxmlformats.org/drawingml/2006/main">
              <a:ext uri="{FF2B5EF4-FFF2-40B4-BE49-F238E27FC236}">
                <a16:creationId xmlns:a16="http://schemas.microsoft.com/office/drawing/2014/main" id="{EDE413D5-AEA2-430C-8BB2-C1E164D04917}"/>
              </a:ext>
            </a:extLst>
          </p:cNvPr>
          <p:cNvSpPr>
            <a:spLocks xmlns:a="http://schemas.openxmlformats.org/drawingml/2006/main" noGrp="1"/>
          </p:cNvSpPr>
          <p:nvPr/>
        </p:nvSpPr>
        <p:spPr>
          <a:xfrm xmlns:a="http://schemas.openxmlformats.org/drawingml/2006/main">
            <a:off x="647700" y="4429125"/>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6262"/>
                </a:solidFill>
                <a:latin typeface="Liberation Sans"/>
                <a:ea typeface="Liberation Sans"/>
                <a:cs typeface="Liberation Sans"/>
              </a:defRPr>
            </a:defPPr>
          </a:lstStyle>
          <a:p xmlns:a="http://schemas.openxmlformats.org/drawingml/2006/main">
            <a:pPr algn="l">
              <a:defRPr sz="1725" b="0">
                <a:solidFill>
                  <a:srgbClr val="626262"/>
                </a:solidFill>
                <a:latin typeface="Liberation Sans"/>
                <a:ea typeface="Liberation Sans"/>
                <a:cs typeface="Liberation Sans"/>
              </a:defRPr>
            </a:pPr>
            <a:r>
              <a:rPr sz="1725" b="0">
                <a:solidFill>
                  <a:srgbClr val="626262"/>
                </a:solidFill>
                <a:latin typeface="Liberation Sans"/>
                <a:ea typeface="Liberation Sans"/>
                <a:cs typeface="Liberation Sans"/>
              </a:rPr>
              <a:t>Inspect evidence and options.</a:t>
            </a:r>
          </a:p>
          <a:p xmlns:a="http://schemas.openxmlformats.org/drawingml/2006/main">
            <a:pPr algn="l">
              <a:defRPr sz="1725" b="0">
                <a:solidFill>
                  <a:srgbClr val="626262"/>
                </a:solidFill>
                <a:latin typeface="Liberation Sans"/>
                <a:ea typeface="Liberation Sans"/>
                <a:cs typeface="Liberation Sans"/>
              </a:defRPr>
            </a:pPr>
            <a:r>
              <a:rPr sz="1725" b="0">
                <a:solidFill>
                  <a:srgbClr val="626262"/>
                </a:solidFill>
                <a:latin typeface="Liberation Sans"/>
                <a:ea typeface="Liberation Sans"/>
                <a:cs typeface="Liberation Sans"/>
              </a:rPr>
              <a:t>Save and reopen a decision.</a:t>
            </a:r>
          </a:p>
        </p:txBody>
      </p:sp>
      <p:sp>
        <p:nvSpPr>
          <p:cNvPr id="8" name="">
            <a:extLst xmlns:a="http://schemas.openxmlformats.org/drawingml/2006/main">
              <a:ext uri="{FF2B5EF4-FFF2-40B4-BE49-F238E27FC236}">
                <a16:creationId xmlns:a16="http://schemas.microsoft.com/office/drawing/2014/main" id="{D28E171E-DC40-4749-BBF3-3EF8D767F878}"/>
              </a:ext>
            </a:extLst>
          </p:cNvPr>
          <p:cNvSpPr>
            <a:spLocks xmlns:a="http://schemas.openxmlformats.org/drawingml/2006/main" noGrp="1"/>
          </p:cNvSpPr>
          <p:nvPr/>
        </p:nvSpPr>
        <p:spPr>
          <a:xfrm xmlns:a="http://schemas.openxmlformats.org/drawingml/2006/main">
            <a:off x="4600575" y="2124075"/>
            <a:ext cx="69532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9" name="16">
            <a:extLst xmlns:a="http://schemas.openxmlformats.org/drawingml/2006/main">
              <a:ext uri="{FF2B5EF4-FFF2-40B4-BE49-F238E27FC236}">
                <a16:creationId xmlns:a16="http://schemas.microsoft.com/office/drawing/2014/main" id="{298CFD74-009F-4DD2-90C3-9B53A8FD2B19}"/>
              </a:ext>
            </a:extLst>
          </p:cNvPr>
          <p:cNvSpPr>
            <a:spLocks xmlns:a="http://schemas.openxmlformats.org/drawingml/2006/main" noGrp="1"/>
          </p:cNvSpPr>
          <p:nvPr/>
        </p:nvSpPr>
        <p:spPr>
          <a:xfrm xmlns:a="http://schemas.openxmlformats.org/drawingml/2006/main">
            <a:off x="4619625" y="2219325"/>
            <a:ext cx="781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1212"/>
                </a:solidFill>
                <a:latin typeface="Liberation Sans"/>
                <a:ea typeface="Liberation Sans"/>
                <a:cs typeface="Liberation Sans"/>
              </a:defRPr>
            </a:defPPr>
          </a:lstStyle>
          <a:p xmlns:a="http://schemas.openxmlformats.org/drawingml/2006/main">
            <a:pPr algn="l">
              <a:defRPr sz="2850" b="1">
                <a:solidFill>
                  <a:srgbClr val="121212"/>
                </a:solidFill>
                <a:latin typeface="Liberation Sans"/>
                <a:ea typeface="Liberation Sans"/>
                <a:cs typeface="Liberation Sans"/>
              </a:defRPr>
            </a:pPr>
            <a:r>
              <a:rPr sz="2850" b="1">
                <a:solidFill>
                  <a:srgbClr val="121212"/>
                </a:solidFill>
                <a:latin typeface="Liberation Sans"/>
                <a:ea typeface="Liberation Sans"/>
                <a:cs typeface="Liberation Sans"/>
              </a:rPr>
              <a:t>16</a:t>
            </a:r>
          </a:p>
        </p:txBody>
      </p:sp>
      <p:sp>
        <p:nvSpPr>
          <p:cNvPr id="10" name="Supply">
            <a:extLst xmlns:a="http://schemas.openxmlformats.org/drawingml/2006/main">
              <a:ext uri="{FF2B5EF4-FFF2-40B4-BE49-F238E27FC236}">
                <a16:creationId xmlns:a16="http://schemas.microsoft.com/office/drawing/2014/main" id="{48B86532-3B7A-4F14-8685-DF268B5D754B}"/>
              </a:ext>
            </a:extLst>
          </p:cNvPr>
          <p:cNvSpPr>
            <a:spLocks xmlns:a="http://schemas.openxmlformats.org/drawingml/2006/main" noGrp="1"/>
          </p:cNvSpPr>
          <p:nvPr/>
        </p:nvSpPr>
        <p:spPr>
          <a:xfrm xmlns:a="http://schemas.openxmlformats.org/drawingml/2006/main">
            <a:off x="5724525" y="2295525"/>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1212"/>
                </a:solidFill>
                <a:latin typeface="Liberation Sans"/>
                <a:ea typeface="Liberation Sans"/>
                <a:cs typeface="Liberation Sans"/>
              </a:defRPr>
            </a:defPPr>
          </a:lstStyle>
          <a:p xmlns:a="http://schemas.openxmlformats.org/drawingml/2006/main">
            <a:pPr algn="l">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Supply</a:t>
            </a:r>
          </a:p>
        </p:txBody>
      </p:sp>
      <p:sp>
        <p:nvSpPr>
          <p:cNvPr id="11" name="">
            <a:extLst xmlns:a="http://schemas.openxmlformats.org/drawingml/2006/main">
              <a:ext uri="{FF2B5EF4-FFF2-40B4-BE49-F238E27FC236}">
                <a16:creationId xmlns:a16="http://schemas.microsoft.com/office/drawing/2014/main" id="{A189DCE7-42F2-45CB-A36D-85BAEC0EEE96}"/>
              </a:ext>
            </a:extLst>
          </p:cNvPr>
          <p:cNvSpPr>
            <a:spLocks xmlns:a="http://schemas.openxmlformats.org/drawingml/2006/main" noGrp="1"/>
          </p:cNvSpPr>
          <p:nvPr/>
        </p:nvSpPr>
        <p:spPr>
          <a:xfrm xmlns:a="http://schemas.openxmlformats.org/drawingml/2006/main">
            <a:off x="4600575" y="2838450"/>
            <a:ext cx="69532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2" name="10">
            <a:extLst xmlns:a="http://schemas.openxmlformats.org/drawingml/2006/main">
              <a:ext uri="{FF2B5EF4-FFF2-40B4-BE49-F238E27FC236}">
                <a16:creationId xmlns:a16="http://schemas.microsoft.com/office/drawing/2014/main" id="{4EBCED3A-D006-41CB-AD0B-C55D09E47D78}"/>
              </a:ext>
            </a:extLst>
          </p:cNvPr>
          <p:cNvSpPr>
            <a:spLocks xmlns:a="http://schemas.openxmlformats.org/drawingml/2006/main" noGrp="1"/>
          </p:cNvSpPr>
          <p:nvPr/>
        </p:nvSpPr>
        <p:spPr>
          <a:xfrm xmlns:a="http://schemas.openxmlformats.org/drawingml/2006/main">
            <a:off x="4619625" y="2933700"/>
            <a:ext cx="781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1212"/>
                </a:solidFill>
                <a:latin typeface="Liberation Sans"/>
                <a:ea typeface="Liberation Sans"/>
                <a:cs typeface="Liberation Sans"/>
              </a:defRPr>
            </a:defPPr>
          </a:lstStyle>
          <a:p xmlns:a="http://schemas.openxmlformats.org/drawingml/2006/main">
            <a:pPr algn="l">
              <a:defRPr sz="2850" b="1">
                <a:solidFill>
                  <a:srgbClr val="121212"/>
                </a:solidFill>
                <a:latin typeface="Liberation Sans"/>
                <a:ea typeface="Liberation Sans"/>
                <a:cs typeface="Liberation Sans"/>
              </a:defRPr>
            </a:pPr>
            <a:r>
              <a:rPr sz="2850" b="1">
                <a:solidFill>
                  <a:srgbClr val="121212"/>
                </a:solidFill>
                <a:latin typeface="Liberation Sans"/>
                <a:ea typeface="Liberation Sans"/>
                <a:cs typeface="Liberation Sans"/>
              </a:rPr>
              <a:t>10</a:t>
            </a:r>
          </a:p>
        </p:txBody>
      </p:sp>
      <p:sp>
        <p:nvSpPr>
          <p:cNvPr id="13" name="Procurement">
            <a:extLst xmlns:a="http://schemas.openxmlformats.org/drawingml/2006/main">
              <a:ext uri="{FF2B5EF4-FFF2-40B4-BE49-F238E27FC236}">
                <a16:creationId xmlns:a16="http://schemas.microsoft.com/office/drawing/2014/main" id="{92D44FD0-0B97-4AB5-A122-52CFD64AC480}"/>
              </a:ext>
            </a:extLst>
          </p:cNvPr>
          <p:cNvSpPr>
            <a:spLocks xmlns:a="http://schemas.openxmlformats.org/drawingml/2006/main" noGrp="1"/>
          </p:cNvSpPr>
          <p:nvPr/>
        </p:nvSpPr>
        <p:spPr>
          <a:xfrm xmlns:a="http://schemas.openxmlformats.org/drawingml/2006/main">
            <a:off x="5724525" y="3009900"/>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1212"/>
                </a:solidFill>
                <a:latin typeface="Liberation Sans"/>
                <a:ea typeface="Liberation Sans"/>
                <a:cs typeface="Liberation Sans"/>
              </a:defRPr>
            </a:defPPr>
          </a:lstStyle>
          <a:p xmlns:a="http://schemas.openxmlformats.org/drawingml/2006/main">
            <a:pPr algn="l">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Procurement</a:t>
            </a:r>
          </a:p>
        </p:txBody>
      </p:sp>
      <p:sp>
        <p:nvSpPr>
          <p:cNvPr id="14" name="">
            <a:extLst xmlns:a="http://schemas.openxmlformats.org/drawingml/2006/main">
              <a:ext uri="{FF2B5EF4-FFF2-40B4-BE49-F238E27FC236}">
                <a16:creationId xmlns:a16="http://schemas.microsoft.com/office/drawing/2014/main" id="{68EE54D8-6A5A-4746-9B75-1D4B0380F44F}"/>
              </a:ext>
            </a:extLst>
          </p:cNvPr>
          <p:cNvSpPr>
            <a:spLocks xmlns:a="http://schemas.openxmlformats.org/drawingml/2006/main" noGrp="1"/>
          </p:cNvSpPr>
          <p:nvPr/>
        </p:nvSpPr>
        <p:spPr>
          <a:xfrm xmlns:a="http://schemas.openxmlformats.org/drawingml/2006/main">
            <a:off x="4600575" y="3552825"/>
            <a:ext cx="69532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5" name="08">
            <a:extLst xmlns:a="http://schemas.openxmlformats.org/drawingml/2006/main">
              <a:ext uri="{FF2B5EF4-FFF2-40B4-BE49-F238E27FC236}">
                <a16:creationId xmlns:a16="http://schemas.microsoft.com/office/drawing/2014/main" id="{DEDED948-5CAC-45E1-9EFE-2CB9F49B2CC1}"/>
              </a:ext>
            </a:extLst>
          </p:cNvPr>
          <p:cNvSpPr>
            <a:spLocks xmlns:a="http://schemas.openxmlformats.org/drawingml/2006/main" noGrp="1"/>
          </p:cNvSpPr>
          <p:nvPr/>
        </p:nvSpPr>
        <p:spPr>
          <a:xfrm xmlns:a="http://schemas.openxmlformats.org/drawingml/2006/main">
            <a:off x="4619625" y="3648075"/>
            <a:ext cx="781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1212"/>
                </a:solidFill>
                <a:latin typeface="Liberation Sans"/>
                <a:ea typeface="Liberation Sans"/>
                <a:cs typeface="Liberation Sans"/>
              </a:defRPr>
            </a:defPPr>
          </a:lstStyle>
          <a:p xmlns:a="http://schemas.openxmlformats.org/drawingml/2006/main">
            <a:pPr algn="l">
              <a:defRPr sz="2850" b="1">
                <a:solidFill>
                  <a:srgbClr val="121212"/>
                </a:solidFill>
                <a:latin typeface="Liberation Sans"/>
                <a:ea typeface="Liberation Sans"/>
                <a:cs typeface="Liberation Sans"/>
              </a:defRPr>
            </a:pPr>
            <a:r>
              <a:rPr sz="2850" b="1">
                <a:solidFill>
                  <a:srgbClr val="121212"/>
                </a:solidFill>
                <a:latin typeface="Liberation Sans"/>
                <a:ea typeface="Liberation Sans"/>
                <a:cs typeface="Liberation Sans"/>
              </a:rPr>
              <a:t>08</a:t>
            </a:r>
          </a:p>
        </p:txBody>
      </p:sp>
      <p:sp>
        <p:nvSpPr>
          <p:cNvPr id="16" name="Service">
            <a:extLst xmlns:a="http://schemas.openxmlformats.org/drawingml/2006/main">
              <a:ext uri="{FF2B5EF4-FFF2-40B4-BE49-F238E27FC236}">
                <a16:creationId xmlns:a16="http://schemas.microsoft.com/office/drawing/2014/main" id="{C70CA987-1DA6-413E-A9AE-7FD9CB657DB1}"/>
              </a:ext>
            </a:extLst>
          </p:cNvPr>
          <p:cNvSpPr>
            <a:spLocks xmlns:a="http://schemas.openxmlformats.org/drawingml/2006/main" noGrp="1"/>
          </p:cNvSpPr>
          <p:nvPr/>
        </p:nvSpPr>
        <p:spPr>
          <a:xfrm xmlns:a="http://schemas.openxmlformats.org/drawingml/2006/main">
            <a:off x="5724525" y="3724275"/>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1212"/>
                </a:solidFill>
                <a:latin typeface="Liberation Sans"/>
                <a:ea typeface="Liberation Sans"/>
                <a:cs typeface="Liberation Sans"/>
              </a:defRPr>
            </a:defPPr>
          </a:lstStyle>
          <a:p xmlns:a="http://schemas.openxmlformats.org/drawingml/2006/main">
            <a:pPr algn="l">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Service</a:t>
            </a:r>
          </a:p>
        </p:txBody>
      </p:sp>
      <p:sp>
        <p:nvSpPr>
          <p:cNvPr id="17" name="">
            <a:extLst xmlns:a="http://schemas.openxmlformats.org/drawingml/2006/main">
              <a:ext uri="{FF2B5EF4-FFF2-40B4-BE49-F238E27FC236}">
                <a16:creationId xmlns:a16="http://schemas.microsoft.com/office/drawing/2014/main" id="{DF7CD918-0BDF-49C5-B561-2693CCE14110}"/>
              </a:ext>
            </a:extLst>
          </p:cNvPr>
          <p:cNvSpPr>
            <a:spLocks xmlns:a="http://schemas.openxmlformats.org/drawingml/2006/main" noGrp="1"/>
          </p:cNvSpPr>
          <p:nvPr/>
        </p:nvSpPr>
        <p:spPr>
          <a:xfrm xmlns:a="http://schemas.openxmlformats.org/drawingml/2006/main">
            <a:off x="4600575" y="4267200"/>
            <a:ext cx="69532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8" name="06">
            <a:extLst xmlns:a="http://schemas.openxmlformats.org/drawingml/2006/main">
              <a:ext uri="{FF2B5EF4-FFF2-40B4-BE49-F238E27FC236}">
                <a16:creationId xmlns:a16="http://schemas.microsoft.com/office/drawing/2014/main" id="{6A753B22-E21F-4C0E-A0B9-EEE564811EFE}"/>
              </a:ext>
            </a:extLst>
          </p:cNvPr>
          <p:cNvSpPr>
            <a:spLocks xmlns:a="http://schemas.openxmlformats.org/drawingml/2006/main" noGrp="1"/>
          </p:cNvSpPr>
          <p:nvPr/>
        </p:nvSpPr>
        <p:spPr>
          <a:xfrm xmlns:a="http://schemas.openxmlformats.org/drawingml/2006/main">
            <a:off x="4619625" y="4362450"/>
            <a:ext cx="781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1212"/>
                </a:solidFill>
                <a:latin typeface="Liberation Sans"/>
                <a:ea typeface="Liberation Sans"/>
                <a:cs typeface="Liberation Sans"/>
              </a:defRPr>
            </a:defPPr>
          </a:lstStyle>
          <a:p xmlns:a="http://schemas.openxmlformats.org/drawingml/2006/main">
            <a:pPr algn="l">
              <a:defRPr sz="2850" b="1">
                <a:solidFill>
                  <a:srgbClr val="121212"/>
                </a:solidFill>
                <a:latin typeface="Liberation Sans"/>
                <a:ea typeface="Liberation Sans"/>
                <a:cs typeface="Liberation Sans"/>
              </a:defRPr>
            </a:pPr>
            <a:r>
              <a:rPr sz="2850" b="1">
                <a:solidFill>
                  <a:srgbClr val="121212"/>
                </a:solidFill>
                <a:latin typeface="Liberation Sans"/>
                <a:ea typeface="Liberation Sans"/>
                <a:cs typeface="Liberation Sans"/>
              </a:rPr>
              <a:t>06</a:t>
            </a:r>
          </a:p>
        </p:txBody>
      </p:sp>
      <p:sp>
        <p:nvSpPr>
          <p:cNvPr id="19" name="Energy security">
            <a:extLst xmlns:a="http://schemas.openxmlformats.org/drawingml/2006/main">
              <a:ext uri="{FF2B5EF4-FFF2-40B4-BE49-F238E27FC236}">
                <a16:creationId xmlns:a16="http://schemas.microsoft.com/office/drawing/2014/main" id="{5C91E0F2-EA7A-477F-BCD4-15172BE06818}"/>
              </a:ext>
            </a:extLst>
          </p:cNvPr>
          <p:cNvSpPr>
            <a:spLocks xmlns:a="http://schemas.openxmlformats.org/drawingml/2006/main" noGrp="1"/>
          </p:cNvSpPr>
          <p:nvPr/>
        </p:nvSpPr>
        <p:spPr>
          <a:xfrm xmlns:a="http://schemas.openxmlformats.org/drawingml/2006/main">
            <a:off x="5724525" y="4438650"/>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1212"/>
                </a:solidFill>
                <a:latin typeface="Liberation Sans"/>
                <a:ea typeface="Liberation Sans"/>
                <a:cs typeface="Liberation Sans"/>
              </a:defRPr>
            </a:defPPr>
          </a:lstStyle>
          <a:p xmlns:a="http://schemas.openxmlformats.org/drawingml/2006/main">
            <a:pPr algn="l">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Energy security</a:t>
            </a:r>
          </a:p>
        </p:txBody>
      </p:sp>
      <p:sp>
        <p:nvSpPr>
          <p:cNvPr id="20" name="SC01 / SC02 / SC17 / SC18 / SC27 / SC35">
            <a:extLst xmlns:a="http://schemas.openxmlformats.org/drawingml/2006/main">
              <a:ext uri="{FF2B5EF4-FFF2-40B4-BE49-F238E27FC236}">
                <a16:creationId xmlns:a16="http://schemas.microsoft.com/office/drawing/2014/main" id="{37DE574D-FCC7-43B3-A78B-CA0162024822}"/>
              </a:ext>
            </a:extLst>
          </p:cNvPr>
          <p:cNvSpPr>
            <a:spLocks xmlns:a="http://schemas.openxmlformats.org/drawingml/2006/main" noGrp="1"/>
          </p:cNvSpPr>
          <p:nvPr/>
        </p:nvSpPr>
        <p:spPr>
          <a:xfrm xmlns:a="http://schemas.openxmlformats.org/drawingml/2006/main">
            <a:off x="4619625" y="5286375"/>
            <a:ext cx="695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21212"/>
                </a:solidFill>
                <a:latin typeface="Liberation Sans"/>
                <a:ea typeface="Liberation Sans"/>
                <a:cs typeface="Liberation Sans"/>
              </a:defRPr>
            </a:defPPr>
          </a:lstStyle>
          <a:p xmlns:a="http://schemas.openxmlformats.org/drawingml/2006/main">
            <a:pPr algn="l">
              <a:defRPr sz="1650" b="1">
                <a:solidFill>
                  <a:srgbClr val="121212"/>
                </a:solidFill>
                <a:latin typeface="Liberation Sans"/>
                <a:ea typeface="Liberation Sans"/>
                <a:cs typeface="Liberation Sans"/>
              </a:defRPr>
            </a:pPr>
            <a:r>
              <a:rPr sz="1650" b="1">
                <a:solidFill>
                  <a:srgbClr val="121212"/>
                </a:solidFill>
                <a:latin typeface="Liberation Sans"/>
                <a:ea typeface="Liberation Sans"/>
                <a:cs typeface="Liberation Sans"/>
              </a:rPr>
              <a:t>SC01 / SC02 / SC17 / SC18 / SC27 / SC35</a:t>
            </a:r>
          </a:p>
        </p:txBody>
      </p:sp>
      <p:sp>
        <p:nvSpPr>
          <p:cNvPr id="21" name="Same shipment, invoice, service task and r">
            <a:extLst xmlns:a="http://schemas.openxmlformats.org/drawingml/2006/main">
              <a:ext uri="{FF2B5EF4-FFF2-40B4-BE49-F238E27FC236}">
                <a16:creationId xmlns:a16="http://schemas.microsoft.com/office/drawing/2014/main" id="{7B51BD79-2EE5-4D5D-A426-289A8F18A8FC}"/>
              </a:ext>
            </a:extLst>
          </p:cNvPr>
          <p:cNvSpPr>
            <a:spLocks xmlns:a="http://schemas.openxmlformats.org/drawingml/2006/main" noGrp="1"/>
          </p:cNvSpPr>
          <p:nvPr/>
        </p:nvSpPr>
        <p:spPr>
          <a:xfrm xmlns:a="http://schemas.openxmlformats.org/drawingml/2006/main">
            <a:off x="4619625" y="5648325"/>
            <a:ext cx="695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Same shipment, invoice, service task and resource pools</a:t>
            </a:r>
          </a:p>
        </p:txBody>
      </p:sp>
    </p:spTree>
    <p:extLst>
      <p:ext uri="{BB962C8B-B14F-4D97-AF65-F5344CB8AC3E}">
        <p14:creationId xmlns:p14="http://schemas.microsoft.com/office/powerpoint/2010/main" val="21379035"/>
      </p:ext>
    </p:extLst>
  </p:cSld>
</p:sld>
</file>

<file path=ppt/slides/slide8.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7" name="EVIDENCE AND AI">
            <a:extLst xmlns:a="http://schemas.openxmlformats.org/drawingml/2006/main">
              <a:ext uri="{FF2B5EF4-FFF2-40B4-BE49-F238E27FC236}">
                <a16:creationId xmlns:a16="http://schemas.microsoft.com/office/drawing/2014/main" id="{2C6F183C-D1BD-40BA-B90B-A357E4B8B409}"/>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EVIDENCE AND AI</a:t>
            </a:r>
          </a:p>
        </p:txBody>
      </p:sp>
      <p:sp>
        <p:nvSpPr>
          <p:cNvPr id="2" name="Every answer has a visible evidence bounda">
            <a:extLst xmlns:a="http://schemas.openxmlformats.org/drawingml/2006/main">
              <a:ext uri="{FF2B5EF4-FFF2-40B4-BE49-F238E27FC236}">
                <a16:creationId xmlns:a16="http://schemas.microsoft.com/office/drawing/2014/main" id="{74B2BCFA-191F-4C6E-BB52-70C96EC5C5E0}"/>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Every answer has a visible evidence boundary</a:t>
            </a:r>
          </a:p>
        </p:txBody>
      </p:sp>
      <p:sp>
        <p:nvSpPr>
          <p:cNvPr id="3" name="06">
            <a:extLst xmlns:a="http://schemas.openxmlformats.org/drawingml/2006/main">
              <a:ext uri="{FF2B5EF4-FFF2-40B4-BE49-F238E27FC236}">
                <a16:creationId xmlns:a16="http://schemas.microsoft.com/office/drawing/2014/main" id="{1BC0FA7A-01A5-4493-BC0A-A88B71376240}"/>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08</a:t>
            </a:r>
          </a:p>
        </p:txBody>
      </p:sp>
      <p:sp>
        <p:nvSpPr>
          <p:cNvPr id="4" name="GPT-OSS 120B through SovernStack: two live">
            <a:extLst xmlns:a="http://schemas.openxmlformats.org/drawingml/2006/main">
              <a:ext uri="{FF2B5EF4-FFF2-40B4-BE49-F238E27FC236}">
                <a16:creationId xmlns:a16="http://schemas.microsoft.com/office/drawing/2014/main" id="{12479F10-4931-4FC5-8886-0493C5A30936}"/>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GPT-OSS 120B through SovernStack: two live scenarios verified. Generated explanations still require review.</a:t>
            </a:r>
          </a:p>
        </p:txBody>
      </p:sp>
      <p:sp>
        <p:nvSpPr>
          <p:cNvPr id="5" name="">
            <a:extLst xmlns:a="http://schemas.openxmlformats.org/drawingml/2006/main">
              <a:ext uri="{FF2B5EF4-FFF2-40B4-BE49-F238E27FC236}">
                <a16:creationId xmlns:a16="http://schemas.microsoft.com/office/drawing/2014/main" id="{37151FBD-831A-435B-8E64-5DD9A87728E4}"/>
              </a:ext>
            </a:extLst>
          </p:cNvPr>
          <p:cNvSpPr>
            <a:spLocks xmlns:a="http://schemas.openxmlformats.org/drawingml/2006/main" noGrp="1"/>
          </p:cNvSpPr>
          <p:nvPr/>
        </p:nvSpPr>
        <p:spPr>
          <a:xfrm xmlns:a="http://schemas.openxmlformats.org/drawingml/2006/main">
            <a:off x="609600" y="2009775"/>
            <a:ext cx="3048000" cy="838200"/>
          </a:xfrm>
          <a:prstGeom xmlns:a="http://schemas.openxmlformats.org/drawingml/2006/main" prst="rect">
            <a:avLst/>
          </a:prstGeom>
          <a:solidFill xmlns:a="http://schemas.openxmlformats.org/drawingml/2006/main">
            <a:srgbClr val="E7E7E2"/>
          </a:solidFill>
          <a:ln xmlns:a="http://schemas.openxmlformats.org/drawingml/2006/main" w="0">
            <a:noFill/>
            <a:prstDash val="solid"/>
          </a:ln>
        </p:spPr>
      </p:sp>
      <p:sp>
        <p:nvSpPr>
          <p:cNvPr id="6" name="Public evidence">
            <a:extLst xmlns:a="http://schemas.openxmlformats.org/drawingml/2006/main">
              <a:ext uri="{FF2B5EF4-FFF2-40B4-BE49-F238E27FC236}">
                <a16:creationId xmlns:a16="http://schemas.microsoft.com/office/drawing/2014/main" id="{64252470-52DD-4AFE-89DF-B9895AAB5248}"/>
              </a:ext>
            </a:extLst>
          </p:cNvPr>
          <p:cNvSpPr>
            <a:spLocks xmlns:a="http://schemas.openxmlformats.org/drawingml/2006/main" noGrp="1"/>
          </p:cNvSpPr>
          <p:nvPr/>
        </p:nvSpPr>
        <p:spPr>
          <a:xfrm xmlns:a="http://schemas.openxmlformats.org/drawingml/2006/main">
            <a:off x="790575" y="225742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21212"/>
                </a:solidFill>
                <a:latin typeface="Liberation Sans"/>
                <a:ea typeface="Liberation Sans"/>
                <a:cs typeface="Liberation Sans"/>
              </a:defRPr>
            </a:defPPr>
          </a:lstStyle>
          <a:p xmlns:a="http://schemas.openxmlformats.org/drawingml/2006/main">
            <a:pPr algn="l">
              <a:defRPr sz="2025" b="1">
                <a:solidFill>
                  <a:srgbClr val="121212"/>
                </a:solidFill>
                <a:latin typeface="Liberation Sans"/>
                <a:ea typeface="Liberation Sans"/>
                <a:cs typeface="Liberation Sans"/>
              </a:defRPr>
            </a:pPr>
            <a:r>
              <a:rPr sz="2025" b="1">
                <a:solidFill>
                  <a:srgbClr val="121212"/>
                </a:solidFill>
                <a:latin typeface="Liberation Sans"/>
                <a:ea typeface="Liberation Sans"/>
                <a:cs typeface="Liberation Sans"/>
              </a:rPr>
              <a:t>Public evidence</a:t>
            </a:r>
          </a:p>
        </p:txBody>
      </p:sp>
      <p:sp>
        <p:nvSpPr>
          <p:cNvPr id="7" name="Official sources and immutable versions&#10;Ex">
            <a:extLst xmlns:a="http://schemas.openxmlformats.org/drawingml/2006/main">
              <a:ext uri="{FF2B5EF4-FFF2-40B4-BE49-F238E27FC236}">
                <a16:creationId xmlns:a16="http://schemas.microsoft.com/office/drawing/2014/main" id="{D5F360A2-3116-4BB6-B0C7-D131F58E2FD0}"/>
              </a:ext>
            </a:extLst>
          </p:cNvPr>
          <p:cNvSpPr>
            <a:spLocks xmlns:a="http://schemas.openxmlformats.org/drawingml/2006/main" noGrp="1"/>
          </p:cNvSpPr>
          <p:nvPr/>
        </p:nvSpPr>
        <p:spPr>
          <a:xfrm xmlns:a="http://schemas.openxmlformats.org/drawingml/2006/main">
            <a:off x="4124325" y="2085975"/>
            <a:ext cx="7305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1212"/>
                </a:solidFill>
                <a:latin typeface="Liberation Sans"/>
                <a:ea typeface="Liberation Sans"/>
                <a:cs typeface="Liberation Sans"/>
              </a:defRPr>
            </a:defPPr>
          </a:lstStyle>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Official sources and immutable versions</a:t>
            </a:r>
          </a:p>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Exposure requires an explicit matching key</a:t>
            </a:r>
          </a:p>
        </p:txBody>
      </p:sp>
      <p:sp>
        <p:nvSpPr>
          <p:cNvPr id="8" name="">
            <a:extLst xmlns:a="http://schemas.openxmlformats.org/drawingml/2006/main">
              <a:ext uri="{FF2B5EF4-FFF2-40B4-BE49-F238E27FC236}">
                <a16:creationId xmlns:a16="http://schemas.microsoft.com/office/drawing/2014/main" id="{CF33CEA6-8F43-4CB0-8B44-7D56273940C0}"/>
              </a:ext>
            </a:extLst>
          </p:cNvPr>
          <p:cNvSpPr>
            <a:spLocks xmlns:a="http://schemas.openxmlformats.org/drawingml/2006/main" noGrp="1"/>
          </p:cNvSpPr>
          <p:nvPr/>
        </p:nvSpPr>
        <p:spPr>
          <a:xfrm xmlns:a="http://schemas.openxmlformats.org/drawingml/2006/main">
            <a:off x="2105025" y="2847975"/>
            <a:ext cx="0" cy="171450"/>
          </a:xfrm>
          <a:prstGeom xmlns:a="http://schemas.openxmlformats.org/drawingml/2006/main" prst="line">
            <a:avLst/>
          </a:prstGeom>
          <a:noFill xmlns:a="http://schemas.openxmlformats.org/drawingml/2006/main"/>
          <a:ln xmlns:a="http://schemas.openxmlformats.org/drawingml/2006/main" w="9525">
            <a:solidFill>
              <a:srgbClr val="969691"/>
            </a:solidFill>
            <a:prstDash val="solid"/>
          </a:ln>
        </p:spPr>
      </p:sp>
      <p:sp>
        <p:nvSpPr>
          <p:cNvPr id="9" name="">
            <a:extLst xmlns:a="http://schemas.openxmlformats.org/drawingml/2006/main">
              <a:ext uri="{FF2B5EF4-FFF2-40B4-BE49-F238E27FC236}">
                <a16:creationId xmlns:a16="http://schemas.microsoft.com/office/drawing/2014/main" id="{6BFA4C2C-20EE-486D-8CA6-2BAB5C7F3D64}"/>
              </a:ext>
            </a:extLst>
          </p:cNvPr>
          <p:cNvSpPr>
            <a:spLocks xmlns:a="http://schemas.openxmlformats.org/drawingml/2006/main" noGrp="1"/>
          </p:cNvSpPr>
          <p:nvPr/>
        </p:nvSpPr>
        <p:spPr>
          <a:xfrm xmlns:a="http://schemas.openxmlformats.org/drawingml/2006/main">
            <a:off x="609600" y="3019425"/>
            <a:ext cx="3048000" cy="838200"/>
          </a:xfrm>
          <a:prstGeom xmlns:a="http://schemas.openxmlformats.org/drawingml/2006/main" prst="rect">
            <a:avLst/>
          </a:prstGeom>
          <a:solidFill xmlns:a="http://schemas.openxmlformats.org/drawingml/2006/main">
            <a:srgbClr val="121212"/>
          </a:solidFill>
          <a:ln xmlns:a="http://schemas.openxmlformats.org/drawingml/2006/main" w="0">
            <a:noFill/>
            <a:prstDash val="solid"/>
          </a:ln>
        </p:spPr>
      </p:sp>
      <p:sp>
        <p:nvSpPr>
          <p:cNvPr id="10" name="Scenario and rules">
            <a:extLst xmlns:a="http://schemas.openxmlformats.org/drawingml/2006/main">
              <a:ext uri="{FF2B5EF4-FFF2-40B4-BE49-F238E27FC236}">
                <a16:creationId xmlns:a16="http://schemas.microsoft.com/office/drawing/2014/main" id="{36265DEA-C792-4273-8BEB-3B7C577120BD}"/>
              </a:ext>
            </a:extLst>
          </p:cNvPr>
          <p:cNvSpPr>
            <a:spLocks xmlns:a="http://schemas.openxmlformats.org/drawingml/2006/main" noGrp="1"/>
          </p:cNvSpPr>
          <p:nvPr/>
        </p:nvSpPr>
        <p:spPr>
          <a:xfrm xmlns:a="http://schemas.openxmlformats.org/drawingml/2006/main">
            <a:off x="790575" y="326707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Liberation Sans"/>
                <a:ea typeface="Liberation Sans"/>
                <a:cs typeface="Liberation Sans"/>
              </a:defRPr>
            </a:defPPr>
          </a:lstStyle>
          <a:p xmlns:a="http://schemas.openxmlformats.org/drawingml/2006/main">
            <a:pPr algn="l">
              <a:defRPr sz="2025" b="1">
                <a:solidFill>
                  <a:srgbClr val="FFFFFF"/>
                </a:solidFill>
                <a:latin typeface="Liberation Sans"/>
                <a:ea typeface="Liberation Sans"/>
                <a:cs typeface="Liberation Sans"/>
              </a:defRPr>
            </a:pPr>
            <a:r>
              <a:rPr sz="2025" b="1">
                <a:solidFill>
                  <a:srgbClr val="FFFFFF"/>
                </a:solidFill>
                <a:latin typeface="Liberation Sans"/>
                <a:ea typeface="Liberation Sans"/>
                <a:cs typeface="Liberation Sans"/>
              </a:rPr>
              <a:t>Scenario and rules</a:t>
            </a:r>
          </a:p>
        </p:txBody>
      </p:sp>
      <p:sp>
        <p:nvSpPr>
          <p:cNvPr id="11" name="Synthetic operations and declared assumpti">
            <a:extLst xmlns:a="http://schemas.openxmlformats.org/drawingml/2006/main">
              <a:ext uri="{FF2B5EF4-FFF2-40B4-BE49-F238E27FC236}">
                <a16:creationId xmlns:a16="http://schemas.microsoft.com/office/drawing/2014/main" id="{6FD93A95-7209-4336-8057-185F65C5F2B7}"/>
              </a:ext>
            </a:extLst>
          </p:cNvPr>
          <p:cNvSpPr>
            <a:spLocks xmlns:a="http://schemas.openxmlformats.org/drawingml/2006/main" noGrp="1"/>
          </p:cNvSpPr>
          <p:nvPr/>
        </p:nvSpPr>
        <p:spPr>
          <a:xfrm xmlns:a="http://schemas.openxmlformats.org/drawingml/2006/main">
            <a:off x="4124325" y="3095625"/>
            <a:ext cx="7305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1212"/>
                </a:solidFill>
                <a:latin typeface="Liberation Sans"/>
                <a:ea typeface="Liberation Sans"/>
                <a:cs typeface="Liberation Sans"/>
              </a:defRPr>
            </a:defPPr>
          </a:lstStyle>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Synthetic operations and declared assumptions</a:t>
            </a:r>
          </a:p>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Deterministic calculations own the numeric facts</a:t>
            </a:r>
          </a:p>
        </p:txBody>
      </p:sp>
      <p:sp>
        <p:nvSpPr>
          <p:cNvPr id="12" name="">
            <a:extLst xmlns:a="http://schemas.openxmlformats.org/drawingml/2006/main">
              <a:ext uri="{FF2B5EF4-FFF2-40B4-BE49-F238E27FC236}">
                <a16:creationId xmlns:a16="http://schemas.microsoft.com/office/drawing/2014/main" id="{292F9E18-7C28-4AD3-82FB-CDDB3CA46028}"/>
              </a:ext>
            </a:extLst>
          </p:cNvPr>
          <p:cNvSpPr>
            <a:spLocks xmlns:a="http://schemas.openxmlformats.org/drawingml/2006/main" noGrp="1"/>
          </p:cNvSpPr>
          <p:nvPr/>
        </p:nvSpPr>
        <p:spPr>
          <a:xfrm xmlns:a="http://schemas.openxmlformats.org/drawingml/2006/main">
            <a:off x="2105025" y="3857625"/>
            <a:ext cx="0" cy="171450"/>
          </a:xfrm>
          <a:prstGeom xmlns:a="http://schemas.openxmlformats.org/drawingml/2006/main" prst="line">
            <a:avLst/>
          </a:prstGeom>
          <a:noFill xmlns:a="http://schemas.openxmlformats.org/drawingml/2006/main"/>
          <a:ln xmlns:a="http://schemas.openxmlformats.org/drawingml/2006/main" w="9525">
            <a:solidFill>
              <a:srgbClr val="969691"/>
            </a:solidFill>
            <a:prstDash val="solid"/>
          </a:ln>
        </p:spPr>
      </p:sp>
      <p:sp>
        <p:nvSpPr>
          <p:cNvPr id="13" name="">
            <a:extLst xmlns:a="http://schemas.openxmlformats.org/drawingml/2006/main">
              <a:ext uri="{FF2B5EF4-FFF2-40B4-BE49-F238E27FC236}">
                <a16:creationId xmlns:a16="http://schemas.microsoft.com/office/drawing/2014/main" id="{F3F2C8F4-D1FE-41F5-B1D2-AA2CF169E2BF}"/>
              </a:ext>
            </a:extLst>
          </p:cNvPr>
          <p:cNvSpPr>
            <a:spLocks xmlns:a="http://schemas.openxmlformats.org/drawingml/2006/main" noGrp="1"/>
          </p:cNvSpPr>
          <p:nvPr/>
        </p:nvSpPr>
        <p:spPr>
          <a:xfrm xmlns:a="http://schemas.openxmlformats.org/drawingml/2006/main">
            <a:off x="609600" y="4029075"/>
            <a:ext cx="3048000" cy="838200"/>
          </a:xfrm>
          <a:prstGeom xmlns:a="http://schemas.openxmlformats.org/drawingml/2006/main" prst="rect">
            <a:avLst/>
          </a:prstGeom>
          <a:solidFill xmlns:a="http://schemas.openxmlformats.org/drawingml/2006/main">
            <a:srgbClr val="E7E7E2"/>
          </a:solidFill>
          <a:ln xmlns:a="http://schemas.openxmlformats.org/drawingml/2006/main" w="0">
            <a:noFill/>
            <a:prstDash val="solid"/>
          </a:ln>
        </p:spPr>
      </p:sp>
      <p:sp>
        <p:nvSpPr>
          <p:cNvPr id="14" name="Advisor explanation">
            <a:extLst xmlns:a="http://schemas.openxmlformats.org/drawingml/2006/main">
              <a:ext uri="{FF2B5EF4-FFF2-40B4-BE49-F238E27FC236}">
                <a16:creationId xmlns:a16="http://schemas.microsoft.com/office/drawing/2014/main" id="{016FA701-2CF6-4A64-811D-F6AB6A5AEFCE}"/>
              </a:ext>
            </a:extLst>
          </p:cNvPr>
          <p:cNvSpPr>
            <a:spLocks xmlns:a="http://schemas.openxmlformats.org/drawingml/2006/main" noGrp="1"/>
          </p:cNvSpPr>
          <p:nvPr/>
        </p:nvSpPr>
        <p:spPr>
          <a:xfrm xmlns:a="http://schemas.openxmlformats.org/drawingml/2006/main">
            <a:off x="790575" y="427672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21212"/>
                </a:solidFill>
                <a:latin typeface="Liberation Sans"/>
                <a:ea typeface="Liberation Sans"/>
                <a:cs typeface="Liberation Sans"/>
              </a:defRPr>
            </a:defPPr>
          </a:lstStyle>
          <a:p xmlns:a="http://schemas.openxmlformats.org/drawingml/2006/main">
            <a:pPr algn="l">
              <a:defRPr sz="2025" b="1">
                <a:solidFill>
                  <a:srgbClr val="121212"/>
                </a:solidFill>
                <a:latin typeface="Liberation Sans"/>
                <a:ea typeface="Liberation Sans"/>
                <a:cs typeface="Liberation Sans"/>
              </a:defRPr>
            </a:pPr>
            <a:r>
              <a:rPr sz="2025" b="1">
                <a:solidFill>
                  <a:srgbClr val="121212"/>
                </a:solidFill>
                <a:latin typeface="Liberation Sans"/>
                <a:ea typeface="Liberation Sans"/>
                <a:cs typeface="Liberation Sans"/>
              </a:rPr>
              <a:t>Advisor explanation</a:t>
            </a:r>
          </a:p>
        </p:txBody>
      </p:sp>
      <p:sp>
        <p:nvSpPr>
          <p:cNvPr id="15" name="The model explains the case and its limita">
            <a:extLst xmlns:a="http://schemas.openxmlformats.org/drawingml/2006/main">
              <a:ext uri="{FF2B5EF4-FFF2-40B4-BE49-F238E27FC236}">
                <a16:creationId xmlns:a16="http://schemas.microsoft.com/office/drawing/2014/main" id="{553358D3-D8F2-4BA2-BB25-5865134477A6}"/>
              </a:ext>
            </a:extLst>
          </p:cNvPr>
          <p:cNvSpPr>
            <a:spLocks xmlns:a="http://schemas.openxmlformats.org/drawingml/2006/main" noGrp="1"/>
          </p:cNvSpPr>
          <p:nvPr/>
        </p:nvSpPr>
        <p:spPr>
          <a:xfrm xmlns:a="http://schemas.openxmlformats.org/drawingml/2006/main">
            <a:off x="4124325" y="4105275"/>
            <a:ext cx="7305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1212"/>
                </a:solidFill>
                <a:latin typeface="Liberation Sans"/>
                <a:ea typeface="Liberation Sans"/>
                <a:cs typeface="Liberation Sans"/>
              </a:defRPr>
            </a:defPPr>
          </a:lstStyle>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The model explains the case and its limitations</a:t>
            </a:r>
          </a:p>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Missing lead time produces an abstention</a:t>
            </a:r>
          </a:p>
        </p:txBody>
      </p:sp>
      <p:sp>
        <p:nvSpPr>
          <p:cNvPr id="16" name="The human retains the decision">
            <a:extLst xmlns:a="http://schemas.openxmlformats.org/drawingml/2006/main">
              <a:ext uri="{FF2B5EF4-FFF2-40B4-BE49-F238E27FC236}">
                <a16:creationId xmlns:a16="http://schemas.microsoft.com/office/drawing/2014/main" id="{28E5056A-0596-4DF3-8C5B-6D8F5F8B9B94}"/>
              </a:ext>
            </a:extLst>
          </p:cNvPr>
          <p:cNvSpPr>
            <a:spLocks xmlns:a="http://schemas.openxmlformats.org/drawingml/2006/main" noGrp="1"/>
          </p:cNvSpPr>
          <p:nvPr/>
        </p:nvSpPr>
        <p:spPr>
          <a:xfrm xmlns:a="http://schemas.openxmlformats.org/drawingml/2006/main">
            <a:off x="619125" y="5410200"/>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21212"/>
                </a:solidFill>
                <a:latin typeface="Liberation Sans"/>
                <a:ea typeface="Liberation Sans"/>
                <a:cs typeface="Liberation Sans"/>
              </a:defRPr>
            </a:defPPr>
          </a:lstStyle>
          <a:p xmlns:a="http://schemas.openxmlformats.org/drawingml/2006/main">
            <a:pPr algn="l">
              <a:defRPr sz="2400" b="1">
                <a:solidFill>
                  <a:srgbClr val="121212"/>
                </a:solidFill>
                <a:latin typeface="Liberation Sans"/>
                <a:ea typeface="Liberation Sans"/>
                <a:cs typeface="Liberation Sans"/>
              </a:defRPr>
            </a:pPr>
            <a:r>
              <a:rPr sz="2400" b="1">
                <a:solidFill>
                  <a:srgbClr val="121212"/>
                </a:solidFill>
                <a:latin typeface="Liberation Sans"/>
                <a:ea typeface="Liberation Sans"/>
                <a:cs typeface="Liberation Sans"/>
              </a:rPr>
              <a:t>The human retains the decision</a:t>
            </a:r>
          </a:p>
        </p:txBody>
      </p:sp>
    </p:spTree>
    <p:extLst>
      <p:ext uri="{BB962C8B-B14F-4D97-AF65-F5344CB8AC3E}">
        <p14:creationId xmlns:p14="http://schemas.microsoft.com/office/powerpoint/2010/main" val="848542845"/>
      </p:ext>
    </p:extLst>
  </p:cSld>
</p:sld>
</file>

<file path=ppt/slides/slide9.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2" name="APPENDIX A  EVALUATION PROTOCOL">
            <a:extLst xmlns:a="http://schemas.openxmlformats.org/drawingml/2006/main">
              <a:ext uri="{FF2B5EF4-FFF2-40B4-BE49-F238E27FC236}">
                <a16:creationId xmlns:a16="http://schemas.microsoft.com/office/drawing/2014/main" id="{2C4DEC40-66DD-46F2-ABB9-E0F276447389}"/>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A  EVALUATION PROTOCOL</a:t>
            </a:r>
          </a:p>
        </p:txBody>
      </p:sp>
      <p:sp>
        <p:nvSpPr>
          <p:cNvPr id="2" name="The forecasting study keeps the test separ">
            <a:extLst xmlns:a="http://schemas.openxmlformats.org/drawingml/2006/main">
              <a:ext uri="{FF2B5EF4-FFF2-40B4-BE49-F238E27FC236}">
                <a16:creationId xmlns:a16="http://schemas.microsoft.com/office/drawing/2014/main" id="{BF56432F-2079-46CC-AB92-9ECDE0C4A191}"/>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The forecasting study keeps the test separate</a:t>
            </a:r>
          </a:p>
        </p:txBody>
      </p:sp>
      <p:sp>
        <p:nvSpPr>
          <p:cNvPr id="3" name="09">
            <a:extLst xmlns:a="http://schemas.openxmlformats.org/drawingml/2006/main">
              <a:ext uri="{FF2B5EF4-FFF2-40B4-BE49-F238E27FC236}">
                <a16:creationId xmlns:a16="http://schemas.microsoft.com/office/drawing/2014/main" id="{4C14170C-F4B6-4042-96E9-64133CFCBA78}"/>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09</a:t>
            </a:r>
          </a:p>
        </p:txBody>
      </p:sp>
      <p:sp>
        <p:nvSpPr>
          <p:cNvPr id="4" name="Retrospective transaction-time availabilit">
            <a:extLst xmlns:a="http://schemas.openxmlformats.org/drawingml/2006/main">
              <a:ext uri="{FF2B5EF4-FFF2-40B4-BE49-F238E27FC236}">
                <a16:creationId xmlns:a16="http://schemas.microsoft.com/office/drawing/2014/main" id="{13D62616-777D-4C3A-9D72-E006FF6BD988}"/>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Retrospective transaction-time availability assumption. Historical acquisition logs and true latent demand are unavailable.</a:t>
            </a:r>
          </a:p>
        </p:txBody>
      </p:sp>
      <p:graphicFrame>
        <p:nvGraphicFramePr>
          <p:cNvPr id="5" name="">
            <a:extLst xmlns:a="http://schemas.openxmlformats.org/drawingml/2006/main">
              <a:ext uri="{FF2B5EF4-FFF2-40B4-BE49-F238E27FC236}">
                <a16:creationId xmlns:a16="http://schemas.microsoft.com/office/drawing/2014/main" id="{76138195-5759-45DF-8796-F4270512F62B}"/>
              </a:ext>
            </a:extLst>
          </p:cNvPr>
          <p:cNvGraphicFramePr/>
          <p:nvPr/>
        </p:nvGraphicFramePr>
        <p:xfrm>
          <a:off xmlns:a="http://schemas.openxmlformats.org/drawingml/2006/main" x="609600" y="2028825"/>
          <a:ext xmlns:a="http://schemas.openxmlformats.org/drawingml/2006/main" cx="10953750" cy="2371725"/>
        </p:xfrm>
        <a:graphic xmlns:a="http://schemas.openxmlformats.org/drawingml/2006/main">
          <a:graphicData uri="http://schemas.openxmlformats.org/drawingml/2006/table">
            <a:tbl>
              <a:tblPr/>
              <a:tblGrid>
                <a:gridCol w="2143125"/>
                <a:gridCol w="4505325"/>
                <a:gridCol w="4305300"/>
              </a:tblGrid>
              <a:tr h="592931">
                <a:tc>
                  <a:txBody>
                    <a:bodyPr lIns="114300" tIns="114300" rIns="114300" bIns="114300"/>
                    <a:lstStyle/>
                    <a:p>
                      <a:r>
                        <a:rPr sz="1275" b="1">
                          <a:solidFill>
                            <a:srgbClr val="FFFFFF"/>
                          </a:solidFill>
                          <a:latin typeface="Liberation Sans"/>
                          <a:ea typeface="Liberation Sans"/>
                          <a:cs typeface="Liberation Sans"/>
                        </a:rPr>
                        <a:t>Partition</a:t>
                      </a:r>
                    </a:p>
                  </a:txBody>
                  <a:tcPr marL="91440" marR="91440" marT="45720" marB="45720">
                    <a:solidFill>
                      <a:srgbClr val="121212"/>
                    </a:solidFill>
                  </a:tcPr>
                </a:tc>
                <a:tc>
                  <a:txBody>
                    <a:bodyPr lIns="114300" tIns="114300" rIns="114300" bIns="114300"/>
                    <a:lstStyle/>
                    <a:p>
                      <a:r>
                        <a:rPr sz="1275" b="1">
                          <a:solidFill>
                            <a:srgbClr val="FFFFFF"/>
                          </a:solidFill>
                          <a:latin typeface="Liberation Sans"/>
                          <a:ea typeface="Liberation Sans"/>
                          <a:cs typeface="Liberation Sans"/>
                        </a:rPr>
                        <a:t>Dates</a:t>
                      </a:r>
                    </a:p>
                  </a:txBody>
                  <a:tcPr marL="91440" marR="91440" marT="45720" marB="45720">
                    <a:solidFill>
                      <a:srgbClr val="121212"/>
                    </a:solidFill>
                  </a:tcPr>
                </a:tc>
                <a:tc>
                  <a:txBody>
                    <a:bodyPr lIns="114300" tIns="114300" rIns="114300" bIns="114300"/>
                    <a:lstStyle/>
                    <a:p>
                      <a:r>
                        <a:rPr sz="1275" b="1">
                          <a:solidFill>
                            <a:srgbClr val="FFFFFF"/>
                          </a:solidFill>
                          <a:latin typeface="Liberation Sans"/>
                          <a:ea typeface="Liberation Sans"/>
                          <a:cs typeface="Liberation Sans"/>
                        </a:rPr>
                        <a:t>Purpose</a:t>
                      </a:r>
                    </a:p>
                  </a:txBody>
                  <a:tcPr marL="91440" marR="91440" marT="45720" marB="45720">
                    <a:solidFill>
                      <a:srgbClr val="121212"/>
                    </a:solidFill>
                  </a:tcPr>
                </a:tc>
              </a:tr>
              <a:tr h="592931">
                <a:tc>
                  <a:txBody>
                    <a:bodyPr lIns="114300" tIns="114300" rIns="114300" bIns="114300"/>
                    <a:lstStyle/>
                    <a:p>
                      <a:r>
                        <a:rPr sz="1650" b="0">
                          <a:solidFill>
                            <a:srgbClr val="121212"/>
                          </a:solidFill>
                          <a:latin typeface="Liberation Sans"/>
                          <a:ea typeface="Liberation Sans"/>
                          <a:cs typeface="Liberation Sans"/>
                        </a:rPr>
                        <a:t>Training</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1 Dec 2009–13 Oct 2011</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Eligibility and model fitting</a:t>
                      </a:r>
                    </a:p>
                  </a:txBody>
                  <a:tcPr marL="91440" marR="91440" marT="45720" marB="45720">
                    <a:solidFill>
                      <a:srgbClr val="FFFFFF"/>
                    </a:solidFill>
                  </a:tcPr>
                </a:tc>
              </a:tr>
              <a:tr h="592931">
                <a:tc>
                  <a:txBody>
                    <a:bodyPr lIns="114300" tIns="114300" rIns="114300" bIns="114300"/>
                    <a:lstStyle/>
                    <a:p>
                      <a:r>
                        <a:rPr sz="1650" b="0">
                          <a:solidFill>
                            <a:srgbClr val="121212"/>
                          </a:solidFill>
                          <a:latin typeface="Liberation Sans"/>
                          <a:ea typeface="Liberation Sans"/>
                          <a:cs typeface="Liberation Sans"/>
                        </a:rPr>
                        <a:t>Validation</a:t>
                      </a:r>
                    </a:p>
                  </a:txBody>
                  <a:tcPr marL="91440" marR="91440" marT="45720" marB="45720">
                    <a:solidFill>
                      <a:srgbClr val="F5F5F1"/>
                    </a:solidFill>
                  </a:tcPr>
                </a:tc>
                <a:tc>
                  <a:txBody>
                    <a:bodyPr lIns="114300" tIns="114300" rIns="114300" bIns="114300"/>
                    <a:lstStyle/>
                    <a:p>
                      <a:r>
                        <a:rPr sz="1650" b="0">
                          <a:solidFill>
                            <a:srgbClr val="121212"/>
                          </a:solidFill>
                          <a:latin typeface="Liberation Sans"/>
                          <a:ea typeface="Liberation Sans"/>
                          <a:cs typeface="Liberation Sans"/>
                        </a:rPr>
                        <a:t>14 Oct–10 Nov 2011</a:t>
                      </a:r>
                    </a:p>
                  </a:txBody>
                  <a:tcPr marL="91440" marR="91440" marT="45720" marB="45720">
                    <a:solidFill>
                      <a:srgbClr val="F5F5F1"/>
                    </a:solidFill>
                  </a:tcPr>
                </a:tc>
                <a:tc>
                  <a:txBody>
                    <a:bodyPr lIns="114300" tIns="114300" rIns="114300" bIns="114300"/>
                    <a:lstStyle/>
                    <a:p>
                      <a:r>
                        <a:rPr sz="1650" b="0">
                          <a:solidFill>
                            <a:srgbClr val="121212"/>
                          </a:solidFill>
                          <a:latin typeface="Liberation Sans"/>
                          <a:ea typeface="Liberation Sans"/>
                          <a:cs typeface="Liberation Sans"/>
                        </a:rPr>
                        <a:t>Model and threshold choice</a:t>
                      </a:r>
                    </a:p>
                  </a:txBody>
                  <a:tcPr marL="91440" marR="91440" marT="45720" marB="45720">
                    <a:solidFill>
                      <a:srgbClr val="F5F5F1"/>
                    </a:solidFill>
                  </a:tcPr>
                </a:tc>
              </a:tr>
              <a:tr h="592931">
                <a:tc>
                  <a:txBody>
                    <a:bodyPr lIns="114300" tIns="114300" rIns="114300" bIns="114300"/>
                    <a:lstStyle/>
                    <a:p>
                      <a:r>
                        <a:rPr sz="1650" b="0">
                          <a:solidFill>
                            <a:srgbClr val="121212"/>
                          </a:solidFill>
                          <a:latin typeface="Liberation Sans"/>
                          <a:ea typeface="Liberation Sans"/>
                          <a:cs typeface="Liberation Sans"/>
                        </a:rPr>
                        <a:t>Primary test</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11 Nov–8 Dec 2011</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Frozen final comparison</a:t>
                      </a:r>
                    </a:p>
                  </a:txBody>
                  <a:tcPr marL="91440" marR="91440" marT="45720" marB="45720">
                    <a:solidFill>
                      <a:srgbClr val="FFFFFF"/>
                    </a:solidFill>
                  </a:tcPr>
                </a:tc>
              </a:tr>
            </a:tbl>
          </a:graphicData>
        </a:graphic>
      </p:graphicFrame>
      <p:sp>
        <p:nvSpPr>
          <p:cNvPr id="6" name="3,231">
            <a:extLst xmlns:a="http://schemas.openxmlformats.org/drawingml/2006/main">
              <a:ext uri="{FF2B5EF4-FFF2-40B4-BE49-F238E27FC236}">
                <a16:creationId xmlns:a16="http://schemas.microsoft.com/office/drawing/2014/main" id="{F13F9789-3C5C-4C2E-B7B3-B40434622F1A}"/>
              </a:ext>
            </a:extLst>
          </p:cNvPr>
          <p:cNvSpPr>
            <a:spLocks xmlns:a="http://schemas.openxmlformats.org/drawingml/2006/main" noGrp="1"/>
          </p:cNvSpPr>
          <p:nvPr/>
        </p:nvSpPr>
        <p:spPr>
          <a:xfrm xmlns:a="http://schemas.openxmlformats.org/drawingml/2006/main">
            <a:off x="619125" y="4733925"/>
            <a:ext cx="266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121212"/>
                </a:solidFill>
                <a:latin typeface="Liberation Sans"/>
                <a:ea typeface="Liberation Sans"/>
                <a:cs typeface="Liberation Sans"/>
              </a:defRPr>
            </a:defPPr>
          </a:lstStyle>
          <a:p xmlns:a="http://schemas.openxmlformats.org/drawingml/2006/main">
            <a:pPr algn="l">
              <a:defRPr sz="3975" b="1">
                <a:solidFill>
                  <a:srgbClr val="121212"/>
                </a:solidFill>
                <a:latin typeface="Liberation Sans"/>
                <a:ea typeface="Liberation Sans"/>
                <a:cs typeface="Liberation Sans"/>
              </a:defRPr>
            </a:pPr>
            <a:r>
              <a:rPr sz="3975" b="1">
                <a:solidFill>
                  <a:srgbClr val="121212"/>
                </a:solidFill>
                <a:latin typeface="Liberation Sans"/>
                <a:ea typeface="Liberation Sans"/>
                <a:cs typeface="Liberation Sans"/>
              </a:rPr>
              <a:t>3,231</a:t>
            </a:r>
          </a:p>
        </p:txBody>
      </p:sp>
      <p:sp>
        <p:nvSpPr>
          <p:cNvPr id="7" name="known SKUs">
            <a:extLst xmlns:a="http://schemas.openxmlformats.org/drawingml/2006/main">
              <a:ext uri="{FF2B5EF4-FFF2-40B4-BE49-F238E27FC236}">
                <a16:creationId xmlns:a16="http://schemas.microsoft.com/office/drawing/2014/main" id="{2AE86899-705D-4A23-8533-C3C1CE6BCB13}"/>
              </a:ext>
            </a:extLst>
          </p:cNvPr>
          <p:cNvSpPr>
            <a:spLocks xmlns:a="http://schemas.openxmlformats.org/drawingml/2006/main" noGrp="1"/>
          </p:cNvSpPr>
          <p:nvPr/>
        </p:nvSpPr>
        <p:spPr>
          <a:xfrm xmlns:a="http://schemas.openxmlformats.org/drawingml/2006/main">
            <a:off x="628650" y="5457825"/>
            <a:ext cx="26765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21212"/>
                </a:solidFill>
                <a:latin typeface="Liberation Sans"/>
                <a:ea typeface="Liberation Sans"/>
                <a:cs typeface="Liberation Sans"/>
              </a:defRPr>
            </a:defPPr>
          </a:lstStyle>
          <a:p xmlns:a="http://schemas.openxmlformats.org/drawingml/2006/main">
            <a:pPr algn="l">
              <a:defRPr sz="1650" b="0">
                <a:solidFill>
                  <a:srgbClr val="121212"/>
                </a:solidFill>
                <a:latin typeface="Liberation Sans"/>
                <a:ea typeface="Liberation Sans"/>
                <a:cs typeface="Liberation Sans"/>
              </a:defRPr>
            </a:pPr>
            <a:r>
              <a:rPr sz="1650" b="0">
                <a:solidFill>
                  <a:srgbClr val="121212"/>
                </a:solidFill>
                <a:latin typeface="Liberation Sans"/>
                <a:ea typeface="Liberation Sans"/>
                <a:cs typeface="Liberation Sans"/>
              </a:rPr>
              <a:t>known SKUs</a:t>
            </a:r>
          </a:p>
        </p:txBody>
      </p:sp>
      <p:sp>
        <p:nvSpPr>
          <p:cNvPr id="8" name="497,574">
            <a:extLst xmlns:a="http://schemas.openxmlformats.org/drawingml/2006/main">
              <a:ext uri="{FF2B5EF4-FFF2-40B4-BE49-F238E27FC236}">
                <a16:creationId xmlns:a16="http://schemas.microsoft.com/office/drawing/2014/main" id="{5799A5E8-A639-4304-A8E7-D787E48D08FA}"/>
              </a:ext>
            </a:extLst>
          </p:cNvPr>
          <p:cNvSpPr>
            <a:spLocks xmlns:a="http://schemas.openxmlformats.org/drawingml/2006/main" noGrp="1"/>
          </p:cNvSpPr>
          <p:nvPr/>
        </p:nvSpPr>
        <p:spPr>
          <a:xfrm xmlns:a="http://schemas.openxmlformats.org/drawingml/2006/main">
            <a:off x="4333875" y="4733925"/>
            <a:ext cx="346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121212"/>
                </a:solidFill>
                <a:latin typeface="Liberation Sans"/>
                <a:ea typeface="Liberation Sans"/>
                <a:cs typeface="Liberation Sans"/>
              </a:defRPr>
            </a:defPPr>
          </a:lstStyle>
          <a:p xmlns:a="http://schemas.openxmlformats.org/drawingml/2006/main">
            <a:pPr algn="l">
              <a:defRPr sz="3975" b="1">
                <a:solidFill>
                  <a:srgbClr val="121212"/>
                </a:solidFill>
                <a:latin typeface="Liberation Sans"/>
                <a:ea typeface="Liberation Sans"/>
                <a:cs typeface="Liberation Sans"/>
              </a:defRPr>
            </a:pPr>
            <a:r>
              <a:rPr sz="3975" b="1">
                <a:solidFill>
                  <a:srgbClr val="121212"/>
                </a:solidFill>
                <a:latin typeface="Liberation Sans"/>
                <a:ea typeface="Liberation Sans"/>
                <a:cs typeface="Liberation Sans"/>
              </a:rPr>
              <a:t>497,574</a:t>
            </a:r>
          </a:p>
        </p:txBody>
      </p:sp>
      <p:sp>
        <p:nvSpPr>
          <p:cNvPr id="9" name="forecast tasks with overlapping horizons">
            <a:extLst xmlns:a="http://schemas.openxmlformats.org/drawingml/2006/main">
              <a:ext uri="{FF2B5EF4-FFF2-40B4-BE49-F238E27FC236}">
                <a16:creationId xmlns:a16="http://schemas.microsoft.com/office/drawing/2014/main" id="{7DFC8E28-6265-4729-9D2B-62216B594CB4}"/>
              </a:ext>
            </a:extLst>
          </p:cNvPr>
          <p:cNvSpPr>
            <a:spLocks xmlns:a="http://schemas.openxmlformats.org/drawingml/2006/main" noGrp="1"/>
          </p:cNvSpPr>
          <p:nvPr/>
        </p:nvSpPr>
        <p:spPr>
          <a:xfrm xmlns:a="http://schemas.openxmlformats.org/drawingml/2006/main">
            <a:off x="4343400" y="5457825"/>
            <a:ext cx="4857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21212"/>
                </a:solidFill>
                <a:latin typeface="Liberation Sans"/>
                <a:ea typeface="Liberation Sans"/>
                <a:cs typeface="Liberation Sans"/>
              </a:defRPr>
            </a:defPPr>
          </a:lstStyle>
          <a:p xmlns:a="http://schemas.openxmlformats.org/drawingml/2006/main">
            <a:pPr algn="l">
              <a:defRPr sz="1650" b="0">
                <a:solidFill>
                  <a:srgbClr val="121212"/>
                </a:solidFill>
                <a:latin typeface="Liberation Sans"/>
                <a:ea typeface="Liberation Sans"/>
                <a:cs typeface="Liberation Sans"/>
              </a:defRPr>
            </a:pPr>
            <a:r>
              <a:rPr sz="1650" b="0">
                <a:solidFill>
                  <a:srgbClr val="121212"/>
                </a:solidFill>
                <a:latin typeface="Liberation Sans"/>
                <a:ea typeface="Liberation Sans"/>
                <a:cs typeface="Liberation Sans"/>
              </a:rPr>
              <a:t>forecast tasks with overlapping horizons</a:t>
            </a:r>
          </a:p>
        </p:txBody>
      </p:sp>
      <p:sp>
        <p:nvSpPr>
          <p:cNvPr id="10" name="7">
            <a:extLst xmlns:a="http://schemas.openxmlformats.org/drawingml/2006/main">
              <a:ext uri="{FF2B5EF4-FFF2-40B4-BE49-F238E27FC236}">
                <a16:creationId xmlns:a16="http://schemas.microsoft.com/office/drawing/2014/main" id="{EE46653E-8B11-4C5E-B000-924E1E0AAA5B}"/>
              </a:ext>
            </a:extLst>
          </p:cNvPr>
          <p:cNvSpPr>
            <a:spLocks xmlns:a="http://schemas.openxmlformats.org/drawingml/2006/main" noGrp="1"/>
          </p:cNvSpPr>
          <p:nvPr/>
        </p:nvSpPr>
        <p:spPr>
          <a:xfrm xmlns:a="http://schemas.openxmlformats.org/drawingml/2006/main">
            <a:off x="9715500" y="4733925"/>
            <a:ext cx="1619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121212"/>
                </a:solidFill>
                <a:latin typeface="Liberation Sans"/>
                <a:ea typeface="Liberation Sans"/>
                <a:cs typeface="Liberation Sans"/>
              </a:defRPr>
            </a:defPPr>
          </a:lstStyle>
          <a:p xmlns:a="http://schemas.openxmlformats.org/drawingml/2006/main">
            <a:pPr algn="l">
              <a:defRPr sz="3975" b="1">
                <a:solidFill>
                  <a:srgbClr val="121212"/>
                </a:solidFill>
                <a:latin typeface="Liberation Sans"/>
                <a:ea typeface="Liberation Sans"/>
                <a:cs typeface="Liberation Sans"/>
              </a:defRPr>
            </a:pPr>
            <a:r>
              <a:rPr sz="3975" b="1">
                <a:solidFill>
                  <a:srgbClr val="121212"/>
                </a:solidFill>
                <a:latin typeface="Liberation Sans"/>
                <a:ea typeface="Liberation Sans"/>
                <a:cs typeface="Liberation Sans"/>
              </a:rPr>
              <a:t>7</a:t>
            </a:r>
          </a:p>
        </p:txBody>
      </p:sp>
      <p:sp>
        <p:nvSpPr>
          <p:cNvPr id="11" name="daily horizons">
            <a:extLst xmlns:a="http://schemas.openxmlformats.org/drawingml/2006/main">
              <a:ext uri="{FF2B5EF4-FFF2-40B4-BE49-F238E27FC236}">
                <a16:creationId xmlns:a16="http://schemas.microsoft.com/office/drawing/2014/main" id="{788FDF3F-FD3C-46A1-93DE-6AE88603D693}"/>
              </a:ext>
            </a:extLst>
          </p:cNvPr>
          <p:cNvSpPr>
            <a:spLocks xmlns:a="http://schemas.openxmlformats.org/drawingml/2006/main" noGrp="1"/>
          </p:cNvSpPr>
          <p:nvPr/>
        </p:nvSpPr>
        <p:spPr>
          <a:xfrm xmlns:a="http://schemas.openxmlformats.org/drawingml/2006/main">
            <a:off x="9715500" y="5457825"/>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21212"/>
                </a:solidFill>
                <a:latin typeface="Liberation Sans"/>
                <a:ea typeface="Liberation Sans"/>
                <a:cs typeface="Liberation Sans"/>
              </a:defRPr>
            </a:defPPr>
          </a:lstStyle>
          <a:p xmlns:a="http://schemas.openxmlformats.org/drawingml/2006/main">
            <a:pPr algn="l">
              <a:defRPr sz="1650" b="0">
                <a:solidFill>
                  <a:srgbClr val="121212"/>
                </a:solidFill>
                <a:latin typeface="Liberation Sans"/>
                <a:ea typeface="Liberation Sans"/>
                <a:cs typeface="Liberation Sans"/>
              </a:defRPr>
            </a:pPr>
            <a:r>
              <a:rPr sz="1650" b="0">
                <a:solidFill>
                  <a:srgbClr val="121212"/>
                </a:solidFill>
                <a:latin typeface="Liberation Sans"/>
                <a:ea typeface="Liberation Sans"/>
                <a:cs typeface="Liberation Sans"/>
              </a:rPr>
              <a:t>daily horizons</a:t>
            </a:r>
          </a:p>
        </p:txBody>
      </p:sp>
    </p:spTree>
    <p:extLst>
      <p:ext uri="{BB962C8B-B14F-4D97-AF65-F5344CB8AC3E}">
        <p14:creationId xmlns:p14="http://schemas.microsoft.com/office/powerpoint/2010/main" val="1294318061"/>
      </p:ext>
    </p:extLst>
  </p:cSld>
</p:sld>
</file>

<file path=ppt/slides/slide10.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8" name="APPENDIX B  SCENARIO ARITHMETIC">
            <a:extLst xmlns:a="http://schemas.openxmlformats.org/drawingml/2006/main">
              <a:ext uri="{FF2B5EF4-FFF2-40B4-BE49-F238E27FC236}">
                <a16:creationId xmlns:a16="http://schemas.microsoft.com/office/drawing/2014/main" id="{D3B72B0C-6D26-4348-B7B6-FEF3A679D094}"/>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B  SCENARIO ARITHMETIC</a:t>
            </a:r>
          </a:p>
        </p:txBody>
      </p:sp>
      <p:sp>
        <p:nvSpPr>
          <p:cNvPr id="2" name="SC01 cost is conditional on declared assum">
            <a:extLst xmlns:a="http://schemas.openxmlformats.org/drawingml/2006/main">
              <a:ext uri="{FF2B5EF4-FFF2-40B4-BE49-F238E27FC236}">
                <a16:creationId xmlns:a16="http://schemas.microsoft.com/office/drawing/2014/main" id="{053A943B-895A-4DF2-B817-E671D1992AF3}"/>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SC01 cost is conditional on declared assumptions</a:t>
            </a:r>
          </a:p>
        </p:txBody>
      </p:sp>
      <p:sp>
        <p:nvSpPr>
          <p:cNvPr id="3" name="10">
            <a:extLst xmlns:a="http://schemas.openxmlformats.org/drawingml/2006/main">
              <a:ext uri="{FF2B5EF4-FFF2-40B4-BE49-F238E27FC236}">
                <a16:creationId xmlns:a16="http://schemas.microsoft.com/office/drawing/2014/main" id="{FAA2285A-3C5C-4E69-9DE5-B64278715482}"/>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10</a:t>
            </a:r>
          </a:p>
        </p:txBody>
      </p:sp>
      <p:sp>
        <p:nvSpPr>
          <p:cNvPr id="4" name="Synthetic cost comparison. Identical 7-day">
            <a:extLst xmlns:a="http://schemas.openxmlformats.org/drawingml/2006/main">
              <a:ext uri="{FF2B5EF4-FFF2-40B4-BE49-F238E27FC236}">
                <a16:creationId xmlns:a16="http://schemas.microsoft.com/office/drawing/2014/main" id="{41D070F2-F30C-411D-85AC-8960B25C4EC2}"/>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Synthetic cost comparison. Identical 7-day horizon and exogenous path. Costs and service effects are simulated.</a:t>
            </a:r>
          </a:p>
        </p:txBody>
      </p:sp>
      <p:graphicFrame>
        <p:nvGraphicFramePr>
          <p:cNvPr id="5" name="">
            <a:extLst xmlns:a="http://schemas.openxmlformats.org/drawingml/2006/main">
              <a:ext uri="{FF2B5EF4-FFF2-40B4-BE49-F238E27FC236}">
                <a16:creationId xmlns:a16="http://schemas.microsoft.com/office/drawing/2014/main" id="{5D3E31C6-E80F-4E40-B5EC-59BAE5A58AF6}"/>
              </a:ext>
            </a:extLst>
          </p:cNvPr>
          <p:cNvGraphicFramePr/>
          <p:nvPr/>
        </p:nvGraphicFramePr>
        <p:xfrm>
          <a:off xmlns:a="http://schemas.openxmlformats.org/drawingml/2006/main" x="609600" y="2038350"/>
          <a:ext xmlns:a="http://schemas.openxmlformats.org/drawingml/2006/main" cx="10953750" cy="3057525"/>
        </p:xfrm>
        <a:graphic xmlns:a="http://schemas.openxmlformats.org/drawingml/2006/main">
          <a:graphicData uri="http://schemas.openxmlformats.org/drawingml/2006/table">
            <a:tbl>
              <a:tblPr/>
              <a:tblGrid>
                <a:gridCol w="6238875"/>
                <a:gridCol w="2324100"/>
                <a:gridCol w="2390775"/>
              </a:tblGrid>
              <a:tr h="611505">
                <a:tc>
                  <a:txBody>
                    <a:bodyPr lIns="114300" tIns="114300" rIns="114300" bIns="114300"/>
                    <a:lstStyle/>
                    <a:p>
                      <a:r>
                        <a:rPr sz="1275" b="1">
                          <a:solidFill>
                            <a:srgbClr val="FFFFFF"/>
                          </a:solidFill>
                          <a:latin typeface="Liberation Sans"/>
                          <a:ea typeface="Liberation Sans"/>
                          <a:cs typeface="Liberation Sans"/>
                        </a:rPr>
                        <a:t>Cost component, MYR</a:t>
                      </a:r>
                    </a:p>
                  </a:txBody>
                  <a:tcPr marL="91440" marR="91440" marT="45720" marB="45720">
                    <a:solidFill>
                      <a:srgbClr val="121212"/>
                    </a:solidFill>
                  </a:tcPr>
                </a:tc>
                <a:tc>
                  <a:txBody>
                    <a:bodyPr lIns="114300" tIns="114300" rIns="114300" bIns="114300"/>
                    <a:lstStyle/>
                    <a:p>
                      <a:r>
                        <a:rPr sz="1275" b="1">
                          <a:solidFill>
                            <a:srgbClr val="FFFFFF"/>
                          </a:solidFill>
                          <a:latin typeface="Liberation Sans"/>
                          <a:ea typeface="Liberation Sans"/>
                          <a:cs typeface="Liberation Sans"/>
                        </a:rPr>
                        <a:t>No change</a:t>
                      </a:r>
                    </a:p>
                  </a:txBody>
                  <a:tcPr marL="91440" marR="91440" marT="45720" marB="45720">
                    <a:solidFill>
                      <a:srgbClr val="121212"/>
                    </a:solidFill>
                  </a:tcPr>
                </a:tc>
                <a:tc>
                  <a:txBody>
                    <a:bodyPr lIns="114300" tIns="114300" rIns="114300" bIns="114300"/>
                    <a:lstStyle/>
                    <a:p>
                      <a:r>
                        <a:rPr sz="1275" b="1">
                          <a:solidFill>
                            <a:srgbClr val="FFFFFF"/>
                          </a:solidFill>
                          <a:latin typeface="Liberation Sans"/>
                          <a:ea typeface="Liberation Sans"/>
                          <a:cs typeface="Liberation Sans"/>
                        </a:rPr>
                        <a:t>Transfer 40</a:t>
                      </a:r>
                    </a:p>
                  </a:txBody>
                  <a:tcPr marL="91440" marR="91440" marT="45720" marB="45720">
                    <a:solidFill>
                      <a:srgbClr val="121212"/>
                    </a:solidFill>
                  </a:tcPr>
                </a:tc>
              </a:tr>
              <a:tr h="611505">
                <a:tc>
                  <a:txBody>
                    <a:bodyPr lIns="114300" tIns="114300" rIns="114300" bIns="114300"/>
                    <a:lstStyle/>
                    <a:p>
                      <a:r>
                        <a:rPr sz="1650" b="0">
                          <a:solidFill>
                            <a:srgbClr val="121212"/>
                          </a:solidFill>
                          <a:latin typeface="Liberation Sans"/>
                          <a:ea typeface="Liberation Sans"/>
                          <a:cs typeface="Liberation Sans"/>
                        </a:rPr>
                        <a:t>Shortage at MYR 12 / unit</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480.00</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0.00</a:t>
                      </a:r>
                    </a:p>
                  </a:txBody>
                  <a:tcPr marL="91440" marR="91440" marT="45720" marB="45720">
                    <a:solidFill>
                      <a:srgbClr val="FFFFFF"/>
                    </a:solidFill>
                  </a:tcPr>
                </a:tc>
              </a:tr>
              <a:tr h="611505">
                <a:tc>
                  <a:txBody>
                    <a:bodyPr lIns="114300" tIns="114300" rIns="114300" bIns="114300"/>
                    <a:lstStyle/>
                    <a:p>
                      <a:r>
                        <a:rPr sz="1650" b="0">
                          <a:solidFill>
                            <a:srgbClr val="121212"/>
                          </a:solidFill>
                          <a:latin typeface="Liberation Sans"/>
                          <a:ea typeface="Liberation Sans"/>
                          <a:cs typeface="Liberation Sans"/>
                        </a:rPr>
                        <a:t>Holding at MYR 0.04 / unit / day</a:t>
                      </a:r>
                    </a:p>
                  </a:txBody>
                  <a:tcPr marL="91440" marR="91440" marT="45720" marB="45720">
                    <a:solidFill>
                      <a:srgbClr val="F5F5F1"/>
                    </a:solidFill>
                  </a:tcPr>
                </a:tc>
                <a:tc>
                  <a:txBody>
                    <a:bodyPr lIns="114300" tIns="114300" rIns="114300" bIns="114300"/>
                    <a:lstStyle/>
                    <a:p>
                      <a:r>
                        <a:rPr sz="1650" b="0">
                          <a:solidFill>
                            <a:srgbClr val="121212"/>
                          </a:solidFill>
                          <a:latin typeface="Liberation Sans"/>
                          <a:ea typeface="Liberation Sans"/>
                          <a:cs typeface="Liberation Sans"/>
                        </a:rPr>
                        <a:t>16.00</a:t>
                      </a:r>
                    </a:p>
                  </a:txBody>
                  <a:tcPr marL="91440" marR="91440" marT="45720" marB="45720">
                    <a:solidFill>
                      <a:srgbClr val="F5F5F1"/>
                    </a:solidFill>
                  </a:tcPr>
                </a:tc>
                <a:tc>
                  <a:txBody>
                    <a:bodyPr lIns="114300" tIns="114300" rIns="114300" bIns="114300"/>
                    <a:lstStyle/>
                    <a:p>
                      <a:r>
                        <a:rPr sz="1650" b="0">
                          <a:solidFill>
                            <a:srgbClr val="121212"/>
                          </a:solidFill>
                          <a:latin typeface="Liberation Sans"/>
                          <a:ea typeface="Liberation Sans"/>
                          <a:cs typeface="Liberation Sans"/>
                        </a:rPr>
                        <a:t>21.60</a:t>
                      </a:r>
                    </a:p>
                  </a:txBody>
                  <a:tcPr marL="91440" marR="91440" marT="45720" marB="45720">
                    <a:solidFill>
                      <a:srgbClr val="F5F5F1"/>
                    </a:solidFill>
                  </a:tcPr>
                </a:tc>
              </a:tr>
              <a:tr h="611505">
                <a:tc>
                  <a:txBody>
                    <a:bodyPr lIns="114300" tIns="114300" rIns="114300" bIns="114300"/>
                    <a:lstStyle/>
                    <a:p>
                      <a:r>
                        <a:rPr sz="1650" b="0">
                          <a:solidFill>
                            <a:srgbClr val="121212"/>
                          </a:solidFill>
                          <a:latin typeface="Liberation Sans"/>
                          <a:ea typeface="Liberation Sans"/>
                          <a:cs typeface="Liberation Sans"/>
                        </a:rPr>
                        <a:t>Transfer at MYR 1 / unit</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0.00</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40.00</a:t>
                      </a:r>
                    </a:p>
                  </a:txBody>
                  <a:tcPr marL="91440" marR="91440" marT="45720" marB="45720">
                    <a:solidFill>
                      <a:srgbClr val="FFFFFF"/>
                    </a:solidFill>
                  </a:tcPr>
                </a:tc>
              </a:tr>
              <a:tr h="611505">
                <a:tc>
                  <a:txBody>
                    <a:bodyPr lIns="114300" tIns="114300" rIns="114300" bIns="114300"/>
                    <a:lstStyle/>
                    <a:p>
                      <a:r>
                        <a:rPr sz="1650" b="0">
                          <a:solidFill>
                            <a:srgbClr val="121212"/>
                          </a:solidFill>
                          <a:latin typeface="Liberation Sans"/>
                          <a:ea typeface="Liberation Sans"/>
                          <a:cs typeface="Liberation Sans"/>
                        </a:rPr>
                        <a:t>Total</a:t>
                      </a:r>
                    </a:p>
                  </a:txBody>
                  <a:tcPr marL="91440" marR="91440" marT="45720" marB="45720">
                    <a:solidFill>
                      <a:srgbClr val="F5F5F1"/>
                    </a:solidFill>
                  </a:tcPr>
                </a:tc>
                <a:tc>
                  <a:txBody>
                    <a:bodyPr lIns="114300" tIns="114300" rIns="114300" bIns="114300"/>
                    <a:lstStyle/>
                    <a:p>
                      <a:r>
                        <a:rPr sz="1650" b="0">
                          <a:solidFill>
                            <a:srgbClr val="121212"/>
                          </a:solidFill>
                          <a:latin typeface="Liberation Sans"/>
                          <a:ea typeface="Liberation Sans"/>
                          <a:cs typeface="Liberation Sans"/>
                        </a:rPr>
                        <a:t>496.00</a:t>
                      </a:r>
                    </a:p>
                  </a:txBody>
                  <a:tcPr marL="91440" marR="91440" marT="45720" marB="45720">
                    <a:solidFill>
                      <a:srgbClr val="F5F5F1"/>
                    </a:solidFill>
                  </a:tcPr>
                </a:tc>
                <a:tc>
                  <a:txBody>
                    <a:bodyPr lIns="114300" tIns="114300" rIns="114300" bIns="114300"/>
                    <a:lstStyle/>
                    <a:p>
                      <a:r>
                        <a:rPr sz="1650" b="0">
                          <a:solidFill>
                            <a:srgbClr val="121212"/>
                          </a:solidFill>
                          <a:latin typeface="Liberation Sans"/>
                          <a:ea typeface="Liberation Sans"/>
                          <a:cs typeface="Liberation Sans"/>
                        </a:rPr>
                        <a:t>61.60</a:t>
                      </a:r>
                    </a:p>
                  </a:txBody>
                  <a:tcPr marL="91440" marR="91440" marT="45720" marB="45720">
                    <a:solidFill>
                      <a:srgbClr val="F5F5F1"/>
                    </a:solidFill>
                  </a:tcPr>
                </a:tc>
              </a:tr>
            </a:tbl>
          </a:graphicData>
        </a:graphic>
      </p:graphicFrame>
      <p:sp>
        <p:nvSpPr>
          <p:cNvPr id="6" name="Key assumptions">
            <a:extLst xmlns:a="http://schemas.openxmlformats.org/drawingml/2006/main">
              <a:ext uri="{FF2B5EF4-FFF2-40B4-BE49-F238E27FC236}">
                <a16:creationId xmlns:a16="http://schemas.microsoft.com/office/drawing/2014/main" id="{5518336A-567A-4985-89E8-C251A66C40D9}"/>
              </a:ext>
            </a:extLst>
          </p:cNvPr>
          <p:cNvSpPr>
            <a:spLocks xmlns:a="http://schemas.openxmlformats.org/drawingml/2006/main" noGrp="1"/>
          </p:cNvSpPr>
          <p:nvPr/>
        </p:nvSpPr>
        <p:spPr>
          <a:xfrm xmlns:a="http://schemas.openxmlformats.org/drawingml/2006/main">
            <a:off x="619125" y="5362575"/>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21212"/>
                </a:solidFill>
                <a:latin typeface="Liberation Sans"/>
                <a:ea typeface="Liberation Sans"/>
                <a:cs typeface="Liberation Sans"/>
              </a:defRPr>
            </a:defPPr>
          </a:lstStyle>
          <a:p xmlns:a="http://schemas.openxmlformats.org/drawingml/2006/main">
            <a:pPr algn="l">
              <a:defRPr sz="1650" b="1">
                <a:solidFill>
                  <a:srgbClr val="121212"/>
                </a:solidFill>
                <a:latin typeface="Liberation Sans"/>
                <a:ea typeface="Liberation Sans"/>
                <a:cs typeface="Liberation Sans"/>
              </a:defRPr>
            </a:pPr>
            <a:r>
              <a:rPr sz="1650" b="1">
                <a:solidFill>
                  <a:srgbClr val="121212"/>
                </a:solidFill>
                <a:latin typeface="Liberation Sans"/>
                <a:ea typeface="Liberation Sans"/>
                <a:cs typeface="Liberation Sans"/>
              </a:rPr>
              <a:t>Key assumptions</a:t>
            </a:r>
          </a:p>
        </p:txBody>
      </p:sp>
      <p:sp>
        <p:nvSpPr>
          <p:cNvPr id="7" name="Lost sales, day-5 inbound receipt, no term">
            <a:extLst xmlns:a="http://schemas.openxmlformats.org/drawingml/2006/main">
              <a:ext uri="{FF2B5EF4-FFF2-40B4-BE49-F238E27FC236}">
                <a16:creationId xmlns:a16="http://schemas.microsoft.com/office/drawing/2014/main" id="{6BE97FE0-D978-4120-8C94-17747D8670AB}"/>
              </a:ext>
            </a:extLst>
          </p:cNvPr>
          <p:cNvSpPr>
            <a:spLocks xmlns:a="http://schemas.openxmlformats.org/drawingml/2006/main" noGrp="1"/>
          </p:cNvSpPr>
          <p:nvPr/>
        </p:nvSpPr>
        <p:spPr>
          <a:xfrm xmlns:a="http://schemas.openxmlformats.org/drawingml/2006/main">
            <a:off x="3543300" y="5276850"/>
            <a:ext cx="790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Lost sales, day-5 inbound receipt, no terminal stock value.</a:t>
            </a:r>
          </a:p>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Existing purchase-order costs are common commitments.</a:t>
            </a:r>
          </a:p>
        </p:txBody>
      </p:sp>
    </p:spTree>
    <p:extLst>
      <p:ext uri="{BB962C8B-B14F-4D97-AF65-F5344CB8AC3E}">
        <p14:creationId xmlns:p14="http://schemas.microsoft.com/office/powerpoint/2010/main" val="872550602"/>
      </p:ext>
    </p:extLst>
  </p:cSld>
</p:sld>
</file>

<file path=ppt/slides/slide11.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7" name="APPENDIX C  Q&amp;A">
            <a:extLst xmlns:a="http://schemas.openxmlformats.org/drawingml/2006/main">
              <a:ext uri="{FF2B5EF4-FFF2-40B4-BE49-F238E27FC236}">
                <a16:creationId xmlns:a16="http://schemas.microsoft.com/office/drawing/2014/main" id="{D72716B7-3ED6-43C2-8B98-D21513D85F43}"/>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C  Q&amp;A</a:t>
            </a:r>
          </a:p>
        </p:txBody>
      </p:sp>
      <p:sp>
        <p:nvSpPr>
          <p:cNvPr id="2" name="Questions the evidence can answer">
            <a:extLst xmlns:a="http://schemas.openxmlformats.org/drawingml/2006/main">
              <a:ext uri="{FF2B5EF4-FFF2-40B4-BE49-F238E27FC236}">
                <a16:creationId xmlns:a16="http://schemas.microsoft.com/office/drawing/2014/main" id="{D9F1F60E-853D-4552-85E0-6D00938F2523}"/>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Questions the evidence can answer</a:t>
            </a:r>
          </a:p>
        </p:txBody>
      </p:sp>
      <p:sp>
        <p:nvSpPr>
          <p:cNvPr id="3" name="11">
            <a:extLst xmlns:a="http://schemas.openxmlformats.org/drawingml/2006/main">
              <a:ext uri="{FF2B5EF4-FFF2-40B4-BE49-F238E27FC236}">
                <a16:creationId xmlns:a16="http://schemas.microsoft.com/office/drawing/2014/main" id="{65B48320-8AF6-45BF-A103-D9F42056AEE8}"/>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11</a:t>
            </a:r>
          </a:p>
        </p:txBody>
      </p:sp>
      <p:sp>
        <p:nvSpPr>
          <p:cNvPr id="4" name="All responses describe the verified 10 Oct">
            <a:extLst xmlns:a="http://schemas.openxmlformats.org/drawingml/2006/main">
              <a:ext uri="{FF2B5EF4-FFF2-40B4-BE49-F238E27FC236}">
                <a16:creationId xmlns:a16="http://schemas.microsoft.com/office/drawing/2014/main" id="{B06E2F3D-BB00-4D16-B958-AFF86FFEC4BC}"/>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All responses describe the verified 10 October 2026 snapshot. Generalized business performance remains unproven.</a:t>
            </a:r>
          </a:p>
        </p:txBody>
      </p:sp>
      <p:sp>
        <p:nvSpPr>
          <p:cNvPr id="5" name="">
            <a:extLst xmlns:a="http://schemas.openxmlformats.org/drawingml/2006/main">
              <a:ext uri="{FF2B5EF4-FFF2-40B4-BE49-F238E27FC236}">
                <a16:creationId xmlns:a16="http://schemas.microsoft.com/office/drawing/2014/main" id="{A5F7F9F3-7B36-4F6A-BBEE-E100BC962523}"/>
              </a:ext>
            </a:extLst>
          </p:cNvPr>
          <p:cNvSpPr>
            <a:spLocks xmlns:a="http://schemas.openxmlformats.org/drawingml/2006/main" noGrp="1"/>
          </p:cNvSpPr>
          <p:nvPr/>
        </p:nvSpPr>
        <p:spPr>
          <a:xfrm xmlns:a="http://schemas.openxmlformats.org/drawingml/2006/main">
            <a:off x="609600" y="2076450"/>
            <a:ext cx="5219700" cy="0"/>
          </a:xfrm>
          <a:prstGeom xmlns:a="http://schemas.openxmlformats.org/drawingml/2006/main" prst="line">
            <a:avLst/>
          </a:prstGeom>
          <a:noFill xmlns:a="http://schemas.openxmlformats.org/drawingml/2006/main"/>
          <a:ln xmlns:a="http://schemas.openxmlformats.org/drawingml/2006/main" w="9525">
            <a:solidFill>
              <a:srgbClr val="121212"/>
            </a:solidFill>
            <a:prstDash val="solid"/>
          </a:ln>
        </p:spPr>
      </p:sp>
      <p:sp>
        <p:nvSpPr>
          <p:cNvPr id="6" name="Is this real company data?">
            <a:extLst xmlns:a="http://schemas.openxmlformats.org/drawingml/2006/main">
              <a:ext uri="{FF2B5EF4-FFF2-40B4-BE49-F238E27FC236}">
                <a16:creationId xmlns:a16="http://schemas.microsoft.com/office/drawing/2014/main" id="{E20D5B16-E65A-4B24-884C-AFBCA2619B7D}"/>
              </a:ext>
            </a:extLst>
          </p:cNvPr>
          <p:cNvSpPr>
            <a:spLocks xmlns:a="http://schemas.openxmlformats.org/drawingml/2006/main" noGrp="1"/>
          </p:cNvSpPr>
          <p:nvPr/>
        </p:nvSpPr>
        <p:spPr>
          <a:xfrm xmlns:a="http://schemas.openxmlformats.org/drawingml/2006/main">
            <a:off x="609600" y="2257425"/>
            <a:ext cx="5219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21212"/>
                </a:solidFill>
                <a:latin typeface="Liberation Sans"/>
                <a:ea typeface="Liberation Sans"/>
                <a:cs typeface="Liberation Sans"/>
              </a:defRPr>
            </a:defPPr>
          </a:lstStyle>
          <a:p xmlns:a="http://schemas.openxmlformats.org/drawingml/2006/main">
            <a:pPr algn="l">
              <a:defRPr sz="2025" b="1">
                <a:solidFill>
                  <a:srgbClr val="121212"/>
                </a:solidFill>
                <a:latin typeface="Liberation Sans"/>
                <a:ea typeface="Liberation Sans"/>
                <a:cs typeface="Liberation Sans"/>
              </a:defRPr>
            </a:pPr>
            <a:r>
              <a:rPr sz="2025" b="1">
                <a:solidFill>
                  <a:srgbClr val="121212"/>
                </a:solidFill>
                <a:latin typeface="Liberation Sans"/>
                <a:ea typeface="Liberation Sans"/>
                <a:cs typeface="Liberation Sans"/>
              </a:rPr>
              <a:t>Is this real company data?</a:t>
            </a:r>
          </a:p>
        </p:txBody>
      </p:sp>
      <p:sp>
        <p:nvSpPr>
          <p:cNvPr id="7" name="Public reports provide context. Internal r">
            <a:extLst xmlns:a="http://schemas.openxmlformats.org/drawingml/2006/main">
              <a:ext uri="{FF2B5EF4-FFF2-40B4-BE49-F238E27FC236}">
                <a16:creationId xmlns:a16="http://schemas.microsoft.com/office/drawing/2014/main" id="{C8AA04CB-93EA-45FE-822B-AF02AEEC90B8}"/>
              </a:ext>
            </a:extLst>
          </p:cNvPr>
          <p:cNvSpPr>
            <a:spLocks xmlns:a="http://schemas.openxmlformats.org/drawingml/2006/main" noGrp="1"/>
          </p:cNvSpPr>
          <p:nvPr/>
        </p:nvSpPr>
        <p:spPr>
          <a:xfrm xmlns:a="http://schemas.openxmlformats.org/drawingml/2006/main">
            <a:off x="609600" y="2924175"/>
            <a:ext cx="50577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Public reports provide context. Internal records, counterparties and incidents are synthetic.</a:t>
            </a:r>
          </a:p>
        </p:txBody>
      </p:sp>
      <p:sp>
        <p:nvSpPr>
          <p:cNvPr id="8" name="">
            <a:extLst xmlns:a="http://schemas.openxmlformats.org/drawingml/2006/main">
              <a:ext uri="{FF2B5EF4-FFF2-40B4-BE49-F238E27FC236}">
                <a16:creationId xmlns:a16="http://schemas.microsoft.com/office/drawing/2014/main" id="{030DA873-0349-43B1-8A40-15BD49DC6465}"/>
              </a:ext>
            </a:extLst>
          </p:cNvPr>
          <p:cNvSpPr>
            <a:spLocks xmlns:a="http://schemas.openxmlformats.org/drawingml/2006/main" noGrp="1"/>
          </p:cNvSpPr>
          <p:nvPr/>
        </p:nvSpPr>
        <p:spPr>
          <a:xfrm xmlns:a="http://schemas.openxmlformats.org/drawingml/2006/main">
            <a:off x="6267450" y="2076450"/>
            <a:ext cx="5219700" cy="0"/>
          </a:xfrm>
          <a:prstGeom xmlns:a="http://schemas.openxmlformats.org/drawingml/2006/main" prst="line">
            <a:avLst/>
          </a:prstGeom>
          <a:noFill xmlns:a="http://schemas.openxmlformats.org/drawingml/2006/main"/>
          <a:ln xmlns:a="http://schemas.openxmlformats.org/drawingml/2006/main" w="9525">
            <a:solidFill>
              <a:srgbClr val="121212"/>
            </a:solidFill>
            <a:prstDash val="solid"/>
          </a:ln>
        </p:spPr>
      </p:sp>
      <p:sp>
        <p:nvSpPr>
          <p:cNvPr id="9" name="What does AI do?">
            <a:extLst xmlns:a="http://schemas.openxmlformats.org/drawingml/2006/main">
              <a:ext uri="{FF2B5EF4-FFF2-40B4-BE49-F238E27FC236}">
                <a16:creationId xmlns:a16="http://schemas.microsoft.com/office/drawing/2014/main" id="{BF2A2EC7-5394-4292-8671-F38A85D836BD}"/>
              </a:ext>
            </a:extLst>
          </p:cNvPr>
          <p:cNvSpPr>
            <a:spLocks xmlns:a="http://schemas.openxmlformats.org/drawingml/2006/main" noGrp="1"/>
          </p:cNvSpPr>
          <p:nvPr/>
        </p:nvSpPr>
        <p:spPr>
          <a:xfrm xmlns:a="http://schemas.openxmlformats.org/drawingml/2006/main">
            <a:off x="6267450" y="2257425"/>
            <a:ext cx="5219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21212"/>
                </a:solidFill>
                <a:latin typeface="Liberation Sans"/>
                <a:ea typeface="Liberation Sans"/>
                <a:cs typeface="Liberation Sans"/>
              </a:defRPr>
            </a:defPPr>
          </a:lstStyle>
          <a:p xmlns:a="http://schemas.openxmlformats.org/drawingml/2006/main">
            <a:pPr algn="l">
              <a:defRPr sz="2025" b="1">
                <a:solidFill>
                  <a:srgbClr val="121212"/>
                </a:solidFill>
                <a:latin typeface="Liberation Sans"/>
                <a:ea typeface="Liberation Sans"/>
                <a:cs typeface="Liberation Sans"/>
              </a:defRPr>
            </a:pPr>
            <a:r>
              <a:rPr sz="2025" b="1">
                <a:solidFill>
                  <a:srgbClr val="121212"/>
                </a:solidFill>
                <a:latin typeface="Liberation Sans"/>
                <a:ea typeface="Liberation Sans"/>
                <a:cs typeface="Liberation Sans"/>
              </a:rPr>
              <a:t>What does AI do?</a:t>
            </a:r>
          </a:p>
        </p:txBody>
      </p:sp>
      <p:sp>
        <p:nvSpPr>
          <p:cNvPr id="10" name="Statistical forecasting runs separately. G">
            <a:extLst xmlns:a="http://schemas.openxmlformats.org/drawingml/2006/main">
              <a:ext uri="{FF2B5EF4-FFF2-40B4-BE49-F238E27FC236}">
                <a16:creationId xmlns:a16="http://schemas.microsoft.com/office/drawing/2014/main" id="{D3750E67-1886-486A-90F2-FDE89B9BC343}"/>
              </a:ext>
            </a:extLst>
          </p:cNvPr>
          <p:cNvSpPr>
            <a:spLocks xmlns:a="http://schemas.openxmlformats.org/drawingml/2006/main" noGrp="1"/>
          </p:cNvSpPr>
          <p:nvPr/>
        </p:nvSpPr>
        <p:spPr>
          <a:xfrm xmlns:a="http://schemas.openxmlformats.org/drawingml/2006/main">
            <a:off x="6267450" y="2924175"/>
            <a:ext cx="50577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Statistical forecasting runs separately. GPT-OSS 120B explains case facts from the governed context.</a:t>
            </a:r>
          </a:p>
        </p:txBody>
      </p:sp>
      <p:sp>
        <p:nvSpPr>
          <p:cNvPr id="11" name="">
            <a:extLst xmlns:a="http://schemas.openxmlformats.org/drawingml/2006/main">
              <a:ext uri="{FF2B5EF4-FFF2-40B4-BE49-F238E27FC236}">
                <a16:creationId xmlns:a16="http://schemas.microsoft.com/office/drawing/2014/main" id="{28204243-736D-4E9C-B997-2D59316335E5}"/>
              </a:ext>
            </a:extLst>
          </p:cNvPr>
          <p:cNvSpPr>
            <a:spLocks xmlns:a="http://schemas.openxmlformats.org/drawingml/2006/main" noGrp="1"/>
          </p:cNvSpPr>
          <p:nvPr/>
        </p:nvSpPr>
        <p:spPr>
          <a:xfrm xmlns:a="http://schemas.openxmlformats.org/drawingml/2006/main">
            <a:off x="609600" y="4000500"/>
            <a:ext cx="5219700" cy="0"/>
          </a:xfrm>
          <a:prstGeom xmlns:a="http://schemas.openxmlformats.org/drawingml/2006/main" prst="line">
            <a:avLst/>
          </a:prstGeom>
          <a:noFill xmlns:a="http://schemas.openxmlformats.org/drawingml/2006/main"/>
          <a:ln xmlns:a="http://schemas.openxmlformats.org/drawingml/2006/main" w="9525">
            <a:solidFill>
              <a:srgbClr val="121212"/>
            </a:solidFill>
            <a:prstDash val="solid"/>
          </a:ln>
        </p:spPr>
      </p:sp>
      <p:sp>
        <p:nvSpPr>
          <p:cNvPr id="12" name="Where is reinforcement learning?">
            <a:extLst xmlns:a="http://schemas.openxmlformats.org/drawingml/2006/main">
              <a:ext uri="{FF2B5EF4-FFF2-40B4-BE49-F238E27FC236}">
                <a16:creationId xmlns:a16="http://schemas.microsoft.com/office/drawing/2014/main" id="{A504A75A-A612-43EF-85AD-68765252609B}"/>
              </a:ext>
            </a:extLst>
          </p:cNvPr>
          <p:cNvSpPr>
            <a:spLocks xmlns:a="http://schemas.openxmlformats.org/drawingml/2006/main" noGrp="1"/>
          </p:cNvSpPr>
          <p:nvPr/>
        </p:nvSpPr>
        <p:spPr>
          <a:xfrm xmlns:a="http://schemas.openxmlformats.org/drawingml/2006/main">
            <a:off x="609600" y="4181475"/>
            <a:ext cx="5219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21212"/>
                </a:solidFill>
                <a:latin typeface="Liberation Sans"/>
                <a:ea typeface="Liberation Sans"/>
                <a:cs typeface="Liberation Sans"/>
              </a:defRPr>
            </a:defPPr>
          </a:lstStyle>
          <a:p xmlns:a="http://schemas.openxmlformats.org/drawingml/2006/main">
            <a:pPr algn="l">
              <a:defRPr sz="2025" b="1">
                <a:solidFill>
                  <a:srgbClr val="121212"/>
                </a:solidFill>
                <a:latin typeface="Liberation Sans"/>
                <a:ea typeface="Liberation Sans"/>
                <a:cs typeface="Liberation Sans"/>
              </a:defRPr>
            </a:pPr>
            <a:r>
              <a:rPr sz="2025" b="1">
                <a:solidFill>
                  <a:srgbClr val="121212"/>
                </a:solidFill>
                <a:latin typeface="Liberation Sans"/>
                <a:ea typeface="Liberation Sans"/>
                <a:cs typeface="Liberation Sans"/>
              </a:rPr>
              <a:t>Where is reinforcement learning?</a:t>
            </a:r>
          </a:p>
        </p:txBody>
      </p:sp>
      <p:sp>
        <p:nvSpPr>
          <p:cNvPr id="13" name="RL is optional and unimplemented. Current ">
            <a:extLst xmlns:a="http://schemas.openxmlformats.org/drawingml/2006/main">
              <a:ext uri="{FF2B5EF4-FFF2-40B4-BE49-F238E27FC236}">
                <a16:creationId xmlns:a16="http://schemas.microsoft.com/office/drawing/2014/main" id="{E6CED435-2A7D-4513-9F4D-E373FF6DD7C3}"/>
              </a:ext>
            </a:extLst>
          </p:cNvPr>
          <p:cNvSpPr>
            <a:spLocks xmlns:a="http://schemas.openxmlformats.org/drawingml/2006/main" noGrp="1"/>
          </p:cNvSpPr>
          <p:nvPr/>
        </p:nvSpPr>
        <p:spPr>
          <a:xfrm xmlns:a="http://schemas.openxmlformats.org/drawingml/2006/main">
            <a:off x="609600" y="4848225"/>
            <a:ext cx="50577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RL is optional and unimplemented. Current action comparisons use explicit rules and simulation.</a:t>
            </a:r>
          </a:p>
        </p:txBody>
      </p:sp>
      <p:sp>
        <p:nvSpPr>
          <p:cNvPr id="14" name="">
            <a:extLst xmlns:a="http://schemas.openxmlformats.org/drawingml/2006/main">
              <a:ext uri="{FF2B5EF4-FFF2-40B4-BE49-F238E27FC236}">
                <a16:creationId xmlns:a16="http://schemas.microsoft.com/office/drawing/2014/main" id="{8832ECD2-411B-4CEB-B176-A0F6B71E34BC}"/>
              </a:ext>
            </a:extLst>
          </p:cNvPr>
          <p:cNvSpPr>
            <a:spLocks xmlns:a="http://schemas.openxmlformats.org/drawingml/2006/main" noGrp="1"/>
          </p:cNvSpPr>
          <p:nvPr/>
        </p:nvSpPr>
        <p:spPr>
          <a:xfrm xmlns:a="http://schemas.openxmlformats.org/drawingml/2006/main">
            <a:off x="6267450" y="4000500"/>
            <a:ext cx="5219700" cy="0"/>
          </a:xfrm>
          <a:prstGeom xmlns:a="http://schemas.openxmlformats.org/drawingml/2006/main" prst="line">
            <a:avLst/>
          </a:prstGeom>
          <a:noFill xmlns:a="http://schemas.openxmlformats.org/drawingml/2006/main"/>
          <a:ln xmlns:a="http://schemas.openxmlformats.org/drawingml/2006/main" w="9525">
            <a:solidFill>
              <a:srgbClr val="121212"/>
            </a:solidFill>
            <a:prstDash val="solid"/>
          </a:ln>
        </p:spPr>
      </p:sp>
      <p:sp>
        <p:nvSpPr>
          <p:cNvPr id="15" name="Why trust a weak forecast?">
            <a:extLst xmlns:a="http://schemas.openxmlformats.org/drawingml/2006/main">
              <a:ext uri="{FF2B5EF4-FFF2-40B4-BE49-F238E27FC236}">
                <a16:creationId xmlns:a16="http://schemas.microsoft.com/office/drawing/2014/main" id="{EC95D2D7-DE29-4DAF-8F5C-EFB9BB8CA01F}"/>
              </a:ext>
            </a:extLst>
          </p:cNvPr>
          <p:cNvSpPr>
            <a:spLocks xmlns:a="http://schemas.openxmlformats.org/drawingml/2006/main" noGrp="1"/>
          </p:cNvSpPr>
          <p:nvPr/>
        </p:nvSpPr>
        <p:spPr>
          <a:xfrm xmlns:a="http://schemas.openxmlformats.org/drawingml/2006/main">
            <a:off x="6267450" y="4181475"/>
            <a:ext cx="5219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21212"/>
                </a:solidFill>
                <a:latin typeface="Liberation Sans"/>
                <a:ea typeface="Liberation Sans"/>
                <a:cs typeface="Liberation Sans"/>
              </a:defRPr>
            </a:defPPr>
          </a:lstStyle>
          <a:p xmlns:a="http://schemas.openxmlformats.org/drawingml/2006/main">
            <a:pPr algn="l">
              <a:defRPr sz="2025" b="1">
                <a:solidFill>
                  <a:srgbClr val="121212"/>
                </a:solidFill>
                <a:latin typeface="Liberation Sans"/>
                <a:ea typeface="Liberation Sans"/>
                <a:cs typeface="Liberation Sans"/>
              </a:defRPr>
            </a:pPr>
            <a:r>
              <a:rPr sz="2025" b="1">
                <a:solidFill>
                  <a:srgbClr val="121212"/>
                </a:solidFill>
                <a:latin typeface="Liberation Sans"/>
                <a:ea typeface="Liberation Sans"/>
                <a:cs typeface="Liberation Sans"/>
              </a:rPr>
              <a:t>Why trust a weak forecast?</a:t>
            </a:r>
          </a:p>
        </p:txBody>
      </p:sp>
      <p:sp>
        <p:nvSpPr>
          <p:cNvPr id="16" name="The report exposes the failure. Decisions ">
            <a:extLst xmlns:a="http://schemas.openxmlformats.org/drawingml/2006/main">
              <a:ext uri="{FF2B5EF4-FFF2-40B4-BE49-F238E27FC236}">
                <a16:creationId xmlns:a16="http://schemas.microsoft.com/office/drawing/2014/main" id="{9B0BEB05-8C86-4EA6-83EE-DC31B8B8B350}"/>
              </a:ext>
            </a:extLst>
          </p:cNvPr>
          <p:cNvSpPr>
            <a:spLocks xmlns:a="http://schemas.openxmlformats.org/drawingml/2006/main" noGrp="1"/>
          </p:cNvSpPr>
          <p:nvPr/>
        </p:nvSpPr>
        <p:spPr>
          <a:xfrm xmlns:a="http://schemas.openxmlformats.org/drawingml/2006/main">
            <a:off x="6267450" y="4848225"/>
            <a:ext cx="50577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The report exposes the failure. Decisions retain constraints and assumptions. The model needs better evidence.</a:t>
            </a:r>
          </a:p>
        </p:txBody>
      </p:sp>
    </p:spTree>
    <p:extLst>
      <p:ext uri="{BB962C8B-B14F-4D97-AF65-F5344CB8AC3E}">
        <p14:creationId xmlns:p14="http://schemas.microsoft.com/office/powerpoint/2010/main" val="976533381"/>
      </p:ext>
    </p:extLst>
  </p:cSld>
</p:sld>
</file>

<file path=ppt/slides/slide12.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21" name="APPENDIX D  EVIDENCE REGISTER">
            <a:extLst xmlns:a="http://schemas.openxmlformats.org/drawingml/2006/main">
              <a:ext uri="{FF2B5EF4-FFF2-40B4-BE49-F238E27FC236}">
                <a16:creationId xmlns:a16="http://schemas.microsoft.com/office/drawing/2014/main" id="{9555A437-75C6-4580-A123-7E0A7DEA233A}"/>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D  EVIDENCE REGISTER</a:t>
            </a:r>
          </a:p>
        </p:txBody>
      </p:sp>
      <p:sp>
        <p:nvSpPr>
          <p:cNvPr id="2" name="Sources and claim boundaries">
            <a:extLst xmlns:a="http://schemas.openxmlformats.org/drawingml/2006/main">
              <a:ext uri="{FF2B5EF4-FFF2-40B4-BE49-F238E27FC236}">
                <a16:creationId xmlns:a16="http://schemas.microsoft.com/office/drawing/2014/main" id="{DA3DB5D0-F1FA-4BBC-B2E1-5205DB63D4E1}"/>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Sources and claim boundaries</a:t>
            </a:r>
          </a:p>
        </p:txBody>
      </p:sp>
      <p:sp>
        <p:nvSpPr>
          <p:cNvPr id="3" name="12">
            <a:extLst xmlns:a="http://schemas.openxmlformats.org/drawingml/2006/main">
              <a:ext uri="{FF2B5EF4-FFF2-40B4-BE49-F238E27FC236}">
                <a16:creationId xmlns:a16="http://schemas.microsoft.com/office/drawing/2014/main" id="{4A6D1DE8-39C3-4026-B89C-4044FDEE1DC6}"/>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12</a:t>
            </a:r>
          </a:p>
        </p:txBody>
      </p:sp>
      <p:sp>
        <p:nvSpPr>
          <p:cNvPr id="4" name="Official task: detect, categorize, priorit">
            <a:extLst xmlns:a="http://schemas.openxmlformats.org/drawingml/2006/main">
              <a:ext uri="{FF2B5EF4-FFF2-40B4-BE49-F238E27FC236}">
                <a16:creationId xmlns:a16="http://schemas.microsoft.com/office/drawing/2014/main" id="{CC5947D0-9BE2-4C0A-9189-21B48E2021F8}"/>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Official task: detect, categorize, prioritize and explain. Owner-confirmed format: 3-minute pitch and 2-minute Q&amp;A.</a:t>
            </a:r>
          </a:p>
        </p:txBody>
      </p:sp>
      <p:sp>
        <p:nvSpPr>
          <p:cNvPr id="5" name="">
            <a:extLst xmlns:a="http://schemas.openxmlformats.org/drawingml/2006/main">
              <a:ext uri="{FF2B5EF4-FFF2-40B4-BE49-F238E27FC236}">
                <a16:creationId xmlns:a16="http://schemas.microsoft.com/office/drawing/2014/main" id="{5500D624-A443-4809-A098-8B337598A06E}"/>
              </a:ext>
            </a:extLst>
          </p:cNvPr>
          <p:cNvSpPr>
            <a:spLocks xmlns:a="http://schemas.openxmlformats.org/drawingml/2006/main" noGrp="1"/>
          </p:cNvSpPr>
          <p:nvPr/>
        </p:nvSpPr>
        <p:spPr>
          <a:xfrm xmlns:a="http://schemas.openxmlformats.org/drawingml/2006/main">
            <a:off x="609600" y="2085975"/>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6" name="Company context">
            <a:extLst xmlns:a="http://schemas.openxmlformats.org/drawingml/2006/main">
              <a:ext uri="{FF2B5EF4-FFF2-40B4-BE49-F238E27FC236}">
                <a16:creationId xmlns:a16="http://schemas.microsoft.com/office/drawing/2014/main" id="{141D816B-DD12-4B21-9968-7FE8F662FA70}"/>
              </a:ext>
            </a:extLst>
          </p:cNvPr>
          <p:cNvSpPr>
            <a:spLocks xmlns:a="http://schemas.openxmlformats.org/drawingml/2006/main" noGrp="1"/>
          </p:cNvSpPr>
          <p:nvPr/>
        </p:nvSpPr>
        <p:spPr>
          <a:xfrm xmlns:a="http://schemas.openxmlformats.org/drawingml/2006/main">
            <a:off x="609600" y="2238375"/>
            <a:ext cx="25431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Company context</a:t>
            </a:r>
          </a:p>
        </p:txBody>
      </p:sp>
      <p:sp>
        <p:nvSpPr>
          <p:cNvPr id="7" name="MR D.I.Y. FY2025 annual and sustainability">
            <a:extLst xmlns:a="http://schemas.openxmlformats.org/drawingml/2006/main">
              <a:ext uri="{FF2B5EF4-FFF2-40B4-BE49-F238E27FC236}">
                <a16:creationId xmlns:a16="http://schemas.microsoft.com/office/drawing/2014/main" id="{B74FE6B9-C326-469D-B0F8-65C20C810436}"/>
              </a:ext>
            </a:extLst>
          </p:cNvPr>
          <p:cNvSpPr>
            <a:spLocks xmlns:a="http://schemas.openxmlformats.org/drawingml/2006/main" noGrp="1"/>
          </p:cNvSpPr>
          <p:nvPr/>
        </p:nvSpPr>
        <p:spPr>
          <a:xfrm xmlns:a="http://schemas.openxmlformats.org/drawingml/2006/main">
            <a:off x="3314700" y="2228850"/>
            <a:ext cx="81819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MR D.I.Y. FY2025 annual and sustainability reports</a:t>
            </a:r>
          </a:p>
        </p:txBody>
      </p:sp>
      <p:sp>
        <p:nvSpPr>
          <p:cNvPr id="8" name="Existing systems and group context only">
            <a:extLst xmlns:a="http://schemas.openxmlformats.org/drawingml/2006/main">
              <a:ext uri="{FF2B5EF4-FFF2-40B4-BE49-F238E27FC236}">
                <a16:creationId xmlns:a16="http://schemas.microsoft.com/office/drawing/2014/main" id="{21D2D187-3D3C-4DFC-87DF-DB3808061EC2}"/>
              </a:ext>
            </a:extLst>
          </p:cNvPr>
          <p:cNvSpPr>
            <a:spLocks xmlns:a="http://schemas.openxmlformats.org/drawingml/2006/main" noGrp="1"/>
          </p:cNvSpPr>
          <p:nvPr/>
        </p:nvSpPr>
        <p:spPr>
          <a:xfrm xmlns:a="http://schemas.openxmlformats.org/drawingml/2006/main">
            <a:off x="3314700" y="2590800"/>
            <a:ext cx="8181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Existing systems and group context only</a:t>
            </a:r>
          </a:p>
        </p:txBody>
      </p:sp>
      <p:sp>
        <p:nvSpPr>
          <p:cNvPr id="9" name="">
            <a:extLst xmlns:a="http://schemas.openxmlformats.org/drawingml/2006/main">
              <a:ext uri="{FF2B5EF4-FFF2-40B4-BE49-F238E27FC236}">
                <a16:creationId xmlns:a16="http://schemas.microsoft.com/office/drawing/2014/main" id="{4536DD7D-D8FE-4FA0-B01F-2F25183FC332}"/>
              </a:ext>
            </a:extLst>
          </p:cNvPr>
          <p:cNvSpPr>
            <a:spLocks xmlns:a="http://schemas.openxmlformats.org/drawingml/2006/main" noGrp="1"/>
          </p:cNvSpPr>
          <p:nvPr/>
        </p:nvSpPr>
        <p:spPr>
          <a:xfrm xmlns:a="http://schemas.openxmlformats.org/drawingml/2006/main">
            <a:off x="609600" y="3000375"/>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0" name="Operational comparison">
            <a:extLst xmlns:a="http://schemas.openxmlformats.org/drawingml/2006/main">
              <a:ext uri="{FF2B5EF4-FFF2-40B4-BE49-F238E27FC236}">
                <a16:creationId xmlns:a16="http://schemas.microsoft.com/office/drawing/2014/main" id="{6D717C9A-F3FE-4ED7-8616-9CB2C9B5FC1A}"/>
              </a:ext>
            </a:extLst>
          </p:cNvPr>
          <p:cNvSpPr>
            <a:spLocks xmlns:a="http://schemas.openxmlformats.org/drawingml/2006/main" noGrp="1"/>
          </p:cNvSpPr>
          <p:nvPr/>
        </p:nvSpPr>
        <p:spPr>
          <a:xfrm xmlns:a="http://schemas.openxmlformats.org/drawingml/2006/main">
            <a:off x="609600" y="3152775"/>
            <a:ext cx="25431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Operational comparison</a:t>
            </a:r>
          </a:p>
        </p:txBody>
      </p:sp>
      <p:sp>
        <p:nvSpPr>
          <p:cNvPr id="11" name="Approved v0.4.1 synthetic fixture, mechani">
            <a:extLst xmlns:a="http://schemas.openxmlformats.org/drawingml/2006/main">
              <a:ext uri="{FF2B5EF4-FFF2-40B4-BE49-F238E27FC236}">
                <a16:creationId xmlns:a16="http://schemas.microsoft.com/office/drawing/2014/main" id="{2B5C05F6-5876-46AF-8B8C-3C5A46EE787A}"/>
              </a:ext>
            </a:extLst>
          </p:cNvPr>
          <p:cNvSpPr>
            <a:spLocks xmlns:a="http://schemas.openxmlformats.org/drawingml/2006/main" noGrp="1"/>
          </p:cNvSpPr>
          <p:nvPr/>
        </p:nvSpPr>
        <p:spPr>
          <a:xfrm xmlns:a="http://schemas.openxmlformats.org/drawingml/2006/main">
            <a:off x="3314700" y="3143250"/>
            <a:ext cx="81819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Approved v0.4.1 synthetic fixture, mechanics v0.4.1.1</a:t>
            </a:r>
          </a:p>
        </p:txBody>
      </p:sp>
      <p:sp>
        <p:nvSpPr>
          <p:cNvPr id="12" name="Functional arithmetic and constrained acti">
            <a:extLst xmlns:a="http://schemas.openxmlformats.org/drawingml/2006/main">
              <a:ext uri="{FF2B5EF4-FFF2-40B4-BE49-F238E27FC236}">
                <a16:creationId xmlns:a16="http://schemas.microsoft.com/office/drawing/2014/main" id="{CD5D315E-F1D3-4EEC-968F-7880DD96D28A}"/>
              </a:ext>
            </a:extLst>
          </p:cNvPr>
          <p:cNvSpPr>
            <a:spLocks xmlns:a="http://schemas.openxmlformats.org/drawingml/2006/main" noGrp="1"/>
          </p:cNvSpPr>
          <p:nvPr/>
        </p:nvSpPr>
        <p:spPr>
          <a:xfrm xmlns:a="http://schemas.openxmlformats.org/drawingml/2006/main">
            <a:off x="3314700" y="3505200"/>
            <a:ext cx="8181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Functional arithmetic and constrained actions</a:t>
            </a:r>
          </a:p>
        </p:txBody>
      </p:sp>
      <p:sp>
        <p:nvSpPr>
          <p:cNvPr id="13" name="">
            <a:extLst xmlns:a="http://schemas.openxmlformats.org/drawingml/2006/main">
              <a:ext uri="{FF2B5EF4-FFF2-40B4-BE49-F238E27FC236}">
                <a16:creationId xmlns:a16="http://schemas.microsoft.com/office/drawing/2014/main" id="{E6B4E3E9-4D87-4261-9EB1-B53F892B2246}"/>
              </a:ext>
            </a:extLst>
          </p:cNvPr>
          <p:cNvSpPr>
            <a:spLocks xmlns:a="http://schemas.openxmlformats.org/drawingml/2006/main" noGrp="1"/>
          </p:cNvSpPr>
          <p:nvPr/>
        </p:nvSpPr>
        <p:spPr>
          <a:xfrm xmlns:a="http://schemas.openxmlformats.org/drawingml/2006/main">
            <a:off x="609600" y="3914775"/>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4" name="Forecast evaluation">
            <a:extLst xmlns:a="http://schemas.openxmlformats.org/drawingml/2006/main">
              <a:ext uri="{FF2B5EF4-FFF2-40B4-BE49-F238E27FC236}">
                <a16:creationId xmlns:a16="http://schemas.microsoft.com/office/drawing/2014/main" id="{33C03A2B-9219-4F9D-9ECD-7317B13F5E00}"/>
              </a:ext>
            </a:extLst>
          </p:cNvPr>
          <p:cNvSpPr>
            <a:spLocks xmlns:a="http://schemas.openxmlformats.org/drawingml/2006/main" noGrp="1"/>
          </p:cNvSpPr>
          <p:nvPr/>
        </p:nvSpPr>
        <p:spPr>
          <a:xfrm xmlns:a="http://schemas.openxmlformats.org/drawingml/2006/main">
            <a:off x="609600" y="4067175"/>
            <a:ext cx="25431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Forecast evaluation</a:t>
            </a:r>
          </a:p>
        </p:txBody>
      </p:sp>
      <p:sp>
        <p:nvSpPr>
          <p:cNvPr id="15" name="UCI Online Retail II and frozen benchmark ">
            <a:extLst xmlns:a="http://schemas.openxmlformats.org/drawingml/2006/main">
              <a:ext uri="{FF2B5EF4-FFF2-40B4-BE49-F238E27FC236}">
                <a16:creationId xmlns:a16="http://schemas.microsoft.com/office/drawing/2014/main" id="{96249ABB-2A3A-4B3A-BC84-25CA8DD3EF65}"/>
              </a:ext>
            </a:extLst>
          </p:cNvPr>
          <p:cNvSpPr>
            <a:spLocks xmlns:a="http://schemas.openxmlformats.org/drawingml/2006/main" noGrp="1"/>
          </p:cNvSpPr>
          <p:nvPr/>
        </p:nvSpPr>
        <p:spPr>
          <a:xfrm xmlns:a="http://schemas.openxmlformats.org/drawingml/2006/main">
            <a:off x="3314700" y="4057650"/>
            <a:ext cx="81819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UCI Online Retail II and frozen benchmark report</a:t>
            </a:r>
          </a:p>
        </p:txBody>
      </p:sp>
      <p:sp>
        <p:nvSpPr>
          <p:cNvPr id="16" name="Known-SKU retrospective external study">
            <a:extLst xmlns:a="http://schemas.openxmlformats.org/drawingml/2006/main">
              <a:ext uri="{FF2B5EF4-FFF2-40B4-BE49-F238E27FC236}">
                <a16:creationId xmlns:a16="http://schemas.microsoft.com/office/drawing/2014/main" id="{1C827D9E-BB2F-46FB-9907-63073D61F4E1}"/>
              </a:ext>
            </a:extLst>
          </p:cNvPr>
          <p:cNvSpPr>
            <a:spLocks xmlns:a="http://schemas.openxmlformats.org/drawingml/2006/main" noGrp="1"/>
          </p:cNvSpPr>
          <p:nvPr/>
        </p:nvSpPr>
        <p:spPr>
          <a:xfrm xmlns:a="http://schemas.openxmlformats.org/drawingml/2006/main">
            <a:off x="3314700" y="4419600"/>
            <a:ext cx="8181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Known-SKU retrospective external study</a:t>
            </a:r>
          </a:p>
        </p:txBody>
      </p:sp>
      <p:sp>
        <p:nvSpPr>
          <p:cNvPr id="17" name="">
            <a:extLst xmlns:a="http://schemas.openxmlformats.org/drawingml/2006/main">
              <a:ext uri="{FF2B5EF4-FFF2-40B4-BE49-F238E27FC236}">
                <a16:creationId xmlns:a16="http://schemas.microsoft.com/office/drawing/2014/main" id="{F17383EB-E8B7-477B-8DBA-AA47A45C2E00}"/>
              </a:ext>
            </a:extLst>
          </p:cNvPr>
          <p:cNvSpPr>
            <a:spLocks xmlns:a="http://schemas.openxmlformats.org/drawingml/2006/main" noGrp="1"/>
          </p:cNvSpPr>
          <p:nvPr/>
        </p:nvSpPr>
        <p:spPr>
          <a:xfrm xmlns:a="http://schemas.openxmlformats.org/drawingml/2006/main">
            <a:off x="609600" y="4829175"/>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8" name="Hosted implementation">
            <a:extLst xmlns:a="http://schemas.openxmlformats.org/drawingml/2006/main">
              <a:ext uri="{FF2B5EF4-FFF2-40B4-BE49-F238E27FC236}">
                <a16:creationId xmlns:a16="http://schemas.microsoft.com/office/drawing/2014/main" id="{DA3BE79E-B4AA-40FD-9081-C0BEF26BA0DA}"/>
              </a:ext>
            </a:extLst>
          </p:cNvPr>
          <p:cNvSpPr>
            <a:spLocks xmlns:a="http://schemas.openxmlformats.org/drawingml/2006/main" noGrp="1"/>
          </p:cNvSpPr>
          <p:nvPr/>
        </p:nvSpPr>
        <p:spPr>
          <a:xfrm xmlns:a="http://schemas.openxmlformats.org/drawingml/2006/main">
            <a:off x="609600" y="4981575"/>
            <a:ext cx="25431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Hosted implementation</a:t>
            </a:r>
          </a:p>
        </p:txBody>
      </p:sp>
      <p:sp>
        <p:nvSpPr>
          <p:cNvPr id="19" name="Site v71 and dated journey / live-LLM QA">
            <a:extLst xmlns:a="http://schemas.openxmlformats.org/drawingml/2006/main">
              <a:ext uri="{FF2B5EF4-FFF2-40B4-BE49-F238E27FC236}">
                <a16:creationId xmlns:a16="http://schemas.microsoft.com/office/drawing/2014/main" id="{8D9F7909-5828-4774-BF19-04767AF46D1F}"/>
              </a:ext>
            </a:extLst>
          </p:cNvPr>
          <p:cNvSpPr>
            <a:spLocks xmlns:a="http://schemas.openxmlformats.org/drawingml/2006/main" noGrp="1"/>
          </p:cNvSpPr>
          <p:nvPr/>
        </p:nvSpPr>
        <p:spPr>
          <a:xfrm xmlns:a="http://schemas.openxmlformats.org/drawingml/2006/main">
            <a:off x="3314700" y="4972050"/>
            <a:ext cx="81819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Site v71 and dated journey / live-LLM QA</a:t>
            </a:r>
          </a:p>
        </p:txBody>
      </p:sp>
      <p:sp>
        <p:nvSpPr>
          <p:cNvPr id="20" name="Verified paths only, not all possible beha">
            <a:extLst xmlns:a="http://schemas.openxmlformats.org/drawingml/2006/main">
              <a:ext uri="{FF2B5EF4-FFF2-40B4-BE49-F238E27FC236}">
                <a16:creationId xmlns:a16="http://schemas.microsoft.com/office/drawing/2014/main" id="{3F8EB4DC-1F3E-4413-9581-EF21C238117C}"/>
              </a:ext>
            </a:extLst>
          </p:cNvPr>
          <p:cNvSpPr>
            <a:spLocks xmlns:a="http://schemas.openxmlformats.org/drawingml/2006/main" noGrp="1"/>
          </p:cNvSpPr>
          <p:nvPr/>
        </p:nvSpPr>
        <p:spPr>
          <a:xfrm xmlns:a="http://schemas.openxmlformats.org/drawingml/2006/main">
            <a:off x="3314700" y="5334000"/>
            <a:ext cx="8181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Verified paths only, not all possible behaviors</a:t>
            </a:r>
          </a:p>
        </p:txBody>
      </p:sp>
    </p:spTree>
    <p:extLst>
      <p:ext uri="{BB962C8B-B14F-4D97-AF65-F5344CB8AC3E}">
        <p14:creationId xmlns:p14="http://schemas.microsoft.com/office/powerpoint/2010/main" val="700126030"/>
      </p:ext>
    </p:extLst>
  </p:cSld>
</p:sld>
</file>

<file path=ppt/slides/slide13.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OFFLINE FALLBACK  SAVED SCREEN">
            <a:extLst xmlns:a="http://schemas.openxmlformats.org/drawingml/2006/main">
              <a:ext uri="{FF2B5EF4-FFF2-40B4-BE49-F238E27FC236}">
                <a16:creationId xmlns:a16="http://schemas.microsoft.com/office/drawing/2014/main" id="{ABF3C5B1-750C-40E4-8C7A-EE58F48F1246}"/>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OFFLINE FALLBACK  SAVED SCREEN</a:t>
            </a:r>
          </a:p>
        </p:txBody>
      </p:sp>
      <p:sp>
        <p:nvSpPr>
          <p:cNvPr id="2" name="The regional lead opens a connected case">
            <a:extLst xmlns:a="http://schemas.openxmlformats.org/drawingml/2006/main">
              <a:ext uri="{FF2B5EF4-FFF2-40B4-BE49-F238E27FC236}">
                <a16:creationId xmlns:a16="http://schemas.microsoft.com/office/drawing/2014/main" id="{A35DFBAA-0759-494F-BC43-7DB0BC96BD74}"/>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The regional lead opens a connected case</a:t>
            </a:r>
          </a:p>
        </p:txBody>
      </p:sp>
      <p:sp>
        <p:nvSpPr>
          <p:cNvPr id="3" name="13">
            <a:extLst xmlns:a="http://schemas.openxmlformats.org/drawingml/2006/main">
              <a:ext uri="{FF2B5EF4-FFF2-40B4-BE49-F238E27FC236}">
                <a16:creationId xmlns:a16="http://schemas.microsoft.com/office/drawing/2014/main" id="{E6D011D8-63E7-417D-AA6F-6D8089F06FA8}"/>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13</a:t>
            </a:r>
          </a:p>
        </p:txBody>
      </p:sp>
      <p:sp>
        <p:nvSpPr>
          <p:cNvPr id="4" name="Saved screen from hosted Site v71, 10 Octo">
            <a:extLst xmlns:a="http://schemas.openxmlformats.org/drawingml/2006/main">
              <a:ext uri="{FF2B5EF4-FFF2-40B4-BE49-F238E27FC236}">
                <a16:creationId xmlns:a16="http://schemas.microsoft.com/office/drawing/2014/main" id="{4CAB3E82-1BC9-4EA7-A4DE-8C29429F4237}"/>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Saved screen from hosted Site v71, 10 October 2026. This is a synthetic operations workspace.</a:t>
            </a:r>
          </a:p>
        </p:txBody>
      </p:sp>
      <p:pic>
        <p:nvPicPr>
          <p:cNvPr id="5" name="">
            <a:extLst xmlns:a="http://schemas.openxmlformats.org/drawingml/2006/main">
              <a:ext uri="{FF2B5EF4-FFF2-40B4-BE49-F238E27FC236}">
                <a16:creationId xmlns:a16="http://schemas.microsoft.com/office/drawing/2014/main" id="{9E22B19B-3F8D-463F-B33A-3F24588894B9}"/>
              </a:ext>
            </a:extLst>
          </p:cNvPr>
          <p:cNvPicPr>
            <a:picLocks xmlns:a="http://schemas.openxmlformats.org/drawingml/2006/main" noChangeAspect="1"/>
          </p:cNvPicPr>
          <p:nvPr/>
        </p:nvPicPr>
        <p:blipFill>
          <a:blip xmlns:r="http://schemas.openxmlformats.org/officeDocument/2006/relationships" xmlns:a="http://schemas.openxmlformats.org/drawingml/2006/main" r:embed="Rc5a5ab5b560841a0"/>
          <a:stretch xmlns:a="http://schemas.openxmlformats.org/drawingml/2006/main"/>
        </p:blipFill>
        <p:spPr>
          <a:xfrm xmlns:a="http://schemas.openxmlformats.org/drawingml/2006/main">
            <a:off x="1511531" y="1781175"/>
            <a:ext cx="6101888" cy="4248150"/>
          </a:xfrm>
          <a:prstGeom xmlns:a="http://schemas.openxmlformats.org/drawingml/2006/main" prst="rect">
            <a:avLst/>
          </a:prstGeom>
        </p:spPr>
      </p:pic>
      <p:sp>
        <p:nvSpPr>
          <p:cNvPr id="6" name="40 linked cases&#10;&#10;One organization&#10;&#10;One fro">
            <a:extLst xmlns:a="http://schemas.openxmlformats.org/drawingml/2006/main">
              <a:ext uri="{FF2B5EF4-FFF2-40B4-BE49-F238E27FC236}">
                <a16:creationId xmlns:a16="http://schemas.microsoft.com/office/drawing/2014/main" id="{74FFCC93-994F-4034-AB36-66FC54276960}"/>
              </a:ext>
            </a:extLst>
          </p:cNvPr>
          <p:cNvSpPr>
            <a:spLocks xmlns:a="http://schemas.openxmlformats.org/drawingml/2006/main" noGrp="1"/>
          </p:cNvSpPr>
          <p:nvPr/>
        </p:nvSpPr>
        <p:spPr>
          <a:xfrm xmlns:a="http://schemas.openxmlformats.org/drawingml/2006/main">
            <a:off x="9086850" y="2133600"/>
            <a:ext cx="24860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40 linked cases</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One organization</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One frozen scenario</a:t>
            </a:r>
          </a:p>
        </p:txBody>
      </p:sp>
    </p:spTree>
    <p:extLst>
      <p:ext uri="{BB962C8B-B14F-4D97-AF65-F5344CB8AC3E}">
        <p14:creationId xmlns:p14="http://schemas.microsoft.com/office/powerpoint/2010/main" val="561307493"/>
      </p:ext>
    </p:extLst>
  </p:cSld>
</p:sld>
</file>

<file path=ppt/slides/slide14.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OFFLINE FALLBACK  SAVED SCREEN">
            <a:extLst xmlns:a="http://schemas.openxmlformats.org/drawingml/2006/main">
              <a:ext uri="{FF2B5EF4-FFF2-40B4-BE49-F238E27FC236}">
                <a16:creationId xmlns:a16="http://schemas.microsoft.com/office/drawing/2014/main" id="{482D44A1-0922-4345-912A-967978826265}"/>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OFFLINE FALLBACK  SAVED SCREEN</a:t>
            </a:r>
          </a:p>
        </p:txBody>
      </p:sp>
      <p:sp>
        <p:nvSpPr>
          <p:cNvPr id="2" name="SC01 compares actions under the same assum">
            <a:extLst xmlns:a="http://schemas.openxmlformats.org/drawingml/2006/main">
              <a:ext uri="{FF2B5EF4-FFF2-40B4-BE49-F238E27FC236}">
                <a16:creationId xmlns:a16="http://schemas.microsoft.com/office/drawing/2014/main" id="{D6698D55-96EB-4A04-91FF-A7369998EC28}"/>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SC01 compares actions under the same assumptions</a:t>
            </a:r>
          </a:p>
        </p:txBody>
      </p:sp>
      <p:sp>
        <p:nvSpPr>
          <p:cNvPr id="3" name="14">
            <a:extLst xmlns:a="http://schemas.openxmlformats.org/drawingml/2006/main">
              <a:ext uri="{FF2B5EF4-FFF2-40B4-BE49-F238E27FC236}">
                <a16:creationId xmlns:a16="http://schemas.microsoft.com/office/drawing/2014/main" id="{25A94F4F-8F8D-4469-968E-45DA5FD28666}"/>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14</a:t>
            </a:r>
          </a:p>
        </p:txBody>
      </p:sp>
      <p:sp>
        <p:nvSpPr>
          <p:cNvPr id="4" name="Saved screen from hosted Site v71, 10 Octo">
            <a:extLst xmlns:a="http://schemas.openxmlformats.org/drawingml/2006/main">
              <a:ext uri="{FF2B5EF4-FFF2-40B4-BE49-F238E27FC236}">
                <a16:creationId xmlns:a16="http://schemas.microsoft.com/office/drawing/2014/main" id="{E9582F16-6750-4049-B1E5-875B02403545}"/>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Saved screen from hosted Site v71, 10 October 2026. Scenario costs and shortages are simulated.</a:t>
            </a:r>
          </a:p>
        </p:txBody>
      </p:sp>
      <p:pic>
        <p:nvPicPr>
          <p:cNvPr id="5" name="">
            <a:extLst xmlns:a="http://schemas.openxmlformats.org/drawingml/2006/main">
              <a:ext uri="{FF2B5EF4-FFF2-40B4-BE49-F238E27FC236}">
                <a16:creationId xmlns:a16="http://schemas.microsoft.com/office/drawing/2014/main" id="{6D7B0D4B-32C9-49A7-AE10-B9BAB8259602}"/>
              </a:ext>
            </a:extLst>
          </p:cNvPr>
          <p:cNvPicPr>
            <a:picLocks xmlns:a="http://schemas.openxmlformats.org/drawingml/2006/main" noChangeAspect="1"/>
          </p:cNvPicPr>
          <p:nvPr/>
        </p:nvPicPr>
        <p:blipFill>
          <a:blip xmlns:r="http://schemas.openxmlformats.org/officeDocument/2006/relationships" xmlns:a="http://schemas.openxmlformats.org/drawingml/2006/main" r:embed="Ra3d69229a595415c"/>
          <a:stretch xmlns:a="http://schemas.openxmlformats.org/drawingml/2006/main"/>
        </p:blipFill>
        <p:spPr>
          <a:xfrm xmlns:a="http://schemas.openxmlformats.org/drawingml/2006/main">
            <a:off x="1511531" y="1781175"/>
            <a:ext cx="6101888" cy="4248150"/>
          </a:xfrm>
          <a:prstGeom xmlns:a="http://schemas.openxmlformats.org/drawingml/2006/main" prst="rect">
            <a:avLst/>
          </a:prstGeom>
        </p:spPr>
      </p:pic>
      <p:sp>
        <p:nvSpPr>
          <p:cNvPr id="6" name="40 units uncovered&#10;&#10;MYR 496.00&#10;no change&#10;&#10;">
            <a:extLst xmlns:a="http://schemas.openxmlformats.org/drawingml/2006/main">
              <a:ext uri="{FF2B5EF4-FFF2-40B4-BE49-F238E27FC236}">
                <a16:creationId xmlns:a16="http://schemas.microsoft.com/office/drawing/2014/main" id="{595CC3E6-73A6-459D-8F23-7BA61C110E35}"/>
              </a:ext>
            </a:extLst>
          </p:cNvPr>
          <p:cNvSpPr>
            <a:spLocks xmlns:a="http://schemas.openxmlformats.org/drawingml/2006/main" noGrp="1"/>
          </p:cNvSpPr>
          <p:nvPr/>
        </p:nvSpPr>
        <p:spPr>
          <a:xfrm xmlns:a="http://schemas.openxmlformats.org/drawingml/2006/main">
            <a:off x="9086850" y="2133600"/>
            <a:ext cx="24860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40 units uncovered</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MYR 496.00</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no change</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MYR 61.60</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transfer rule</a:t>
            </a:r>
          </a:p>
        </p:txBody>
      </p:sp>
    </p:spTree>
    <p:extLst>
      <p:ext uri="{BB962C8B-B14F-4D97-AF65-F5344CB8AC3E}">
        <p14:creationId xmlns:p14="http://schemas.microsoft.com/office/powerpoint/2010/main" val="1293509515"/>
      </p:ext>
    </p:extLst>
  </p:cSld>
</p:sld>
</file>

<file path=ppt/slides/slide15.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OFFLINE FALLBACK  SAVED SCREEN">
            <a:extLst xmlns:a="http://schemas.openxmlformats.org/drawingml/2006/main">
              <a:ext uri="{FF2B5EF4-FFF2-40B4-BE49-F238E27FC236}">
                <a16:creationId xmlns:a16="http://schemas.microsoft.com/office/drawing/2014/main" id="{2BDB5A49-1C8E-4584-AF93-B234BAF271D5}"/>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OFFLINE FALLBACK  SAVED SCREEN</a:t>
            </a:r>
          </a:p>
        </p:txBody>
      </p:sp>
      <p:sp>
        <p:nvSpPr>
          <p:cNvPr id="2" name="The human choice reopens with its frozen b">
            <a:extLst xmlns:a="http://schemas.openxmlformats.org/drawingml/2006/main">
              <a:ext uri="{FF2B5EF4-FFF2-40B4-BE49-F238E27FC236}">
                <a16:creationId xmlns:a16="http://schemas.microsoft.com/office/drawing/2014/main" id="{0C0A7327-E064-4698-A07C-239FCF3557CF}"/>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The human choice reopens with its frozen basis</a:t>
            </a:r>
          </a:p>
        </p:txBody>
      </p:sp>
      <p:sp>
        <p:nvSpPr>
          <p:cNvPr id="3" name="15">
            <a:extLst xmlns:a="http://schemas.openxmlformats.org/drawingml/2006/main">
              <a:ext uri="{FF2B5EF4-FFF2-40B4-BE49-F238E27FC236}">
                <a16:creationId xmlns:a16="http://schemas.microsoft.com/office/drawing/2014/main" id="{675AF3D6-3CC6-443F-8B7B-E68DBFF74F1D}"/>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15</a:t>
            </a:r>
          </a:p>
        </p:txBody>
      </p:sp>
      <p:sp>
        <p:nvSpPr>
          <p:cNvPr id="4" name="Saved screen from hosted Site v71, 10 Octo">
            <a:extLst xmlns:a="http://schemas.openxmlformats.org/drawingml/2006/main">
              <a:ext uri="{FF2B5EF4-FFF2-40B4-BE49-F238E27FC236}">
                <a16:creationId xmlns:a16="http://schemas.microsoft.com/office/drawing/2014/main" id="{CC0722D4-804A-4728-8E1D-1D6F88158435}"/>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Saved screen from hosted Site v71, 10 October 2026. Planned choice only. No inventory moved.</a:t>
            </a:r>
          </a:p>
        </p:txBody>
      </p:sp>
      <p:pic>
        <p:nvPicPr>
          <p:cNvPr id="5" name="">
            <a:extLst xmlns:a="http://schemas.openxmlformats.org/drawingml/2006/main">
              <a:ext uri="{FF2B5EF4-FFF2-40B4-BE49-F238E27FC236}">
                <a16:creationId xmlns:a16="http://schemas.microsoft.com/office/drawing/2014/main" id="{9BE201B8-7FD8-4C78-824E-4176CB6504C9}"/>
              </a:ext>
            </a:extLst>
          </p:cNvPr>
          <p:cNvPicPr>
            <a:picLocks xmlns:a="http://schemas.openxmlformats.org/drawingml/2006/main" noChangeAspect="1"/>
          </p:cNvPicPr>
          <p:nvPr/>
        </p:nvPicPr>
        <p:blipFill>
          <a:blip xmlns:r="http://schemas.openxmlformats.org/officeDocument/2006/relationships" xmlns:a="http://schemas.openxmlformats.org/drawingml/2006/main" r:embed="R3cc08476b6dc4649"/>
          <a:stretch xmlns:a="http://schemas.openxmlformats.org/drawingml/2006/main"/>
        </p:blipFill>
        <p:spPr>
          <a:xfrm xmlns:a="http://schemas.openxmlformats.org/drawingml/2006/main">
            <a:off x="1511531" y="1781175"/>
            <a:ext cx="6101888" cy="4248150"/>
          </a:xfrm>
          <a:prstGeom xmlns:a="http://schemas.openxmlformats.org/drawingml/2006/main" prst="rect">
            <a:avLst/>
          </a:prstGeom>
        </p:spPr>
      </p:pic>
      <p:sp>
        <p:nvSpPr>
          <p:cNvPr id="6" name="Selected transfer&#10;&#10;Rationale retained&#10;&#10;Ver">
            <a:extLst xmlns:a="http://schemas.openxmlformats.org/drawingml/2006/main">
              <a:ext uri="{FF2B5EF4-FFF2-40B4-BE49-F238E27FC236}">
                <a16:creationId xmlns:a16="http://schemas.microsoft.com/office/drawing/2014/main" id="{5B3BF37A-AB86-46B9-A8D0-1922E2614C39}"/>
              </a:ext>
            </a:extLst>
          </p:cNvPr>
          <p:cNvSpPr>
            <a:spLocks xmlns:a="http://schemas.openxmlformats.org/drawingml/2006/main" noGrp="1"/>
          </p:cNvSpPr>
          <p:nvPr/>
        </p:nvSpPr>
        <p:spPr>
          <a:xfrm xmlns:a="http://schemas.openxmlformats.org/drawingml/2006/main">
            <a:off x="9086850" y="2133600"/>
            <a:ext cx="24860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Selected transfer</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Rationale retained</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Verification: ok</a:t>
            </a:r>
          </a:p>
        </p:txBody>
      </p:sp>
    </p:spTree>
    <p:extLst>
      <p:ext uri="{BB962C8B-B14F-4D97-AF65-F5344CB8AC3E}">
        <p14:creationId xmlns:p14="http://schemas.microsoft.com/office/powerpoint/2010/main" val="502263266"/>
      </p:ext>
    </p:extLst>
  </p:cSld>
</p:sld>
</file>

<file path=ppt/slides/slide16.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1" name="EXTERNAL PREDICTIVE EVIDENCE">
            <a:extLst xmlns:a="http://schemas.openxmlformats.org/drawingml/2006/main">
              <a:ext uri="{FF2B5EF4-FFF2-40B4-BE49-F238E27FC236}">
                <a16:creationId xmlns:a16="http://schemas.microsoft.com/office/drawing/2014/main" id="{72040EA1-493B-4104-91CD-FBE91FB5A18D}"/>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EXTERNAL PREDICTIVE EVIDENCE</a:t>
            </a:r>
          </a:p>
        </p:txBody>
      </p:sp>
      <p:sp>
        <p:nvSpPr>
          <p:cNvPr id="2" name="A reproducible benchmark, with high foreca">
            <a:extLst xmlns:a="http://schemas.openxmlformats.org/drawingml/2006/main">
              <a:ext uri="{FF2B5EF4-FFF2-40B4-BE49-F238E27FC236}">
                <a16:creationId xmlns:a16="http://schemas.microsoft.com/office/drawing/2014/main" id="{50F5DC12-B277-4798-A518-A189B161A663}"/>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A reproducible benchmark, with high forecast error</a:t>
            </a:r>
          </a:p>
        </p:txBody>
      </p:sp>
      <p:sp>
        <p:nvSpPr>
          <p:cNvPr id="3" name="07">
            <a:extLst xmlns:a="http://schemas.openxmlformats.org/drawingml/2006/main">
              <a:ext uri="{FF2B5EF4-FFF2-40B4-BE49-F238E27FC236}">
                <a16:creationId xmlns:a16="http://schemas.microsoft.com/office/drawing/2014/main" id="{DCD3B5F2-4038-4ED4-AE9A-E8E951D61D5E}"/>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16</a:t>
            </a:r>
          </a:p>
        </p:txBody>
      </p:sp>
      <p:sp>
        <p:nvSpPr>
          <p:cNvPr id="4" name="UCI Online Retail II, UK non-store retaile">
            <a:extLst xmlns:a="http://schemas.openxmlformats.org/drawingml/2006/main">
              <a:ext uri="{FF2B5EF4-FFF2-40B4-BE49-F238E27FC236}">
                <a16:creationId xmlns:a16="http://schemas.microsoft.com/office/drawing/2014/main" id="{3E3FA01C-FD68-4A9F-B76A-C839BB674957}"/>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UCI Online Retail II, UK non-store retailer. Known-SKU test: 11 Nov–8 Dec 2011. Precomputed study, separate from MR D.I.Y.</a:t>
            </a:r>
          </a:p>
        </p:txBody>
      </p:sp>
      <p:sp>
        <p:nvSpPr>
          <p:cNvPr id="5" name="Test mean absolute error, units">
            <a:extLst xmlns:a="http://schemas.openxmlformats.org/drawingml/2006/main">
              <a:ext uri="{FF2B5EF4-FFF2-40B4-BE49-F238E27FC236}">
                <a16:creationId xmlns:a16="http://schemas.microsoft.com/office/drawing/2014/main" id="{B62E7E19-76B7-4378-BF56-03D30C9CE794}"/>
              </a:ext>
            </a:extLst>
          </p:cNvPr>
          <p:cNvSpPr>
            <a:spLocks xmlns:a="http://schemas.openxmlformats.org/drawingml/2006/main" noGrp="1"/>
          </p:cNvSpPr>
          <p:nvPr/>
        </p:nvSpPr>
        <p:spPr>
          <a:xfrm xmlns:a="http://schemas.openxmlformats.org/drawingml/2006/main">
            <a:off x="628650" y="1981200"/>
            <a:ext cx="681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21212"/>
                </a:solidFill>
                <a:latin typeface="Liberation Sans"/>
                <a:ea typeface="Liberation Sans"/>
                <a:cs typeface="Liberation Sans"/>
              </a:defRPr>
            </a:defPPr>
          </a:lstStyle>
          <a:p xmlns:a="http://schemas.openxmlformats.org/drawingml/2006/main">
            <a:pPr algn="l">
              <a:defRPr sz="1650" b="1">
                <a:solidFill>
                  <a:srgbClr val="121212"/>
                </a:solidFill>
                <a:latin typeface="Liberation Sans"/>
                <a:ea typeface="Liberation Sans"/>
                <a:cs typeface="Liberation Sans"/>
              </a:defRPr>
            </a:pPr>
            <a:r>
              <a:rPr sz="1650" b="1">
                <a:solidFill>
                  <a:srgbClr val="121212"/>
                </a:solidFill>
                <a:latin typeface="Liberation Sans"/>
                <a:ea typeface="Liberation Sans"/>
                <a:cs typeface="Liberation Sans"/>
              </a:rPr>
              <a:t>Test mean absolute error, units</a:t>
            </a:r>
          </a:p>
        </p:txBody>
      </p:sp>
      <p:graphicFrame>
        <p:nvGraphicFramePr>
          <p:cNvPr id="6" name="Chart">
            <a:extLst xmlns:a="http://schemas.openxmlformats.org/drawingml/2006/main">
              <a:ext uri="{FF2B5EF4-FFF2-40B4-BE49-F238E27FC236}">
                <a16:creationId xmlns:a16="http://schemas.microsoft.com/office/drawing/2014/main" id="{7717E313-E5B5-4012-90D7-E9CE1CA7B4D1}"/>
              </a:ext>
            </a:extLst>
          </p:cNvPr>
          <p:cNvGraphicFramePr/>
          <p:nvPr/>
        </p:nvGraphicFramePr>
        <p:xfrm>
          <a:off xmlns:a="http://schemas.openxmlformats.org/drawingml/2006/main" x="571500" y="2562225"/>
          <a:ext xmlns:a="http://schemas.openxmlformats.org/drawingml/2006/main" cx="6953250" cy="3028950"/>
        </p:xfrm>
        <a:graphic xmlns:a="http://schemas.openxmlformats.org/drawingml/2006/main">
          <a:graphicData uri="http://schemas.openxmlformats.org/drawingml/2006/chart">
            <c:chart xmlns:r="http://schemas.openxmlformats.org/officeDocument/2006/relationships" xmlns:c="http://schemas.openxmlformats.org/drawingml/2006/chart" r:id="Ra3fcac97d57f4ece"/>
          </a:graphicData>
        </a:graphic>
      </p:graphicFrame>
      <p:sp>
        <p:nvSpPr>
          <p:cNvPr id="7" name="">
            <a:extLst xmlns:a="http://schemas.openxmlformats.org/drawingml/2006/main">
              <a:ext uri="{FF2B5EF4-FFF2-40B4-BE49-F238E27FC236}">
                <a16:creationId xmlns:a16="http://schemas.microsoft.com/office/drawing/2014/main" id="{308280FF-4D6E-4681-9687-E712CBA7B395}"/>
              </a:ext>
            </a:extLst>
          </p:cNvPr>
          <p:cNvSpPr>
            <a:spLocks xmlns:a="http://schemas.openxmlformats.org/drawingml/2006/main" noGrp="1"/>
          </p:cNvSpPr>
          <p:nvPr/>
        </p:nvSpPr>
        <p:spPr>
          <a:xfrm xmlns:a="http://schemas.openxmlformats.org/drawingml/2006/main">
            <a:off x="7905750" y="2009775"/>
            <a:ext cx="0" cy="365760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8" name="103.41%">
            <a:extLst xmlns:a="http://schemas.openxmlformats.org/drawingml/2006/main">
              <a:ext uri="{FF2B5EF4-FFF2-40B4-BE49-F238E27FC236}">
                <a16:creationId xmlns:a16="http://schemas.microsoft.com/office/drawing/2014/main" id="{3BE269D5-D0FE-4B66-8581-760B4B57246A}"/>
              </a:ext>
            </a:extLst>
          </p:cNvPr>
          <p:cNvSpPr>
            <a:spLocks xmlns:a="http://schemas.openxmlformats.org/drawingml/2006/main" noGrp="1"/>
          </p:cNvSpPr>
          <p:nvPr/>
        </p:nvSpPr>
        <p:spPr>
          <a:xfrm xmlns:a="http://schemas.openxmlformats.org/drawingml/2006/main">
            <a:off x="8305800" y="2133600"/>
            <a:ext cx="3276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21212"/>
                </a:solidFill>
                <a:latin typeface="Liberation Sans"/>
                <a:ea typeface="Liberation Sans"/>
                <a:cs typeface="Liberation Sans"/>
              </a:defRPr>
            </a:defPPr>
          </a:lstStyle>
          <a:p xmlns:a="http://schemas.openxmlformats.org/drawingml/2006/main">
            <a:pPr algn="l">
              <a:defRPr sz="4500" b="1">
                <a:solidFill>
                  <a:srgbClr val="121212"/>
                </a:solidFill>
                <a:latin typeface="Liberation Sans"/>
                <a:ea typeface="Liberation Sans"/>
                <a:cs typeface="Liberation Sans"/>
              </a:defRPr>
            </a:pPr>
            <a:r>
              <a:rPr sz="4500" b="1">
                <a:solidFill>
                  <a:srgbClr val="121212"/>
                </a:solidFill>
                <a:latin typeface="Liberation Sans"/>
                <a:ea typeface="Liberation Sans"/>
                <a:cs typeface="Liberation Sans"/>
              </a:rPr>
              <a:t>103.41%</a:t>
            </a:r>
          </a:p>
        </p:txBody>
      </p:sp>
      <p:sp>
        <p:nvSpPr>
          <p:cNvPr id="9" name="retained mean test WAPE">
            <a:extLst xmlns:a="http://schemas.openxmlformats.org/drawingml/2006/main">
              <a:ext uri="{FF2B5EF4-FFF2-40B4-BE49-F238E27FC236}">
                <a16:creationId xmlns:a16="http://schemas.microsoft.com/office/drawing/2014/main" id="{DAD4923C-898F-46EA-9CCB-51C3C83DAFBC}"/>
              </a:ext>
            </a:extLst>
          </p:cNvPr>
          <p:cNvSpPr>
            <a:spLocks xmlns:a="http://schemas.openxmlformats.org/drawingml/2006/main" noGrp="1"/>
          </p:cNvSpPr>
          <p:nvPr/>
        </p:nvSpPr>
        <p:spPr>
          <a:xfrm xmlns:a="http://schemas.openxmlformats.org/drawingml/2006/main">
            <a:off x="8324850" y="3000375"/>
            <a:ext cx="31146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retained mean test WAPE</a:t>
            </a:r>
          </a:p>
        </p:txBody>
      </p:sp>
      <p:sp>
        <p:nvSpPr>
          <p:cNvPr id="10" name="Validation selected the mean.&#10;The supervis">
            <a:extLst xmlns:a="http://schemas.openxmlformats.org/drawingml/2006/main">
              <a:ext uri="{FF2B5EF4-FFF2-40B4-BE49-F238E27FC236}">
                <a16:creationId xmlns:a16="http://schemas.microsoft.com/office/drawing/2014/main" id="{3799116B-F6E3-4AB1-9DD2-DBC51AE137F3}"/>
              </a:ext>
            </a:extLst>
          </p:cNvPr>
          <p:cNvSpPr>
            <a:spLocks xmlns:a="http://schemas.openxmlformats.org/drawingml/2006/main" noGrp="1"/>
          </p:cNvSpPr>
          <p:nvPr/>
        </p:nvSpPr>
        <p:spPr>
          <a:xfrm xmlns:a="http://schemas.openxmlformats.org/drawingml/2006/main">
            <a:off x="8324850" y="3943350"/>
            <a:ext cx="31242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1212"/>
                </a:solidFill>
                <a:latin typeface="Liberation Sans"/>
                <a:ea typeface="Liberation Sans"/>
                <a:cs typeface="Liberation Sans"/>
              </a:defRPr>
            </a:defPPr>
          </a:lstStyle>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Validation selected the mean.</a:t>
            </a:r>
          </a:p>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The supervised ridge lost.</a:t>
            </a:r>
          </a:p>
          <a:p xmlns:a="http://schemas.openxmlformats.org/drawingml/2006/main">
            <a:r>
              <a:t/>
            </a:r>
          </a:p>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Accuracy is still weak.</a:t>
            </a:r>
          </a:p>
        </p:txBody>
      </p:sp>
    </p:spTree>
    <p:extLst>
      <p:ext uri="{BB962C8B-B14F-4D97-AF65-F5344CB8AC3E}">
        <p14:creationId xmlns:p14="http://schemas.microsoft.com/office/powerpoint/2010/main" val="664300505"/>
      </p:ext>
    </p:extLst>
  </p:cSld>
</p:sld>
</file>

<file path=ppt/slides/slide17.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OFFLINE FALLBACK  SAVED SCREEN">
            <a:extLst xmlns:a="http://schemas.openxmlformats.org/drawingml/2006/main">
              <a:ext uri="{FF2B5EF4-FFF2-40B4-BE49-F238E27FC236}">
                <a16:creationId xmlns:a16="http://schemas.microsoft.com/office/drawing/2014/main" id="{9DFA8502-E341-4F69-A802-1C28615D4C5F}"/>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OFFLINE FALLBACK  SAVED SCREEN</a:t>
            </a:r>
          </a:p>
        </p:txBody>
      </p:sp>
      <p:sp>
        <p:nvSpPr>
          <p:cNvPr id="2" name="Missing lead time stops a quantified recom">
            <a:extLst xmlns:a="http://schemas.openxmlformats.org/drawingml/2006/main">
              <a:ext uri="{FF2B5EF4-FFF2-40B4-BE49-F238E27FC236}">
                <a16:creationId xmlns:a16="http://schemas.microsoft.com/office/drawing/2014/main" id="{08F82BBC-CDC9-4004-B01D-67FDE99657A6}"/>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Missing lead time stops a quantified recommendation</a:t>
            </a:r>
          </a:p>
        </p:txBody>
      </p:sp>
      <p:sp>
        <p:nvSpPr>
          <p:cNvPr id="3" name="17">
            <a:extLst xmlns:a="http://schemas.openxmlformats.org/drawingml/2006/main">
              <a:ext uri="{FF2B5EF4-FFF2-40B4-BE49-F238E27FC236}">
                <a16:creationId xmlns:a16="http://schemas.microsoft.com/office/drawing/2014/main" id="{35C38FB0-84F5-4DD0-8476-E7A88DABA26A}"/>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17</a:t>
            </a:r>
          </a:p>
        </p:txBody>
      </p:sp>
      <p:sp>
        <p:nvSpPr>
          <p:cNvPr id="4" name="Saved screen from hosted Site v71, 10 Octo">
            <a:extLst xmlns:a="http://schemas.openxmlformats.org/drawingml/2006/main">
              <a:ext uri="{FF2B5EF4-FFF2-40B4-BE49-F238E27FC236}">
                <a16:creationId xmlns:a16="http://schemas.microsoft.com/office/drawing/2014/main" id="{B28DFE19-87E4-446B-95E9-4DEFFDA03BD1}"/>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Saved screen from hosted Site v71, 10 October 2026. Unknown values remain unknown.</a:t>
            </a:r>
          </a:p>
        </p:txBody>
      </p:sp>
      <p:pic>
        <p:nvPicPr>
          <p:cNvPr id="5" name="">
            <a:extLst xmlns:a="http://schemas.openxmlformats.org/drawingml/2006/main">
              <a:ext uri="{FF2B5EF4-FFF2-40B4-BE49-F238E27FC236}">
                <a16:creationId xmlns:a16="http://schemas.microsoft.com/office/drawing/2014/main" id="{BAD7A98E-AC19-4C7A-986D-05361E5BD99C}"/>
              </a:ext>
            </a:extLst>
          </p:cNvPr>
          <p:cNvPicPr>
            <a:picLocks xmlns:a="http://schemas.openxmlformats.org/drawingml/2006/main" noChangeAspect="1"/>
          </p:cNvPicPr>
          <p:nvPr/>
        </p:nvPicPr>
        <p:blipFill>
          <a:blip xmlns:r="http://schemas.openxmlformats.org/officeDocument/2006/relationships" xmlns:a="http://schemas.openxmlformats.org/drawingml/2006/main" r:embed="Rb0febd61426f44f0"/>
          <a:stretch xmlns:a="http://schemas.openxmlformats.org/drawingml/2006/main"/>
        </p:blipFill>
        <p:spPr>
          <a:xfrm xmlns:a="http://schemas.openxmlformats.org/drawingml/2006/main">
            <a:off x="1511531" y="1781175"/>
            <a:ext cx="6101888" cy="4248150"/>
          </a:xfrm>
          <a:prstGeom xmlns:a="http://schemas.openxmlformats.org/drawingml/2006/main" prst="rect">
            <a:avLst/>
          </a:prstGeom>
        </p:spPr>
      </p:pic>
      <p:sp>
        <p:nvSpPr>
          <p:cNvPr id="6" name="SC16&#10;&#10;lead_days missing&#10;&#10;Advice abstains">
            <a:extLst xmlns:a="http://schemas.openxmlformats.org/drawingml/2006/main">
              <a:ext uri="{FF2B5EF4-FFF2-40B4-BE49-F238E27FC236}">
                <a16:creationId xmlns:a16="http://schemas.microsoft.com/office/drawing/2014/main" id="{099FCD7D-EC74-40EE-981C-3E9BBFE96102}"/>
              </a:ext>
            </a:extLst>
          </p:cNvPr>
          <p:cNvSpPr>
            <a:spLocks xmlns:a="http://schemas.openxmlformats.org/drawingml/2006/main" noGrp="1"/>
          </p:cNvSpPr>
          <p:nvPr/>
        </p:nvSpPr>
        <p:spPr>
          <a:xfrm xmlns:a="http://schemas.openxmlformats.org/drawingml/2006/main">
            <a:off x="9086850" y="2133600"/>
            <a:ext cx="24860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SC16</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lead_days missing</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Advice abstains</a:t>
            </a:r>
          </a:p>
        </p:txBody>
      </p:sp>
    </p:spTree>
    <p:extLst>
      <p:ext uri="{BB962C8B-B14F-4D97-AF65-F5344CB8AC3E}">
        <p14:creationId xmlns:p14="http://schemas.microsoft.com/office/powerpoint/2010/main" val="18774616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2026-10-10T05:35:26.3760000Z</dcterms:created>
  <dcterms:modified xsi:type="dcterms:W3CDTF">2026-10-10T05:35:26.3760000Z</dcterms:modified>
</coreProperties>
</file>