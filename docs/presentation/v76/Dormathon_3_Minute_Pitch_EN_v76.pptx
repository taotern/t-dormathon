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06fe4129a53434d" /><Relationship Type="http://schemas.openxmlformats.org/officeDocument/2006/relationships/extended-properties" Target="/docProps/app.xml" Id="R2e55aa40977545d1" /><Relationship Type="http://schemas.openxmlformats.org/officeDocument/2006/relationships/officeDocument" Target="/ppt/presentation.xml" Id="Rc9a866978a434d2c" /></Relationships>
</file>

<file path=ppt/presentation.xml><?xml version="1.0" encoding="utf-8"?>
<p:presentation xmlns:p="http://schemas.openxmlformats.org/presentationml/2006/main">
  <p:sldMasterIdLst>
    <p:sldMasterId xmlns:r="http://schemas.openxmlformats.org/officeDocument/2006/relationships" id="2147483648" r:id="R5ff1bfcd82a34df4"/>
  </p:sldMasterIdLst>
  <p:notesMasterIdLst>
    <p:notesMasterId xmlns:r="http://schemas.openxmlformats.org/officeDocument/2006/relationships" r:id="R414934fc019f4b87"/>
  </p:notesMasterIdLst>
  <p:sldIdLst>
    <p:sldId xmlns:r="http://schemas.openxmlformats.org/officeDocument/2006/relationships" id="256" r:id="Rd0b4445bd495460e"/>
    <p:sldId xmlns:r="http://schemas.openxmlformats.org/officeDocument/2006/relationships" id="257" r:id="Rf5b5e5b3850047ae"/>
    <p:sldId xmlns:r="http://schemas.openxmlformats.org/officeDocument/2006/relationships" id="258" r:id="Rbe3a2727f33a4353"/>
    <p:sldId xmlns:r="http://schemas.openxmlformats.org/officeDocument/2006/relationships" id="259" r:id="R54a0c621179942df"/>
    <p:sldId xmlns:r="http://schemas.openxmlformats.org/officeDocument/2006/relationships" id="260" r:id="R5f23071afe764642"/>
    <p:sldId xmlns:r="http://schemas.openxmlformats.org/officeDocument/2006/relationships" id="261" r:id="R6be5c6dbadb64933"/>
    <p:sldId xmlns:r="http://schemas.openxmlformats.org/officeDocument/2006/relationships" id="262" r:id="R32525139b47e478f"/>
    <p:sldId xmlns:r="http://schemas.openxmlformats.org/officeDocument/2006/relationships" id="263" r:id="Rbc38aa4ba72b488e"/>
    <p:sldId xmlns:r="http://schemas.openxmlformats.org/officeDocument/2006/relationships" id="264" r:id="R045dca50c87249c0"/>
    <p:sldId xmlns:r="http://schemas.openxmlformats.org/officeDocument/2006/relationships" id="265" r:id="R05f129996b2e49fc"/>
    <p:sldId xmlns:r="http://schemas.openxmlformats.org/officeDocument/2006/relationships" id="266" r:id="Rc92d25a867aa4a4e"/>
    <p:sldId xmlns:r="http://schemas.openxmlformats.org/officeDocument/2006/relationships" id="267" r:id="Redd6f9103cba4cf2"/>
    <p:sldId xmlns:r="http://schemas.openxmlformats.org/officeDocument/2006/relationships" id="268" r:id="R0b3af2b28dd548e8"/>
    <p:sldId xmlns:r="http://schemas.openxmlformats.org/officeDocument/2006/relationships" id="269" r:id="R313aa58078624349"/>
    <p:sldId xmlns:r="http://schemas.openxmlformats.org/officeDocument/2006/relationships" id="270" r:id="R1886e991282549f8"/>
    <p:sldId xmlns:r="http://schemas.openxmlformats.org/officeDocument/2006/relationships" id="271" r:id="Ra93d5b4b7eb34f14"/>
    <p:sldId xmlns:r="http://schemas.openxmlformats.org/officeDocument/2006/relationships" id="272" r:id="R3058dce665dc4dba"/>
    <p:sldId xmlns:r="http://schemas.openxmlformats.org/officeDocument/2006/relationships" id="273" r:id="Ra1886c91e4f045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6989ece01348a1" /><Relationship Type="http://schemas.openxmlformats.org/officeDocument/2006/relationships/slideMaster" Target="/ppt/slideMasters/slideMaster1.xml" Id="R5ff1bfcd82a34df4" /><Relationship Type="http://schemas.openxmlformats.org/officeDocument/2006/relationships/notesMaster" Target="/ppt/notesMasters/notesMaster1.xml" Id="R414934fc019f4b87" /><Relationship Type="http://schemas.openxmlformats.org/officeDocument/2006/relationships/presProps" Target="/ppt/presProps.xml" Id="R43af9d219ecf48a8" /><Relationship Type="http://schemas.openxmlformats.org/officeDocument/2006/relationships/tableStyles" Target="/ppt/tableStyles.xml" Id="R72a72f4b7bb54a87" /><Relationship Type="http://schemas.openxmlformats.org/officeDocument/2006/relationships/slide" Target="/ppt/slides/slide1.xml" Id="Rd0b4445bd495460e" /><Relationship Type="http://schemas.openxmlformats.org/officeDocument/2006/relationships/slide" Target="/ppt/slides/slide2.xml" Id="Rf5b5e5b3850047ae" /><Relationship Type="http://schemas.openxmlformats.org/officeDocument/2006/relationships/slide" Target="/ppt/slides/slide3.xml" Id="Rbe3a2727f33a4353" /><Relationship Type="http://schemas.openxmlformats.org/officeDocument/2006/relationships/slide" Target="/ppt/slides/slide4.xml" Id="R54a0c621179942df" /><Relationship Type="http://schemas.openxmlformats.org/officeDocument/2006/relationships/slide" Target="/ppt/slides/slide5.xml" Id="R5f23071afe764642" /><Relationship Type="http://schemas.openxmlformats.org/officeDocument/2006/relationships/slide" Target="/ppt/slides/slide6.xml" Id="R6be5c6dbadb64933" /><Relationship Type="http://schemas.openxmlformats.org/officeDocument/2006/relationships/slide" Target="/ppt/slides/slide7.xml" Id="R32525139b47e478f" /><Relationship Type="http://schemas.openxmlformats.org/officeDocument/2006/relationships/slide" Target="/ppt/slides/slide8.xml" Id="Rbc38aa4ba72b488e" /><Relationship Type="http://schemas.openxmlformats.org/officeDocument/2006/relationships/slide" Target="/ppt/slides/slide9.xml" Id="R045dca50c87249c0" /><Relationship Type="http://schemas.openxmlformats.org/officeDocument/2006/relationships/slide" Target="/ppt/slides/slide10.xml" Id="R05f129996b2e49fc" /><Relationship Type="http://schemas.openxmlformats.org/officeDocument/2006/relationships/slide" Target="/ppt/slides/slide11.xml" Id="Rc92d25a867aa4a4e" /><Relationship Type="http://schemas.openxmlformats.org/officeDocument/2006/relationships/slide" Target="/ppt/slides/slide12.xml" Id="Redd6f9103cba4cf2" /><Relationship Type="http://schemas.openxmlformats.org/officeDocument/2006/relationships/slide" Target="/ppt/slides/slide13.xml" Id="R0b3af2b28dd548e8" /><Relationship Type="http://schemas.openxmlformats.org/officeDocument/2006/relationships/slide" Target="/ppt/slides/slide14.xml" Id="R313aa58078624349" /><Relationship Type="http://schemas.openxmlformats.org/officeDocument/2006/relationships/slide" Target="/ppt/slides/slide15.xml" Id="R1886e991282549f8" /><Relationship Type="http://schemas.openxmlformats.org/officeDocument/2006/relationships/slide" Target="/ppt/slides/slide16.xml" Id="Ra93d5b4b7eb34f14" /><Relationship Type="http://schemas.openxmlformats.org/officeDocument/2006/relationships/slide" Target="/ppt/slides/slide17.xml" Id="R3058dce665dc4dba" /><Relationship Type="http://schemas.openxmlformats.org/officeDocument/2006/relationships/slide" Target="/ppt/slides/slide18.xml" Id="Ra1886c91e4f045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d1c65001df41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68d72d2bb64cc3" /><Relationship Type="http://schemas.openxmlformats.org/officeDocument/2006/relationships/notesMaster" Target="/ppt/notesMasters/notesMaster1.xml" Id="Ra65a8f2752db40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ee5ab908854bbc" /><Relationship Type="http://schemas.openxmlformats.org/officeDocument/2006/relationships/notesMaster" Target="/ppt/notesMasters/notesMaster1.xml" Id="R8e69c2f9f7d149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2c385fa5a447a3" /><Relationship Type="http://schemas.openxmlformats.org/officeDocument/2006/relationships/notesMaster" Target="/ppt/notesMasters/notesMaster1.xml" Id="R2d34a00025a847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0677d88f2b4ab7" /><Relationship Type="http://schemas.openxmlformats.org/officeDocument/2006/relationships/notesMaster" Target="/ppt/notesMasters/notesMaster1.xml" Id="R19a29e64b0a34c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9ab8e2d69d434c" /><Relationship Type="http://schemas.openxmlformats.org/officeDocument/2006/relationships/notesMaster" Target="/ppt/notesMasters/notesMaster1.xml" Id="R6d59af98dd9d41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0df016b8024764" /><Relationship Type="http://schemas.openxmlformats.org/officeDocument/2006/relationships/notesMaster" Target="/ppt/notesMasters/notesMaster1.xml" Id="Rea97a2ddc3114d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30c33b5105498c" /><Relationship Type="http://schemas.openxmlformats.org/officeDocument/2006/relationships/notesMaster" Target="/ppt/notesMasters/notesMaster1.xml" Id="R01c3764cb53041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45e169fda94958" /><Relationship Type="http://schemas.openxmlformats.org/officeDocument/2006/relationships/notesMaster" Target="/ppt/notesMasters/notesMaster1.xml" Id="R1bc4bbd0197f42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5ca9f4b5b641eb" /><Relationship Type="http://schemas.openxmlformats.org/officeDocument/2006/relationships/notesMaster" Target="/ppt/notesMasters/notesMaster1.xml" Id="R908fad54943846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0a40b730aa47e9" /><Relationship Type="http://schemas.openxmlformats.org/officeDocument/2006/relationships/notesMaster" Target="/ppt/notesMasters/notesMaster1.xml" Id="Ra2a4286e139148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92059fb1f44b8d" /><Relationship Type="http://schemas.openxmlformats.org/officeDocument/2006/relationships/notesMaster" Target="/ppt/notesMasters/notesMaster1.xml" Id="Rde49fa9163c84d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522e49d2df4ba2" /><Relationship Type="http://schemas.openxmlformats.org/officeDocument/2006/relationships/notesMaster" Target="/ppt/notesMasters/notesMaster1.xml" Id="Rfd9f2a51146b4b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51b60261004302" /><Relationship Type="http://schemas.openxmlformats.org/officeDocument/2006/relationships/notesMaster" Target="/ppt/notesMasters/notesMaster1.xml" Id="R1a483cac6a1e44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bb22fff41f4751" /><Relationship Type="http://schemas.openxmlformats.org/officeDocument/2006/relationships/notesMaster" Target="/ppt/notesMasters/notesMaster1.xml" Id="R9cd6ac6ea8e545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1a3f5740b44eea" /><Relationship Type="http://schemas.openxmlformats.org/officeDocument/2006/relationships/notesMaster" Target="/ppt/notesMasters/notesMaster1.xml" Id="R8225b2a441684f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50613158744dcc" /><Relationship Type="http://schemas.openxmlformats.org/officeDocument/2006/relationships/notesMaster" Target="/ppt/notesMasters/notesMaster1.xml" Id="Rbf41fbdeeea348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a2495f6f2444ee" /><Relationship Type="http://schemas.openxmlformats.org/officeDocument/2006/relationships/notesMaster" Target="/ppt/notesMasters/notesMaster1.xml" Id="R386a1f663d2a45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03f35b5c874715" /><Relationship Type="http://schemas.openxmlformats.org/officeDocument/2006/relationships/notesMaster" Target="/ppt/notesMasters/notesMaster1.xml" Id="R4c09dd6861b042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00:00–00:15. A regional operations lead sees a weather warning. Should a delivery plan change, and what would that protect? Dormathon makes that decision reviewable, from the source evidence to the remaining operational risk.</a:t>
            </a:r>
          </a:p>
          <a:p xmlns:a="http://schemas.openxmlformats.org/drawingml/2006/main">
            <a:r>
              <a:t>Three-minute pitch and two-minute Q&amp;A. The six main slides provide a complete offline path if the live site is unavailable.</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00:15–00:45. Here is a saved official Malaysian weather warning. It is a reason to review a shipment, not proof that the company is disrupted. The lead explicitly maps it to a fictional route and confirms a four-day total delay. That number is an assumption entered for the replay; the warning does not supply it.</a:t>
            </a:r>
          </a:p>
          <a:p xmlns:a="http://schemas.openxmlformats.org/drawingml/2006/main">
            <a:r>
              <a:t>The source is MET Malaysia via data.gov.my, checked 06:39:16Z on 10 October 2026. Raw warning issue time 13:45 and expiry 18:00 are source-local strings without a UTC offset. This is a saved replay, potentially expired when presented, not an active alert. A warning records expected weather, not an observed flood, road closure or company delay.</a:t>
            </a:r>
          </a:p>
          <a:p xmlns:a="http://schemas.openxmlformats.org/drawingml/2006/main">
            <a:r>
              <a:t/>
            </a:r>
          </a:p>
          <a:p xmlns:a="http://schemas.openxmlformats.org/drawingml/2006/main">
            <a:r>
              <a:t>SOURCES</a:t>
            </a:r>
          </a:p>
          <a:p xmlns:a="http://schemas.openxmlformats.org/drawingml/2006/main">
            <a:r>
              <a:t>MET Malaysia via data.gov.my. Saved official warning API facts checked 2026-10-10T06:39:16.586109Z. https://api.data.gov.my/weather/warning/?sort=-warning_issue__issued&amp;limit=100 . Documentation: https://developer.data.gov.my/realtime-api/weather . Warning issue/validity clocks lack a UTC offset; preserve raw strings. No live refresh or verified business exposure.</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00:45–01:20. The calculation keeps demand, stock and candidate actions fixed. Only the confirmed arrival assumption changes. The affected shipment moves from October fifteenth to the seventeenth. The no-change path now leaves sixty-eight units unmet, with the first projected shortage on October twelfth. The product shows exactly which assumption produced that consequence.</a:t>
            </a:r>
          </a:p>
          <a:p xmlns:a="http://schemas.openxmlformats.org/drawingml/2006/main">
            <a:r>
              <a:t>The 196-day authored history produces 148 units of seven-day point demand before and after. Current total delay changes 2 to 4 days, replacing rather than adding to the previous delay. No-change unmet demand changes 25.636 to 68. Another declared 20-unit shipment still arrives 13 October. Weather is not converted into a demand shock. Legacy constant-demand 40-unit / MYR 496 / 61.6 results remain separate.</a:t>
            </a:r>
          </a:p>
          <a:p xmlns:a="http://schemas.openxmlformats.org/drawingml/2006/main">
            <a:r>
              <a:t/>
            </a:r>
          </a:p>
          <a:p xmlns:a="http://schemas.openxmlformats.org/drawingml/2006/main">
            <a:r>
              <a:t>SOURCES</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v76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01:20–01:55. One feasible package transfers a stock buffer and expedites the shipment, while planning invoice review, qualified service and safety-minimum power. Shared cash, stock, fuel and capacity constrain the package. It leaves zero modeled unmet demand, but a one-point-three-hour continuity gap remains. That is a concrete, inspectable trade-off. Viewing the plan executes nothing.</a:t>
            </a:r>
          </a:p>
          <a:p xmlns:a="http://schemas.openxmlformats.org/drawingml/2006/main">
            <a:r>
              <a:t>The replay compares 72 bounded package identities with 48 feasible under the default unreserved snapshot. The inspected after package includes practical inventory transfer, route expedite, invoice review, qualified service and safety-minimum energy. It is an example, not an automatic or globally optimal recommendation. Known conditional cost 243.9675 excludes unpriced consequences. This is a deterministic point-path comparison, separate from the later weighted sequential rehearsal.</a:t>
            </a:r>
          </a:p>
          <a:p xmlns:a="http://schemas.openxmlformats.org/drawingml/2006/main">
            <a:r>
              <a:t/>
            </a:r>
          </a:p>
          <a:p xmlns:a="http://schemas.openxmlformats.org/drawingml/2006/main">
            <a:r>
              <a:t>SOURCES</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v76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01:55–02:30. An optional rehearsal then asks what to do when new information arrives. The first plan is common across the assumed paths. On day two, the next action can use fulfilled sales, receipts and a carrier update. Paths with the same observed history receive the same action. Earlier commitments and resource usage carry forward. This demonstrates bounded replanning, not a trained autonomous agent.</a:t>
            </a:r>
          </a:p>
          <a:p xmlns:a="http://schemas.openxmlformats.org/drawingml/2006/main">
            <a:r>
              <a:t>This rehearsal starts its own two-decision comparison using the confirmed four-day assumption. It is not a simulation that executes or automatically continues the inspected static package. For the confirmed four-day replay, the delayed-ETA branch plans both a 40-unit transfer and route expedite; the earlier-ETA branch adds no inventory action. The two-day baseline adds a transfer only and must not be substituted for this replay. Future demand remains uncertain. The carrier update is assumed accurate within the authored set, not a verified feed. Show costs with service in the appendix; lower assumed expected cost has slightly higher unmet demand.</a:t>
            </a:r>
          </a:p>
          <a:p xmlns:a="http://schemas.openxmlformats.org/drawingml/2006/main">
            <a:r>
              <a:t/>
            </a:r>
          </a:p>
          <a:p xmlns:a="http://schemas.openxmlformats.org/drawingml/2006/main">
            <a:r>
              <a:t>SOURCES</a:t>
            </a:r>
          </a:p>
          <a:p xmlns:a="http://schemas.openxmlformats.org/drawingml/2006/main">
            <a:r>
              <a:t>Project evidence: docs/sequential-contract.md; worker/mrdiy-sequential-planner.js; v76 hosted QA and the confirmed four-day replay. Seven-day, two-decision bounded synthetic rehearsal.</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Hosted v76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02:30–03:00. Dormathon connects public evidence to an explicit operational assumption, a dated shortage, a feasible response and a revised choice after new information. The lead can inspect the basis and see what risk remains before acting. The next proof requires real operating observations. Today, the complete review workflow is working, and its boundaries stay visible.</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 selected-case workflows remain available: 16 supply, 10 procurement, 8 service and 6 energy-security. Event replay, bounded whole-episode enumeration and sequential rehearsal cover the six linked deep cases only. Existing saved choices remain selected-case records. All company operating records and incidents are synthetic.</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live alert feed or weather-to-loss model. The MET source may expire and does not provide total delay, risk probability or company severity. Explicit fictional mapping is required. The LLM remains the pre-existing selected-case explanation service. No new paid request is required for event, joint, stress or sequential calculations. Lexical FTS5/BM25 retrieval remains separate from the bounded deterministic planner.</a:t>
            </a:r>
          </a:p>
          <a:p xmlns:a="http://schemas.openxmlformats.org/drawingml/2006/main">
            <a:r>
              <a:t/>
            </a:r>
          </a:p>
          <a:p xmlns:a="http://schemas.openxmlformats.org/drawingml/2006/main">
            <a:r>
              <a:t>SOURCES</a:t>
            </a:r>
          </a:p>
          <a:p xmlns:a="http://schemas.openxmlformats.org/drawingml/2006/main">
            <a:r>
              <a:t>MET Malaysia via data.gov.my. Saved official warning API facts checked 2026-10-10T06:39:16.586109Z. https://api.data.gov.my/weather/warning/?sort=-warning_issue__issued&amp;limit=100 . Documentation: https://developer.data.gov.my/realtime-api/weather . Warning issue/validity clocks lack a UTC offset; preserve raw strings. No live refresh or verified business exposure.</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four-day replay metrics: replanned known conditional cost MYR 161.016947 versus fixed 273.972951. Weighted unmet demand 2.240850 versus 2.155276 units; both continuity gap 1.3 hours. The lower-cost plan has slightly higher unmet demand, so no dominance or service-improvement claim. Seven-day horizon, decisions at day 0 and day 2. The two-day baseline gives costs 71.016947 and 93.972951, with the same unmet-demand pair. Never use the baseline costs as the four-day replay result. The static joint example 243.9675 is a different point-path comparison. No causal savings or real MRDIY failure probability.</a:t>
            </a:r>
          </a:p>
          <a:p xmlns:a="http://schemas.openxmlformats.org/drawingml/2006/main">
            <a:r>
              <a:t/>
            </a:r>
          </a:p>
          <a:p xmlns:a="http://schemas.openxmlformats.org/drawingml/2006/main">
            <a:r>
              <a:t>SOURCES</a:t>
            </a:r>
          </a:p>
          <a:p xmlns:a="http://schemas.openxmlformats.org/drawingml/2006/main">
            <a:r>
              <a:t>Project evidence: docs/sequential-contract.md; worker/mrdiy-sequential-planner.js; v76 hosted QA and the confirmed four-day replay. Seven-day, two-decision bounded synthetic rehearsal.</a:t>
            </a:r>
          </a:p>
          <a:p xmlns:a="http://schemas.openxmlformats.org/drawingml/2006/main">
            <a:r>
              <a:t>Hosted v76 desktop QA, 10 October 2026: demand outlook, bounded joint-plan comparison, resource accounting and missing-input behavior. Actual screenshots retained with capture version. Optional provider remains selected-case-only; no new paid request was required for expansion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0 and day 2 decisions occur before receipts and demand on those dates. Observation contains only fulfilled synthetic sales and receipts through day 1, current balances and an assumed accurate carrier ETA. Censored unserved latent demand is excluded. Three authored paths carry weights 0.5, 0.3, 0.2; the delayed branches remain indistinguishable with conditional weights 0.6/0.4. Objective order: minimize continuity gap, unallocated service and unplanned review, then weighted known conditional cost. No learned reward, global-optimality, MCTS, PINN, ODE/SDE or digital-twin fidelity claim. Existing constraints and finite action menus bound the result.</a:t>
            </a:r>
          </a:p>
          <a:p xmlns:a="http://schemas.openxmlformats.org/drawingml/2006/main">
            <a:r>
              <a:t/>
            </a:r>
          </a:p>
          <a:p xmlns:a="http://schemas.openxmlformats.org/drawingml/2006/main">
            <a:r>
              <a:t>SOURCES</a:t>
            </a:r>
          </a:p>
          <a:p xmlns:a="http://schemas.openxmlformats.org/drawingml/2006/main">
            <a:r>
              <a:t>Project evidence: docs/sequential-contract.md; worker/mrdiy-sequential-planner.js; v76 hosted QA and the confirmed four-day replay. Seven-day, two-decision bounded synthetic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exploratory rolling-origin external demand study. Selector weekly WAPE 69.7338146%, same-fold mean28 77.2116842%, selector daily WAPE 108.5262963%. Eight retrospective folds on prior training periods already exposed in earlier work. 89,324 weekly forecasts, 625,268 daily points. Descriptive 400-replicate paired SKU/fold interval for weekly selector minus mean28 is minus 11.63 to minus 3.71 percentage points. Not a pristine holdout, stockout calibration or company validation. No operational promotion. Fourteen fixed candidates selected from each preceding 28-day validation window; February–September 2011 test starts, 28 days each.</a:t>
            </a:r>
          </a:p>
          <a:p xmlns:a="http://schemas.openxmlformats.org/drawingml/2006/main">
            <a:r>
              <a:t/>
            </a:r>
          </a:p>
          <a:p xmlns:a="http://schemas.openxmlformats.org/drawingml/2006/main">
            <a:r>
              <a:t>SOURCES</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a:p xmlns:a="http://schemas.openxmlformats.org/drawingml/2006/main">
            <a:r>
              <a:t>Chen, D. (2012). Online Retail II [Dataset]. UCI Machine Learning Repository. DOI 10.24432/C5CG6D. CC BY 4.0. https://archive.ics.uci.edu/dataset/502/online+retail+ii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frozen-split external study retained separately. Test 11 November–8 December 2011: mean28 MAE 6.974 and WAPE 103.41%; weekly-naive MAE 7.727; direct ridge MAE 7.607. Ridge loses to the mean. No direct mean-versus-naive CI or significance claim. Do not compare this old daily score with the new weekly rolling score as a before/after product accuracy gain.</a:t>
            </a:r>
          </a:p>
          <a:p xmlns:a="http://schemas.openxmlformats.org/drawingml/2006/main">
            <a:r>
              <a:t/>
            </a:r>
          </a:p>
          <a:p xmlns:a="http://schemas.openxmlformats.org/drawingml/2006/main">
            <a:r>
              <a:t>SOURCES</a:t>
            </a:r>
          </a:p>
          <a:p xmlns:a="http://schemas.openxmlformats.org/drawingml/2006/main">
            <a:r>
              <a:t>Project evidence: docs/predictive-v0.4.1/artifacts/benchmark-report.v1.json and frozen-split.v1.json. Recomputed and checked 10 October 2026. Results are precomputed.</a:t>
            </a:r>
          </a:p>
          <a:p xmlns:a="http://schemas.openxmlformats.org/drawingml/2006/main">
            <a:r>
              <a:t>Chen, D. (2012). Online Retail II [Dataset]. UCI Machine Learning Repository. DOI 10.24432/C5CG6D. CC BY 4.0. https://archive.ics.uci.edu/dataset/502/online+retail+ii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questions: Low/high live demand paths are empirical authored-history scenarios, not calibrated confidence intervals. Unknown required inputs abstain. Scenario weights are explicitly assumed. The fixed sequential comparator keeps the same literal day-2 action across paths, not a general practical policy. A forecast-driven static joint package is not the same experiment as the sequential expectation. Stress testing evaluates discrete tested points and cannot establish an exact continuous failure threshold or probability. No provider call is needed for the new calculations.</a:t>
            </a:r>
          </a:p>
          <a:p xmlns:a="http://schemas.openxmlformats.org/drawingml/2006/main">
            <a:r>
              <a:t/>
            </a:r>
          </a:p>
          <a:p xmlns:a="http://schemas.openxmlformats.org/drawingml/2006/main">
            <a:r>
              <a:t>SOURCES</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 API documentation https://developer.data.gov.my/realtime-api/weather and source API below. The saved record preserves raw source-local issuance 13:45 and expiry 18:00 without an offset; published and actual occurrence timestamps remain unknown. Source reuse: https://www.met.gov.my/en/info/data-terbuka/ . The optional historical GDACS reference is separate; a Vietnam event does not establish exposure for the fictional Malaysia route. Company FY2025 scope includes Malaysia and Brunei unless otherwise specified. No endorsement or company access implied. Timing: 19:00 MYT ready target and 20:00 review on 10 October 2026; 09:00 submission on 11 October 2026. Source snapshot v76, 10 October.</a:t>
            </a:r>
          </a:p>
          <a:p xmlns:a="http://schemas.openxmlformats.org/drawingml/2006/main">
            <a:r>
              <a:t/>
            </a:r>
          </a:p>
          <a:p xmlns:a="http://schemas.openxmlformats.org/drawingml/2006/main">
            <a:r>
              <a:t>SOURCES</a:t>
            </a:r>
          </a:p>
          <a:p xmlns:a="http://schemas.openxmlformats.org/drawingml/2006/main">
            <a:r>
              <a:t>MET Malaysia via data.gov.my. Saved official warning API facts checked 2026-10-10T06:39:16.586109Z. https://api.data.gov.my/weather/warning/?sort=-warning_issue__issued&amp;limit=100 . Documentation: https://developer.data.gov.my/realtime-api/weather . Warning issue/validity clocks lack a UTC offset; preserve raw strings. No live refresh or verified business exposure.</a:t>
            </a:r>
          </a:p>
          <a:p xmlns:a="http://schemas.openxmlformats.org/drawingml/2006/main">
            <a:r>
              <a:t>MR D.I.Y. Group (M) Berhad, Integrated Annual Report 2025. https://mrdiy.listedcompany.com/misc/ar/MRDIY_AR2025.pdf</a:t>
            </a:r>
          </a:p>
          <a:p xmlns:a="http://schemas.openxmlformats.org/drawingml/2006/main">
            <a:r>
              <a:t>MR D.I.Y. Group (M) Berhad, Sustainability Report 2025, printed pp2,33,37–40,47–49. https://corporate.mrdiy.com/misc/sustainability/MRDIY-Sustainability_Report_2025.pdf</a:t>
            </a:r>
          </a:p>
          <a:p xmlns:a="http://schemas.openxmlformats.org/drawingml/2006/main">
            <a:r>
              <a:t>Chen, D. (2012). Online Retail II [Dataset]. UCI Machine Learning Repository. DOI 10.24432/C5CG6D. CC BY 4.0. https://archive.ics.uci.edu/dataset/502/online+retail+ii</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a:p xmlns:a="http://schemas.openxmlformats.org/drawingml/2006/main">
            <a:r>
              <a:t>Hosted product: https://dormathon-risk-private-20261007.liuyz8715.chatgpt.site/workbench.html. Site v76 with correctly labeled dated captures,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hosted screen, not a live interaction. MET warning replay with explicit source and time limitations.</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v76 with correctly labeled dated captures, published 10 October 2026.</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hosted screen, not a live interaction. Four days replaces the current two-day total delay. The warning does not supply this number.</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v76 with correctly labeled dated captures, published 10 October 2026.</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hosted screen, not a live interaction. No-change point-path shortage 68; selected joint package transfer plus expedite has zero modeled shortage and 1.3-hour continuity gap. No external execution.</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v76 with correctly labeled dated captures, published 10 October 2026.</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hosted screen, not a live interaction. Delayed four-day branch plans both 40-unit transfer and expedite. Replanning 161.016947 versus fixed 273.972951 known conditional MYR; unmet 2.240850 versus 2.155276; both 1.3-hour gap. These are synthetic assumed-weight expectations, not actual savings.</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v76 with correctly labeled dated captures, published 10 October 2026.</a:t>
            </a:r>
          </a:p>
          <a:p xmlns:a="http://schemas.openxmlformats.org/drawingml/2006/main">
            <a:r>
              <a:t>Project evidence: worker/mrdiy-event-evidence.js and mrdiy-event-scenarios.js; saved primary-source facts checked 10 October 2026, with explicit fictional mapping and total-delay confirmation.</a:t>
            </a:r>
          </a:p>
          <a:p xmlns:a="http://schemas.openxmlformats.org/drawingml/2006/main">
            <a:r>
              <a:t>Project evidence: docs/sequential-contract.md; worker/mrdiy-sequential-planner.js; v76 hosted QA and the confirmed four-day replay. Seven-day, two-decision bounded synthetic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e100be395f4d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0ac68bade74d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82ee83cff64f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5893d9b83a46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aff571f1784c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e374b0ee7442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CE1FD-320A-4329-B4DE-0BCCC33B06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D20609-A381-4FAB-B080-61497BBCE7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E5E29-CDD7-48EE-BB6E-AE390CA472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D0BC3-B5F1-4B51-BFFA-4B477BD7DC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43B69A-1B1E-4202-BBA7-183A9BAADF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029B0A-A5EB-4142-B829-F0BCD6BE67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8E4A59-E530-4467-93B5-35DD061CAA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9F80A9-BBF1-4A46-86F7-31ECBDACFC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9B24B7-724A-46FB-927A-D6CDC56EE6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037F0D-DCA0-4A13-9C20-A0F4D85DA7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7c1e3bafda4c0f" /><Relationship Type="http://schemas.openxmlformats.org/officeDocument/2006/relationships/slideLayout" Target="/ppt/slideLayouts/slideLayout1.xml" Id="R4a4d3beb9f554d76" /><Relationship Type="http://schemas.openxmlformats.org/officeDocument/2006/relationships/slideLayout" Target="/ppt/slideLayouts/slideLayout2.xml" Id="R43a8b7d8facd4ca5" /><Relationship Type="http://schemas.openxmlformats.org/officeDocument/2006/relationships/slideLayout" Target="/ppt/slideLayouts/slideLayout3.xml" Id="R151eac8775d94f81" /><Relationship Type="http://schemas.openxmlformats.org/officeDocument/2006/relationships/slideLayout" Target="/ppt/slideLayouts/slideLayout4.xml" Id="R6aeb4a0e76ad4f5b" /><Relationship Type="http://schemas.openxmlformats.org/officeDocument/2006/relationships/slideLayout" Target="/ppt/slideLayouts/slideLayout5.xml" Id="Rd773fb83e3b749d7" /><Relationship Type="http://schemas.openxmlformats.org/officeDocument/2006/relationships/slideLayout" Target="/ppt/slideLayouts/slideLayout6.xml" Id="R9b9a6dd6d6044e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4d3beb9f554d76"/>
    <p:sldLayoutId xmlns:r="http://schemas.openxmlformats.org/officeDocument/2006/relationships" id="2147483650" r:id="R43a8b7d8facd4ca5"/>
    <p:sldLayoutId xmlns:r="http://schemas.openxmlformats.org/officeDocument/2006/relationships" id="2147483651" r:id="R151eac8775d94f81"/>
    <p:sldLayoutId xmlns:r="http://schemas.openxmlformats.org/officeDocument/2006/relationships" id="2147483652" r:id="R6aeb4a0e76ad4f5b"/>
    <p:sldLayoutId xmlns:r="http://schemas.openxmlformats.org/officeDocument/2006/relationships" id="2147483653" r:id="Rd773fb83e3b749d7"/>
    <p:sldLayoutId xmlns:r="http://schemas.openxmlformats.org/officeDocument/2006/relationships" id="2147483654" r:id="R9b9a6dd6d6044e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0282cd164e465d" /><Relationship Type="http://schemas.openxmlformats.org/officeDocument/2006/relationships/notesSlide" Target="/ppt/notesSlides/notesSlide1.xml" Id="R4bcb14c803b045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b622f5e6cd4df2" /><Relationship Type="http://schemas.openxmlformats.org/officeDocument/2006/relationships/image" Target="/ppt/media/image.jpeg" Id="R47a47d8379b74753" /><Relationship Type="http://schemas.openxmlformats.org/officeDocument/2006/relationships/notesSlide" Target="/ppt/notesSlides/notesSlide2.xml" Id="R96396ad8bb444c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40298ca62145d7" /><Relationship Type="http://schemas.openxmlformats.org/officeDocument/2006/relationships/image" Target="/ppt/media/image2.jpeg" Id="Rddbb374939854d64" /><Relationship Type="http://schemas.openxmlformats.org/officeDocument/2006/relationships/notesSlide" Target="/ppt/notesSlides/notesSlide3.xml" Id="R0ca73678a26f47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bdffa6ab3d4146" /><Relationship Type="http://schemas.openxmlformats.org/officeDocument/2006/relationships/notesSlide" Target="/ppt/notesSlides/notesSlide4.xml" Id="R086faeca44d243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3967cbc12a48bd" /><Relationship Type="http://schemas.openxmlformats.org/officeDocument/2006/relationships/image" Target="/ppt/media/image3.jpeg" Id="Rd90cf5cd39a146aa" /><Relationship Type="http://schemas.openxmlformats.org/officeDocument/2006/relationships/notesSlide" Target="/ppt/notesSlides/notesSlide5.xml" Id="Raf926299a6744d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315f06f2684b04" /><Relationship Type="http://schemas.openxmlformats.org/officeDocument/2006/relationships/notesSlide" Target="/ppt/notesSlides/notesSlide6.xml" Id="Rbb0a81c5a4d441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4fae8ce908347a7" /><Relationship Type="http://schemas.openxmlformats.org/officeDocument/2006/relationships/notesSlide" Target="/ppt/notesSlides/notesSlide7.xml" Id="R15936d345eb846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76cdb31b3f4eed" /><Relationship Type="http://schemas.openxmlformats.org/officeDocument/2006/relationships/notesSlide" Target="/ppt/notesSlides/notesSlide8.xml" Id="R7af5d394ff5b4d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3b93a027924f74" /><Relationship Type="http://schemas.openxmlformats.org/officeDocument/2006/relationships/notesSlide" Target="/ppt/notesSlides/notesSlide9.xml" Id="R9ae4f2d9b6d542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14e48255433476f" /><Relationship Type="http://schemas.openxmlformats.org/officeDocument/2006/relationships/notesSlide" Target="/ppt/notesSlides/notesSlide10.xml" Id="Rc8e4930cfad746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4c8cf71e774176" /><Relationship Type="http://schemas.openxmlformats.org/officeDocument/2006/relationships/chart" Target="/ppt/slides/charts/chart1.xml" Id="R184ea436ed284669" /><Relationship Type="http://schemas.openxmlformats.org/officeDocument/2006/relationships/notesSlide" Target="/ppt/notesSlides/notesSlide11.xml" Id="Rd751da0abe2c45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8023b407f5444b" /><Relationship Type="http://schemas.openxmlformats.org/officeDocument/2006/relationships/chart" Target="/ppt/slides/charts/chart2.xml" Id="R535d23f69d0042b4" /><Relationship Type="http://schemas.openxmlformats.org/officeDocument/2006/relationships/notesSlide" Target="/ppt/notesSlides/notesSlide12.xml" Id="Rcc407c5281a348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4d4b4715fe4ed7" /><Relationship Type="http://schemas.openxmlformats.org/officeDocument/2006/relationships/notesSlide" Target="/ppt/notesSlides/notesSlide13.xml" Id="R7b947e98f8c946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ab2366e102c4332" /><Relationship Type="http://schemas.openxmlformats.org/officeDocument/2006/relationships/notesSlide" Target="/ppt/notesSlides/notesSlide14.xml" Id="R023144d6cdc14d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8131e9dd16d4383" /><Relationship Type="http://schemas.openxmlformats.org/officeDocument/2006/relationships/image" Target="/ppt/media/image4.jpeg" Id="R9dec05dddb6542f7" /><Relationship Type="http://schemas.openxmlformats.org/officeDocument/2006/relationships/notesSlide" Target="/ppt/notesSlides/notesSlide15.xml" Id="Rc055f851f48840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1b2883087eb4aed" /><Relationship Type="http://schemas.openxmlformats.org/officeDocument/2006/relationships/image" Target="/ppt/media/image5.jpeg" Id="Ra578e996de3d4f39" /><Relationship Type="http://schemas.openxmlformats.org/officeDocument/2006/relationships/notesSlide" Target="/ppt/notesSlides/notesSlide16.xml" Id="R13be2a30acc84d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bd275cd550441b" /><Relationship Type="http://schemas.openxmlformats.org/officeDocument/2006/relationships/image" Target="/ppt/media/image6.jpeg" Id="Rc8c86b8e829e4b3b" /><Relationship Type="http://schemas.openxmlformats.org/officeDocument/2006/relationships/notesSlide" Target="/ppt/notesSlides/notesSlide17.xml" Id="Rfae9dec8515546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1f28a38d19c476e" /><Relationship Type="http://schemas.openxmlformats.org/officeDocument/2006/relationships/image" Target="/ppt/media/image7.jpeg" Id="R1dec740de2244280" /><Relationship Type="http://schemas.openxmlformats.org/officeDocument/2006/relationships/notesSlide" Target="/ppt/notesSlides/notesSlide18.xml" Id="Ra74fb9f382ea46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original-benchmark-source.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Weekly WAPE percent</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Data'!$A$2:$A$3</c:f>
              <c:strCache>
                <c:ptCount val="2"/>
                <c:pt idx="0">
                  <c:v>28-day mean</c:v>
                </c:pt>
                <c:pt idx="1">
                  <c:v>Past-validation selector</c:v>
                </c:pt>
              </c:strCache>
            </c:strRef>
          </c:cat>
          <c:val>
            <c:numRef>
              <c:f>'Chart Data'!$B$2:$B$3</c:f>
              <c:numCache>
                <c:formatCode>0</c:formatCode>
                <c:ptCount val="2"/>
                <c:pt idx="0">
                  <c:v>77.21</c:v>
                </c:pt>
                <c:pt idx="1">
                  <c:v>69.73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25"/>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MAE</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Data'!$A$2:$A$4</c:f>
              <c:strCache>
                <c:ptCount val="3"/>
                <c:pt idx="0">
                  <c:v>Weekly naive</c:v>
                </c:pt>
                <c:pt idx="1">
                  <c:v>28-day mean</c:v>
                </c:pt>
                <c:pt idx="2">
                  <c:v>Direct ridge</c:v>
                </c:pt>
              </c:strCache>
            </c:strRef>
          </c:cat>
          <c:val>
            <c:numRef>
              <c:f>'Chart Data'!$B$2:$B$4</c:f>
              <c:numCache>
                <c:formatCode>0.0</c:formatCode>
                <c:ptCount val="3"/>
                <c:pt idx="0">
                  <c:v>7.727</c:v>
                </c:pt>
                <c:pt idx="1">
                  <c:v>6.974</c:v>
                </c:pt>
                <c:pt idx="2">
                  <c:v>7.607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3"/>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9" name="01">
            <a:extLst xmlns:a="http://schemas.openxmlformats.org/drawingml/2006/main">
              <a:ext uri="{FF2B5EF4-FFF2-40B4-BE49-F238E27FC236}">
                <a16:creationId xmlns:a16="http://schemas.microsoft.com/office/drawing/2014/main" id="{3A79BB62-BBC3-4B24-AC61-7D37D27A682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buNone/>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01</a:t>
            </a:r>
          </a:p>
        </p:txBody>
      </p:sp>
      <p:sp>
        <p:nvSpPr>
          <p:cNvPr id="2" name="Track 1 Predictive Model Track   /   Taote">
            <a:extLst xmlns:a="http://schemas.openxmlformats.org/drawingml/2006/main">
              <a:ext uri="{FF2B5EF4-FFF2-40B4-BE49-F238E27FC236}">
                <a16:creationId xmlns:a16="http://schemas.microsoft.com/office/drawing/2014/main" id="{8B81FB6E-73BA-4B56-8D51-B9C7CEEB7FE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buNone/>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Track 1 Predictive Model Track   /   Taotern   /   10 October 2026</a:t>
            </a:r>
          </a:p>
        </p:txBody>
      </p:sp>
      <p:sp>
        <p:nvSpPr>
          <p:cNvPr id="3" name="Dormathon">
            <a:extLst xmlns:a="http://schemas.openxmlformats.org/drawingml/2006/main">
              <a:ext uri="{FF2B5EF4-FFF2-40B4-BE49-F238E27FC236}">
                <a16:creationId xmlns:a16="http://schemas.microsoft.com/office/drawing/2014/main" id="{46E4DAA0-9491-475B-BB2F-6B648ED4E8DC}"/>
              </a:ext>
            </a:extLst>
          </p:cNvPr>
          <p:cNvSpPr>
            <a:spLocks xmlns:a="http://schemas.openxmlformats.org/drawingml/2006/main" noGrp="1"/>
          </p:cNvSpPr>
          <p:nvPr/>
        </p:nvSpPr>
        <p:spPr>
          <a:xfrm xmlns:a="http://schemas.openxmlformats.org/drawingml/2006/main">
            <a:off x="609600" y="1333500"/>
            <a:ext cx="7477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FFFFFF"/>
                </a:solidFill>
                <a:latin typeface="Liberation Sans"/>
                <a:ea typeface="Liberation Sans"/>
                <a:cs typeface="Liberation Sans"/>
              </a:defRPr>
            </a:defPPr>
          </a:lstStyle>
          <a:p xmlns:a="http://schemas.openxmlformats.org/drawingml/2006/main">
            <a:pPr algn="l">
              <a:buNone/>
              <a:defRPr sz="6300" b="1">
                <a:solidFill>
                  <a:srgbClr val="FFFFFF"/>
                </a:solidFill>
                <a:latin typeface="Liberation Sans"/>
                <a:ea typeface="Liberation Sans"/>
                <a:cs typeface="Liberation Sans"/>
              </a:defRPr>
            </a:pPr>
            <a:r>
              <a:rPr sz="6300" b="1">
                <a:solidFill>
                  <a:srgbClr val="FFFFFF"/>
                </a:solidFill>
                <a:latin typeface="Liberation Sans"/>
                <a:ea typeface="Liberation Sans"/>
                <a:cs typeface="Liberation Sans"/>
              </a:rPr>
              <a:t>Dormathon</a:t>
            </a:r>
          </a:p>
        </p:txBody>
      </p:sp>
      <p:sp>
        <p:nvSpPr>
          <p:cNvPr id="4" name="Retail decisions&#10;with evidence">
            <a:extLst xmlns:a="http://schemas.openxmlformats.org/drawingml/2006/main">
              <a:ext uri="{FF2B5EF4-FFF2-40B4-BE49-F238E27FC236}">
                <a16:creationId xmlns:a16="http://schemas.microsoft.com/office/drawing/2014/main" id="{11166B7A-CA7C-482C-B677-BD08D962A775}"/>
              </a:ext>
            </a:extLst>
          </p:cNvPr>
          <p:cNvSpPr>
            <a:spLocks xmlns:a="http://schemas.openxmlformats.org/drawingml/2006/main" noGrp="1"/>
          </p:cNvSpPr>
          <p:nvPr/>
        </p:nvSpPr>
        <p:spPr>
          <a:xfrm xmlns:a="http://schemas.openxmlformats.org/drawingml/2006/main">
            <a:off x="647700" y="2647950"/>
            <a:ext cx="685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Liberation Sans"/>
                <a:ea typeface="Liberation Sans"/>
                <a:cs typeface="Liberation Sans"/>
              </a:defRPr>
            </a:defPPr>
          </a:lstStyle>
          <a:p xmlns:a="http://schemas.openxmlformats.org/drawingml/2006/main">
            <a:pPr algn="l">
              <a:buNone/>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Retail decisions</a:t>
            </a:r>
          </a:p>
          <a:p xmlns:a="http://schemas.openxmlformats.org/drawingml/2006/main">
            <a:pPr algn="l">
              <a:buNone/>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with evidence</a:t>
            </a:r>
          </a:p>
        </p:txBody>
      </p:sp>
      <p:sp>
        <p:nvSpPr>
          <p:cNvPr id="5" name="An operations workspace for connected exce">
            <a:extLst xmlns:a="http://schemas.openxmlformats.org/drawingml/2006/main">
              <a:ext uri="{FF2B5EF4-FFF2-40B4-BE49-F238E27FC236}">
                <a16:creationId xmlns:a16="http://schemas.microsoft.com/office/drawing/2014/main" id="{764664CE-3989-48D4-A205-4E610876E2CB}"/>
              </a:ext>
            </a:extLst>
          </p:cNvPr>
          <p:cNvSpPr>
            <a:spLocks xmlns:a="http://schemas.openxmlformats.org/drawingml/2006/main" noGrp="1"/>
          </p:cNvSpPr>
          <p:nvPr/>
        </p:nvSpPr>
        <p:spPr>
          <a:xfrm xmlns:a="http://schemas.openxmlformats.org/drawingml/2006/main">
            <a:off x="647700" y="4686300"/>
            <a:ext cx="604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3C3BD"/>
                </a:solidFill>
                <a:latin typeface="Liberation Sans"/>
                <a:ea typeface="Liberation Sans"/>
                <a:cs typeface="Liberation Sans"/>
              </a:defRPr>
            </a:defPPr>
          </a:lstStyle>
          <a:p xmlns:a="http://schemas.openxmlformats.org/drawingml/2006/main">
            <a:pPr algn="l">
              <a:buNone/>
              <a:defRPr sz="1950" b="0">
                <a:solidFill>
                  <a:srgbClr val="C3C3BD"/>
                </a:solidFill>
                <a:latin typeface="Liberation Sans"/>
                <a:ea typeface="Liberation Sans"/>
                <a:cs typeface="Liberation Sans"/>
              </a:defRPr>
            </a:pPr>
            <a:r>
              <a:rPr sz="1950" b="0">
                <a:solidFill>
                  <a:srgbClr val="C3C3BD"/>
                </a:solidFill>
                <a:latin typeface="Liberation Sans"/>
                <a:ea typeface="Liberation Sans"/>
                <a:cs typeface="Liberation Sans"/>
              </a:rPr>
              <a:t>An operations workspace for connected exceptions</a:t>
            </a:r>
          </a:p>
        </p:txBody>
      </p:sp>
      <p:sp>
        <p:nvSpPr>
          <p:cNvPr id="6" name="">
            <a:extLst xmlns:a="http://schemas.openxmlformats.org/drawingml/2006/main">
              <a:ext uri="{FF2B5EF4-FFF2-40B4-BE49-F238E27FC236}">
                <a16:creationId xmlns:a16="http://schemas.microsoft.com/office/drawing/2014/main" id="{220B3E89-C66F-4CC9-ACF3-2B2EFB94D11C}"/>
              </a:ext>
            </a:extLst>
          </p:cNvPr>
          <p:cNvSpPr>
            <a:spLocks xmlns:a="http://schemas.openxmlformats.org/drawingml/2006/main" noGrp="1"/>
          </p:cNvSpPr>
          <p:nvPr/>
        </p:nvSpPr>
        <p:spPr>
          <a:xfrm xmlns:a="http://schemas.openxmlformats.org/drawingml/2006/main">
            <a:off x="8420100" y="1485900"/>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202020"/>
          </a:solidFill>
          <a:ln xmlns:a="http://schemas.openxmlformats.org/drawingml/2006/main" w="9525">
            <a:solidFill>
              <a:srgbClr val="C9C9C2"/>
            </a:solidFill>
            <a:prstDash val="solid"/>
          </a:ln>
        </p:spPr>
      </p:sp>
      <p:sp>
        <p:nvSpPr>
          <p:cNvPr id="7" name="">
            <a:extLst xmlns:a="http://schemas.openxmlformats.org/drawingml/2006/main">
              <a:ext uri="{FF2B5EF4-FFF2-40B4-BE49-F238E27FC236}">
                <a16:creationId xmlns:a16="http://schemas.microsoft.com/office/drawing/2014/main" id="{E92647DE-E3F3-4DD1-82B2-71EDF0D50E7D}"/>
              </a:ext>
            </a:extLst>
          </p:cNvPr>
          <p:cNvSpPr>
            <a:spLocks xmlns:a="http://schemas.openxmlformats.org/drawingml/2006/main" noGrp="1"/>
          </p:cNvSpPr>
          <p:nvPr/>
        </p:nvSpPr>
        <p:spPr>
          <a:xfrm xmlns:a="http://schemas.openxmlformats.org/drawingml/2006/main">
            <a:off x="8420100" y="1733550"/>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9525">
            <a:solidFill>
              <a:srgbClr val="60605B"/>
            </a:solidFill>
            <a:prstDash val="solid"/>
          </a:ln>
        </p:spPr>
      </p:sp>
      <p:sp>
        <p:nvSpPr>
          <p:cNvPr id="8" name="">
            <a:extLst xmlns:a="http://schemas.openxmlformats.org/drawingml/2006/main">
              <a:ext uri="{FF2B5EF4-FFF2-40B4-BE49-F238E27FC236}">
                <a16:creationId xmlns:a16="http://schemas.microsoft.com/office/drawing/2014/main" id="{EB5CA794-C090-4704-8B91-AFCF2DEDFB4E}"/>
              </a:ext>
            </a:extLst>
          </p:cNvPr>
          <p:cNvSpPr>
            <a:spLocks xmlns:a="http://schemas.openxmlformats.org/drawingml/2006/main" noGrp="1"/>
          </p:cNvSpPr>
          <p:nvPr/>
        </p:nvSpPr>
        <p:spPr>
          <a:xfrm xmlns:a="http://schemas.openxmlformats.org/drawingml/2006/main">
            <a:off x="8039100" y="2638425"/>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E8E8E1"/>
          </a:solidFill>
          <a:ln xmlns:a="http://schemas.openxmlformats.org/drawingml/2006/main" w="9525">
            <a:solidFill>
              <a:srgbClr val="E8E8E1"/>
            </a:solidFill>
            <a:prstDash val="solid"/>
          </a:ln>
        </p:spPr>
      </p:sp>
      <p:sp>
        <p:nvSpPr>
          <p:cNvPr id="9" name="">
            <a:extLst xmlns:a="http://schemas.openxmlformats.org/drawingml/2006/main">
              <a:ext uri="{FF2B5EF4-FFF2-40B4-BE49-F238E27FC236}">
                <a16:creationId xmlns:a16="http://schemas.microsoft.com/office/drawing/2014/main" id="{B33D7AF1-18D1-454D-B494-EE06D958E52B}"/>
              </a:ext>
            </a:extLst>
          </p:cNvPr>
          <p:cNvSpPr>
            <a:spLocks xmlns:a="http://schemas.openxmlformats.org/drawingml/2006/main" noGrp="1"/>
          </p:cNvSpPr>
          <p:nvPr/>
        </p:nvSpPr>
        <p:spPr>
          <a:xfrm xmlns:a="http://schemas.openxmlformats.org/drawingml/2006/main">
            <a:off x="8801100" y="3181350"/>
            <a:ext cx="1876425" cy="457200"/>
          </a:xfrm>
          <a:custGeom xmlns:a="http://schemas.openxmlformats.org/drawingml/2006/main">
            <a:pathLst>
              <a:path w="1876425" h="457200">
                <a:moveTo>
                  <a:pt x="0" y="0"/>
                </a:moveTo>
                <a:lnTo>
                  <a:pt x="1876425" y="0"/>
                </a:lnTo>
                <a:lnTo>
                  <a:pt x="1876425" y="457200"/>
                </a:lnTo>
                <a:lnTo>
                  <a:pt x="0" y="457200"/>
                </a:lnTo>
                <a:close/>
              </a:path>
            </a:pathLst>
          </a:custGeom>
          <a:solidFill xmlns:a="http://schemas.openxmlformats.org/drawingml/2006/main">
            <a:srgbClr val="85857F"/>
          </a:solidFill>
          <a:ln xmlns:a="http://schemas.openxmlformats.org/drawingml/2006/main" w="9525">
            <a:solidFill>
              <a:srgbClr val="C9C9C2"/>
            </a:solidFill>
            <a:prstDash val="solid"/>
          </a:ln>
        </p:spPr>
      </p:sp>
      <p:sp>
        <p:nvSpPr>
          <p:cNvPr id="10" name="">
            <a:extLst xmlns:a="http://schemas.openxmlformats.org/drawingml/2006/main">
              <a:ext uri="{FF2B5EF4-FFF2-40B4-BE49-F238E27FC236}">
                <a16:creationId xmlns:a16="http://schemas.microsoft.com/office/drawing/2014/main" id="{60C09C90-1194-4081-97D2-24C4EE86B270}"/>
              </a:ext>
            </a:extLst>
          </p:cNvPr>
          <p:cNvSpPr>
            <a:spLocks xmlns:a="http://schemas.openxmlformats.org/drawingml/2006/main" noGrp="1"/>
          </p:cNvSpPr>
          <p:nvPr/>
        </p:nvSpPr>
        <p:spPr>
          <a:xfrm xmlns:a="http://schemas.openxmlformats.org/drawingml/2006/main">
            <a:off x="8039100" y="2638425"/>
            <a:ext cx="762000" cy="1000125"/>
          </a:xfrm>
          <a:custGeom xmlns:a="http://schemas.openxmlformats.org/drawingml/2006/main">
            <a:pathLst>
              <a:path w="762000" h="1000125">
                <a:moveTo>
                  <a:pt x="0" y="0"/>
                </a:moveTo>
                <a:lnTo>
                  <a:pt x="762000" y="542925"/>
                </a:lnTo>
                <a:lnTo>
                  <a:pt x="762000" y="1000125"/>
                </a:lnTo>
                <a:lnTo>
                  <a:pt x="0" y="457200"/>
                </a:lnTo>
                <a:close/>
              </a:path>
            </a:pathLst>
          </a:custGeom>
          <a:solidFill xmlns:a="http://schemas.openxmlformats.org/drawingml/2006/main">
            <a:srgbClr val="BDBDB5"/>
          </a:solidFill>
          <a:ln xmlns:a="http://schemas.openxmlformats.org/drawingml/2006/main" w="9525">
            <a:solidFill>
              <a:srgbClr val="C9C9C2"/>
            </a:solidFill>
            <a:prstDash val="solid"/>
          </a:ln>
        </p:spPr>
      </p:sp>
      <p:sp>
        <p:nvSpPr>
          <p:cNvPr id="11" name="">
            <a:extLst xmlns:a="http://schemas.openxmlformats.org/drawingml/2006/main">
              <a:ext uri="{FF2B5EF4-FFF2-40B4-BE49-F238E27FC236}">
                <a16:creationId xmlns:a16="http://schemas.microsoft.com/office/drawing/2014/main" id="{F85E8ECF-7F11-45FC-8101-8B0F3FF7E3BE}"/>
              </a:ext>
            </a:extLst>
          </p:cNvPr>
          <p:cNvSpPr>
            <a:spLocks xmlns:a="http://schemas.openxmlformats.org/drawingml/2006/main" noGrp="1"/>
          </p:cNvSpPr>
          <p:nvPr/>
        </p:nvSpPr>
        <p:spPr>
          <a:xfrm xmlns:a="http://schemas.openxmlformats.org/drawingml/2006/main">
            <a:off x="8420100" y="4391025"/>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13335">
            <a:solidFill>
              <a:srgbClr val="ABABA3"/>
            </a:solidFill>
            <a:prstDash val="solid"/>
          </a:ln>
        </p:spPr>
      </p:sp>
      <p:sp>
        <p:nvSpPr>
          <p:cNvPr id="12" name="">
            <a:extLst xmlns:a="http://schemas.openxmlformats.org/drawingml/2006/main">
              <a:ext uri="{FF2B5EF4-FFF2-40B4-BE49-F238E27FC236}">
                <a16:creationId xmlns:a16="http://schemas.microsoft.com/office/drawing/2014/main" id="{F61D75BC-2AD7-4373-A7BA-3185CB31A754}"/>
              </a:ext>
            </a:extLst>
          </p:cNvPr>
          <p:cNvSpPr>
            <a:spLocks xmlns:a="http://schemas.openxmlformats.org/drawingml/2006/main" noGrp="1"/>
          </p:cNvSpPr>
          <p:nvPr/>
        </p:nvSpPr>
        <p:spPr>
          <a:xfrm xmlns:a="http://schemas.openxmlformats.org/drawingml/2006/main">
            <a:off x="85915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3" name="">
            <a:extLst xmlns:a="http://schemas.openxmlformats.org/drawingml/2006/main">
              <a:ext uri="{FF2B5EF4-FFF2-40B4-BE49-F238E27FC236}">
                <a16:creationId xmlns:a16="http://schemas.microsoft.com/office/drawing/2014/main" id="{5ACB3750-E864-4C87-92AD-C2AB2EDBE3F2}"/>
              </a:ext>
            </a:extLst>
          </p:cNvPr>
          <p:cNvSpPr>
            <a:spLocks xmlns:a="http://schemas.openxmlformats.org/drawingml/2006/main" noGrp="1"/>
          </p:cNvSpPr>
          <p:nvPr/>
        </p:nvSpPr>
        <p:spPr>
          <a:xfrm xmlns:a="http://schemas.openxmlformats.org/drawingml/2006/main">
            <a:off x="84296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4" name="">
            <a:extLst xmlns:a="http://schemas.openxmlformats.org/drawingml/2006/main">
              <a:ext uri="{FF2B5EF4-FFF2-40B4-BE49-F238E27FC236}">
                <a16:creationId xmlns:a16="http://schemas.microsoft.com/office/drawing/2014/main" id="{4C6E0397-ACD0-4079-9D57-0A6FFA78ED9A}"/>
              </a:ext>
            </a:extLst>
          </p:cNvPr>
          <p:cNvSpPr>
            <a:spLocks xmlns:a="http://schemas.openxmlformats.org/drawingml/2006/main" noGrp="1"/>
          </p:cNvSpPr>
          <p:nvPr/>
        </p:nvSpPr>
        <p:spPr>
          <a:xfrm xmlns:a="http://schemas.openxmlformats.org/drawingml/2006/main">
            <a:off x="88106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5" name="">
            <a:extLst xmlns:a="http://schemas.openxmlformats.org/drawingml/2006/main">
              <a:ext uri="{FF2B5EF4-FFF2-40B4-BE49-F238E27FC236}">
                <a16:creationId xmlns:a16="http://schemas.microsoft.com/office/drawing/2014/main" id="{8BAA0A7A-E434-46DF-8DCC-00FA6AC661EE}"/>
              </a:ext>
            </a:extLst>
          </p:cNvPr>
          <p:cNvSpPr>
            <a:spLocks xmlns:a="http://schemas.openxmlformats.org/drawingml/2006/main" noGrp="1"/>
          </p:cNvSpPr>
          <p:nvPr/>
        </p:nvSpPr>
        <p:spPr>
          <a:xfrm xmlns:a="http://schemas.openxmlformats.org/drawingml/2006/main">
            <a:off x="86963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6" name="">
            <a:extLst xmlns:a="http://schemas.openxmlformats.org/drawingml/2006/main">
              <a:ext uri="{FF2B5EF4-FFF2-40B4-BE49-F238E27FC236}">
                <a16:creationId xmlns:a16="http://schemas.microsoft.com/office/drawing/2014/main" id="{70AA3B38-20E0-469C-B2FC-8760170B89CD}"/>
              </a:ext>
            </a:extLst>
          </p:cNvPr>
          <p:cNvSpPr>
            <a:spLocks xmlns:a="http://schemas.openxmlformats.org/drawingml/2006/main" noGrp="1"/>
          </p:cNvSpPr>
          <p:nvPr/>
        </p:nvSpPr>
        <p:spPr>
          <a:xfrm xmlns:a="http://schemas.openxmlformats.org/drawingml/2006/main">
            <a:off x="90297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7" name="">
            <a:extLst xmlns:a="http://schemas.openxmlformats.org/drawingml/2006/main">
              <a:ext uri="{FF2B5EF4-FFF2-40B4-BE49-F238E27FC236}">
                <a16:creationId xmlns:a16="http://schemas.microsoft.com/office/drawing/2014/main" id="{ED9A02ED-3D6E-46EE-861E-924832115E98}"/>
              </a:ext>
            </a:extLst>
          </p:cNvPr>
          <p:cNvSpPr>
            <a:spLocks xmlns:a="http://schemas.openxmlformats.org/drawingml/2006/main" noGrp="1"/>
          </p:cNvSpPr>
          <p:nvPr/>
        </p:nvSpPr>
        <p:spPr>
          <a:xfrm xmlns:a="http://schemas.openxmlformats.org/drawingml/2006/main">
            <a:off x="89630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8" name="">
            <a:extLst xmlns:a="http://schemas.openxmlformats.org/drawingml/2006/main">
              <a:ext uri="{FF2B5EF4-FFF2-40B4-BE49-F238E27FC236}">
                <a16:creationId xmlns:a16="http://schemas.microsoft.com/office/drawing/2014/main" id="{16CB14C3-7EC9-4CF0-8611-4E22A2220CFA}"/>
              </a:ext>
            </a:extLst>
          </p:cNvPr>
          <p:cNvSpPr>
            <a:spLocks xmlns:a="http://schemas.openxmlformats.org/drawingml/2006/main" noGrp="1"/>
          </p:cNvSpPr>
          <p:nvPr/>
        </p:nvSpPr>
        <p:spPr>
          <a:xfrm xmlns:a="http://schemas.openxmlformats.org/drawingml/2006/main">
            <a:off x="924877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9" name="">
            <a:extLst xmlns:a="http://schemas.openxmlformats.org/drawingml/2006/main">
              <a:ext uri="{FF2B5EF4-FFF2-40B4-BE49-F238E27FC236}">
                <a16:creationId xmlns:a16="http://schemas.microsoft.com/office/drawing/2014/main" id="{EBEB06F4-65FD-42CB-B3B1-D27143782F8B}"/>
              </a:ext>
            </a:extLst>
          </p:cNvPr>
          <p:cNvSpPr>
            <a:spLocks xmlns:a="http://schemas.openxmlformats.org/drawingml/2006/main" noGrp="1"/>
          </p:cNvSpPr>
          <p:nvPr/>
        </p:nvSpPr>
        <p:spPr>
          <a:xfrm xmlns:a="http://schemas.openxmlformats.org/drawingml/2006/main">
            <a:off x="92297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0" name="">
            <a:extLst xmlns:a="http://schemas.openxmlformats.org/drawingml/2006/main">
              <a:ext uri="{FF2B5EF4-FFF2-40B4-BE49-F238E27FC236}">
                <a16:creationId xmlns:a16="http://schemas.microsoft.com/office/drawing/2014/main" id="{4DAA6DD0-F646-4542-A895-2B1E023BDC62}"/>
              </a:ext>
            </a:extLst>
          </p:cNvPr>
          <p:cNvSpPr>
            <a:spLocks xmlns:a="http://schemas.openxmlformats.org/drawingml/2006/main" noGrp="1"/>
          </p:cNvSpPr>
          <p:nvPr/>
        </p:nvSpPr>
        <p:spPr>
          <a:xfrm xmlns:a="http://schemas.openxmlformats.org/drawingml/2006/main">
            <a:off x="94678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1" name="">
            <a:extLst xmlns:a="http://schemas.openxmlformats.org/drawingml/2006/main">
              <a:ext uri="{FF2B5EF4-FFF2-40B4-BE49-F238E27FC236}">
                <a16:creationId xmlns:a16="http://schemas.microsoft.com/office/drawing/2014/main" id="{28375F9B-2299-4FF4-AD20-C9E2B2DE564B}"/>
              </a:ext>
            </a:extLst>
          </p:cNvPr>
          <p:cNvSpPr>
            <a:spLocks xmlns:a="http://schemas.openxmlformats.org/drawingml/2006/main" noGrp="1"/>
          </p:cNvSpPr>
          <p:nvPr/>
        </p:nvSpPr>
        <p:spPr>
          <a:xfrm xmlns:a="http://schemas.openxmlformats.org/drawingml/2006/main">
            <a:off x="94964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2" name="">
            <a:extLst xmlns:a="http://schemas.openxmlformats.org/drawingml/2006/main">
              <a:ext uri="{FF2B5EF4-FFF2-40B4-BE49-F238E27FC236}">
                <a16:creationId xmlns:a16="http://schemas.microsoft.com/office/drawing/2014/main" id="{7052D4DA-4C67-4A34-8958-5B9E42FAA3B4}"/>
              </a:ext>
            </a:extLst>
          </p:cNvPr>
          <p:cNvSpPr>
            <a:spLocks xmlns:a="http://schemas.openxmlformats.org/drawingml/2006/main" noGrp="1"/>
          </p:cNvSpPr>
          <p:nvPr/>
        </p:nvSpPr>
        <p:spPr>
          <a:xfrm xmlns:a="http://schemas.openxmlformats.org/drawingml/2006/main">
            <a:off x="96869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3" name="">
            <a:extLst xmlns:a="http://schemas.openxmlformats.org/drawingml/2006/main">
              <a:ext uri="{FF2B5EF4-FFF2-40B4-BE49-F238E27FC236}">
                <a16:creationId xmlns:a16="http://schemas.microsoft.com/office/drawing/2014/main" id="{6E5A6E78-D448-4D7C-8AC6-CBD3646A21CA}"/>
              </a:ext>
            </a:extLst>
          </p:cNvPr>
          <p:cNvSpPr>
            <a:spLocks xmlns:a="http://schemas.openxmlformats.org/drawingml/2006/main" noGrp="1"/>
          </p:cNvSpPr>
          <p:nvPr/>
        </p:nvSpPr>
        <p:spPr>
          <a:xfrm xmlns:a="http://schemas.openxmlformats.org/drawingml/2006/main">
            <a:off x="97631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4" name="">
            <a:extLst xmlns:a="http://schemas.openxmlformats.org/drawingml/2006/main">
              <a:ext uri="{FF2B5EF4-FFF2-40B4-BE49-F238E27FC236}">
                <a16:creationId xmlns:a16="http://schemas.microsoft.com/office/drawing/2014/main" id="{8E4562FF-8191-4EF4-A645-D8908C4F4759}"/>
              </a:ext>
            </a:extLst>
          </p:cNvPr>
          <p:cNvSpPr>
            <a:spLocks xmlns:a="http://schemas.openxmlformats.org/drawingml/2006/main" noGrp="1"/>
          </p:cNvSpPr>
          <p:nvPr/>
        </p:nvSpPr>
        <p:spPr>
          <a:xfrm xmlns:a="http://schemas.openxmlformats.org/drawingml/2006/main">
            <a:off x="99060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5" name="">
            <a:extLst xmlns:a="http://schemas.openxmlformats.org/drawingml/2006/main">
              <a:ext uri="{FF2B5EF4-FFF2-40B4-BE49-F238E27FC236}">
                <a16:creationId xmlns:a16="http://schemas.microsoft.com/office/drawing/2014/main" id="{84044223-5A67-478D-B11D-23291B4E0AAB}"/>
              </a:ext>
            </a:extLst>
          </p:cNvPr>
          <p:cNvSpPr>
            <a:spLocks xmlns:a="http://schemas.openxmlformats.org/drawingml/2006/main" noGrp="1"/>
          </p:cNvSpPr>
          <p:nvPr/>
        </p:nvSpPr>
        <p:spPr>
          <a:xfrm xmlns:a="http://schemas.openxmlformats.org/drawingml/2006/main">
            <a:off x="100298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6" name="">
            <a:extLst xmlns:a="http://schemas.openxmlformats.org/drawingml/2006/main">
              <a:ext uri="{FF2B5EF4-FFF2-40B4-BE49-F238E27FC236}">
                <a16:creationId xmlns:a16="http://schemas.microsoft.com/office/drawing/2014/main" id="{7ECB6B7E-E1E0-4582-A468-DCDDD698AFBD}"/>
              </a:ext>
            </a:extLst>
          </p:cNvPr>
          <p:cNvSpPr>
            <a:spLocks xmlns:a="http://schemas.openxmlformats.org/drawingml/2006/main" noGrp="1"/>
          </p:cNvSpPr>
          <p:nvPr/>
        </p:nvSpPr>
        <p:spPr>
          <a:xfrm xmlns:a="http://schemas.openxmlformats.org/drawingml/2006/main">
            <a:off x="8420100" y="1495425"/>
            <a:ext cx="0" cy="288607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7" name="">
            <a:extLst xmlns:a="http://schemas.openxmlformats.org/drawingml/2006/main">
              <a:ext uri="{FF2B5EF4-FFF2-40B4-BE49-F238E27FC236}">
                <a16:creationId xmlns:a16="http://schemas.microsoft.com/office/drawing/2014/main" id="{30B0E8BA-7F5B-4792-9999-0D0584BF1D4D}"/>
              </a:ext>
            </a:extLst>
          </p:cNvPr>
          <p:cNvSpPr>
            <a:spLocks xmlns:a="http://schemas.openxmlformats.org/drawingml/2006/main" noGrp="1"/>
          </p:cNvSpPr>
          <p:nvPr/>
        </p:nvSpPr>
        <p:spPr>
          <a:xfrm xmlns:a="http://schemas.openxmlformats.org/drawingml/2006/main">
            <a:off x="11058525" y="2038350"/>
            <a:ext cx="0" cy="290512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8" name="">
            <a:extLst xmlns:a="http://schemas.openxmlformats.org/drawingml/2006/main">
              <a:ext uri="{FF2B5EF4-FFF2-40B4-BE49-F238E27FC236}">
                <a16:creationId xmlns:a16="http://schemas.microsoft.com/office/drawing/2014/main" id="{BF67DB0B-ECD8-473A-A6A8-5A5854C5BE45}"/>
              </a:ext>
            </a:extLst>
          </p:cNvPr>
          <p:cNvSpPr>
            <a:spLocks xmlns:a="http://schemas.openxmlformats.org/drawingml/2006/main" noGrp="1"/>
          </p:cNvSpPr>
          <p:nvPr/>
        </p:nvSpPr>
        <p:spPr>
          <a:xfrm xmlns:a="http://schemas.openxmlformats.org/drawingml/2006/main">
            <a:off x="9182100" y="2028825"/>
            <a:ext cx="0" cy="2914650"/>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Tree>
    <p:extLst>
      <p:ext uri="{BB962C8B-B14F-4D97-AF65-F5344CB8AC3E}">
        <p14:creationId xmlns:p14="http://schemas.microsoft.com/office/powerpoint/2010/main" val="516928351"/>
      </p:ext>
    </p:extLst>
  </p:cSld>
</p:sld>
</file>

<file path=ppt/slides/slide2.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4" name="EVIDENCE BEFORE BUSINESS IMPACT">
            <a:extLst xmlns:a="http://schemas.openxmlformats.org/drawingml/2006/main">
              <a:ext uri="{FF2B5EF4-FFF2-40B4-BE49-F238E27FC236}">
                <a16:creationId xmlns:a16="http://schemas.microsoft.com/office/drawing/2014/main" id="{BCCE0B4C-7340-4FF2-80D4-EC07AFF39152}"/>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EVIDENCE BEFORE BUSINESS IMPACT</a:t>
            </a:r>
          </a:p>
        </p:txBody>
      </p:sp>
      <p:sp>
        <p:nvSpPr>
          <p:cNvPr id="2" name="An official warning starts a review">
            <a:extLst xmlns:a="http://schemas.openxmlformats.org/drawingml/2006/main">
              <a:ext uri="{FF2B5EF4-FFF2-40B4-BE49-F238E27FC236}">
                <a16:creationId xmlns:a16="http://schemas.microsoft.com/office/drawing/2014/main" id="{C8F794BF-D61C-413F-A5A8-CB7D339A708B}"/>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An official warning starts a review</a:t>
            </a:r>
          </a:p>
        </p:txBody>
      </p:sp>
      <p:sp>
        <p:nvSpPr>
          <p:cNvPr id="3" name="02">
            <a:extLst xmlns:a="http://schemas.openxmlformats.org/drawingml/2006/main">
              <a:ext uri="{FF2B5EF4-FFF2-40B4-BE49-F238E27FC236}">
                <a16:creationId xmlns:a16="http://schemas.microsoft.com/office/drawing/2014/main" id="{0DE03632-454C-4D8C-AA51-6C5F72D388D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02</a:t>
            </a:r>
          </a:p>
        </p:txBody>
      </p:sp>
      <p:sp>
        <p:nvSpPr>
          <p:cNvPr id="4" name="Saved MET warning replay, checked 10 Oct 2">
            <a:extLst xmlns:a="http://schemas.openxmlformats.org/drawingml/2006/main">
              <a:ext uri="{FF2B5EF4-FFF2-40B4-BE49-F238E27FC236}">
                <a16:creationId xmlns:a16="http://schemas.microsoft.com/office/drawing/2014/main" id="{6321E755-8AB6-4372-B35C-71D5A582619B}"/>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MET warning replay, checked 10 Oct 2026. No live alert refresh or verified company disruption.</a:t>
            </a:r>
          </a:p>
        </p:txBody>
      </p:sp>
      <p:pic>
        <p:nvPicPr>
          <p:cNvPr id="5" name="">
            <a:extLst xmlns:a="http://schemas.openxmlformats.org/drawingml/2006/main">
              <a:ext uri="{FF2B5EF4-FFF2-40B4-BE49-F238E27FC236}">
                <a16:creationId xmlns:a16="http://schemas.microsoft.com/office/drawing/2014/main" id="{E0A1F070-F1C2-4546-B534-96D4BE12C58E}"/>
              </a:ext>
            </a:extLst>
          </p:cNvPr>
          <p:cNvPicPr>
            <a:picLocks xmlns:a="http://schemas.openxmlformats.org/drawingml/2006/main" noChangeAspect="1"/>
          </p:cNvPicPr>
          <p:nvPr/>
        </p:nvPicPr>
        <p:blipFill>
          <a:blip xmlns:r="http://schemas.openxmlformats.org/officeDocument/2006/relationships" xmlns:a="http://schemas.openxmlformats.org/drawingml/2006/main" r:embed="R47a47d8379b74753"/>
          <a:srcRect xmlns:a="http://schemas.openxmlformats.org/drawingml/2006/main" l="19000" t="24000" r="3500" b="20000"/>
          <a:stretch xmlns:a="http://schemas.openxmlformats.org/drawingml/2006/main"/>
        </p:blipFill>
        <p:spPr>
          <a:xfrm xmlns:a="http://schemas.openxmlformats.org/drawingml/2006/main">
            <a:off x="609600" y="2162175"/>
            <a:ext cx="7124700" cy="3571875"/>
          </a:xfrm>
          <a:prstGeom xmlns:a="http://schemas.openxmlformats.org/drawingml/2006/main" prst="rect">
            <a:avLst/>
          </a:prstGeom>
        </p:spPr>
      </p:pic>
      <p:sp>
        <p:nvSpPr>
          <p:cNvPr id="6" name="Source fact">
            <a:extLst xmlns:a="http://schemas.openxmlformats.org/drawingml/2006/main">
              <a:ext uri="{FF2B5EF4-FFF2-40B4-BE49-F238E27FC236}">
                <a16:creationId xmlns:a16="http://schemas.microsoft.com/office/drawing/2014/main" id="{15C035A1-23CE-45A5-99E4-84F925146CAA}"/>
              </a:ext>
            </a:extLst>
          </p:cNvPr>
          <p:cNvSpPr>
            <a:spLocks xmlns:a="http://schemas.openxmlformats.org/drawingml/2006/main" noGrp="1"/>
          </p:cNvSpPr>
          <p:nvPr/>
        </p:nvSpPr>
        <p:spPr>
          <a:xfrm xmlns:a="http://schemas.openxmlformats.org/drawingml/2006/main">
            <a:off x="8220075" y="200977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Source fact</a:t>
            </a:r>
          </a:p>
        </p:txBody>
      </p:sp>
      <p:sp>
        <p:nvSpPr>
          <p:cNvPr id="7" name="Thunderstorm warning&#10;for named Malaysian a">
            <a:extLst xmlns:a="http://schemas.openxmlformats.org/drawingml/2006/main">
              <a:ext uri="{FF2B5EF4-FFF2-40B4-BE49-F238E27FC236}">
                <a16:creationId xmlns:a16="http://schemas.microsoft.com/office/drawing/2014/main" id="{5281C6BD-6775-4E80-9F21-F24403445093}"/>
              </a:ext>
            </a:extLst>
          </p:cNvPr>
          <p:cNvSpPr>
            <a:spLocks xmlns:a="http://schemas.openxmlformats.org/drawingml/2006/main" noGrp="1"/>
          </p:cNvSpPr>
          <p:nvPr/>
        </p:nvSpPr>
        <p:spPr>
          <a:xfrm xmlns:a="http://schemas.openxmlformats.org/drawingml/2006/main">
            <a:off x="8220075" y="24479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Thunderstorm warning</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for named Malaysian areas</a:t>
            </a:r>
          </a:p>
        </p:txBody>
      </p:sp>
      <p:sp>
        <p:nvSpPr>
          <p:cNvPr id="8" name="">
            <a:extLst xmlns:a="http://schemas.openxmlformats.org/drawingml/2006/main">
              <a:ext uri="{FF2B5EF4-FFF2-40B4-BE49-F238E27FC236}">
                <a16:creationId xmlns:a16="http://schemas.microsoft.com/office/drawing/2014/main" id="{66DD79F7-6498-4F7D-85E9-06488695D84E}"/>
              </a:ext>
            </a:extLst>
          </p:cNvPr>
          <p:cNvSpPr>
            <a:spLocks xmlns:a="http://schemas.openxmlformats.org/drawingml/2006/main" noGrp="1"/>
          </p:cNvSpPr>
          <p:nvPr/>
        </p:nvSpPr>
        <p:spPr>
          <a:xfrm xmlns:a="http://schemas.openxmlformats.org/drawingml/2006/main">
            <a:off x="8220075" y="3276600"/>
            <a:ext cx="3343275"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Open question">
            <a:extLst xmlns:a="http://schemas.openxmlformats.org/drawingml/2006/main">
              <a:ext uri="{FF2B5EF4-FFF2-40B4-BE49-F238E27FC236}">
                <a16:creationId xmlns:a16="http://schemas.microsoft.com/office/drawing/2014/main" id="{7479824B-B29F-4DFE-9BD9-A4DBD6BF9598}"/>
              </a:ext>
            </a:extLst>
          </p:cNvPr>
          <p:cNvSpPr>
            <a:spLocks xmlns:a="http://schemas.openxmlformats.org/drawingml/2006/main" noGrp="1"/>
          </p:cNvSpPr>
          <p:nvPr/>
        </p:nvSpPr>
        <p:spPr>
          <a:xfrm xmlns:a="http://schemas.openxmlformats.org/drawingml/2006/main">
            <a:off x="8220075" y="34861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Open question</a:t>
            </a:r>
          </a:p>
        </p:txBody>
      </p:sp>
      <p:sp>
        <p:nvSpPr>
          <p:cNvPr id="10" name="Does our shipment&#10;actually have exposure?">
            <a:extLst xmlns:a="http://schemas.openxmlformats.org/drawingml/2006/main">
              <a:ext uri="{FF2B5EF4-FFF2-40B4-BE49-F238E27FC236}">
                <a16:creationId xmlns:a16="http://schemas.microsoft.com/office/drawing/2014/main" id="{676C083C-D6BA-4DC1-9F21-696E57AFEB22}"/>
              </a:ext>
            </a:extLst>
          </p:cNvPr>
          <p:cNvSpPr>
            <a:spLocks xmlns:a="http://schemas.openxmlformats.org/drawingml/2006/main" noGrp="1"/>
          </p:cNvSpPr>
          <p:nvPr/>
        </p:nvSpPr>
        <p:spPr>
          <a:xfrm xmlns:a="http://schemas.openxmlformats.org/drawingml/2006/main">
            <a:off x="8220075" y="3924300"/>
            <a:ext cx="333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Does our shipment</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actually have exposure?</a:t>
            </a:r>
          </a:p>
        </p:txBody>
      </p:sp>
      <p:sp>
        <p:nvSpPr>
          <p:cNvPr id="11" name="">
            <a:extLst xmlns:a="http://schemas.openxmlformats.org/drawingml/2006/main">
              <a:ext uri="{FF2B5EF4-FFF2-40B4-BE49-F238E27FC236}">
                <a16:creationId xmlns:a16="http://schemas.microsoft.com/office/drawing/2014/main" id="{9565A45B-9C0D-4BAF-AF8E-1FEAF2DC33BB}"/>
              </a:ext>
            </a:extLst>
          </p:cNvPr>
          <p:cNvSpPr>
            <a:spLocks xmlns:a="http://schemas.openxmlformats.org/drawingml/2006/main" noGrp="1"/>
          </p:cNvSpPr>
          <p:nvPr/>
        </p:nvSpPr>
        <p:spPr>
          <a:xfrm xmlns:a="http://schemas.openxmlformats.org/drawingml/2006/main">
            <a:off x="8220075" y="4762500"/>
            <a:ext cx="3343275"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2" name="Human-confirmed scenario">
            <a:extLst xmlns:a="http://schemas.openxmlformats.org/drawingml/2006/main">
              <a:ext uri="{FF2B5EF4-FFF2-40B4-BE49-F238E27FC236}">
                <a16:creationId xmlns:a16="http://schemas.microsoft.com/office/drawing/2014/main" id="{A01D05CF-596C-4CA6-8270-40A4C2F0B509}"/>
              </a:ext>
            </a:extLst>
          </p:cNvPr>
          <p:cNvSpPr>
            <a:spLocks xmlns:a="http://schemas.openxmlformats.org/drawingml/2006/main" noGrp="1"/>
          </p:cNvSpPr>
          <p:nvPr/>
        </p:nvSpPr>
        <p:spPr>
          <a:xfrm xmlns:a="http://schemas.openxmlformats.org/drawingml/2006/main">
            <a:off x="8220075" y="49530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Human-confirmed scenario</a:t>
            </a:r>
          </a:p>
        </p:txBody>
      </p:sp>
      <p:sp>
        <p:nvSpPr>
          <p:cNvPr id="13" name="Fictional route + 4-day total delay">
            <a:extLst xmlns:a="http://schemas.openxmlformats.org/drawingml/2006/main">
              <a:ext uri="{FF2B5EF4-FFF2-40B4-BE49-F238E27FC236}">
                <a16:creationId xmlns:a16="http://schemas.microsoft.com/office/drawing/2014/main" id="{F2C21EB2-9A85-4BF8-B971-A365C7F0C465}"/>
              </a:ext>
            </a:extLst>
          </p:cNvPr>
          <p:cNvSpPr>
            <a:spLocks xmlns:a="http://schemas.openxmlformats.org/drawingml/2006/main" noGrp="1"/>
          </p:cNvSpPr>
          <p:nvPr/>
        </p:nvSpPr>
        <p:spPr>
          <a:xfrm xmlns:a="http://schemas.openxmlformats.org/drawingml/2006/main">
            <a:off x="8220075" y="54006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Fictional route + 4-day total delay</a:t>
            </a:r>
          </a:p>
        </p:txBody>
      </p:sp>
    </p:spTree>
    <p:extLst>
      <p:ext uri="{BB962C8B-B14F-4D97-AF65-F5344CB8AC3E}">
        <p14:creationId xmlns:p14="http://schemas.microsoft.com/office/powerpoint/2010/main" val="80462321"/>
      </p:ext>
    </p:extLst>
  </p:cSld>
</p:sld>
</file>

<file path=ppt/slides/slide3.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0" name="SAME DEMAND AND RESOURCES  CHANGED ARRIVAL">
            <a:extLst xmlns:a="http://schemas.openxmlformats.org/drawingml/2006/main">
              <a:ext uri="{FF2B5EF4-FFF2-40B4-BE49-F238E27FC236}">
                <a16:creationId xmlns:a16="http://schemas.microsoft.com/office/drawing/2014/main" id="{6392D6B1-72BA-4C10-9447-C0231A3FEECA}"/>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SAME DEMAND AND RESOURCES  CHANGED ARRIVAL ASSUMPTION</a:t>
            </a:r>
          </a:p>
        </p:txBody>
      </p:sp>
      <p:sp>
        <p:nvSpPr>
          <p:cNvPr id="2" name="The declared delay reveals a stock gap">
            <a:extLst xmlns:a="http://schemas.openxmlformats.org/drawingml/2006/main">
              <a:ext uri="{FF2B5EF4-FFF2-40B4-BE49-F238E27FC236}">
                <a16:creationId xmlns:a16="http://schemas.microsoft.com/office/drawing/2014/main" id="{89A22DE0-4FB4-4C5A-8142-B0462136F5AB}"/>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declared delay reveals a stock gap</a:t>
            </a:r>
          </a:p>
        </p:txBody>
      </p:sp>
      <p:sp>
        <p:nvSpPr>
          <p:cNvPr id="3" name="03">
            <a:extLst xmlns:a="http://schemas.openxmlformats.org/drawingml/2006/main">
              <a:ext uri="{FF2B5EF4-FFF2-40B4-BE49-F238E27FC236}">
                <a16:creationId xmlns:a16="http://schemas.microsoft.com/office/drawing/2014/main" id="{5166AD43-42AB-454F-8865-508E46C1887C}"/>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03</a:t>
            </a:r>
          </a:p>
        </p:txBody>
      </p:sp>
      <p:sp>
        <p:nvSpPr>
          <p:cNvPr id="4" name="Synthetic operational history, stock and a">
            <a:extLst xmlns:a="http://schemas.openxmlformats.org/drawingml/2006/main">
              <a:ext uri="{FF2B5EF4-FFF2-40B4-BE49-F238E27FC236}">
                <a16:creationId xmlns:a16="http://schemas.microsoft.com/office/drawing/2014/main" id="{8A8516EB-0E10-4785-BACF-F175973A52A3}"/>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operational history, stock and arrivals. A conditional no-change outcome, not an observed shortage.</a:t>
            </a:r>
          </a:p>
        </p:txBody>
      </p:sp>
      <p:sp>
        <p:nvSpPr>
          <p:cNvPr id="5" name="68">
            <a:extLst xmlns:a="http://schemas.openxmlformats.org/drawingml/2006/main">
              <a:ext uri="{FF2B5EF4-FFF2-40B4-BE49-F238E27FC236}">
                <a16:creationId xmlns:a16="http://schemas.microsoft.com/office/drawing/2014/main" id="{63506D7B-04A2-4423-B512-8C3E3461DCA4}"/>
              </a:ext>
            </a:extLst>
          </p:cNvPr>
          <p:cNvSpPr>
            <a:spLocks xmlns:a="http://schemas.openxmlformats.org/drawingml/2006/main" noGrp="1"/>
          </p:cNvSpPr>
          <p:nvPr/>
        </p:nvSpPr>
        <p:spPr>
          <a:xfrm xmlns:a="http://schemas.openxmlformats.org/drawingml/2006/main">
            <a:off x="609600" y="2000250"/>
            <a:ext cx="325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1">
                <a:solidFill>
                  <a:srgbClr val="121212"/>
                </a:solidFill>
                <a:latin typeface="Liberation Sans"/>
                <a:ea typeface="Liberation Sans"/>
                <a:cs typeface="Liberation Sans"/>
              </a:defRPr>
            </a:defPPr>
          </a:lstStyle>
          <a:p xmlns:a="http://schemas.openxmlformats.org/drawingml/2006/main">
            <a:pPr algn="l">
              <a:defRPr sz="6375" b="1">
                <a:solidFill>
                  <a:srgbClr val="121212"/>
                </a:solidFill>
                <a:latin typeface="Liberation Sans"/>
                <a:ea typeface="Liberation Sans"/>
                <a:cs typeface="Liberation Sans"/>
              </a:defRPr>
            </a:pPr>
            <a:r>
              <a:rPr sz="6375" b="1">
                <a:solidFill>
                  <a:srgbClr val="121212"/>
                </a:solidFill>
                <a:latin typeface="Liberation Sans"/>
                <a:ea typeface="Liberation Sans"/>
                <a:cs typeface="Liberation Sans"/>
              </a:rPr>
              <a:t>68</a:t>
            </a:r>
          </a:p>
        </p:txBody>
      </p:sp>
      <p:sp>
        <p:nvSpPr>
          <p:cNvPr id="6" name="units of modeled&#10;unmet demand">
            <a:extLst xmlns:a="http://schemas.openxmlformats.org/drawingml/2006/main">
              <a:ext uri="{FF2B5EF4-FFF2-40B4-BE49-F238E27FC236}">
                <a16:creationId xmlns:a16="http://schemas.microsoft.com/office/drawing/2014/main" id="{BED5A775-58C8-4215-AE88-ABF13D2D7124}"/>
              </a:ext>
            </a:extLst>
          </p:cNvPr>
          <p:cNvSpPr>
            <a:spLocks xmlns:a="http://schemas.openxmlformats.org/drawingml/2006/main" noGrp="1"/>
          </p:cNvSpPr>
          <p:nvPr/>
        </p:nvSpPr>
        <p:spPr>
          <a:xfrm xmlns:a="http://schemas.openxmlformats.org/drawingml/2006/main">
            <a:off x="647700" y="30670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26262"/>
                </a:solidFill>
                <a:latin typeface="Liberation Sans"/>
                <a:ea typeface="Liberation Sans"/>
                <a:cs typeface="Liberation Sans"/>
              </a:defRPr>
            </a:defPPr>
          </a:lstStyle>
          <a:p xmlns:a="http://schemas.openxmlformats.org/drawingml/2006/main">
            <a:pPr algn="l">
              <a:defRPr sz="2025" b="0">
                <a:solidFill>
                  <a:srgbClr val="626262"/>
                </a:solidFill>
                <a:latin typeface="Liberation Sans"/>
                <a:ea typeface="Liberation Sans"/>
                <a:cs typeface="Liberation Sans"/>
              </a:defRPr>
            </a:pPr>
            <a:r>
              <a:rPr sz="2025" b="0">
                <a:solidFill>
                  <a:srgbClr val="626262"/>
                </a:solidFill>
                <a:latin typeface="Liberation Sans"/>
                <a:ea typeface="Liberation Sans"/>
                <a:cs typeface="Liberation Sans"/>
              </a:rPr>
              <a:t>units of modeled</a:t>
            </a:r>
          </a:p>
          <a:p xmlns:a="http://schemas.openxmlformats.org/drawingml/2006/main">
            <a:pPr algn="l">
              <a:defRPr sz="2025" b="0">
                <a:solidFill>
                  <a:srgbClr val="626262"/>
                </a:solidFill>
                <a:latin typeface="Liberation Sans"/>
                <a:ea typeface="Liberation Sans"/>
                <a:cs typeface="Liberation Sans"/>
              </a:defRPr>
            </a:pPr>
            <a:r>
              <a:rPr sz="2025" b="0">
                <a:solidFill>
                  <a:srgbClr val="626262"/>
                </a:solidFill>
                <a:latin typeface="Liberation Sans"/>
                <a:ea typeface="Liberation Sans"/>
                <a:cs typeface="Liberation Sans"/>
              </a:rPr>
              <a:t>unmet demand</a:t>
            </a:r>
          </a:p>
        </p:txBody>
      </p:sp>
      <p:sp>
        <p:nvSpPr>
          <p:cNvPr id="7" name="12 October">
            <a:extLst xmlns:a="http://schemas.openxmlformats.org/drawingml/2006/main">
              <a:ext uri="{FF2B5EF4-FFF2-40B4-BE49-F238E27FC236}">
                <a16:creationId xmlns:a16="http://schemas.microsoft.com/office/drawing/2014/main" id="{E04FB938-1628-482E-A2D5-DE69218759E8}"/>
              </a:ext>
            </a:extLst>
          </p:cNvPr>
          <p:cNvSpPr>
            <a:spLocks xmlns:a="http://schemas.openxmlformats.org/drawingml/2006/main" noGrp="1"/>
          </p:cNvSpPr>
          <p:nvPr/>
        </p:nvSpPr>
        <p:spPr>
          <a:xfrm xmlns:a="http://schemas.openxmlformats.org/drawingml/2006/main">
            <a:off x="609600" y="4391025"/>
            <a:ext cx="3267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12 October</a:t>
            </a:r>
          </a:p>
        </p:txBody>
      </p:sp>
      <p:sp>
        <p:nvSpPr>
          <p:cNvPr id="8" name="first projected shortage">
            <a:extLst xmlns:a="http://schemas.openxmlformats.org/drawingml/2006/main">
              <a:ext uri="{FF2B5EF4-FFF2-40B4-BE49-F238E27FC236}">
                <a16:creationId xmlns:a16="http://schemas.microsoft.com/office/drawing/2014/main" id="{21CAF33B-675A-4FD8-B5AD-08311F485F95}"/>
              </a:ext>
            </a:extLst>
          </p:cNvPr>
          <p:cNvSpPr>
            <a:spLocks xmlns:a="http://schemas.openxmlformats.org/drawingml/2006/main" noGrp="1"/>
          </p:cNvSpPr>
          <p:nvPr/>
        </p:nvSpPr>
        <p:spPr>
          <a:xfrm xmlns:a="http://schemas.openxmlformats.org/drawingml/2006/main">
            <a:off x="647700" y="5029200"/>
            <a:ext cx="3190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6262"/>
                </a:solidFill>
                <a:latin typeface="Liberation Sans"/>
                <a:ea typeface="Liberation Sans"/>
                <a:cs typeface="Liberation Sans"/>
              </a:defRPr>
            </a:defPPr>
          </a:lstStyle>
          <a:p xmlns:a="http://schemas.openxmlformats.org/drawingml/2006/main">
            <a:pPr algn="l">
              <a:defRPr sz="1800" b="0">
                <a:solidFill>
                  <a:srgbClr val="626262"/>
                </a:solidFill>
                <a:latin typeface="Liberation Sans"/>
                <a:ea typeface="Liberation Sans"/>
                <a:cs typeface="Liberation Sans"/>
              </a:defRPr>
            </a:pPr>
            <a:r>
              <a:rPr sz="1800" b="0">
                <a:solidFill>
                  <a:srgbClr val="626262"/>
                </a:solidFill>
                <a:latin typeface="Liberation Sans"/>
                <a:ea typeface="Liberation Sans"/>
                <a:cs typeface="Liberation Sans"/>
              </a:rPr>
              <a:t>first projected shortage</a:t>
            </a:r>
          </a:p>
        </p:txBody>
      </p:sp>
      <p:pic>
        <p:nvPicPr>
          <p:cNvPr id="9" name="">
            <a:extLst xmlns:a="http://schemas.openxmlformats.org/drawingml/2006/main">
              <a:ext uri="{FF2B5EF4-FFF2-40B4-BE49-F238E27FC236}">
                <a16:creationId xmlns:a16="http://schemas.microsoft.com/office/drawing/2014/main" id="{CDD8AFF6-4028-45F8-B734-D0E9A41C9730}"/>
              </a:ext>
            </a:extLst>
          </p:cNvPr>
          <p:cNvPicPr>
            <a:picLocks xmlns:a="http://schemas.openxmlformats.org/drawingml/2006/main" noChangeAspect="1"/>
          </p:cNvPicPr>
          <p:nvPr/>
        </p:nvPicPr>
        <p:blipFill>
          <a:blip xmlns:r="http://schemas.openxmlformats.org/officeDocument/2006/relationships" xmlns:a="http://schemas.openxmlformats.org/drawingml/2006/main" r:embed="Rddbb374939854d64"/>
          <a:srcRect xmlns:a="http://schemas.openxmlformats.org/drawingml/2006/main" l="18900" t="14000" r="3500" b="39000"/>
          <a:stretch xmlns:a="http://schemas.openxmlformats.org/drawingml/2006/main"/>
        </p:blipFill>
        <p:spPr>
          <a:xfrm xmlns:a="http://schemas.openxmlformats.org/drawingml/2006/main">
            <a:off x="4191000" y="2343150"/>
            <a:ext cx="7381875" cy="3114675"/>
          </a:xfrm>
          <a:prstGeom xmlns:a="http://schemas.openxmlformats.org/drawingml/2006/main" prst="rect">
            <a:avLst/>
          </a:prstGeom>
        </p:spPr>
      </p:pic>
    </p:spTree>
    <p:extLst>
      <p:ext uri="{BB962C8B-B14F-4D97-AF65-F5344CB8AC3E}">
        <p14:creationId xmlns:p14="http://schemas.microsoft.com/office/powerpoint/2010/main" val="348144629"/>
      </p:ext>
    </p:extLst>
  </p:cSld>
</p:sld>
</file>

<file path=ppt/slides/slide4.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2" name="SHARED CONSTRAINTS  ONE INSPECTED PACKAGE">
            <a:extLst xmlns:a="http://schemas.openxmlformats.org/drawingml/2006/main">
              <a:ext uri="{FF2B5EF4-FFF2-40B4-BE49-F238E27FC236}">
                <a16:creationId xmlns:a16="http://schemas.microsoft.com/office/drawing/2014/main" id="{118F1D3D-6580-4D94-B19B-665465DF156B}"/>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SHARED CONSTRAINTS  ONE INSPECTED PACKAGE</a:t>
            </a:r>
          </a:p>
        </p:txBody>
      </p:sp>
      <p:sp>
        <p:nvSpPr>
          <p:cNvPr id="2" name="A feasible response still leaves risk">
            <a:extLst xmlns:a="http://schemas.openxmlformats.org/drawingml/2006/main">
              <a:ext uri="{FF2B5EF4-FFF2-40B4-BE49-F238E27FC236}">
                <a16:creationId xmlns:a16="http://schemas.microsoft.com/office/drawing/2014/main" id="{D7B013EC-BC41-4E71-81BA-39692898D3A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feasible response still leaves risk</a:t>
            </a:r>
          </a:p>
        </p:txBody>
      </p:sp>
      <p:sp>
        <p:nvSpPr>
          <p:cNvPr id="3" name="04">
            <a:extLst xmlns:a="http://schemas.openxmlformats.org/drawingml/2006/main">
              <a:ext uri="{FF2B5EF4-FFF2-40B4-BE49-F238E27FC236}">
                <a16:creationId xmlns:a16="http://schemas.microsoft.com/office/drawing/2014/main" id="{F9799D59-C928-4661-9604-A6E8D0F785F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04</a:t>
            </a:r>
          </a:p>
        </p:txBody>
      </p:sp>
      <p:sp>
        <p:nvSpPr>
          <p:cNvPr id="4" name="Conditional example under the confirmed fo">
            <a:extLst xmlns:a="http://schemas.openxmlformats.org/drawingml/2006/main">
              <a:ext uri="{FF2B5EF4-FFF2-40B4-BE49-F238E27FC236}">
                <a16:creationId xmlns:a16="http://schemas.microsoft.com/office/drawing/2014/main" id="{DDA7237B-FF95-4FBA-95B8-6F16B1811D0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Conditional example under the confirmed four-day replay. Read-only comparison; no order, payment or facility action executes.</a:t>
            </a:r>
          </a:p>
        </p:txBody>
      </p:sp>
      <p:sp>
        <p:nvSpPr>
          <p:cNvPr id="5" name="Transfer buffer stock&#10;and expedite the shi">
            <a:extLst xmlns:a="http://schemas.openxmlformats.org/drawingml/2006/main">
              <a:ext uri="{FF2B5EF4-FFF2-40B4-BE49-F238E27FC236}">
                <a16:creationId xmlns:a16="http://schemas.microsoft.com/office/drawing/2014/main" id="{80563FEF-AA0A-484E-8961-85D518E2BAB1}"/>
              </a:ext>
            </a:extLst>
          </p:cNvPr>
          <p:cNvSpPr>
            <a:spLocks xmlns:a="http://schemas.openxmlformats.org/drawingml/2006/main" noGrp="1"/>
          </p:cNvSpPr>
          <p:nvPr/>
        </p:nvSpPr>
        <p:spPr>
          <a:xfrm xmlns:a="http://schemas.openxmlformats.org/drawingml/2006/main">
            <a:off x="619125" y="1971675"/>
            <a:ext cx="65436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21212"/>
                </a:solidFill>
                <a:latin typeface="Liberation Sans"/>
                <a:ea typeface="Liberation Sans"/>
                <a:cs typeface="Liberation Sans"/>
              </a:defRPr>
            </a:defPPr>
          </a:lstStyle>
          <a:p xmlns:a="http://schemas.openxmlformats.org/drawingml/2006/main">
            <a:pPr algn="l">
              <a:defRPr sz="3000" b="1">
                <a:solidFill>
                  <a:srgbClr val="121212"/>
                </a:solidFill>
                <a:latin typeface="Liberation Sans"/>
                <a:ea typeface="Liberation Sans"/>
                <a:cs typeface="Liberation Sans"/>
              </a:defRPr>
            </a:pPr>
            <a:r>
              <a:rPr sz="3000" b="1">
                <a:solidFill>
                  <a:srgbClr val="121212"/>
                </a:solidFill>
                <a:latin typeface="Liberation Sans"/>
                <a:ea typeface="Liberation Sans"/>
                <a:cs typeface="Liberation Sans"/>
              </a:rPr>
              <a:t>Transfer buffer stock</a:t>
            </a:r>
          </a:p>
          <a:p xmlns:a="http://schemas.openxmlformats.org/drawingml/2006/main">
            <a:pPr algn="l">
              <a:defRPr sz="3000" b="1">
                <a:solidFill>
                  <a:srgbClr val="121212"/>
                </a:solidFill>
                <a:latin typeface="Liberation Sans"/>
                <a:ea typeface="Liberation Sans"/>
                <a:cs typeface="Liberation Sans"/>
              </a:defRPr>
            </a:pPr>
            <a:r>
              <a:rPr sz="3000" b="1">
                <a:solidFill>
                  <a:srgbClr val="121212"/>
                </a:solidFill>
                <a:latin typeface="Liberation Sans"/>
                <a:ea typeface="Liberation Sans"/>
                <a:cs typeface="Liberation Sans"/>
              </a:rPr>
              <a:t>and expedite the shipment</a:t>
            </a:r>
          </a:p>
        </p:txBody>
      </p:sp>
      <p:sp>
        <p:nvSpPr>
          <p:cNvPr id="6" name="Invoice approval stays on hold.&#10;Qualified ">
            <a:extLst xmlns:a="http://schemas.openxmlformats.org/drawingml/2006/main">
              <a:ext uri="{FF2B5EF4-FFF2-40B4-BE49-F238E27FC236}">
                <a16:creationId xmlns:a16="http://schemas.microsoft.com/office/drawing/2014/main" id="{62489201-4A62-4685-A344-ADBC86503FA9}"/>
              </a:ext>
            </a:extLst>
          </p:cNvPr>
          <p:cNvSpPr>
            <a:spLocks xmlns:a="http://schemas.openxmlformats.org/drawingml/2006/main" noGrp="1"/>
          </p:cNvSpPr>
          <p:nvPr/>
        </p:nvSpPr>
        <p:spPr>
          <a:xfrm xmlns:a="http://schemas.openxmlformats.org/drawingml/2006/main">
            <a:off x="647700" y="3467100"/>
            <a:ext cx="62674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Invoice approval stays on hold.</a:t>
            </a:r>
          </a:p>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Qualified service and safety-minimum</a:t>
            </a:r>
          </a:p>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power use the same resource ledger.</a:t>
            </a:r>
          </a:p>
        </p:txBody>
      </p:sp>
      <p:sp>
        <p:nvSpPr>
          <p:cNvPr id="7" name="">
            <a:extLst xmlns:a="http://schemas.openxmlformats.org/drawingml/2006/main">
              <a:ext uri="{FF2B5EF4-FFF2-40B4-BE49-F238E27FC236}">
                <a16:creationId xmlns:a16="http://schemas.microsoft.com/office/drawing/2014/main" id="{1CC95DD0-5F9B-4F94-B2CE-E932C5DDA54A}"/>
              </a:ext>
            </a:extLst>
          </p:cNvPr>
          <p:cNvSpPr>
            <a:spLocks xmlns:a="http://schemas.openxmlformats.org/drawingml/2006/main" noGrp="1"/>
          </p:cNvSpPr>
          <p:nvPr/>
        </p:nvSpPr>
        <p:spPr>
          <a:xfrm xmlns:a="http://schemas.openxmlformats.org/drawingml/2006/main">
            <a:off x="7572375" y="1971675"/>
            <a:ext cx="0" cy="3724275"/>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0">
            <a:extLst xmlns:a="http://schemas.openxmlformats.org/drawingml/2006/main">
              <a:ext uri="{FF2B5EF4-FFF2-40B4-BE49-F238E27FC236}">
                <a16:creationId xmlns:a16="http://schemas.microsoft.com/office/drawing/2014/main" id="{9B339FFB-4967-4E83-9B72-53DED87653F5}"/>
              </a:ext>
            </a:extLst>
          </p:cNvPr>
          <p:cNvSpPr>
            <a:spLocks xmlns:a="http://schemas.openxmlformats.org/drawingml/2006/main" noGrp="1"/>
          </p:cNvSpPr>
          <p:nvPr/>
        </p:nvSpPr>
        <p:spPr>
          <a:xfrm xmlns:a="http://schemas.openxmlformats.org/drawingml/2006/main">
            <a:off x="8067675" y="2028825"/>
            <a:ext cx="333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225" b="1">
                <a:solidFill>
                  <a:srgbClr val="121212"/>
                </a:solidFill>
                <a:latin typeface="Liberation Sans"/>
                <a:ea typeface="Liberation Sans"/>
                <a:cs typeface="Liberation Sans"/>
              </a:defRPr>
            </a:defPPr>
          </a:lstStyle>
          <a:p xmlns:a="http://schemas.openxmlformats.org/drawingml/2006/main">
            <a:pPr algn="l">
              <a:defRPr sz="6225" b="1">
                <a:solidFill>
                  <a:srgbClr val="121212"/>
                </a:solidFill>
                <a:latin typeface="Liberation Sans"/>
                <a:ea typeface="Liberation Sans"/>
                <a:cs typeface="Liberation Sans"/>
              </a:defRPr>
            </a:pPr>
            <a:r>
              <a:rPr sz="6225" b="1">
                <a:solidFill>
                  <a:srgbClr val="121212"/>
                </a:solidFill>
                <a:latin typeface="Liberation Sans"/>
                <a:ea typeface="Liberation Sans"/>
                <a:cs typeface="Liberation Sans"/>
              </a:rPr>
              <a:t>0</a:t>
            </a:r>
          </a:p>
        </p:txBody>
      </p:sp>
      <p:sp>
        <p:nvSpPr>
          <p:cNvPr id="9" name="modeled unmet units">
            <a:extLst xmlns:a="http://schemas.openxmlformats.org/drawingml/2006/main">
              <a:ext uri="{FF2B5EF4-FFF2-40B4-BE49-F238E27FC236}">
                <a16:creationId xmlns:a16="http://schemas.microsoft.com/office/drawing/2014/main" id="{26B44EC6-F76F-4A21-8E40-DBEEE5E6B7AB}"/>
              </a:ext>
            </a:extLst>
          </p:cNvPr>
          <p:cNvSpPr>
            <a:spLocks xmlns:a="http://schemas.openxmlformats.org/drawingml/2006/main" noGrp="1"/>
          </p:cNvSpPr>
          <p:nvPr/>
        </p:nvSpPr>
        <p:spPr>
          <a:xfrm xmlns:a="http://schemas.openxmlformats.org/drawingml/2006/main">
            <a:off x="8096250" y="3028950"/>
            <a:ext cx="340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26262"/>
                </a:solidFill>
                <a:latin typeface="Liberation Sans"/>
                <a:ea typeface="Liberation Sans"/>
                <a:cs typeface="Liberation Sans"/>
              </a:defRPr>
            </a:defPPr>
          </a:lstStyle>
          <a:p xmlns:a="http://schemas.openxmlformats.org/drawingml/2006/main">
            <a:pPr algn="l">
              <a:defRPr sz="1950" b="0">
                <a:solidFill>
                  <a:srgbClr val="626262"/>
                </a:solidFill>
                <a:latin typeface="Liberation Sans"/>
                <a:ea typeface="Liberation Sans"/>
                <a:cs typeface="Liberation Sans"/>
              </a:defRPr>
            </a:pPr>
            <a:r>
              <a:rPr sz="1950" b="0">
                <a:solidFill>
                  <a:srgbClr val="626262"/>
                </a:solidFill>
                <a:latin typeface="Liberation Sans"/>
                <a:ea typeface="Liberation Sans"/>
                <a:cs typeface="Liberation Sans"/>
              </a:rPr>
              <a:t>modeled unmet units</a:t>
            </a:r>
          </a:p>
        </p:txBody>
      </p:sp>
      <p:sp>
        <p:nvSpPr>
          <p:cNvPr id="10" name="1.3 h">
            <a:extLst xmlns:a="http://schemas.openxmlformats.org/drawingml/2006/main">
              <a:ext uri="{FF2B5EF4-FFF2-40B4-BE49-F238E27FC236}">
                <a16:creationId xmlns:a16="http://schemas.microsoft.com/office/drawing/2014/main" id="{D12B9B3F-F796-4343-94CE-9DD403306919}"/>
              </a:ext>
            </a:extLst>
          </p:cNvPr>
          <p:cNvSpPr>
            <a:spLocks xmlns:a="http://schemas.openxmlformats.org/drawingml/2006/main" noGrp="1"/>
          </p:cNvSpPr>
          <p:nvPr/>
        </p:nvSpPr>
        <p:spPr>
          <a:xfrm xmlns:a="http://schemas.openxmlformats.org/drawingml/2006/main">
            <a:off x="8067675" y="4133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21212"/>
                </a:solidFill>
                <a:latin typeface="Liberation Sans"/>
                <a:ea typeface="Liberation Sans"/>
                <a:cs typeface="Liberation Sans"/>
              </a:defRPr>
            </a:defPPr>
          </a:lstStyle>
          <a:p xmlns:a="http://schemas.openxmlformats.org/drawingml/2006/main">
            <a:pPr algn="l">
              <a:defRPr sz="4500" b="1">
                <a:solidFill>
                  <a:srgbClr val="121212"/>
                </a:solidFill>
                <a:latin typeface="Liberation Sans"/>
                <a:ea typeface="Liberation Sans"/>
                <a:cs typeface="Liberation Sans"/>
              </a:defRPr>
            </a:pPr>
            <a:r>
              <a:rPr sz="4500" b="1">
                <a:solidFill>
                  <a:srgbClr val="121212"/>
                </a:solidFill>
                <a:latin typeface="Liberation Sans"/>
                <a:ea typeface="Liberation Sans"/>
                <a:cs typeface="Liberation Sans"/>
              </a:rPr>
              <a:t>1.3 h</a:t>
            </a:r>
          </a:p>
        </p:txBody>
      </p:sp>
      <p:sp>
        <p:nvSpPr>
          <p:cNvPr id="11" name="remaining continuity gap">
            <a:extLst xmlns:a="http://schemas.openxmlformats.org/drawingml/2006/main">
              <a:ext uri="{FF2B5EF4-FFF2-40B4-BE49-F238E27FC236}">
                <a16:creationId xmlns:a16="http://schemas.microsoft.com/office/drawing/2014/main" id="{80A7D757-BDD5-4826-9012-50F9CE55BDAC}"/>
              </a:ext>
            </a:extLst>
          </p:cNvPr>
          <p:cNvSpPr>
            <a:spLocks xmlns:a="http://schemas.openxmlformats.org/drawingml/2006/main" noGrp="1"/>
          </p:cNvSpPr>
          <p:nvPr/>
        </p:nvSpPr>
        <p:spPr>
          <a:xfrm xmlns:a="http://schemas.openxmlformats.org/drawingml/2006/main">
            <a:off x="8096250" y="5000625"/>
            <a:ext cx="3409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26262"/>
                </a:solidFill>
                <a:latin typeface="Liberation Sans"/>
                <a:ea typeface="Liberation Sans"/>
                <a:cs typeface="Liberation Sans"/>
              </a:defRPr>
            </a:defPPr>
          </a:lstStyle>
          <a:p xmlns:a="http://schemas.openxmlformats.org/drawingml/2006/main">
            <a:pPr algn="l">
              <a:defRPr sz="1950" b="0">
                <a:solidFill>
                  <a:srgbClr val="626262"/>
                </a:solidFill>
                <a:latin typeface="Liberation Sans"/>
                <a:ea typeface="Liberation Sans"/>
                <a:cs typeface="Liberation Sans"/>
              </a:defRPr>
            </a:pPr>
            <a:r>
              <a:rPr sz="1950" b="0">
                <a:solidFill>
                  <a:srgbClr val="626262"/>
                </a:solidFill>
                <a:latin typeface="Liberation Sans"/>
                <a:ea typeface="Liberation Sans"/>
                <a:cs typeface="Liberation Sans"/>
              </a:rPr>
              <a:t>remaining continuity gap</a:t>
            </a:r>
          </a:p>
        </p:txBody>
      </p:sp>
    </p:spTree>
    <p:extLst>
      <p:ext uri="{BB962C8B-B14F-4D97-AF65-F5344CB8AC3E}">
        <p14:creationId xmlns:p14="http://schemas.microsoft.com/office/powerpoint/2010/main" val="2119947995"/>
      </p:ext>
    </p:extLst>
  </p:cSld>
</p:sld>
</file>

<file path=ppt/slides/slide5.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2" name="OPTIONAL  TWO-DECISION REHEARSAL">
            <a:extLst xmlns:a="http://schemas.openxmlformats.org/drawingml/2006/main">
              <a:ext uri="{FF2B5EF4-FFF2-40B4-BE49-F238E27FC236}">
                <a16:creationId xmlns:a16="http://schemas.microsoft.com/office/drawing/2014/main" id="{6F47AA52-1ECD-4829-83F5-9209025F0B01}"/>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OPTIONAL  TWO-DECISION REHEARSAL</a:t>
            </a:r>
          </a:p>
        </p:txBody>
      </p:sp>
      <p:sp>
        <p:nvSpPr>
          <p:cNvPr id="2" name="A carrier update changes the next action">
            <a:extLst xmlns:a="http://schemas.openxmlformats.org/drawingml/2006/main">
              <a:ext uri="{FF2B5EF4-FFF2-40B4-BE49-F238E27FC236}">
                <a16:creationId xmlns:a16="http://schemas.microsoft.com/office/drawing/2014/main" id="{742DA9D6-4EEA-4DF2-93E2-2DEE9C94C242}"/>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carrier update changes the next action</a:t>
            </a:r>
          </a:p>
        </p:txBody>
      </p:sp>
      <p:sp>
        <p:nvSpPr>
          <p:cNvPr id="3" name="05">
            <a:extLst xmlns:a="http://schemas.openxmlformats.org/drawingml/2006/main">
              <a:ext uri="{FF2B5EF4-FFF2-40B4-BE49-F238E27FC236}">
                <a16:creationId xmlns:a16="http://schemas.microsoft.com/office/drawing/2014/main" id="{5FC76053-1C49-4965-BF8D-0C36F04AA557}"/>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05</a:t>
            </a:r>
          </a:p>
        </p:txBody>
      </p:sp>
      <p:sp>
        <p:nvSpPr>
          <p:cNvPr id="4" name="Seven-day synthetic rehearsal. Assumed car">
            <a:extLst xmlns:a="http://schemas.openxmlformats.org/drawingml/2006/main">
              <a:ext uri="{FF2B5EF4-FFF2-40B4-BE49-F238E27FC236}">
                <a16:creationId xmlns:a16="http://schemas.microsoft.com/office/drawing/2014/main" id="{643536BB-30F6-4756-9A60-33075B8F5A33}"/>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Seven-day synthetic rehearsal. Assumed carrier update and scenario weights. A separate comparison, with no trained agent or execution.</a:t>
            </a:r>
          </a:p>
        </p:txBody>
      </p:sp>
      <p:pic>
        <p:nvPicPr>
          <p:cNvPr id="5" name="">
            <a:extLst xmlns:a="http://schemas.openxmlformats.org/drawingml/2006/main">
              <a:ext uri="{FF2B5EF4-FFF2-40B4-BE49-F238E27FC236}">
                <a16:creationId xmlns:a16="http://schemas.microsoft.com/office/drawing/2014/main" id="{FB7E36B1-4516-495A-9519-66CE0F156042}"/>
              </a:ext>
            </a:extLst>
          </p:cNvPr>
          <p:cNvPicPr>
            <a:picLocks xmlns:a="http://schemas.openxmlformats.org/drawingml/2006/main" noChangeAspect="1"/>
          </p:cNvPicPr>
          <p:nvPr/>
        </p:nvPicPr>
        <p:blipFill>
          <a:blip xmlns:r="http://schemas.openxmlformats.org/officeDocument/2006/relationships" xmlns:a="http://schemas.openxmlformats.org/drawingml/2006/main" r:embed="Rd90cf5cd39a146aa"/>
          <a:srcRect xmlns:a="http://schemas.openxmlformats.org/drawingml/2006/main" l="19000" t="16000" r="3200" b="28000"/>
          <a:stretch xmlns:a="http://schemas.openxmlformats.org/drawingml/2006/main"/>
        </p:blipFill>
        <p:spPr>
          <a:xfrm xmlns:a="http://schemas.openxmlformats.org/drawingml/2006/main">
            <a:off x="609600" y="2114550"/>
            <a:ext cx="7524750" cy="3705225"/>
          </a:xfrm>
          <a:prstGeom xmlns:a="http://schemas.openxmlformats.org/drawingml/2006/main" prst="rect">
            <a:avLst/>
          </a:prstGeom>
        </p:spPr>
      </p:pic>
      <p:sp>
        <p:nvSpPr>
          <p:cNvPr id="6" name="Day 0">
            <a:extLst xmlns:a="http://schemas.openxmlformats.org/drawingml/2006/main">
              <a:ext uri="{FF2B5EF4-FFF2-40B4-BE49-F238E27FC236}">
                <a16:creationId xmlns:a16="http://schemas.microsoft.com/office/drawing/2014/main" id="{96411D17-2059-4EEB-8684-6F7EDAAFD037}"/>
              </a:ext>
            </a:extLst>
          </p:cNvPr>
          <p:cNvSpPr>
            <a:spLocks xmlns:a="http://schemas.openxmlformats.org/drawingml/2006/main" noGrp="1"/>
          </p:cNvSpPr>
          <p:nvPr/>
        </p:nvSpPr>
        <p:spPr>
          <a:xfrm xmlns:a="http://schemas.openxmlformats.org/drawingml/2006/main">
            <a:off x="8639175" y="2038350"/>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1212"/>
                </a:solidFill>
                <a:latin typeface="Liberation Sans"/>
                <a:ea typeface="Liberation Sans"/>
                <a:cs typeface="Liberation Sans"/>
              </a:defRPr>
            </a:defPPr>
          </a:lstStyle>
          <a:p xmlns:a="http://schemas.openxmlformats.org/drawingml/2006/main">
            <a:pPr algn="l">
              <a:defRPr sz="2250" b="1">
                <a:solidFill>
                  <a:srgbClr val="121212"/>
                </a:solidFill>
                <a:latin typeface="Liberation Sans"/>
                <a:ea typeface="Liberation Sans"/>
                <a:cs typeface="Liberation Sans"/>
              </a:defRPr>
            </a:pPr>
            <a:r>
              <a:rPr sz="2250" b="1">
                <a:solidFill>
                  <a:srgbClr val="121212"/>
                </a:solidFill>
                <a:latin typeface="Liberation Sans"/>
                <a:ea typeface="Liberation Sans"/>
                <a:cs typeface="Liberation Sans"/>
              </a:rPr>
              <a:t>Day 0</a:t>
            </a:r>
          </a:p>
        </p:txBody>
      </p:sp>
      <p:sp>
        <p:nvSpPr>
          <p:cNvPr id="7" name="One common first plan">
            <a:extLst xmlns:a="http://schemas.openxmlformats.org/drawingml/2006/main">
              <a:ext uri="{FF2B5EF4-FFF2-40B4-BE49-F238E27FC236}">
                <a16:creationId xmlns:a16="http://schemas.microsoft.com/office/drawing/2014/main" id="{7922D0AE-FBFC-4B35-8D60-4CC2C0C33C66}"/>
              </a:ext>
            </a:extLst>
          </p:cNvPr>
          <p:cNvSpPr>
            <a:spLocks xmlns:a="http://schemas.openxmlformats.org/drawingml/2006/main" noGrp="1"/>
          </p:cNvSpPr>
          <p:nvPr/>
        </p:nvSpPr>
        <p:spPr>
          <a:xfrm xmlns:a="http://schemas.openxmlformats.org/drawingml/2006/main">
            <a:off x="8639175" y="2524125"/>
            <a:ext cx="2886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One common first plan</a:t>
            </a:r>
          </a:p>
        </p:txBody>
      </p:sp>
      <p:sp>
        <p:nvSpPr>
          <p:cNvPr id="8" name="">
            <a:extLst xmlns:a="http://schemas.openxmlformats.org/drawingml/2006/main">
              <a:ext uri="{FF2B5EF4-FFF2-40B4-BE49-F238E27FC236}">
                <a16:creationId xmlns:a16="http://schemas.microsoft.com/office/drawing/2014/main" id="{01AC6C4F-8D24-43BD-A243-360042B51F0E}"/>
              </a:ext>
            </a:extLst>
          </p:cNvPr>
          <p:cNvSpPr>
            <a:spLocks xmlns:a="http://schemas.openxmlformats.org/drawingml/2006/main" noGrp="1"/>
          </p:cNvSpPr>
          <p:nvPr/>
        </p:nvSpPr>
        <p:spPr>
          <a:xfrm xmlns:a="http://schemas.openxmlformats.org/drawingml/2006/main">
            <a:off x="8639175" y="3257550"/>
            <a:ext cx="2886075"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Day 2">
            <a:extLst xmlns:a="http://schemas.openxmlformats.org/drawingml/2006/main">
              <a:ext uri="{FF2B5EF4-FFF2-40B4-BE49-F238E27FC236}">
                <a16:creationId xmlns:a16="http://schemas.microsoft.com/office/drawing/2014/main" id="{C917C80D-FC8A-49F9-BEBB-F1291F985544}"/>
              </a:ext>
            </a:extLst>
          </p:cNvPr>
          <p:cNvSpPr>
            <a:spLocks xmlns:a="http://schemas.openxmlformats.org/drawingml/2006/main" noGrp="1"/>
          </p:cNvSpPr>
          <p:nvPr/>
        </p:nvSpPr>
        <p:spPr>
          <a:xfrm xmlns:a="http://schemas.openxmlformats.org/drawingml/2006/main">
            <a:off x="8639175" y="3476625"/>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1212"/>
                </a:solidFill>
                <a:latin typeface="Liberation Sans"/>
                <a:ea typeface="Liberation Sans"/>
                <a:cs typeface="Liberation Sans"/>
              </a:defRPr>
            </a:defPPr>
          </a:lstStyle>
          <a:p xmlns:a="http://schemas.openxmlformats.org/drawingml/2006/main">
            <a:pPr algn="l">
              <a:defRPr sz="2250" b="1">
                <a:solidFill>
                  <a:srgbClr val="121212"/>
                </a:solidFill>
                <a:latin typeface="Liberation Sans"/>
                <a:ea typeface="Liberation Sans"/>
                <a:cs typeface="Liberation Sans"/>
              </a:defRPr>
            </a:pPr>
            <a:r>
              <a:rPr sz="2250" b="1">
                <a:solidFill>
                  <a:srgbClr val="121212"/>
                </a:solidFill>
                <a:latin typeface="Liberation Sans"/>
                <a:ea typeface="Liberation Sans"/>
                <a:cs typeface="Liberation Sans"/>
              </a:rPr>
              <a:t>Day 2</a:t>
            </a:r>
          </a:p>
        </p:txBody>
      </p:sp>
      <p:sp>
        <p:nvSpPr>
          <p:cNvPr id="10" name="Use fulfilled sales, receipts&#10;and the carr">
            <a:extLst xmlns:a="http://schemas.openxmlformats.org/drawingml/2006/main">
              <a:ext uri="{FF2B5EF4-FFF2-40B4-BE49-F238E27FC236}">
                <a16:creationId xmlns:a16="http://schemas.microsoft.com/office/drawing/2014/main" id="{69D581CB-3718-4819-9137-188FC9CCFC09}"/>
              </a:ext>
            </a:extLst>
          </p:cNvPr>
          <p:cNvSpPr>
            <a:spLocks xmlns:a="http://schemas.openxmlformats.org/drawingml/2006/main" noGrp="1"/>
          </p:cNvSpPr>
          <p:nvPr/>
        </p:nvSpPr>
        <p:spPr>
          <a:xfrm xmlns:a="http://schemas.openxmlformats.org/drawingml/2006/main">
            <a:off x="8639175" y="3981450"/>
            <a:ext cx="2905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Use fulfilled sales, receipts</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and the carrier report</a:t>
            </a:r>
          </a:p>
        </p:txBody>
      </p:sp>
      <p:sp>
        <p:nvSpPr>
          <p:cNvPr id="11" name="Carry forward balances&#10;and earlier commitm">
            <a:extLst xmlns:a="http://schemas.openxmlformats.org/drawingml/2006/main">
              <a:ext uri="{FF2B5EF4-FFF2-40B4-BE49-F238E27FC236}">
                <a16:creationId xmlns:a16="http://schemas.microsoft.com/office/drawing/2014/main" id="{A30F7724-ED02-4035-860A-3DD8EA91D3D3}"/>
              </a:ext>
            </a:extLst>
          </p:cNvPr>
          <p:cNvSpPr>
            <a:spLocks xmlns:a="http://schemas.openxmlformats.org/drawingml/2006/main" noGrp="1"/>
          </p:cNvSpPr>
          <p:nvPr/>
        </p:nvSpPr>
        <p:spPr>
          <a:xfrm xmlns:a="http://schemas.openxmlformats.org/drawingml/2006/main">
            <a:off x="8639175" y="5219700"/>
            <a:ext cx="29432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Carry forward balances</a:t>
            </a:r>
          </a:p>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and earlier commitments</a:t>
            </a:r>
          </a:p>
        </p:txBody>
      </p:sp>
    </p:spTree>
    <p:extLst>
      <p:ext uri="{BB962C8B-B14F-4D97-AF65-F5344CB8AC3E}">
        <p14:creationId xmlns:p14="http://schemas.microsoft.com/office/powerpoint/2010/main" val="2039345189"/>
      </p:ext>
    </p:extLst>
  </p:cSld>
</p:sld>
</file>

<file path=ppt/slides/slide6.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11" name="DORMATHON">
            <a:extLst xmlns:a="http://schemas.openxmlformats.org/drawingml/2006/main">
              <a:ext uri="{FF2B5EF4-FFF2-40B4-BE49-F238E27FC236}">
                <a16:creationId xmlns:a16="http://schemas.microsoft.com/office/drawing/2014/main" id="{F985E41C-C3FF-4B55-9365-70626A46C90F}"/>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DADA7"/>
                </a:solidFill>
                <a:latin typeface="Liberation Sans"/>
                <a:ea typeface="Liberation Sans"/>
                <a:cs typeface="Liberation Sans"/>
              </a:defRPr>
            </a:defPPr>
          </a:lstStyle>
          <a:p xmlns:a="http://schemas.openxmlformats.org/drawingml/2006/main">
            <a:pPr algn="l">
              <a:defRPr sz="1050" b="1">
                <a:solidFill>
                  <a:srgbClr val="ADADA7"/>
                </a:solidFill>
                <a:latin typeface="Liberation Sans"/>
                <a:ea typeface="Liberation Sans"/>
                <a:cs typeface="Liberation Sans"/>
              </a:defRPr>
            </a:pPr>
            <a:r>
              <a:rPr sz="1050" b="1">
                <a:solidFill>
                  <a:srgbClr val="ADADA7"/>
                </a:solidFill>
                <a:latin typeface="Liberation Sans"/>
                <a:ea typeface="Liberation Sans"/>
                <a:cs typeface="Liberation Sans"/>
              </a:rPr>
              <a:t>DORMATHON</a:t>
            </a:r>
          </a:p>
        </p:txBody>
      </p:sp>
      <p:sp>
        <p:nvSpPr>
          <p:cNvPr id="2" name="A working retail risk workspace">
            <a:extLst xmlns:a="http://schemas.openxmlformats.org/drawingml/2006/main">
              <a:ext uri="{FF2B5EF4-FFF2-40B4-BE49-F238E27FC236}">
                <a16:creationId xmlns:a16="http://schemas.microsoft.com/office/drawing/2014/main" id="{ED401336-1D42-486D-94E3-7D9FA587025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Liberation Sans"/>
                <a:ea typeface="Liberation Sans"/>
                <a:cs typeface="Liberation Sans"/>
              </a:defRPr>
            </a:defPPr>
          </a:lstStyle>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A working retail risk workspace</a:t>
            </a:r>
          </a:p>
        </p:txBody>
      </p:sp>
      <p:sp>
        <p:nvSpPr>
          <p:cNvPr id="3" name="06">
            <a:extLst xmlns:a="http://schemas.openxmlformats.org/drawingml/2006/main">
              <a:ext uri="{FF2B5EF4-FFF2-40B4-BE49-F238E27FC236}">
                <a16:creationId xmlns:a16="http://schemas.microsoft.com/office/drawing/2014/main" id="{481253DE-7B65-4E15-963A-5B913156040D}"/>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06</a:t>
            </a:r>
          </a:p>
        </p:txBody>
      </p:sp>
      <p:sp>
        <p:nvSpPr>
          <p:cNvPr id="4" name="Real public evidence, explicit hypothetica">
            <a:extLst xmlns:a="http://schemas.openxmlformats.org/drawingml/2006/main">
              <a:ext uri="{FF2B5EF4-FFF2-40B4-BE49-F238E27FC236}">
                <a16:creationId xmlns:a16="http://schemas.microsoft.com/office/drawing/2014/main" id="{020A210E-BF51-45FD-A088-8EF286D2D953}"/>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Real public evidence, explicit hypothetical exposure and synthetic operations. Human review remains required.</a:t>
            </a:r>
          </a:p>
        </p:txBody>
      </p:sp>
      <p:sp>
        <p:nvSpPr>
          <p:cNvPr id="5" name="The lead can inspect&#10;the decision before a">
            <a:extLst xmlns:a="http://schemas.openxmlformats.org/drawingml/2006/main">
              <a:ext uri="{FF2B5EF4-FFF2-40B4-BE49-F238E27FC236}">
                <a16:creationId xmlns:a16="http://schemas.microsoft.com/office/drawing/2014/main" id="{5CE3B77B-084C-4141-87DF-DD635EA5C43D}"/>
              </a:ext>
            </a:extLst>
          </p:cNvPr>
          <p:cNvSpPr>
            <a:spLocks xmlns:a="http://schemas.openxmlformats.org/drawingml/2006/main" noGrp="1"/>
          </p:cNvSpPr>
          <p:nvPr/>
        </p:nvSpPr>
        <p:spPr>
          <a:xfrm xmlns:a="http://schemas.openxmlformats.org/drawingml/2006/main">
            <a:off x="619125" y="2143125"/>
            <a:ext cx="69818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Liberation Sans"/>
                <a:ea typeface="Liberation Sans"/>
                <a:cs typeface="Liberation Sans"/>
              </a:defRPr>
            </a:defPPr>
          </a:lstStyle>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The lead can inspect</a:t>
            </a:r>
          </a:p>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the decision before acting</a:t>
            </a:r>
          </a:p>
        </p:txBody>
      </p:sp>
      <p:sp>
        <p:nvSpPr>
          <p:cNvPr id="6" name="Source facts stay separate from assumption">
            <a:extLst xmlns:a="http://schemas.openxmlformats.org/drawingml/2006/main">
              <a:ext uri="{FF2B5EF4-FFF2-40B4-BE49-F238E27FC236}">
                <a16:creationId xmlns:a16="http://schemas.microsoft.com/office/drawing/2014/main" id="{D0B8DE6B-4764-4044-A02C-FF3B74723401}"/>
              </a:ext>
            </a:extLst>
          </p:cNvPr>
          <p:cNvSpPr>
            <a:spLocks xmlns:a="http://schemas.openxmlformats.org/drawingml/2006/main" noGrp="1"/>
          </p:cNvSpPr>
          <p:nvPr/>
        </p:nvSpPr>
        <p:spPr>
          <a:xfrm xmlns:a="http://schemas.openxmlformats.org/drawingml/2006/main">
            <a:off x="647700" y="4086225"/>
            <a:ext cx="68484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8C8C0"/>
                </a:solidFill>
                <a:latin typeface="Liberation Sans"/>
                <a:ea typeface="Liberation Sans"/>
                <a:cs typeface="Liberation Sans"/>
              </a:defRPr>
            </a:defPPr>
          </a:lstStyle>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Source facts stay separate from assumptions.</a:t>
            </a:r>
          </a:p>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Plans retain their constraints and remaining risk.</a:t>
            </a:r>
          </a:p>
        </p:txBody>
      </p:sp>
      <p:sp>
        <p:nvSpPr>
          <p:cNvPr id="7" name="">
            <a:extLst xmlns:a="http://schemas.openxmlformats.org/drawingml/2006/main">
              <a:ext uri="{FF2B5EF4-FFF2-40B4-BE49-F238E27FC236}">
                <a16:creationId xmlns:a16="http://schemas.microsoft.com/office/drawing/2014/main" id="{31D33827-5396-45B4-AFC8-8E6B4AA940E3}"/>
              </a:ext>
            </a:extLst>
          </p:cNvPr>
          <p:cNvSpPr>
            <a:spLocks xmlns:a="http://schemas.openxmlformats.org/drawingml/2006/main" noGrp="1"/>
          </p:cNvSpPr>
          <p:nvPr/>
        </p:nvSpPr>
        <p:spPr>
          <a:xfrm xmlns:a="http://schemas.openxmlformats.org/drawingml/2006/main">
            <a:off x="7981950" y="2114550"/>
            <a:ext cx="0" cy="3467100"/>
          </a:xfrm>
          <a:prstGeom xmlns:a="http://schemas.openxmlformats.org/drawingml/2006/main" prst="line">
            <a:avLst/>
          </a:prstGeom>
          <a:noFill xmlns:a="http://schemas.openxmlformats.org/drawingml/2006/main"/>
          <a:ln xmlns:a="http://schemas.openxmlformats.org/drawingml/2006/main" w="9525">
            <a:solidFill>
              <a:srgbClr val="65655F"/>
            </a:solidFill>
            <a:prstDash val="solid"/>
          </a:ln>
        </p:spPr>
      </p:sp>
      <p:sp>
        <p:nvSpPr>
          <p:cNvPr id="8" name="Delivered">
            <a:extLst xmlns:a="http://schemas.openxmlformats.org/drawingml/2006/main">
              <a:ext uri="{FF2B5EF4-FFF2-40B4-BE49-F238E27FC236}">
                <a16:creationId xmlns:a16="http://schemas.microsoft.com/office/drawing/2014/main" id="{9A0E34FD-6313-4813-8329-D759362BDCE9}"/>
              </a:ext>
            </a:extLst>
          </p:cNvPr>
          <p:cNvSpPr>
            <a:spLocks xmlns:a="http://schemas.openxmlformats.org/drawingml/2006/main" noGrp="1"/>
          </p:cNvSpPr>
          <p:nvPr/>
        </p:nvSpPr>
        <p:spPr>
          <a:xfrm xmlns:a="http://schemas.openxmlformats.org/drawingml/2006/main">
            <a:off x="8353425" y="2209800"/>
            <a:ext cx="3114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C8C0"/>
                </a:solidFill>
                <a:latin typeface="Liberation Sans"/>
                <a:ea typeface="Liberation Sans"/>
                <a:cs typeface="Liberation Sans"/>
              </a:defRPr>
            </a:defPPr>
          </a:lstStyle>
          <a:p xmlns:a="http://schemas.openxmlformats.org/drawingml/2006/main">
            <a:pPr algn="l">
              <a:defRPr sz="1800" b="1">
                <a:solidFill>
                  <a:srgbClr val="C8C8C0"/>
                </a:solidFill>
                <a:latin typeface="Liberation Sans"/>
                <a:ea typeface="Liberation Sans"/>
                <a:cs typeface="Liberation Sans"/>
              </a:defRPr>
            </a:pPr>
            <a:r>
              <a:rPr sz="1800" b="1">
                <a:solidFill>
                  <a:srgbClr val="C8C8C0"/>
                </a:solidFill>
                <a:latin typeface="Liberation Sans"/>
                <a:ea typeface="Liberation Sans"/>
                <a:cs typeface="Liberation Sans"/>
              </a:rPr>
              <a:t>Delivered</a:t>
            </a:r>
          </a:p>
        </p:txBody>
      </p:sp>
      <p:sp>
        <p:nvSpPr>
          <p:cNvPr id="9" name="Evidence-linked review&#10;Dated shortage outl">
            <a:extLst xmlns:a="http://schemas.openxmlformats.org/drawingml/2006/main">
              <a:ext uri="{FF2B5EF4-FFF2-40B4-BE49-F238E27FC236}">
                <a16:creationId xmlns:a16="http://schemas.microsoft.com/office/drawing/2014/main" id="{C7E82E76-9662-4175-A044-0D55C7A24128}"/>
              </a:ext>
            </a:extLst>
          </p:cNvPr>
          <p:cNvSpPr>
            <a:spLocks xmlns:a="http://schemas.openxmlformats.org/drawingml/2006/main" noGrp="1"/>
          </p:cNvSpPr>
          <p:nvPr/>
        </p:nvSpPr>
        <p:spPr>
          <a:xfrm xmlns:a="http://schemas.openxmlformats.org/drawingml/2006/main">
            <a:off x="8353425" y="2781300"/>
            <a:ext cx="31051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Liberation Sans"/>
                <a:ea typeface="Liberation Sans"/>
                <a:cs typeface="Liberation Sans"/>
              </a:defRPr>
            </a:defPPr>
          </a:lstStyle>
          <a:p xmlns:a="http://schemas.openxmlformats.org/drawingml/2006/main">
            <a:pPr algn="l">
              <a:defRPr sz="1875" b="0">
                <a:solidFill>
                  <a:srgbClr val="FFFFFF"/>
                </a:solidFill>
                <a:latin typeface="Liberation Sans"/>
                <a:ea typeface="Liberation Sans"/>
                <a:cs typeface="Liberation Sans"/>
              </a:defRPr>
            </a:pPr>
            <a:r>
              <a:rPr sz="1875" b="0">
                <a:solidFill>
                  <a:srgbClr val="FFFFFF"/>
                </a:solidFill>
                <a:latin typeface="Liberation Sans"/>
                <a:ea typeface="Liberation Sans"/>
                <a:cs typeface="Liberation Sans"/>
              </a:rPr>
              <a:t>Evidence-linked review</a:t>
            </a:r>
          </a:p>
          <a:p xmlns:a="http://schemas.openxmlformats.org/drawingml/2006/main">
            <a:pPr algn="l">
              <a:defRPr sz="1875" b="0">
                <a:solidFill>
                  <a:srgbClr val="FFFFFF"/>
                </a:solidFill>
                <a:latin typeface="Liberation Sans"/>
                <a:ea typeface="Liberation Sans"/>
                <a:cs typeface="Liberation Sans"/>
              </a:defRPr>
            </a:pPr>
            <a:r>
              <a:rPr sz="1875" b="0">
                <a:solidFill>
                  <a:srgbClr val="FFFFFF"/>
                </a:solidFill>
                <a:latin typeface="Liberation Sans"/>
                <a:ea typeface="Liberation Sans"/>
                <a:cs typeface="Liberation Sans"/>
              </a:rPr>
              <a:t>Dated shortage outlook</a:t>
            </a:r>
          </a:p>
          <a:p xmlns:a="http://schemas.openxmlformats.org/drawingml/2006/main">
            <a:pPr algn="l">
              <a:defRPr sz="1875" b="0">
                <a:solidFill>
                  <a:srgbClr val="FFFFFF"/>
                </a:solidFill>
                <a:latin typeface="Liberation Sans"/>
                <a:ea typeface="Liberation Sans"/>
                <a:cs typeface="Liberation Sans"/>
              </a:defRPr>
            </a:pPr>
            <a:r>
              <a:rPr sz="1875" b="0">
                <a:solidFill>
                  <a:srgbClr val="FFFFFF"/>
                </a:solidFill>
                <a:latin typeface="Liberation Sans"/>
                <a:ea typeface="Liberation Sans"/>
                <a:cs typeface="Liberation Sans"/>
              </a:rPr>
              <a:t>Feasible plan comparison</a:t>
            </a:r>
          </a:p>
          <a:p xmlns:a="http://schemas.openxmlformats.org/drawingml/2006/main">
            <a:pPr algn="l">
              <a:defRPr sz="1875" b="0">
                <a:solidFill>
                  <a:srgbClr val="FFFFFF"/>
                </a:solidFill>
                <a:latin typeface="Liberation Sans"/>
                <a:ea typeface="Liberation Sans"/>
                <a:cs typeface="Liberation Sans"/>
              </a:defRPr>
            </a:pPr>
            <a:r>
              <a:rPr sz="1875" b="0">
                <a:solidFill>
                  <a:srgbClr val="FFFFFF"/>
                </a:solidFill>
                <a:latin typeface="Liberation Sans"/>
                <a:ea typeface="Liberation Sans"/>
                <a:cs typeface="Liberation Sans"/>
              </a:rPr>
              <a:t>Observed-history rehearsal</a:t>
            </a:r>
          </a:p>
        </p:txBody>
      </p:sp>
      <p:sp>
        <p:nvSpPr>
          <p:cNvPr id="10" name="Next: validate against&#10;observed operating ">
            <a:extLst xmlns:a="http://schemas.openxmlformats.org/drawingml/2006/main">
              <a:ext uri="{FF2B5EF4-FFF2-40B4-BE49-F238E27FC236}">
                <a16:creationId xmlns:a16="http://schemas.microsoft.com/office/drawing/2014/main" id="{20EB1088-EB1B-4C6F-8A55-883D07D66F5A}"/>
              </a:ext>
            </a:extLst>
          </p:cNvPr>
          <p:cNvSpPr>
            <a:spLocks xmlns:a="http://schemas.openxmlformats.org/drawingml/2006/main" noGrp="1"/>
          </p:cNvSpPr>
          <p:nvPr/>
        </p:nvSpPr>
        <p:spPr>
          <a:xfrm xmlns:a="http://schemas.openxmlformats.org/drawingml/2006/main">
            <a:off x="8353425" y="5038725"/>
            <a:ext cx="3105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C8C0"/>
                </a:solidFill>
                <a:latin typeface="Liberation Sans"/>
                <a:ea typeface="Liberation Sans"/>
                <a:cs typeface="Liberation Sans"/>
              </a:defRPr>
            </a:defPPr>
          </a:lstStyle>
          <a:p xmlns:a="http://schemas.openxmlformats.org/drawingml/2006/main">
            <a:pPr algn="l">
              <a:defRPr sz="1650" b="0">
                <a:solidFill>
                  <a:srgbClr val="C8C8C0"/>
                </a:solidFill>
                <a:latin typeface="Liberation Sans"/>
                <a:ea typeface="Liberation Sans"/>
                <a:cs typeface="Liberation Sans"/>
              </a:defRPr>
            </a:pPr>
            <a:r>
              <a:rPr sz="1650" b="0">
                <a:solidFill>
                  <a:srgbClr val="C8C8C0"/>
                </a:solidFill>
                <a:latin typeface="Liberation Sans"/>
                <a:ea typeface="Liberation Sans"/>
                <a:cs typeface="Liberation Sans"/>
              </a:rPr>
              <a:t>Next: validate against</a:t>
            </a:r>
          </a:p>
          <a:p xmlns:a="http://schemas.openxmlformats.org/drawingml/2006/main">
            <a:pPr algn="l">
              <a:defRPr sz="1650" b="0">
                <a:solidFill>
                  <a:srgbClr val="C8C8C0"/>
                </a:solidFill>
                <a:latin typeface="Liberation Sans"/>
                <a:ea typeface="Liberation Sans"/>
                <a:cs typeface="Liberation Sans"/>
              </a:defRPr>
            </a:pPr>
            <a:r>
              <a:rPr sz="1650" b="0">
                <a:solidFill>
                  <a:srgbClr val="C8C8C0"/>
                </a:solidFill>
                <a:latin typeface="Liberation Sans"/>
                <a:ea typeface="Liberation Sans"/>
                <a:cs typeface="Liberation Sans"/>
              </a:rPr>
              <a:t>observed operating outcomes</a:t>
            </a:r>
          </a:p>
        </p:txBody>
      </p:sp>
    </p:spTree>
    <p:extLst>
      <p:ext uri="{BB962C8B-B14F-4D97-AF65-F5344CB8AC3E}">
        <p14:creationId xmlns:p14="http://schemas.microsoft.com/office/powerpoint/2010/main" val="1060459633"/>
      </p:ext>
    </p:extLst>
  </p:cSld>
</p:sld>
</file>

<file path=ppt/slides/slide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2" name="PRODUCT SCOPE">
            <a:extLst xmlns:a="http://schemas.openxmlformats.org/drawingml/2006/main">
              <a:ext uri="{FF2B5EF4-FFF2-40B4-BE49-F238E27FC236}">
                <a16:creationId xmlns:a16="http://schemas.microsoft.com/office/drawing/2014/main" id="{8CEB3808-AA40-4219-BA97-C0C8A7EE093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PRODUCT SCOPE</a:t>
            </a:r>
          </a:p>
        </p:txBody>
      </p:sp>
      <p:sp>
        <p:nvSpPr>
          <p:cNvPr id="2" name="40 cases share one operating snapshot">
            <a:extLst xmlns:a="http://schemas.openxmlformats.org/drawingml/2006/main">
              <a:ext uri="{FF2B5EF4-FFF2-40B4-BE49-F238E27FC236}">
                <a16:creationId xmlns:a16="http://schemas.microsoft.com/office/drawing/2014/main" id="{C059D621-C089-42C0-A1CF-5F9552CA11E5}"/>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40 cases share one operating snapshot</a:t>
            </a:r>
          </a:p>
        </p:txBody>
      </p:sp>
      <p:sp>
        <p:nvSpPr>
          <p:cNvPr id="3" name="03">
            <a:extLst xmlns:a="http://schemas.openxmlformats.org/drawingml/2006/main">
              <a:ext uri="{FF2B5EF4-FFF2-40B4-BE49-F238E27FC236}">
                <a16:creationId xmlns:a16="http://schemas.microsoft.com/office/drawing/2014/main" id="{18146956-EEFB-4D3F-92FB-B71903138C69}"/>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07</a:t>
            </a:r>
          </a:p>
        </p:txBody>
      </p:sp>
      <p:sp>
        <p:nvSpPr>
          <p:cNvPr id="4" name="Synthetic MR D.I.Y. Malaysia workspace: 2 ">
            <a:extLst xmlns:a="http://schemas.openxmlformats.org/drawingml/2006/main">
              <a:ext uri="{FF2B5EF4-FFF2-40B4-BE49-F238E27FC236}">
                <a16:creationId xmlns:a16="http://schemas.microsoft.com/office/drawing/2014/main" id="{212BB7F9-B452-43BF-8F47-EFF02E014C0B}"/>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MR D.I.Y. Malaysia workspace: 2 distribution clusters, 8 stores and 24 SKUs. Six cases form the deep demonstration.</a:t>
            </a:r>
          </a:p>
        </p:txBody>
      </p:sp>
      <p:sp>
        <p:nvSpPr>
          <p:cNvPr id="5" name="40">
            <a:extLst xmlns:a="http://schemas.openxmlformats.org/drawingml/2006/main">
              <a:ext uri="{FF2B5EF4-FFF2-40B4-BE49-F238E27FC236}">
                <a16:creationId xmlns:a16="http://schemas.microsoft.com/office/drawing/2014/main" id="{23A9B6FF-C898-4274-BBF8-811716B90866}"/>
              </a:ext>
            </a:extLst>
          </p:cNvPr>
          <p:cNvSpPr>
            <a:spLocks xmlns:a="http://schemas.openxmlformats.org/drawingml/2006/main" noGrp="1"/>
          </p:cNvSpPr>
          <p:nvPr/>
        </p:nvSpPr>
        <p:spPr>
          <a:xfrm xmlns:a="http://schemas.openxmlformats.org/drawingml/2006/main">
            <a:off x="581025" y="2028825"/>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121212"/>
                </a:solidFill>
                <a:latin typeface="Liberation Sans"/>
                <a:ea typeface="Liberation Sans"/>
                <a:cs typeface="Liberation Sans"/>
              </a:defRPr>
            </a:defPPr>
          </a:lstStyle>
          <a:p xmlns:a="http://schemas.openxmlformats.org/drawingml/2006/main">
            <a:pPr algn="l">
              <a:buNone/>
              <a:defRPr sz="9900" b="1">
                <a:solidFill>
                  <a:srgbClr val="121212"/>
                </a:solidFill>
                <a:latin typeface="Liberation Sans"/>
                <a:ea typeface="Liberation Sans"/>
                <a:cs typeface="Liberation Sans"/>
              </a:defRPr>
            </a:pPr>
            <a:r>
              <a:rPr sz="9900" b="1">
                <a:solidFill>
                  <a:srgbClr val="121212"/>
                </a:solidFill>
                <a:latin typeface="Liberation Sans"/>
                <a:ea typeface="Liberation Sans"/>
                <a:cs typeface="Liberation Sans"/>
              </a:rPr>
              <a:t>40</a:t>
            </a:r>
          </a:p>
        </p:txBody>
      </p:sp>
      <p:sp>
        <p:nvSpPr>
          <p:cNvPr id="6" name="complete case workflows">
            <a:extLst xmlns:a="http://schemas.openxmlformats.org/drawingml/2006/main">
              <a:ext uri="{FF2B5EF4-FFF2-40B4-BE49-F238E27FC236}">
                <a16:creationId xmlns:a16="http://schemas.microsoft.com/office/drawing/2014/main" id="{4B7DB861-BDE2-46C3-952E-6B3A5BDD705F}"/>
              </a:ext>
            </a:extLst>
          </p:cNvPr>
          <p:cNvSpPr>
            <a:spLocks xmlns:a="http://schemas.openxmlformats.org/drawingml/2006/main" noGrp="1"/>
          </p:cNvSpPr>
          <p:nvPr/>
        </p:nvSpPr>
        <p:spPr>
          <a:xfrm xmlns:a="http://schemas.openxmlformats.org/drawingml/2006/main">
            <a:off x="647700" y="34766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1212"/>
                </a:solidFill>
                <a:latin typeface="Liberation Sans"/>
                <a:ea typeface="Liberation Sans"/>
                <a:cs typeface="Liberation Sans"/>
              </a:defRPr>
            </a:defPPr>
          </a:lstStyle>
          <a:p xmlns:a="http://schemas.openxmlformats.org/drawingml/2006/main">
            <a:pPr algn="l">
              <a:buNone/>
              <a:defRPr sz="2100" b="0">
                <a:solidFill>
                  <a:srgbClr val="121212"/>
                </a:solidFill>
                <a:latin typeface="Liberation Sans"/>
                <a:ea typeface="Liberation Sans"/>
                <a:cs typeface="Liberation Sans"/>
              </a:defRPr>
            </a:pPr>
            <a:r>
              <a:rPr sz="2100" b="0">
                <a:solidFill>
                  <a:srgbClr val="121212"/>
                </a:solidFill>
                <a:latin typeface="Liberation Sans"/>
                <a:ea typeface="Liberation Sans"/>
                <a:cs typeface="Liberation Sans"/>
              </a:rPr>
              <a:t>complete case workflows</a:t>
            </a:r>
          </a:p>
        </p:txBody>
      </p:sp>
      <p:sp>
        <p:nvSpPr>
          <p:cNvPr id="7" name="Inspect evidence and options.&#10;Save and reo">
            <a:extLst xmlns:a="http://schemas.openxmlformats.org/drawingml/2006/main">
              <a:ext uri="{FF2B5EF4-FFF2-40B4-BE49-F238E27FC236}">
                <a16:creationId xmlns:a16="http://schemas.microsoft.com/office/drawing/2014/main" id="{EDE413D5-AEA2-430C-8BB2-C1E164D04917}"/>
              </a:ext>
            </a:extLst>
          </p:cNvPr>
          <p:cNvSpPr>
            <a:spLocks xmlns:a="http://schemas.openxmlformats.org/drawingml/2006/main" noGrp="1"/>
          </p:cNvSpPr>
          <p:nvPr/>
        </p:nvSpPr>
        <p:spPr>
          <a:xfrm xmlns:a="http://schemas.openxmlformats.org/drawingml/2006/main">
            <a:off x="647700" y="4429125"/>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buNone/>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Inspect evidence and options.</a:t>
            </a:r>
          </a:p>
          <a:p xmlns:a="http://schemas.openxmlformats.org/drawingml/2006/main">
            <a:pPr algn="l">
              <a:buNone/>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Save and reopen a decision.</a:t>
            </a:r>
          </a:p>
        </p:txBody>
      </p:sp>
      <p:sp>
        <p:nvSpPr>
          <p:cNvPr id="8" name="">
            <a:extLst xmlns:a="http://schemas.openxmlformats.org/drawingml/2006/main">
              <a:ext uri="{FF2B5EF4-FFF2-40B4-BE49-F238E27FC236}">
                <a16:creationId xmlns:a16="http://schemas.microsoft.com/office/drawing/2014/main" id="{D28E171E-DC40-4749-BBF3-3EF8D767F878}"/>
              </a:ext>
            </a:extLst>
          </p:cNvPr>
          <p:cNvSpPr>
            <a:spLocks xmlns:a="http://schemas.openxmlformats.org/drawingml/2006/main" noGrp="1"/>
          </p:cNvSpPr>
          <p:nvPr/>
        </p:nvSpPr>
        <p:spPr>
          <a:xfrm xmlns:a="http://schemas.openxmlformats.org/drawingml/2006/main">
            <a:off x="4600575" y="2124075"/>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16">
            <a:extLst xmlns:a="http://schemas.openxmlformats.org/drawingml/2006/main">
              <a:ext uri="{FF2B5EF4-FFF2-40B4-BE49-F238E27FC236}">
                <a16:creationId xmlns:a16="http://schemas.microsoft.com/office/drawing/2014/main" id="{298CFD74-009F-4DD2-90C3-9B53A8FD2B19}"/>
              </a:ext>
            </a:extLst>
          </p:cNvPr>
          <p:cNvSpPr>
            <a:spLocks xmlns:a="http://schemas.openxmlformats.org/drawingml/2006/main" noGrp="1"/>
          </p:cNvSpPr>
          <p:nvPr/>
        </p:nvSpPr>
        <p:spPr>
          <a:xfrm xmlns:a="http://schemas.openxmlformats.org/drawingml/2006/main">
            <a:off x="4619625" y="221932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16</a:t>
            </a:r>
          </a:p>
        </p:txBody>
      </p:sp>
      <p:sp>
        <p:nvSpPr>
          <p:cNvPr id="10" name="Supply">
            <a:extLst xmlns:a="http://schemas.openxmlformats.org/drawingml/2006/main">
              <a:ext uri="{FF2B5EF4-FFF2-40B4-BE49-F238E27FC236}">
                <a16:creationId xmlns:a16="http://schemas.microsoft.com/office/drawing/2014/main" id="{48B86532-3B7A-4F14-8685-DF268B5D754B}"/>
              </a:ext>
            </a:extLst>
          </p:cNvPr>
          <p:cNvSpPr>
            <a:spLocks xmlns:a="http://schemas.openxmlformats.org/drawingml/2006/main" noGrp="1"/>
          </p:cNvSpPr>
          <p:nvPr/>
        </p:nvSpPr>
        <p:spPr>
          <a:xfrm xmlns:a="http://schemas.openxmlformats.org/drawingml/2006/main">
            <a:off x="5724525" y="229552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Supply</a:t>
            </a:r>
          </a:p>
        </p:txBody>
      </p:sp>
      <p:sp>
        <p:nvSpPr>
          <p:cNvPr id="11" name="">
            <a:extLst xmlns:a="http://schemas.openxmlformats.org/drawingml/2006/main">
              <a:ext uri="{FF2B5EF4-FFF2-40B4-BE49-F238E27FC236}">
                <a16:creationId xmlns:a16="http://schemas.microsoft.com/office/drawing/2014/main" id="{A189DCE7-42F2-45CB-A36D-85BAEC0EEE96}"/>
              </a:ext>
            </a:extLst>
          </p:cNvPr>
          <p:cNvSpPr>
            <a:spLocks xmlns:a="http://schemas.openxmlformats.org/drawingml/2006/main" noGrp="1"/>
          </p:cNvSpPr>
          <p:nvPr/>
        </p:nvSpPr>
        <p:spPr>
          <a:xfrm xmlns:a="http://schemas.openxmlformats.org/drawingml/2006/main">
            <a:off x="4600575" y="2838450"/>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2" name="10">
            <a:extLst xmlns:a="http://schemas.openxmlformats.org/drawingml/2006/main">
              <a:ext uri="{FF2B5EF4-FFF2-40B4-BE49-F238E27FC236}">
                <a16:creationId xmlns:a16="http://schemas.microsoft.com/office/drawing/2014/main" id="{4EBCED3A-D006-41CB-AD0B-C55D09E47D78}"/>
              </a:ext>
            </a:extLst>
          </p:cNvPr>
          <p:cNvSpPr>
            <a:spLocks xmlns:a="http://schemas.openxmlformats.org/drawingml/2006/main" noGrp="1"/>
          </p:cNvSpPr>
          <p:nvPr/>
        </p:nvSpPr>
        <p:spPr>
          <a:xfrm xmlns:a="http://schemas.openxmlformats.org/drawingml/2006/main">
            <a:off x="4619625" y="293370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10</a:t>
            </a:r>
          </a:p>
        </p:txBody>
      </p:sp>
      <p:sp>
        <p:nvSpPr>
          <p:cNvPr id="13" name="Procurement">
            <a:extLst xmlns:a="http://schemas.openxmlformats.org/drawingml/2006/main">
              <a:ext uri="{FF2B5EF4-FFF2-40B4-BE49-F238E27FC236}">
                <a16:creationId xmlns:a16="http://schemas.microsoft.com/office/drawing/2014/main" id="{92D44FD0-0B97-4AB5-A122-52CFD64AC480}"/>
              </a:ext>
            </a:extLst>
          </p:cNvPr>
          <p:cNvSpPr>
            <a:spLocks xmlns:a="http://schemas.openxmlformats.org/drawingml/2006/main" noGrp="1"/>
          </p:cNvSpPr>
          <p:nvPr/>
        </p:nvSpPr>
        <p:spPr>
          <a:xfrm xmlns:a="http://schemas.openxmlformats.org/drawingml/2006/main">
            <a:off x="5724525" y="30099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Procurement</a:t>
            </a:r>
          </a:p>
        </p:txBody>
      </p:sp>
      <p:sp>
        <p:nvSpPr>
          <p:cNvPr id="14" name="">
            <a:extLst xmlns:a="http://schemas.openxmlformats.org/drawingml/2006/main">
              <a:ext uri="{FF2B5EF4-FFF2-40B4-BE49-F238E27FC236}">
                <a16:creationId xmlns:a16="http://schemas.microsoft.com/office/drawing/2014/main" id="{68EE54D8-6A5A-4746-9B75-1D4B0380F44F}"/>
              </a:ext>
            </a:extLst>
          </p:cNvPr>
          <p:cNvSpPr>
            <a:spLocks xmlns:a="http://schemas.openxmlformats.org/drawingml/2006/main" noGrp="1"/>
          </p:cNvSpPr>
          <p:nvPr/>
        </p:nvSpPr>
        <p:spPr>
          <a:xfrm xmlns:a="http://schemas.openxmlformats.org/drawingml/2006/main">
            <a:off x="4600575" y="3552825"/>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5" name="08">
            <a:extLst xmlns:a="http://schemas.openxmlformats.org/drawingml/2006/main">
              <a:ext uri="{FF2B5EF4-FFF2-40B4-BE49-F238E27FC236}">
                <a16:creationId xmlns:a16="http://schemas.microsoft.com/office/drawing/2014/main" id="{DEDED948-5CAC-45E1-9EFE-2CB9F49B2CC1}"/>
              </a:ext>
            </a:extLst>
          </p:cNvPr>
          <p:cNvSpPr>
            <a:spLocks xmlns:a="http://schemas.openxmlformats.org/drawingml/2006/main" noGrp="1"/>
          </p:cNvSpPr>
          <p:nvPr/>
        </p:nvSpPr>
        <p:spPr>
          <a:xfrm xmlns:a="http://schemas.openxmlformats.org/drawingml/2006/main">
            <a:off x="4619625" y="364807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08</a:t>
            </a:r>
          </a:p>
        </p:txBody>
      </p:sp>
      <p:sp>
        <p:nvSpPr>
          <p:cNvPr id="16" name="Service">
            <a:extLst xmlns:a="http://schemas.openxmlformats.org/drawingml/2006/main">
              <a:ext uri="{FF2B5EF4-FFF2-40B4-BE49-F238E27FC236}">
                <a16:creationId xmlns:a16="http://schemas.microsoft.com/office/drawing/2014/main" id="{C70CA987-1DA6-413E-A9AE-7FD9CB657DB1}"/>
              </a:ext>
            </a:extLst>
          </p:cNvPr>
          <p:cNvSpPr>
            <a:spLocks xmlns:a="http://schemas.openxmlformats.org/drawingml/2006/main" noGrp="1"/>
          </p:cNvSpPr>
          <p:nvPr/>
        </p:nvSpPr>
        <p:spPr>
          <a:xfrm xmlns:a="http://schemas.openxmlformats.org/drawingml/2006/main">
            <a:off x="5724525" y="372427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Service</a:t>
            </a:r>
          </a:p>
        </p:txBody>
      </p:sp>
      <p:sp>
        <p:nvSpPr>
          <p:cNvPr id="17" name="">
            <a:extLst xmlns:a="http://schemas.openxmlformats.org/drawingml/2006/main">
              <a:ext uri="{FF2B5EF4-FFF2-40B4-BE49-F238E27FC236}">
                <a16:creationId xmlns:a16="http://schemas.microsoft.com/office/drawing/2014/main" id="{DF7CD918-0BDF-49C5-B561-2693CCE14110}"/>
              </a:ext>
            </a:extLst>
          </p:cNvPr>
          <p:cNvSpPr>
            <a:spLocks xmlns:a="http://schemas.openxmlformats.org/drawingml/2006/main" noGrp="1"/>
          </p:cNvSpPr>
          <p:nvPr/>
        </p:nvSpPr>
        <p:spPr>
          <a:xfrm xmlns:a="http://schemas.openxmlformats.org/drawingml/2006/main">
            <a:off x="4600575" y="4267200"/>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06">
            <a:extLst xmlns:a="http://schemas.openxmlformats.org/drawingml/2006/main">
              <a:ext uri="{FF2B5EF4-FFF2-40B4-BE49-F238E27FC236}">
                <a16:creationId xmlns:a16="http://schemas.microsoft.com/office/drawing/2014/main" id="{6A753B22-E21F-4C0E-A0B9-EEE564811EFE}"/>
              </a:ext>
            </a:extLst>
          </p:cNvPr>
          <p:cNvSpPr>
            <a:spLocks xmlns:a="http://schemas.openxmlformats.org/drawingml/2006/main" noGrp="1"/>
          </p:cNvSpPr>
          <p:nvPr/>
        </p:nvSpPr>
        <p:spPr>
          <a:xfrm xmlns:a="http://schemas.openxmlformats.org/drawingml/2006/main">
            <a:off x="4619625" y="436245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06</a:t>
            </a:r>
          </a:p>
        </p:txBody>
      </p:sp>
      <p:sp>
        <p:nvSpPr>
          <p:cNvPr id="19" name="Energy security">
            <a:extLst xmlns:a="http://schemas.openxmlformats.org/drawingml/2006/main">
              <a:ext uri="{FF2B5EF4-FFF2-40B4-BE49-F238E27FC236}">
                <a16:creationId xmlns:a16="http://schemas.microsoft.com/office/drawing/2014/main" id="{5C91E0F2-EA7A-477F-BCD4-15172BE06818}"/>
              </a:ext>
            </a:extLst>
          </p:cNvPr>
          <p:cNvSpPr>
            <a:spLocks xmlns:a="http://schemas.openxmlformats.org/drawingml/2006/main" noGrp="1"/>
          </p:cNvSpPr>
          <p:nvPr/>
        </p:nvSpPr>
        <p:spPr>
          <a:xfrm xmlns:a="http://schemas.openxmlformats.org/drawingml/2006/main">
            <a:off x="5724525" y="443865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Energy security</a:t>
            </a:r>
          </a:p>
        </p:txBody>
      </p:sp>
      <p:sp>
        <p:nvSpPr>
          <p:cNvPr id="20" name="SC01 / SC02 / SC17 / SC18 / SC27 / SC35">
            <a:extLst xmlns:a="http://schemas.openxmlformats.org/drawingml/2006/main">
              <a:ext uri="{FF2B5EF4-FFF2-40B4-BE49-F238E27FC236}">
                <a16:creationId xmlns:a16="http://schemas.microsoft.com/office/drawing/2014/main" id="{37DE574D-FCC7-43B3-A78B-CA0162024822}"/>
              </a:ext>
            </a:extLst>
          </p:cNvPr>
          <p:cNvSpPr>
            <a:spLocks xmlns:a="http://schemas.openxmlformats.org/drawingml/2006/main" noGrp="1"/>
          </p:cNvSpPr>
          <p:nvPr/>
        </p:nvSpPr>
        <p:spPr>
          <a:xfrm xmlns:a="http://schemas.openxmlformats.org/drawingml/2006/main">
            <a:off x="4619625" y="5286375"/>
            <a:ext cx="695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SC01 / SC02 / SC17 / SC18 / SC27 / SC35</a:t>
            </a:r>
          </a:p>
        </p:txBody>
      </p:sp>
      <p:sp>
        <p:nvSpPr>
          <p:cNvPr id="21" name="Same shipment, invoice, service task and r">
            <a:extLst xmlns:a="http://schemas.openxmlformats.org/drawingml/2006/main">
              <a:ext uri="{FF2B5EF4-FFF2-40B4-BE49-F238E27FC236}">
                <a16:creationId xmlns:a16="http://schemas.microsoft.com/office/drawing/2014/main" id="{7B51BD79-2EE5-4D5D-A426-289A8F18A8FC}"/>
              </a:ext>
            </a:extLst>
          </p:cNvPr>
          <p:cNvSpPr>
            <a:spLocks xmlns:a="http://schemas.openxmlformats.org/drawingml/2006/main" noGrp="1"/>
          </p:cNvSpPr>
          <p:nvPr/>
        </p:nvSpPr>
        <p:spPr>
          <a:xfrm xmlns:a="http://schemas.openxmlformats.org/drawingml/2006/main">
            <a:off x="4619625" y="5648325"/>
            <a:ext cx="695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buNone/>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Same shipment, invoice, service task and resource pools</a:t>
            </a:r>
          </a:p>
        </p:txBody>
      </p:sp>
    </p:spTree>
    <p:extLst>
      <p:ext uri="{BB962C8B-B14F-4D97-AF65-F5344CB8AC3E}">
        <p14:creationId xmlns:p14="http://schemas.microsoft.com/office/powerpoint/2010/main" val="21379035"/>
      </p:ext>
    </p:extLst>
  </p:cSld>
</p:sld>
</file>

<file path=ppt/slides/slide8.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DATA AND MODEL BOUNDARIES">
            <a:extLst xmlns:a="http://schemas.openxmlformats.org/drawingml/2006/main">
              <a:ext uri="{FF2B5EF4-FFF2-40B4-BE49-F238E27FC236}">
                <a16:creationId xmlns:a16="http://schemas.microsoft.com/office/drawing/2014/main" id="{C4838115-017A-42F0-ACB0-118334390274}"/>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DATA AND MODEL BOUNDARIES</a:t>
            </a:r>
          </a:p>
        </p:txBody>
      </p:sp>
      <p:sp>
        <p:nvSpPr>
          <p:cNvPr id="2" name="Evidence and assumptions have different ro">
            <a:extLst xmlns:a="http://schemas.openxmlformats.org/drawingml/2006/main">
              <a:ext uri="{FF2B5EF4-FFF2-40B4-BE49-F238E27FC236}">
                <a16:creationId xmlns:a16="http://schemas.microsoft.com/office/drawing/2014/main" id="{24A9701B-98C8-497B-A6CA-92093BA6870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Evidence and assumptions have different roles</a:t>
            </a:r>
          </a:p>
        </p:txBody>
      </p:sp>
      <p:sp>
        <p:nvSpPr>
          <p:cNvPr id="3" name="07">
            <a:extLst xmlns:a="http://schemas.openxmlformats.org/drawingml/2006/main">
              <a:ext uri="{FF2B5EF4-FFF2-40B4-BE49-F238E27FC236}">
                <a16:creationId xmlns:a16="http://schemas.microsoft.com/office/drawing/2014/main" id="{DA48F4B1-B010-4FE3-959D-19933DC2BD35}"/>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08</a:t>
            </a:r>
          </a:p>
        </p:txBody>
      </p:sp>
      <p:sp>
        <p:nvSpPr>
          <p:cNvPr id="4" name="The optional GPT-OSS 120B Advisor remains ">
            <a:extLst xmlns:a="http://schemas.openxmlformats.org/drawingml/2006/main">
              <a:ext uri="{FF2B5EF4-FFF2-40B4-BE49-F238E27FC236}">
                <a16:creationId xmlns:a16="http://schemas.microsoft.com/office/drawing/2014/main" id="{BDCE2351-7DB5-45B7-95F6-0AB23D7D05E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The optional GPT-OSS 120B Advisor remains selected-case-only. It does not consume or approve event, joint or sequential plans.</a:t>
            </a:r>
          </a:p>
        </p:txBody>
      </p:sp>
      <p:sp>
        <p:nvSpPr>
          <p:cNvPr id="5" name="">
            <a:extLst xmlns:a="http://schemas.openxmlformats.org/drawingml/2006/main">
              <a:ext uri="{FF2B5EF4-FFF2-40B4-BE49-F238E27FC236}">
                <a16:creationId xmlns:a16="http://schemas.microsoft.com/office/drawing/2014/main" id="{59E78EA4-2DFC-4891-A681-46A90F703122}"/>
              </a:ext>
            </a:extLst>
          </p:cNvPr>
          <p:cNvSpPr>
            <a:spLocks xmlns:a="http://schemas.openxmlformats.org/drawingml/2006/main" noGrp="1"/>
          </p:cNvSpPr>
          <p:nvPr/>
        </p:nvSpPr>
        <p:spPr>
          <a:xfrm xmlns:a="http://schemas.openxmlformats.org/drawingml/2006/main">
            <a:off x="609600" y="20669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Public source">
            <a:extLst xmlns:a="http://schemas.openxmlformats.org/drawingml/2006/main">
              <a:ext uri="{FF2B5EF4-FFF2-40B4-BE49-F238E27FC236}">
                <a16:creationId xmlns:a16="http://schemas.microsoft.com/office/drawing/2014/main" id="{AFA61044-62FB-4BC0-A743-7221F8DF9126}"/>
              </a:ext>
            </a:extLst>
          </p:cNvPr>
          <p:cNvSpPr>
            <a:spLocks xmlns:a="http://schemas.openxmlformats.org/drawingml/2006/main" noGrp="1"/>
          </p:cNvSpPr>
          <p:nvPr/>
        </p:nvSpPr>
        <p:spPr>
          <a:xfrm xmlns:a="http://schemas.openxmlformats.org/drawingml/2006/main">
            <a:off x="609600" y="222885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Public source</a:t>
            </a:r>
          </a:p>
        </p:txBody>
      </p:sp>
      <p:sp>
        <p:nvSpPr>
          <p:cNvPr id="7" name="Saved MET warning and attributed public re">
            <a:extLst xmlns:a="http://schemas.openxmlformats.org/drawingml/2006/main">
              <a:ext uri="{FF2B5EF4-FFF2-40B4-BE49-F238E27FC236}">
                <a16:creationId xmlns:a16="http://schemas.microsoft.com/office/drawing/2014/main" id="{A02F3F06-CAD3-45B9-B9F4-25B79AC5F500}"/>
              </a:ext>
            </a:extLst>
          </p:cNvPr>
          <p:cNvSpPr>
            <a:spLocks xmlns:a="http://schemas.openxmlformats.org/drawingml/2006/main" noGrp="1"/>
          </p:cNvSpPr>
          <p:nvPr/>
        </p:nvSpPr>
        <p:spPr>
          <a:xfrm xmlns:a="http://schemas.openxmlformats.org/drawingml/2006/main">
            <a:off x="3762375" y="2200275"/>
            <a:ext cx="773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Saved MET warning and attributed public reports</a:t>
            </a:r>
          </a:p>
        </p:txBody>
      </p:sp>
      <p:sp>
        <p:nvSpPr>
          <p:cNvPr id="8" name="No verified route exposure, delay or busin">
            <a:extLst xmlns:a="http://schemas.openxmlformats.org/drawingml/2006/main">
              <a:ext uri="{FF2B5EF4-FFF2-40B4-BE49-F238E27FC236}">
                <a16:creationId xmlns:a16="http://schemas.microsoft.com/office/drawing/2014/main" id="{406E44A3-E3F2-422A-9DE0-C14851E1CD08}"/>
              </a:ext>
            </a:extLst>
          </p:cNvPr>
          <p:cNvSpPr>
            <a:spLocks xmlns:a="http://schemas.openxmlformats.org/drawingml/2006/main" noGrp="1"/>
          </p:cNvSpPr>
          <p:nvPr/>
        </p:nvSpPr>
        <p:spPr>
          <a:xfrm xmlns:a="http://schemas.openxmlformats.org/drawingml/2006/main">
            <a:off x="3762375" y="2590800"/>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No verified route exposure, delay or business loss</a:t>
            </a:r>
          </a:p>
        </p:txBody>
      </p:sp>
      <p:sp>
        <p:nvSpPr>
          <p:cNvPr id="9" name="">
            <a:extLst xmlns:a="http://schemas.openxmlformats.org/drawingml/2006/main">
              <a:ext uri="{FF2B5EF4-FFF2-40B4-BE49-F238E27FC236}">
                <a16:creationId xmlns:a16="http://schemas.microsoft.com/office/drawing/2014/main" id="{A8E098D1-90D0-4D90-AF51-3A3CA09E43CE}"/>
              </a:ext>
            </a:extLst>
          </p:cNvPr>
          <p:cNvSpPr>
            <a:spLocks xmlns:a="http://schemas.openxmlformats.org/drawingml/2006/main" noGrp="1"/>
          </p:cNvSpPr>
          <p:nvPr/>
        </p:nvSpPr>
        <p:spPr>
          <a:xfrm xmlns:a="http://schemas.openxmlformats.org/drawingml/2006/main">
            <a:off x="609600" y="30099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Human confirmation">
            <a:extLst xmlns:a="http://schemas.openxmlformats.org/drawingml/2006/main">
              <a:ext uri="{FF2B5EF4-FFF2-40B4-BE49-F238E27FC236}">
                <a16:creationId xmlns:a16="http://schemas.microsoft.com/office/drawing/2014/main" id="{087026C0-FA2D-4C56-AEB3-3119291E210E}"/>
              </a:ext>
            </a:extLst>
          </p:cNvPr>
          <p:cNvSpPr>
            <a:spLocks xmlns:a="http://schemas.openxmlformats.org/drawingml/2006/main" noGrp="1"/>
          </p:cNvSpPr>
          <p:nvPr/>
        </p:nvSpPr>
        <p:spPr>
          <a:xfrm xmlns:a="http://schemas.openxmlformats.org/drawingml/2006/main">
            <a:off x="609600" y="31718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Human confirmation</a:t>
            </a:r>
          </a:p>
        </p:txBody>
      </p:sp>
      <p:sp>
        <p:nvSpPr>
          <p:cNvPr id="11" name="Fictional mapping and total delay for a re">
            <a:extLst xmlns:a="http://schemas.openxmlformats.org/drawingml/2006/main">
              <a:ext uri="{FF2B5EF4-FFF2-40B4-BE49-F238E27FC236}">
                <a16:creationId xmlns:a16="http://schemas.microsoft.com/office/drawing/2014/main" id="{D4E55F33-6293-41D6-97F2-95B681072B71}"/>
              </a:ext>
            </a:extLst>
          </p:cNvPr>
          <p:cNvSpPr>
            <a:spLocks xmlns:a="http://schemas.openxmlformats.org/drawingml/2006/main" noGrp="1"/>
          </p:cNvSpPr>
          <p:nvPr/>
        </p:nvSpPr>
        <p:spPr>
          <a:xfrm xmlns:a="http://schemas.openxmlformats.org/drawingml/2006/main">
            <a:off x="3762375" y="3143250"/>
            <a:ext cx="773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Fictional mapping and total delay for a replay</a:t>
            </a:r>
          </a:p>
        </p:txBody>
      </p:sp>
      <p:sp>
        <p:nvSpPr>
          <p:cNvPr id="12" name="UI affirmation, not company acknowledgemen">
            <a:extLst xmlns:a="http://schemas.openxmlformats.org/drawingml/2006/main">
              <a:ext uri="{FF2B5EF4-FFF2-40B4-BE49-F238E27FC236}">
                <a16:creationId xmlns:a16="http://schemas.microsoft.com/office/drawing/2014/main" id="{F6B7CD63-C334-4FB2-A592-77A76C427EDB}"/>
              </a:ext>
            </a:extLst>
          </p:cNvPr>
          <p:cNvSpPr>
            <a:spLocks xmlns:a="http://schemas.openxmlformats.org/drawingml/2006/main" noGrp="1"/>
          </p:cNvSpPr>
          <p:nvPr/>
        </p:nvSpPr>
        <p:spPr>
          <a:xfrm xmlns:a="http://schemas.openxmlformats.org/drawingml/2006/main">
            <a:off x="3762375" y="3533775"/>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UI affirmation, not company acknowledgement</a:t>
            </a:r>
          </a:p>
        </p:txBody>
      </p:sp>
      <p:sp>
        <p:nvSpPr>
          <p:cNvPr id="13" name="">
            <a:extLst xmlns:a="http://schemas.openxmlformats.org/drawingml/2006/main">
              <a:ext uri="{FF2B5EF4-FFF2-40B4-BE49-F238E27FC236}">
                <a16:creationId xmlns:a16="http://schemas.microsoft.com/office/drawing/2014/main" id="{36B83E9F-8603-4CE0-99B6-0A977507259D}"/>
              </a:ext>
            </a:extLst>
          </p:cNvPr>
          <p:cNvSpPr>
            <a:spLocks xmlns:a="http://schemas.openxmlformats.org/drawingml/2006/main" noGrp="1"/>
          </p:cNvSpPr>
          <p:nvPr/>
        </p:nvSpPr>
        <p:spPr>
          <a:xfrm xmlns:a="http://schemas.openxmlformats.org/drawingml/2006/main">
            <a:off x="609600" y="39528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Operational calculation">
            <a:extLst xmlns:a="http://schemas.openxmlformats.org/drawingml/2006/main">
              <a:ext uri="{FF2B5EF4-FFF2-40B4-BE49-F238E27FC236}">
                <a16:creationId xmlns:a16="http://schemas.microsoft.com/office/drawing/2014/main" id="{AEB8CFC1-4880-417A-8A48-D7E6748139B0}"/>
              </a:ext>
            </a:extLst>
          </p:cNvPr>
          <p:cNvSpPr>
            <a:spLocks xmlns:a="http://schemas.openxmlformats.org/drawingml/2006/main" noGrp="1"/>
          </p:cNvSpPr>
          <p:nvPr/>
        </p:nvSpPr>
        <p:spPr>
          <a:xfrm xmlns:a="http://schemas.openxmlformats.org/drawingml/2006/main">
            <a:off x="609600" y="41148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Operational calculation</a:t>
            </a:r>
          </a:p>
        </p:txBody>
      </p:sp>
      <p:sp>
        <p:nvSpPr>
          <p:cNvPr id="15" name="Authored history, arrivals and shared cons">
            <a:extLst xmlns:a="http://schemas.openxmlformats.org/drawingml/2006/main">
              <a:ext uri="{FF2B5EF4-FFF2-40B4-BE49-F238E27FC236}">
                <a16:creationId xmlns:a16="http://schemas.microsoft.com/office/drawing/2014/main" id="{8498F718-0FAA-4EC3-8E10-9A84ACD66839}"/>
              </a:ext>
            </a:extLst>
          </p:cNvPr>
          <p:cNvSpPr>
            <a:spLocks xmlns:a="http://schemas.openxmlformats.org/drawingml/2006/main" noGrp="1"/>
          </p:cNvSpPr>
          <p:nvPr/>
        </p:nvSpPr>
        <p:spPr>
          <a:xfrm xmlns:a="http://schemas.openxmlformats.org/drawingml/2006/main">
            <a:off x="3762375" y="4086225"/>
            <a:ext cx="773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Authored history, arrivals and shared constraints</a:t>
            </a:r>
          </a:p>
        </p:txBody>
      </p:sp>
      <p:sp>
        <p:nvSpPr>
          <p:cNvPr id="16" name="Conditional shortage and plan trade-offs">
            <a:extLst xmlns:a="http://schemas.openxmlformats.org/drawingml/2006/main">
              <a:ext uri="{FF2B5EF4-FFF2-40B4-BE49-F238E27FC236}">
                <a16:creationId xmlns:a16="http://schemas.microsoft.com/office/drawing/2014/main" id="{A2E26416-D448-44E3-83EC-50B98C074D99}"/>
              </a:ext>
            </a:extLst>
          </p:cNvPr>
          <p:cNvSpPr>
            <a:spLocks xmlns:a="http://schemas.openxmlformats.org/drawingml/2006/main" noGrp="1"/>
          </p:cNvSpPr>
          <p:nvPr/>
        </p:nvSpPr>
        <p:spPr>
          <a:xfrm xmlns:a="http://schemas.openxmlformats.org/drawingml/2006/main">
            <a:off x="3762375" y="4476750"/>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Conditional shortage and plan trade-offs</a:t>
            </a:r>
          </a:p>
        </p:txBody>
      </p:sp>
      <p:sp>
        <p:nvSpPr>
          <p:cNvPr id="17" name="">
            <a:extLst xmlns:a="http://schemas.openxmlformats.org/drawingml/2006/main">
              <a:ext uri="{FF2B5EF4-FFF2-40B4-BE49-F238E27FC236}">
                <a16:creationId xmlns:a16="http://schemas.microsoft.com/office/drawing/2014/main" id="{E158968C-F378-49D5-8155-DC70AAFB439E}"/>
              </a:ext>
            </a:extLst>
          </p:cNvPr>
          <p:cNvSpPr>
            <a:spLocks xmlns:a="http://schemas.openxmlformats.org/drawingml/2006/main" noGrp="1"/>
          </p:cNvSpPr>
          <p:nvPr/>
        </p:nvSpPr>
        <p:spPr>
          <a:xfrm xmlns:a="http://schemas.openxmlformats.org/drawingml/2006/main">
            <a:off x="609600" y="48958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Replanning observation">
            <a:extLst xmlns:a="http://schemas.openxmlformats.org/drawingml/2006/main">
              <a:ext uri="{FF2B5EF4-FFF2-40B4-BE49-F238E27FC236}">
                <a16:creationId xmlns:a16="http://schemas.microsoft.com/office/drawing/2014/main" id="{562EC5E0-A574-437A-B4ED-5C6A3BE39123}"/>
              </a:ext>
            </a:extLst>
          </p:cNvPr>
          <p:cNvSpPr>
            <a:spLocks xmlns:a="http://schemas.openxmlformats.org/drawingml/2006/main" noGrp="1"/>
          </p:cNvSpPr>
          <p:nvPr/>
        </p:nvSpPr>
        <p:spPr>
          <a:xfrm xmlns:a="http://schemas.openxmlformats.org/drawingml/2006/main">
            <a:off x="609600" y="505777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Replanning observation</a:t>
            </a:r>
          </a:p>
        </p:txBody>
      </p:sp>
      <p:sp>
        <p:nvSpPr>
          <p:cNvPr id="19" name="Synthetic fulfilled sales, receipts and ca">
            <a:extLst xmlns:a="http://schemas.openxmlformats.org/drawingml/2006/main">
              <a:ext uri="{FF2B5EF4-FFF2-40B4-BE49-F238E27FC236}">
                <a16:creationId xmlns:a16="http://schemas.microsoft.com/office/drawing/2014/main" id="{618153B1-3698-4CC5-B9BA-2FF002C38FE8}"/>
              </a:ext>
            </a:extLst>
          </p:cNvPr>
          <p:cNvSpPr>
            <a:spLocks xmlns:a="http://schemas.openxmlformats.org/drawingml/2006/main" noGrp="1"/>
          </p:cNvSpPr>
          <p:nvPr/>
        </p:nvSpPr>
        <p:spPr>
          <a:xfrm xmlns:a="http://schemas.openxmlformats.org/drawingml/2006/main">
            <a:off x="3762375" y="5029200"/>
            <a:ext cx="773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Synthetic fulfilled sales, receipts and carrier ETA</a:t>
            </a:r>
          </a:p>
        </p:txBody>
      </p:sp>
      <p:sp>
        <p:nvSpPr>
          <p:cNvPr id="20" name="Future demand remains hidden and uncertain">
            <a:extLst xmlns:a="http://schemas.openxmlformats.org/drawingml/2006/main">
              <a:ext uri="{FF2B5EF4-FFF2-40B4-BE49-F238E27FC236}">
                <a16:creationId xmlns:a16="http://schemas.microsoft.com/office/drawing/2014/main" id="{0B9983F0-A921-423B-868D-1B3C77F366BB}"/>
              </a:ext>
            </a:extLst>
          </p:cNvPr>
          <p:cNvSpPr>
            <a:spLocks xmlns:a="http://schemas.openxmlformats.org/drawingml/2006/main" noGrp="1"/>
          </p:cNvSpPr>
          <p:nvPr/>
        </p:nvSpPr>
        <p:spPr>
          <a:xfrm xmlns:a="http://schemas.openxmlformats.org/drawingml/2006/main">
            <a:off x="3762375" y="5419725"/>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Future demand remains hidden and uncertain</a:t>
            </a:r>
          </a:p>
        </p:txBody>
      </p:sp>
    </p:spTree>
    <p:extLst>
      <p:ext uri="{BB962C8B-B14F-4D97-AF65-F5344CB8AC3E}">
        <p14:creationId xmlns:p14="http://schemas.microsoft.com/office/powerpoint/2010/main" val="516246960"/>
      </p:ext>
    </p:extLst>
  </p:cSld>
</p:sld>
</file>

<file path=ppt/slides/slide9.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8" name="APPENDIX  CONFIRMED FOUR-DAY REPLAY">
            <a:extLst xmlns:a="http://schemas.openxmlformats.org/drawingml/2006/main">
              <a:ext uri="{FF2B5EF4-FFF2-40B4-BE49-F238E27FC236}">
                <a16:creationId xmlns:a16="http://schemas.microsoft.com/office/drawing/2014/main" id="{A3A69B1A-5808-45CE-9C8B-2E8C09DB8AE3}"/>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CONFIRMED FOUR-DAY REPLAY</a:t>
            </a:r>
          </a:p>
        </p:txBody>
      </p:sp>
      <p:sp>
        <p:nvSpPr>
          <p:cNvPr id="2" name="Replanning lowers assumed cost, with more ">
            <a:extLst xmlns:a="http://schemas.openxmlformats.org/drawingml/2006/main">
              <a:ext uri="{FF2B5EF4-FFF2-40B4-BE49-F238E27FC236}">
                <a16:creationId xmlns:a16="http://schemas.microsoft.com/office/drawing/2014/main" id="{A1C6F631-2B43-4B28-8A88-BB0879933B6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Replanning lowers assumed cost, with more unmet demand</a:t>
            </a:r>
          </a:p>
        </p:txBody>
      </p:sp>
      <p:sp>
        <p:nvSpPr>
          <p:cNvPr id="3" name="08">
            <a:extLst xmlns:a="http://schemas.openxmlformats.org/drawingml/2006/main">
              <a:ext uri="{FF2B5EF4-FFF2-40B4-BE49-F238E27FC236}">
                <a16:creationId xmlns:a16="http://schemas.microsoft.com/office/drawing/2014/main" id="{4181C2D9-BA62-4FC1-B8B7-EF5C7C28B597}"/>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09</a:t>
            </a:r>
          </a:p>
        </p:txBody>
      </p:sp>
      <p:sp>
        <p:nvSpPr>
          <p:cNvPr id="4" name="Expected values use assumed 0.5 / 0.3 / 0.">
            <a:extLst xmlns:a="http://schemas.openxmlformats.org/drawingml/2006/main">
              <a:ext uri="{FF2B5EF4-FFF2-40B4-BE49-F238E27FC236}">
                <a16:creationId xmlns:a16="http://schemas.microsoft.com/office/drawing/2014/main" id="{579D1074-B085-4755-96A4-7FD2FD8B8B1A}"/>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Expected values use assumed 0.5 / 0.3 / 0.2 scenario weights. Synthetic outcomes, not measured probabilities or company savings.</a:t>
            </a:r>
          </a:p>
        </p:txBody>
      </p:sp>
      <p:graphicFrame>
        <p:nvGraphicFramePr>
          <p:cNvPr id="5" name="">
            <a:extLst xmlns:a="http://schemas.openxmlformats.org/drawingml/2006/main">
              <a:ext uri="{FF2B5EF4-FFF2-40B4-BE49-F238E27FC236}">
                <a16:creationId xmlns:a16="http://schemas.microsoft.com/office/drawing/2014/main" id="{3EA68052-CA0F-4059-86A6-B720CF646171}"/>
              </a:ext>
            </a:extLst>
          </p:cNvPr>
          <p:cNvGraphicFramePr/>
          <p:nvPr/>
        </p:nvGraphicFramePr>
        <p:xfrm>
          <a:off xmlns:a="http://schemas.openxmlformats.org/drawingml/2006/main" x="609600" y="2114550"/>
          <a:ext xmlns:a="http://schemas.openxmlformats.org/drawingml/2006/main" cx="10953750" cy="2495550"/>
        </p:xfrm>
        <a:graphic xmlns:a="http://schemas.openxmlformats.org/drawingml/2006/main">
          <a:graphicData uri="http://schemas.openxmlformats.org/drawingml/2006/table">
            <a:tbl>
              <a:tblPr/>
              <a:tblGrid>
                <a:gridCol w="5648325"/>
                <a:gridCol w="2419350"/>
                <a:gridCol w="2886075"/>
              </a:tblGrid>
              <a:tr h="623888">
                <a:tc>
                  <a:txBody>
                    <a:bodyPr lIns="114300" tIns="114300" rIns="114300" bIns="114300"/>
                    <a:lstStyle/>
                    <a:p>
                      <a:r>
                        <a:rPr sz="1275" b="1">
                          <a:solidFill>
                            <a:srgbClr val="FFFFFF"/>
                          </a:solidFill>
                          <a:latin typeface="Liberation Sans"/>
                          <a:ea typeface="Liberation Sans"/>
                          <a:cs typeface="Liberation Sans"/>
                        </a:rPr>
                        <a:t>Modeled outcome</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Replanning</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Fixed two-decision plan</a:t>
                      </a:r>
                    </a:p>
                  </a:txBody>
                  <a:tcPr marL="91440" marR="91440" marT="45720" marB="45720">
                    <a:solidFill>
                      <a:srgbClr val="121212"/>
                    </a:solidFill>
                  </a:tcPr>
                </a:tc>
              </a:tr>
              <a:tr h="623888">
                <a:tc>
                  <a:txBody>
                    <a:bodyPr lIns="114300" tIns="114300" rIns="114300" bIns="114300"/>
                    <a:lstStyle/>
                    <a:p>
                      <a:r>
                        <a:rPr sz="1650" b="0">
                          <a:solidFill>
                            <a:srgbClr val="121212"/>
                          </a:solidFill>
                          <a:latin typeface="Liberation Sans"/>
                          <a:ea typeface="Liberation Sans"/>
                          <a:cs typeface="Liberation Sans"/>
                        </a:rPr>
                        <a:t>Known conditional cost, MYR</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161.017</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273.973</a:t>
                      </a:r>
                    </a:p>
                  </a:txBody>
                  <a:tcPr marL="91440" marR="91440" marT="45720" marB="45720">
                    <a:solidFill>
                      <a:srgbClr val="FFFFFF"/>
                    </a:solidFill>
                  </a:tcPr>
                </a:tc>
              </a:tr>
              <a:tr h="623888">
                <a:tc>
                  <a:txBody>
                    <a:bodyPr lIns="114300" tIns="114300" rIns="114300" bIns="114300"/>
                    <a:lstStyle/>
                    <a:p>
                      <a:r>
                        <a:rPr sz="1650" b="0">
                          <a:solidFill>
                            <a:srgbClr val="121212"/>
                          </a:solidFill>
                          <a:latin typeface="Liberation Sans"/>
                          <a:ea typeface="Liberation Sans"/>
                          <a:cs typeface="Liberation Sans"/>
                        </a:rPr>
                        <a:t>Weighted unmet demand, units</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2.241</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2.155</a:t>
                      </a:r>
                    </a:p>
                  </a:txBody>
                  <a:tcPr marL="91440" marR="91440" marT="45720" marB="45720">
                    <a:solidFill>
                      <a:srgbClr val="F5F5F1"/>
                    </a:solidFill>
                  </a:tcPr>
                </a:tc>
              </a:tr>
              <a:tr h="623888">
                <a:tc>
                  <a:txBody>
                    <a:bodyPr lIns="114300" tIns="114300" rIns="114300" bIns="114300"/>
                    <a:lstStyle/>
                    <a:p>
                      <a:r>
                        <a:rPr sz="1650" b="0">
                          <a:solidFill>
                            <a:srgbClr val="121212"/>
                          </a:solidFill>
                          <a:latin typeface="Liberation Sans"/>
                          <a:ea typeface="Liberation Sans"/>
                          <a:cs typeface="Liberation Sans"/>
                        </a:rPr>
                        <a:t>Residual continuity gap, hours</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1.3</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1.3</a:t>
                      </a:r>
                    </a:p>
                  </a:txBody>
                  <a:tcPr marL="91440" marR="91440" marT="45720" marB="45720">
                    <a:solidFill>
                      <a:srgbClr val="FFFFFF"/>
                    </a:solidFill>
                  </a:tcPr>
                </a:tc>
              </a:tr>
            </a:tbl>
          </a:graphicData>
        </a:graphic>
      </p:graphicFrame>
      <p:sp>
        <p:nvSpPr>
          <p:cNvPr id="6" name="Lower cost does not dominate the service o">
            <a:extLst xmlns:a="http://schemas.openxmlformats.org/drawingml/2006/main">
              <a:ext uri="{FF2B5EF4-FFF2-40B4-BE49-F238E27FC236}">
                <a16:creationId xmlns:a16="http://schemas.microsoft.com/office/drawing/2014/main" id="{C36B521B-03A0-4D3A-90DA-0BCE6CAE8112}"/>
              </a:ext>
            </a:extLst>
          </p:cNvPr>
          <p:cNvSpPr>
            <a:spLocks xmlns:a="http://schemas.openxmlformats.org/drawingml/2006/main" noGrp="1"/>
          </p:cNvSpPr>
          <p:nvPr/>
        </p:nvSpPr>
        <p:spPr>
          <a:xfrm xmlns:a="http://schemas.openxmlformats.org/drawingml/2006/main">
            <a:off x="638175" y="5057775"/>
            <a:ext cx="10791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1212"/>
                </a:solidFill>
                <a:latin typeface="Liberation Sans"/>
                <a:ea typeface="Liberation Sans"/>
                <a:cs typeface="Liberation Sans"/>
              </a:defRPr>
            </a:defPPr>
          </a:lstStyle>
          <a:p xmlns:a="http://schemas.openxmlformats.org/drawingml/2006/main">
            <a:pPr algn="l">
              <a:defRPr sz="2250" b="1">
                <a:solidFill>
                  <a:srgbClr val="121212"/>
                </a:solidFill>
                <a:latin typeface="Liberation Sans"/>
                <a:ea typeface="Liberation Sans"/>
                <a:cs typeface="Liberation Sans"/>
              </a:defRPr>
            </a:pPr>
            <a:r>
              <a:rPr sz="2250" b="1">
                <a:solidFill>
                  <a:srgbClr val="121212"/>
                </a:solidFill>
                <a:latin typeface="Liberation Sans"/>
                <a:ea typeface="Liberation Sans"/>
                <a:cs typeface="Liberation Sans"/>
              </a:rPr>
              <a:t>Lower cost does not dominate the service outcome</a:t>
            </a:r>
          </a:p>
        </p:txBody>
      </p:sp>
      <p:sp>
        <p:nvSpPr>
          <p:cNvPr id="7" name="Same paths, weights, constraints and decla">
            <a:extLst xmlns:a="http://schemas.openxmlformats.org/drawingml/2006/main">
              <a:ext uri="{FF2B5EF4-FFF2-40B4-BE49-F238E27FC236}">
                <a16:creationId xmlns:a16="http://schemas.microsoft.com/office/drawing/2014/main" id="{DFEAA891-E25C-4305-A414-6AB8E5DFD5BB}"/>
              </a:ext>
            </a:extLst>
          </p:cNvPr>
          <p:cNvSpPr>
            <a:spLocks xmlns:a="http://schemas.openxmlformats.org/drawingml/2006/main" noGrp="1"/>
          </p:cNvSpPr>
          <p:nvPr/>
        </p:nvSpPr>
        <p:spPr>
          <a:xfrm xmlns:a="http://schemas.openxmlformats.org/drawingml/2006/main">
            <a:off x="638175" y="558165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Same paths, weights, constraints and declared objective. Fixed means the same day-2 action across paths.</a:t>
            </a:r>
          </a:p>
        </p:txBody>
      </p:sp>
    </p:spTree>
    <p:extLst>
      <p:ext uri="{BB962C8B-B14F-4D97-AF65-F5344CB8AC3E}">
        <p14:creationId xmlns:p14="http://schemas.microsoft.com/office/powerpoint/2010/main" val="1375638751"/>
      </p:ext>
    </p:extLst>
  </p:cSld>
</p:sld>
</file>

<file path=ppt/slides/slide10.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8" name="APPENDIX  SEQUENTIAL METHOD">
            <a:extLst xmlns:a="http://schemas.openxmlformats.org/drawingml/2006/main">
              <a:ext uri="{FF2B5EF4-FFF2-40B4-BE49-F238E27FC236}">
                <a16:creationId xmlns:a16="http://schemas.microsoft.com/office/drawing/2014/main" id="{94861B12-23E2-49B9-A9CE-1DEE12780DF0}"/>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SEQUENTIAL METHOD</a:t>
            </a:r>
          </a:p>
        </p:txBody>
      </p:sp>
      <p:sp>
        <p:nvSpPr>
          <p:cNvPr id="2" name="The next choice uses only the observed his">
            <a:extLst xmlns:a="http://schemas.openxmlformats.org/drawingml/2006/main">
              <a:ext uri="{FF2B5EF4-FFF2-40B4-BE49-F238E27FC236}">
                <a16:creationId xmlns:a16="http://schemas.microsoft.com/office/drawing/2014/main" id="{EC55A552-7E1B-4364-8D57-4CEB05D2EB76}"/>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next choice uses only the observed history</a:t>
            </a:r>
          </a:p>
        </p:txBody>
      </p:sp>
      <p:sp>
        <p:nvSpPr>
          <p:cNvPr id="3" name="09">
            <a:extLst xmlns:a="http://schemas.openxmlformats.org/drawingml/2006/main">
              <a:ext uri="{FF2B5EF4-FFF2-40B4-BE49-F238E27FC236}">
                <a16:creationId xmlns:a16="http://schemas.microsoft.com/office/drawing/2014/main" id="{1C85DA65-CE7B-402D-A828-6F5776BCB20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10</a:t>
            </a:r>
          </a:p>
        </p:txBody>
      </p:sp>
      <p:sp>
        <p:nvSpPr>
          <p:cNvPr id="4" name="Bounded enumeration: at most 72 day-0 pack">
            <a:extLst xmlns:a="http://schemas.openxmlformats.org/drawingml/2006/main">
              <a:ext uri="{FF2B5EF4-FFF2-40B4-BE49-F238E27FC236}">
                <a16:creationId xmlns:a16="http://schemas.microsoft.com/office/drawing/2014/main" id="{ECC81A11-9F08-4DC5-AF6A-7CF404579B66}"/>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Bounded enumeration: at most 72 day-0 packages and six day-2 inventory/route choices. No RL, MCTS or high-fidelity process model.</a:t>
            </a:r>
          </a:p>
        </p:txBody>
      </p:sp>
      <p:sp>
        <p:nvSpPr>
          <p:cNvPr id="5" name="">
            <a:extLst xmlns:a="http://schemas.openxmlformats.org/drawingml/2006/main">
              <a:ext uri="{FF2B5EF4-FFF2-40B4-BE49-F238E27FC236}">
                <a16:creationId xmlns:a16="http://schemas.microsoft.com/office/drawing/2014/main" id="{33073CC6-3746-48C8-8E3C-DDC97269A5FC}"/>
              </a:ext>
            </a:extLst>
          </p:cNvPr>
          <p:cNvSpPr>
            <a:spLocks xmlns:a="http://schemas.openxmlformats.org/drawingml/2006/main" noGrp="1"/>
          </p:cNvSpPr>
          <p:nvPr/>
        </p:nvSpPr>
        <p:spPr>
          <a:xfrm xmlns:a="http://schemas.openxmlformats.org/drawingml/2006/main">
            <a:off x="609600" y="2076450"/>
            <a:ext cx="2981325" cy="1685925"/>
          </a:xfrm>
          <a:prstGeom xmlns:a="http://schemas.openxmlformats.org/drawingml/2006/main" prst="rect">
            <a:avLst/>
          </a:prstGeom>
          <a:solidFill xmlns:a="http://schemas.openxmlformats.org/drawingml/2006/main">
            <a:srgbClr val="121212"/>
          </a:solidFill>
          <a:ln xmlns:a="http://schemas.openxmlformats.org/drawingml/2006/main" w="0">
            <a:noFill/>
            <a:prstDash val="solid"/>
          </a:ln>
        </p:spPr>
      </p:sp>
      <p:sp>
        <p:nvSpPr>
          <p:cNvPr id="6" name="Day 0">
            <a:extLst xmlns:a="http://schemas.openxmlformats.org/drawingml/2006/main">
              <a:ext uri="{FF2B5EF4-FFF2-40B4-BE49-F238E27FC236}">
                <a16:creationId xmlns:a16="http://schemas.microsoft.com/office/drawing/2014/main" id="{BA8F23E4-E63C-49E8-9A80-4130FA18E73D}"/>
              </a:ext>
            </a:extLst>
          </p:cNvPr>
          <p:cNvSpPr>
            <a:spLocks xmlns:a="http://schemas.openxmlformats.org/drawingml/2006/main" noGrp="1"/>
          </p:cNvSpPr>
          <p:nvPr/>
        </p:nvSpPr>
        <p:spPr>
          <a:xfrm xmlns:a="http://schemas.openxmlformats.org/drawingml/2006/main">
            <a:off x="819150" y="22669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FFFFF"/>
                </a:solidFill>
                <a:latin typeface="Liberation Sans"/>
                <a:ea typeface="Liberation Sans"/>
                <a:cs typeface="Liberation Sans"/>
              </a:defRPr>
            </a:defPPr>
          </a:lstStyle>
          <a:p xmlns:a="http://schemas.openxmlformats.org/drawingml/2006/main">
            <a:pPr algn="l">
              <a:defRPr sz="2625" b="1">
                <a:solidFill>
                  <a:srgbClr val="FFFFFF"/>
                </a:solidFill>
                <a:latin typeface="Liberation Sans"/>
                <a:ea typeface="Liberation Sans"/>
                <a:cs typeface="Liberation Sans"/>
              </a:defRPr>
            </a:pPr>
            <a:r>
              <a:rPr sz="2625" b="1">
                <a:solidFill>
                  <a:srgbClr val="FFFFFF"/>
                </a:solidFill>
                <a:latin typeface="Liberation Sans"/>
                <a:ea typeface="Liberation Sans"/>
                <a:cs typeface="Liberation Sans"/>
              </a:rPr>
              <a:t>Day 0</a:t>
            </a:r>
          </a:p>
        </p:txBody>
      </p:sp>
      <p:sp>
        <p:nvSpPr>
          <p:cNvPr id="7" name="Common first choice&#10;across every path">
            <a:extLst xmlns:a="http://schemas.openxmlformats.org/drawingml/2006/main">
              <a:ext uri="{FF2B5EF4-FFF2-40B4-BE49-F238E27FC236}">
                <a16:creationId xmlns:a16="http://schemas.microsoft.com/office/drawing/2014/main" id="{89876976-03A1-4385-872C-D4222132A932}"/>
              </a:ext>
            </a:extLst>
          </p:cNvPr>
          <p:cNvSpPr>
            <a:spLocks xmlns:a="http://schemas.openxmlformats.org/drawingml/2006/main" noGrp="1"/>
          </p:cNvSpPr>
          <p:nvPr/>
        </p:nvSpPr>
        <p:spPr>
          <a:xfrm xmlns:a="http://schemas.openxmlformats.org/drawingml/2006/main">
            <a:off x="819150" y="2886075"/>
            <a:ext cx="2590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Liberation Sans"/>
                <a:ea typeface="Liberation Sans"/>
                <a:cs typeface="Liberation Sans"/>
              </a:defRPr>
            </a:defPPr>
          </a:lstStyle>
          <a:p xmlns:a="http://schemas.openxmlformats.org/drawingml/2006/main">
            <a:pPr algn="l">
              <a:defRPr sz="1875" b="0">
                <a:solidFill>
                  <a:srgbClr val="FFFFFF"/>
                </a:solidFill>
                <a:latin typeface="Liberation Sans"/>
                <a:ea typeface="Liberation Sans"/>
                <a:cs typeface="Liberation Sans"/>
              </a:defRPr>
            </a:pPr>
            <a:r>
              <a:rPr sz="1875" b="0">
                <a:solidFill>
                  <a:srgbClr val="FFFFFF"/>
                </a:solidFill>
                <a:latin typeface="Liberation Sans"/>
                <a:ea typeface="Liberation Sans"/>
                <a:cs typeface="Liberation Sans"/>
              </a:rPr>
              <a:t>Common first choice</a:t>
            </a:r>
          </a:p>
          <a:p xmlns:a="http://schemas.openxmlformats.org/drawingml/2006/main">
            <a:pPr algn="l">
              <a:defRPr sz="1875" b="0">
                <a:solidFill>
                  <a:srgbClr val="FFFFFF"/>
                </a:solidFill>
                <a:latin typeface="Liberation Sans"/>
                <a:ea typeface="Liberation Sans"/>
                <a:cs typeface="Liberation Sans"/>
              </a:defRPr>
            </a:pPr>
            <a:r>
              <a:rPr sz="1875" b="0">
                <a:solidFill>
                  <a:srgbClr val="FFFFFF"/>
                </a:solidFill>
                <a:latin typeface="Liberation Sans"/>
                <a:ea typeface="Liberation Sans"/>
                <a:cs typeface="Liberation Sans"/>
              </a:rPr>
              <a:t>across every path</a:t>
            </a:r>
          </a:p>
        </p:txBody>
      </p:sp>
      <p:sp>
        <p:nvSpPr>
          <p:cNvPr id="8" name="">
            <a:extLst xmlns:a="http://schemas.openxmlformats.org/drawingml/2006/main">
              <a:ext uri="{FF2B5EF4-FFF2-40B4-BE49-F238E27FC236}">
                <a16:creationId xmlns:a16="http://schemas.microsoft.com/office/drawing/2014/main" id="{168D05B1-472F-4311-A6C1-C9C91235D59C}"/>
              </a:ext>
            </a:extLst>
          </p:cNvPr>
          <p:cNvSpPr>
            <a:spLocks xmlns:a="http://schemas.openxmlformats.org/drawingml/2006/main" noGrp="1"/>
          </p:cNvSpPr>
          <p:nvPr/>
        </p:nvSpPr>
        <p:spPr>
          <a:xfrm xmlns:a="http://schemas.openxmlformats.org/drawingml/2006/main">
            <a:off x="3590925" y="2943225"/>
            <a:ext cx="447675" cy="0"/>
          </a:xfrm>
          <a:prstGeom xmlns:a="http://schemas.openxmlformats.org/drawingml/2006/main" prst="line">
            <a:avLst/>
          </a:prstGeom>
          <a:noFill xmlns:a="http://schemas.openxmlformats.org/drawingml/2006/main"/>
          <a:ln xmlns:a="http://schemas.openxmlformats.org/drawingml/2006/main" w="19050">
            <a:solidFill>
              <a:srgbClr val="121212"/>
            </a:solidFill>
            <a:prstDash val="solid"/>
          </a:ln>
        </p:spPr>
      </p:sp>
      <p:sp>
        <p:nvSpPr>
          <p:cNvPr id="9" name="">
            <a:extLst xmlns:a="http://schemas.openxmlformats.org/drawingml/2006/main">
              <a:ext uri="{FF2B5EF4-FFF2-40B4-BE49-F238E27FC236}">
                <a16:creationId xmlns:a16="http://schemas.microsoft.com/office/drawing/2014/main" id="{B281E85C-8436-4335-90B7-4C78A4775749}"/>
              </a:ext>
            </a:extLst>
          </p:cNvPr>
          <p:cNvSpPr>
            <a:spLocks xmlns:a="http://schemas.openxmlformats.org/drawingml/2006/main" noGrp="1"/>
          </p:cNvSpPr>
          <p:nvPr/>
        </p:nvSpPr>
        <p:spPr>
          <a:xfrm xmlns:a="http://schemas.openxmlformats.org/drawingml/2006/main">
            <a:off x="4048125" y="2076450"/>
            <a:ext cx="3648075" cy="1685925"/>
          </a:xfrm>
          <a:prstGeom xmlns:a="http://schemas.openxmlformats.org/drawingml/2006/main" prst="rect">
            <a:avLst/>
          </a:prstGeom>
          <a:solidFill xmlns:a="http://schemas.openxmlformats.org/drawingml/2006/main">
            <a:srgbClr val="E7E7E2"/>
          </a:solidFill>
          <a:ln xmlns:a="http://schemas.openxmlformats.org/drawingml/2006/main" w="0">
            <a:noFill/>
            <a:prstDash val="solid"/>
          </a:ln>
        </p:spPr>
      </p:sp>
      <p:sp>
        <p:nvSpPr>
          <p:cNvPr id="10" name="Day 2 observation">
            <a:extLst xmlns:a="http://schemas.openxmlformats.org/drawingml/2006/main">
              <a:ext uri="{FF2B5EF4-FFF2-40B4-BE49-F238E27FC236}">
                <a16:creationId xmlns:a16="http://schemas.microsoft.com/office/drawing/2014/main" id="{FA721C35-B132-47AD-901B-D14C42C15391}"/>
              </a:ext>
            </a:extLst>
          </p:cNvPr>
          <p:cNvSpPr>
            <a:spLocks xmlns:a="http://schemas.openxmlformats.org/drawingml/2006/main" noGrp="1"/>
          </p:cNvSpPr>
          <p:nvPr/>
        </p:nvSpPr>
        <p:spPr>
          <a:xfrm xmlns:a="http://schemas.openxmlformats.org/drawingml/2006/main">
            <a:off x="4276725" y="2266950"/>
            <a:ext cx="321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1212"/>
                </a:solidFill>
                <a:latin typeface="Liberation Sans"/>
                <a:ea typeface="Liberation Sans"/>
                <a:cs typeface="Liberation Sans"/>
              </a:defRPr>
            </a:defPPr>
          </a:lstStyle>
          <a:p xmlns:a="http://schemas.openxmlformats.org/drawingml/2006/main">
            <a:pPr algn="l">
              <a:defRPr sz="2250" b="1">
                <a:solidFill>
                  <a:srgbClr val="121212"/>
                </a:solidFill>
                <a:latin typeface="Liberation Sans"/>
                <a:ea typeface="Liberation Sans"/>
                <a:cs typeface="Liberation Sans"/>
              </a:defRPr>
            </a:pPr>
            <a:r>
              <a:rPr sz="2250" b="1">
                <a:solidFill>
                  <a:srgbClr val="121212"/>
                </a:solidFill>
                <a:latin typeface="Liberation Sans"/>
                <a:ea typeface="Liberation Sans"/>
                <a:cs typeface="Liberation Sans"/>
              </a:rPr>
              <a:t>Day 2 observation</a:t>
            </a:r>
          </a:p>
        </p:txBody>
      </p:sp>
      <p:sp>
        <p:nvSpPr>
          <p:cNvPr id="11" name="Fulfilled sales and receipts&#10;Physical bala">
            <a:extLst xmlns:a="http://schemas.openxmlformats.org/drawingml/2006/main">
              <a:ext uri="{FF2B5EF4-FFF2-40B4-BE49-F238E27FC236}">
                <a16:creationId xmlns:a16="http://schemas.microsoft.com/office/drawing/2014/main" id="{1526B7BB-11F4-46D1-9F27-8ED9098EC8C2}"/>
              </a:ext>
            </a:extLst>
          </p:cNvPr>
          <p:cNvSpPr>
            <a:spLocks xmlns:a="http://schemas.openxmlformats.org/drawingml/2006/main" noGrp="1"/>
          </p:cNvSpPr>
          <p:nvPr/>
        </p:nvSpPr>
        <p:spPr>
          <a:xfrm xmlns:a="http://schemas.openxmlformats.org/drawingml/2006/main">
            <a:off x="4276725" y="2847975"/>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Fulfilled sales and receipts</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Physical balances</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Assumed carrier ETA</a:t>
            </a:r>
          </a:p>
        </p:txBody>
      </p:sp>
      <p:sp>
        <p:nvSpPr>
          <p:cNvPr id="12" name="">
            <a:extLst xmlns:a="http://schemas.openxmlformats.org/drawingml/2006/main">
              <a:ext uri="{FF2B5EF4-FFF2-40B4-BE49-F238E27FC236}">
                <a16:creationId xmlns:a16="http://schemas.microsoft.com/office/drawing/2014/main" id="{CFC925D4-EC13-4F91-B4B8-AB976F84CB54}"/>
              </a:ext>
            </a:extLst>
          </p:cNvPr>
          <p:cNvSpPr>
            <a:spLocks xmlns:a="http://schemas.openxmlformats.org/drawingml/2006/main" noGrp="1"/>
          </p:cNvSpPr>
          <p:nvPr/>
        </p:nvSpPr>
        <p:spPr>
          <a:xfrm xmlns:a="http://schemas.openxmlformats.org/drawingml/2006/main">
            <a:off x="7696200" y="2943225"/>
            <a:ext cx="447675" cy="0"/>
          </a:xfrm>
          <a:prstGeom xmlns:a="http://schemas.openxmlformats.org/drawingml/2006/main" prst="line">
            <a:avLst/>
          </a:prstGeom>
          <a:noFill xmlns:a="http://schemas.openxmlformats.org/drawingml/2006/main"/>
          <a:ln xmlns:a="http://schemas.openxmlformats.org/drawingml/2006/main" w="19050">
            <a:solidFill>
              <a:srgbClr val="121212"/>
            </a:solidFill>
            <a:prstDash val="solid"/>
          </a:ln>
        </p:spPr>
      </p:sp>
      <p:sp>
        <p:nvSpPr>
          <p:cNvPr id="13" name="">
            <a:extLst xmlns:a="http://schemas.openxmlformats.org/drawingml/2006/main">
              <a:ext uri="{FF2B5EF4-FFF2-40B4-BE49-F238E27FC236}">
                <a16:creationId xmlns:a16="http://schemas.microsoft.com/office/drawing/2014/main" id="{664E67E8-E8BC-4788-AAE7-F7235A8BCF06}"/>
              </a:ext>
            </a:extLst>
          </p:cNvPr>
          <p:cNvSpPr>
            <a:spLocks xmlns:a="http://schemas.openxmlformats.org/drawingml/2006/main" noGrp="1"/>
          </p:cNvSpPr>
          <p:nvPr/>
        </p:nvSpPr>
        <p:spPr>
          <a:xfrm xmlns:a="http://schemas.openxmlformats.org/drawingml/2006/main">
            <a:off x="8153400" y="2076450"/>
            <a:ext cx="3409950" cy="1685925"/>
          </a:xfrm>
          <a:prstGeom xmlns:a="http://schemas.openxmlformats.org/drawingml/2006/main" prst="rect">
            <a:avLst/>
          </a:prstGeom>
          <a:solidFill xmlns:a="http://schemas.openxmlformats.org/drawingml/2006/main">
            <a:srgbClr val="FFFFFF"/>
          </a:solidFill>
          <a:ln xmlns:a="http://schemas.openxmlformats.org/drawingml/2006/main" w="9525">
            <a:solidFill>
              <a:srgbClr val="C6C6C2"/>
            </a:solidFill>
            <a:prstDash val="solid"/>
          </a:ln>
        </p:spPr>
      </p:sp>
      <p:sp>
        <p:nvSpPr>
          <p:cNvPr id="14" name="Next admissible action">
            <a:extLst xmlns:a="http://schemas.openxmlformats.org/drawingml/2006/main">
              <a:ext uri="{FF2B5EF4-FFF2-40B4-BE49-F238E27FC236}">
                <a16:creationId xmlns:a16="http://schemas.microsoft.com/office/drawing/2014/main" id="{9CD69720-136D-4B86-A0AD-8676B55476B1}"/>
              </a:ext>
            </a:extLst>
          </p:cNvPr>
          <p:cNvSpPr>
            <a:spLocks xmlns:a="http://schemas.openxmlformats.org/drawingml/2006/main" noGrp="1"/>
          </p:cNvSpPr>
          <p:nvPr/>
        </p:nvSpPr>
        <p:spPr>
          <a:xfrm xmlns:a="http://schemas.openxmlformats.org/drawingml/2006/main">
            <a:off x="8372475" y="2266950"/>
            <a:ext cx="295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Next admissible action</a:t>
            </a:r>
          </a:p>
        </p:txBody>
      </p:sp>
      <p:sp>
        <p:nvSpPr>
          <p:cNvPr id="15" name="Same history, same action">
            <a:extLst xmlns:a="http://schemas.openxmlformats.org/drawingml/2006/main">
              <a:ext uri="{FF2B5EF4-FFF2-40B4-BE49-F238E27FC236}">
                <a16:creationId xmlns:a16="http://schemas.microsoft.com/office/drawing/2014/main" id="{C9F5A710-72E3-4CCD-91AB-802F3F2FE6DC}"/>
              </a:ext>
            </a:extLst>
          </p:cNvPr>
          <p:cNvSpPr>
            <a:spLocks xmlns:a="http://schemas.openxmlformats.org/drawingml/2006/main" noGrp="1"/>
          </p:cNvSpPr>
          <p:nvPr/>
        </p:nvSpPr>
        <p:spPr>
          <a:xfrm xmlns:a="http://schemas.openxmlformats.org/drawingml/2006/main">
            <a:off x="8372475" y="3162300"/>
            <a:ext cx="2943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Same history, same action</a:t>
            </a:r>
          </a:p>
        </p:txBody>
      </p:sp>
      <p:sp>
        <p:nvSpPr>
          <p:cNvPr id="16" name="Earlier choices remain irreversible">
            <a:extLst xmlns:a="http://schemas.openxmlformats.org/drawingml/2006/main">
              <a:ext uri="{FF2B5EF4-FFF2-40B4-BE49-F238E27FC236}">
                <a16:creationId xmlns:a16="http://schemas.microsoft.com/office/drawing/2014/main" id="{7C947556-BC76-494C-A5A5-C74172989EE1}"/>
              </a:ext>
            </a:extLst>
          </p:cNvPr>
          <p:cNvSpPr>
            <a:spLocks xmlns:a="http://schemas.openxmlformats.org/drawingml/2006/main" noGrp="1"/>
          </p:cNvSpPr>
          <p:nvPr/>
        </p:nvSpPr>
        <p:spPr>
          <a:xfrm xmlns:a="http://schemas.openxmlformats.org/drawingml/2006/main">
            <a:off x="619125" y="4314825"/>
            <a:ext cx="10934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1212"/>
                </a:solidFill>
                <a:latin typeface="Liberation Sans"/>
                <a:ea typeface="Liberation Sans"/>
                <a:cs typeface="Liberation Sans"/>
              </a:defRPr>
            </a:defPPr>
          </a:lstStyle>
          <a:p xmlns:a="http://schemas.openxmlformats.org/drawingml/2006/main">
            <a:pPr algn="l">
              <a:defRPr sz="2475" b="1">
                <a:solidFill>
                  <a:srgbClr val="121212"/>
                </a:solidFill>
                <a:latin typeface="Liberation Sans"/>
                <a:ea typeface="Liberation Sans"/>
                <a:cs typeface="Liberation Sans"/>
              </a:defRPr>
            </a:pPr>
            <a:r>
              <a:rPr sz="2475" b="1">
                <a:solidFill>
                  <a:srgbClr val="121212"/>
                </a:solidFill>
                <a:latin typeface="Liberation Sans"/>
                <a:ea typeface="Liberation Sans"/>
                <a:cs typeface="Liberation Sans"/>
              </a:rPr>
              <a:t>Earlier choices remain irreversible</a:t>
            </a:r>
          </a:p>
        </p:txBody>
      </p:sp>
      <p:sp>
        <p:nvSpPr>
          <p:cNvPr id="17" name="Stock, PO reserve, cash, fuel, staff hours">
            <a:extLst xmlns:a="http://schemas.openxmlformats.org/drawingml/2006/main">
              <a:ext uri="{FF2B5EF4-FFF2-40B4-BE49-F238E27FC236}">
                <a16:creationId xmlns:a16="http://schemas.microsoft.com/office/drawing/2014/main" id="{73833FA5-F4C0-4945-9331-3B70A8C98DA1}"/>
              </a:ext>
            </a:extLst>
          </p:cNvPr>
          <p:cNvSpPr>
            <a:spLocks xmlns:a="http://schemas.openxmlformats.org/drawingml/2006/main" noGrp="1"/>
          </p:cNvSpPr>
          <p:nvPr/>
        </p:nvSpPr>
        <p:spPr>
          <a:xfrm xmlns:a="http://schemas.openxmlformats.org/drawingml/2006/main">
            <a:off x="638175" y="49244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Stock, PO reserve, cash, fuel, staff hours and backup energy carry forward.</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No resource reset and no future demand or scenario identity in the observation.</a:t>
            </a:r>
          </a:p>
        </p:txBody>
      </p:sp>
    </p:spTree>
    <p:extLst>
      <p:ext uri="{BB962C8B-B14F-4D97-AF65-F5344CB8AC3E}">
        <p14:creationId xmlns:p14="http://schemas.microsoft.com/office/powerpoint/2010/main" val="1950395766"/>
      </p:ext>
    </p:extLst>
  </p:cSld>
</p:sld>
</file>

<file path=ppt/slides/slide11.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APPENDIX  EXTERNAL ROLLING-ORIGIN RESULTS">
            <a:extLst xmlns:a="http://schemas.openxmlformats.org/drawingml/2006/main">
              <a:ext uri="{FF2B5EF4-FFF2-40B4-BE49-F238E27FC236}">
                <a16:creationId xmlns:a16="http://schemas.microsoft.com/office/drawing/2014/main" id="{1CF3EB19-3110-442B-AF9A-4B9DBDBAD3D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EXTERNAL ROLLING-ORIGIN RESULTS</a:t>
            </a:r>
          </a:p>
        </p:txBody>
      </p:sp>
      <p:sp>
        <p:nvSpPr>
          <p:cNvPr id="2" name="Weekly error improved in an exploratory st">
            <a:extLst xmlns:a="http://schemas.openxmlformats.org/drawingml/2006/main">
              <a:ext uri="{FF2B5EF4-FFF2-40B4-BE49-F238E27FC236}">
                <a16:creationId xmlns:a16="http://schemas.microsoft.com/office/drawing/2014/main" id="{98016B3F-762C-4C73-8661-3F1FEDD7AFEE}"/>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Weekly error improved in an exploratory study</a:t>
            </a:r>
          </a:p>
        </p:txBody>
      </p:sp>
      <p:sp>
        <p:nvSpPr>
          <p:cNvPr id="3" name="08">
            <a:extLst xmlns:a="http://schemas.openxmlformats.org/drawingml/2006/main">
              <a:ext uri="{FF2B5EF4-FFF2-40B4-BE49-F238E27FC236}">
                <a16:creationId xmlns:a16="http://schemas.microsoft.com/office/drawing/2014/main" id="{C59ABA6B-4E59-4F01-AA66-A7F59E9A4E3A}"/>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11</a:t>
            </a:r>
          </a:p>
        </p:txBody>
      </p:sp>
      <p:sp>
        <p:nvSpPr>
          <p:cNvPr id="4" name="UCI Online Retail II. Eight 2011 folds on ">
            <a:extLst xmlns:a="http://schemas.openxmlformats.org/drawingml/2006/main">
              <a:ext uri="{FF2B5EF4-FFF2-40B4-BE49-F238E27FC236}">
                <a16:creationId xmlns:a16="http://schemas.microsoft.com/office/drawing/2014/main" id="{B41E7EE5-556F-4940-A567-78FC4CC45954}"/>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Eight 2011 folds on previously exposed prior-training periods. Lower WAPE is better; it is not accuracy.</a:t>
            </a:r>
          </a:p>
        </p:txBody>
      </p:sp>
      <p:sp>
        <p:nvSpPr>
          <p:cNvPr id="5" name="Seven-day total WAPE, percent">
            <a:extLst xmlns:a="http://schemas.openxmlformats.org/drawingml/2006/main">
              <a:ext uri="{FF2B5EF4-FFF2-40B4-BE49-F238E27FC236}">
                <a16:creationId xmlns:a16="http://schemas.microsoft.com/office/drawing/2014/main" id="{4FE5A389-7AF5-4071-B0AA-05D46D9EA42B}"/>
              </a:ext>
            </a:extLst>
          </p:cNvPr>
          <p:cNvSpPr>
            <a:spLocks xmlns:a="http://schemas.openxmlformats.org/drawingml/2006/main" noGrp="1"/>
          </p:cNvSpPr>
          <p:nvPr/>
        </p:nvSpPr>
        <p:spPr>
          <a:xfrm xmlns:a="http://schemas.openxmlformats.org/drawingml/2006/main">
            <a:off x="619125" y="2009775"/>
            <a:ext cx="706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Seven-day total WAPE, percent</a:t>
            </a:r>
          </a:p>
        </p:txBody>
      </p:sp>
      <p:graphicFrame>
        <p:nvGraphicFramePr>
          <p:cNvPr id="6" name="Chart">
            <a:extLst xmlns:a="http://schemas.openxmlformats.org/drawingml/2006/main">
              <a:ext uri="{FF2B5EF4-FFF2-40B4-BE49-F238E27FC236}">
                <a16:creationId xmlns:a16="http://schemas.microsoft.com/office/drawing/2014/main" id="{4D6E46D4-B3FD-46C3-9360-E650A05EB356}"/>
              </a:ext>
            </a:extLst>
          </p:cNvPr>
          <p:cNvGraphicFramePr/>
          <p:nvPr/>
        </p:nvGraphicFramePr>
        <p:xfrm>
          <a:off xmlns:a="http://schemas.openxmlformats.org/drawingml/2006/main" x="581025" y="2581275"/>
          <a:ext xmlns:a="http://schemas.openxmlformats.org/drawingml/2006/main" cx="6991350" cy="3000375"/>
        </p:xfrm>
        <a:graphic xmlns:a="http://schemas.openxmlformats.org/drawingml/2006/main">
          <a:graphicData uri="http://schemas.openxmlformats.org/drawingml/2006/chart">
            <c:chart xmlns:r="http://schemas.openxmlformats.org/officeDocument/2006/relationships" xmlns:c="http://schemas.openxmlformats.org/drawingml/2006/chart" r:id="R184ea436ed284669"/>
          </a:graphicData>
        </a:graphic>
      </p:graphicFrame>
      <p:sp>
        <p:nvSpPr>
          <p:cNvPr id="7" name="">
            <a:extLst xmlns:a="http://schemas.openxmlformats.org/drawingml/2006/main">
              <a:ext uri="{FF2B5EF4-FFF2-40B4-BE49-F238E27FC236}">
                <a16:creationId xmlns:a16="http://schemas.microsoft.com/office/drawing/2014/main" id="{D414099E-DC87-4A06-A222-D7D6934D6100}"/>
              </a:ext>
            </a:extLst>
          </p:cNvPr>
          <p:cNvSpPr>
            <a:spLocks xmlns:a="http://schemas.openxmlformats.org/drawingml/2006/main" noGrp="1"/>
          </p:cNvSpPr>
          <p:nvPr/>
        </p:nvSpPr>
        <p:spPr>
          <a:xfrm xmlns:a="http://schemas.openxmlformats.org/drawingml/2006/main">
            <a:off x="7905750" y="2009775"/>
            <a:ext cx="0" cy="37338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8.53%">
            <a:extLst xmlns:a="http://schemas.openxmlformats.org/drawingml/2006/main">
              <a:ext uri="{FF2B5EF4-FFF2-40B4-BE49-F238E27FC236}">
                <a16:creationId xmlns:a16="http://schemas.microsoft.com/office/drawing/2014/main" id="{59E2A753-27F6-470A-AF13-908644E45622}"/>
              </a:ext>
            </a:extLst>
          </p:cNvPr>
          <p:cNvSpPr>
            <a:spLocks xmlns:a="http://schemas.openxmlformats.org/drawingml/2006/main" noGrp="1"/>
          </p:cNvSpPr>
          <p:nvPr/>
        </p:nvSpPr>
        <p:spPr>
          <a:xfrm xmlns:a="http://schemas.openxmlformats.org/drawingml/2006/main">
            <a:off x="8267700" y="2105025"/>
            <a:ext cx="3295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21212"/>
                </a:solidFill>
                <a:latin typeface="Liberation Sans"/>
                <a:ea typeface="Liberation Sans"/>
                <a:cs typeface="Liberation Sans"/>
              </a:defRPr>
            </a:defPPr>
          </a:lstStyle>
          <a:p xmlns:a="http://schemas.openxmlformats.org/drawingml/2006/main">
            <a:pPr algn="l">
              <a:buNone/>
              <a:defRPr sz="4275" b="1">
                <a:solidFill>
                  <a:srgbClr val="121212"/>
                </a:solidFill>
                <a:latin typeface="Liberation Sans"/>
                <a:ea typeface="Liberation Sans"/>
                <a:cs typeface="Liberation Sans"/>
              </a:defRPr>
            </a:pPr>
            <a:r>
              <a:rPr sz="4275" b="1">
                <a:solidFill>
                  <a:srgbClr val="121212"/>
                </a:solidFill>
                <a:latin typeface="Liberation Sans"/>
                <a:ea typeface="Liberation Sans"/>
                <a:cs typeface="Liberation Sans"/>
              </a:rPr>
              <a:t>108.53%</a:t>
            </a:r>
          </a:p>
        </p:txBody>
      </p:sp>
      <p:sp>
        <p:nvSpPr>
          <p:cNvPr id="9" name="selector daily WAPE">
            <a:extLst xmlns:a="http://schemas.openxmlformats.org/drawingml/2006/main">
              <a:ext uri="{FF2B5EF4-FFF2-40B4-BE49-F238E27FC236}">
                <a16:creationId xmlns:a16="http://schemas.microsoft.com/office/drawing/2014/main" id="{C8913BE7-73E5-45A2-8AFB-2BF4BA246060}"/>
              </a:ext>
            </a:extLst>
          </p:cNvPr>
          <p:cNvSpPr>
            <a:spLocks xmlns:a="http://schemas.openxmlformats.org/drawingml/2006/main" noGrp="1"/>
          </p:cNvSpPr>
          <p:nvPr/>
        </p:nvSpPr>
        <p:spPr>
          <a:xfrm xmlns:a="http://schemas.openxmlformats.org/drawingml/2006/main">
            <a:off x="8296275" y="2962275"/>
            <a:ext cx="3209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selector daily WAPE</a:t>
            </a:r>
          </a:p>
        </p:txBody>
      </p:sp>
      <p:sp>
        <p:nvSpPr>
          <p:cNvPr id="10" name="Same-fold weekly gain:&#10;7.48 percentage poi">
            <a:extLst xmlns:a="http://schemas.openxmlformats.org/drawingml/2006/main">
              <a:ext uri="{FF2B5EF4-FFF2-40B4-BE49-F238E27FC236}">
                <a16:creationId xmlns:a16="http://schemas.microsoft.com/office/drawing/2014/main" id="{F7E8EA28-BE58-4862-9796-8B2745F985C2}"/>
              </a:ext>
            </a:extLst>
          </p:cNvPr>
          <p:cNvSpPr>
            <a:spLocks xmlns:a="http://schemas.openxmlformats.org/drawingml/2006/main" noGrp="1"/>
          </p:cNvSpPr>
          <p:nvPr/>
        </p:nvSpPr>
        <p:spPr>
          <a:xfrm xmlns:a="http://schemas.openxmlformats.org/drawingml/2006/main">
            <a:off x="8296275" y="3905250"/>
            <a:ext cx="3200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Same-fold weekly gain:</a:t>
            </a:r>
          </a:p>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7.48 percentage points</a:t>
            </a:r>
          </a:p>
          <a:p xmlns:a="http://schemas.openxmlformats.org/drawingml/2006/main">
            <a:r>
              <a:t/>
            </a:r>
          </a:p>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pristine holdout</a:t>
            </a:r>
          </a:p>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company validation</a:t>
            </a:r>
          </a:p>
        </p:txBody>
      </p:sp>
    </p:spTree>
    <p:extLst>
      <p:ext uri="{BB962C8B-B14F-4D97-AF65-F5344CB8AC3E}">
        <p14:creationId xmlns:p14="http://schemas.microsoft.com/office/powerpoint/2010/main" val="1903554909"/>
      </p:ext>
    </p:extLst>
  </p:cSld>
</p:sld>
</file>

<file path=ppt/slides/slide12.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EXTERNAL PREDICTIVE EVIDENCE">
            <a:extLst xmlns:a="http://schemas.openxmlformats.org/drawingml/2006/main">
              <a:ext uri="{FF2B5EF4-FFF2-40B4-BE49-F238E27FC236}">
                <a16:creationId xmlns:a16="http://schemas.microsoft.com/office/drawing/2014/main" id="{72040EA1-493B-4104-91CD-FBE91FB5A18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EXTERNAL PREDICTIVE EVIDENCE</a:t>
            </a:r>
          </a:p>
        </p:txBody>
      </p:sp>
      <p:sp>
        <p:nvSpPr>
          <p:cNvPr id="2" name="A reproducible benchmark, with high foreca">
            <a:extLst xmlns:a="http://schemas.openxmlformats.org/drawingml/2006/main">
              <a:ext uri="{FF2B5EF4-FFF2-40B4-BE49-F238E27FC236}">
                <a16:creationId xmlns:a16="http://schemas.microsoft.com/office/drawing/2014/main" id="{50F5DC12-B277-4798-A518-A189B161A66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reproducible benchmark, with high forecast error</a:t>
            </a:r>
          </a:p>
        </p:txBody>
      </p:sp>
      <p:sp>
        <p:nvSpPr>
          <p:cNvPr id="3" name="07">
            <a:extLst xmlns:a="http://schemas.openxmlformats.org/drawingml/2006/main">
              <a:ext uri="{FF2B5EF4-FFF2-40B4-BE49-F238E27FC236}">
                <a16:creationId xmlns:a16="http://schemas.microsoft.com/office/drawing/2014/main" id="{DCD3B5F2-4038-4ED4-AE9A-E8E951D61D5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12</a:t>
            </a:r>
          </a:p>
        </p:txBody>
      </p:sp>
      <p:sp>
        <p:nvSpPr>
          <p:cNvPr id="4" name="UCI Online Retail II, UK non-store retaile">
            <a:extLst xmlns:a="http://schemas.openxmlformats.org/drawingml/2006/main">
              <a:ext uri="{FF2B5EF4-FFF2-40B4-BE49-F238E27FC236}">
                <a16:creationId xmlns:a16="http://schemas.microsoft.com/office/drawing/2014/main" id="{3E3FA01C-FD68-4A9F-B76A-C839BB674957}"/>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UK non-store retailer. Known-SKU test: 11 Nov–8 Dec 2011. Precomputed study, separate from MR D.I.Y.</a:t>
            </a:r>
          </a:p>
        </p:txBody>
      </p:sp>
      <p:sp>
        <p:nvSpPr>
          <p:cNvPr id="5" name="Test mean absolute error, units">
            <a:extLst xmlns:a="http://schemas.openxmlformats.org/drawingml/2006/main">
              <a:ext uri="{FF2B5EF4-FFF2-40B4-BE49-F238E27FC236}">
                <a16:creationId xmlns:a16="http://schemas.microsoft.com/office/drawing/2014/main" id="{B62E7E19-76B7-4378-BF56-03D30C9CE794}"/>
              </a:ext>
            </a:extLst>
          </p:cNvPr>
          <p:cNvSpPr>
            <a:spLocks xmlns:a="http://schemas.openxmlformats.org/drawingml/2006/main" noGrp="1"/>
          </p:cNvSpPr>
          <p:nvPr/>
        </p:nvSpPr>
        <p:spPr>
          <a:xfrm xmlns:a="http://schemas.openxmlformats.org/drawingml/2006/main">
            <a:off x="628650" y="1981200"/>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Test mean absolute error, units</a:t>
            </a:r>
          </a:p>
        </p:txBody>
      </p:sp>
      <p:graphicFrame>
        <p:nvGraphicFramePr>
          <p:cNvPr id="6" name="Chart">
            <a:extLst xmlns:a="http://schemas.openxmlformats.org/drawingml/2006/main">
              <a:ext uri="{FF2B5EF4-FFF2-40B4-BE49-F238E27FC236}">
                <a16:creationId xmlns:a16="http://schemas.microsoft.com/office/drawing/2014/main" id="{BECCD0CF-D25B-41D0-B129-F9752063FE3B}"/>
              </a:ext>
            </a:extLst>
          </p:cNvPr>
          <p:cNvGraphicFramePr/>
          <p:nvPr/>
        </p:nvGraphicFramePr>
        <p:xfrm>
          <a:off xmlns:a="http://schemas.openxmlformats.org/drawingml/2006/main" x="571500" y="2562225"/>
          <a:ext xmlns:a="http://schemas.openxmlformats.org/drawingml/2006/main" cx="6953250" cy="3028950"/>
        </p:xfrm>
        <a:graphic xmlns:a="http://schemas.openxmlformats.org/drawingml/2006/main">
          <a:graphicData uri="http://schemas.openxmlformats.org/drawingml/2006/chart">
            <c:chart xmlns:r="http://schemas.openxmlformats.org/officeDocument/2006/relationships" xmlns:c="http://schemas.openxmlformats.org/drawingml/2006/chart" r:id="R535d23f69d0042b4"/>
          </a:graphicData>
        </a:graphic>
      </p:graphicFrame>
      <p:sp>
        <p:nvSpPr>
          <p:cNvPr id="7" name="">
            <a:extLst xmlns:a="http://schemas.openxmlformats.org/drawingml/2006/main">
              <a:ext uri="{FF2B5EF4-FFF2-40B4-BE49-F238E27FC236}">
                <a16:creationId xmlns:a16="http://schemas.microsoft.com/office/drawing/2014/main" id="{308280FF-4D6E-4681-9687-E712CBA7B395}"/>
              </a:ext>
            </a:extLst>
          </p:cNvPr>
          <p:cNvSpPr>
            <a:spLocks xmlns:a="http://schemas.openxmlformats.org/drawingml/2006/main" noGrp="1"/>
          </p:cNvSpPr>
          <p:nvPr/>
        </p:nvSpPr>
        <p:spPr>
          <a:xfrm xmlns:a="http://schemas.openxmlformats.org/drawingml/2006/main">
            <a:off x="7905750" y="2009775"/>
            <a:ext cx="0" cy="36576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3.41%">
            <a:extLst xmlns:a="http://schemas.openxmlformats.org/drawingml/2006/main">
              <a:ext uri="{FF2B5EF4-FFF2-40B4-BE49-F238E27FC236}">
                <a16:creationId xmlns:a16="http://schemas.microsoft.com/office/drawing/2014/main" id="{3BE269D5-D0FE-4B66-8581-760B4B57246A}"/>
              </a:ext>
            </a:extLst>
          </p:cNvPr>
          <p:cNvSpPr>
            <a:spLocks xmlns:a="http://schemas.openxmlformats.org/drawingml/2006/main" noGrp="1"/>
          </p:cNvSpPr>
          <p:nvPr/>
        </p:nvSpPr>
        <p:spPr>
          <a:xfrm xmlns:a="http://schemas.openxmlformats.org/drawingml/2006/main">
            <a:off x="8305800" y="2133600"/>
            <a:ext cx="3276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21212"/>
                </a:solidFill>
                <a:latin typeface="Liberation Sans"/>
                <a:ea typeface="Liberation Sans"/>
                <a:cs typeface="Liberation Sans"/>
              </a:defRPr>
            </a:defPPr>
          </a:lstStyle>
          <a:p xmlns:a="http://schemas.openxmlformats.org/drawingml/2006/main">
            <a:pPr algn="l">
              <a:buNone/>
              <a:defRPr sz="4500" b="1">
                <a:solidFill>
                  <a:srgbClr val="121212"/>
                </a:solidFill>
                <a:latin typeface="Liberation Sans"/>
                <a:ea typeface="Liberation Sans"/>
                <a:cs typeface="Liberation Sans"/>
              </a:defRPr>
            </a:pPr>
            <a:r>
              <a:rPr sz="4500" b="1">
                <a:solidFill>
                  <a:srgbClr val="121212"/>
                </a:solidFill>
                <a:latin typeface="Liberation Sans"/>
                <a:ea typeface="Liberation Sans"/>
                <a:cs typeface="Liberation Sans"/>
              </a:rPr>
              <a:t>103.41%</a:t>
            </a:r>
          </a:p>
        </p:txBody>
      </p:sp>
      <p:sp>
        <p:nvSpPr>
          <p:cNvPr id="9" name="retained mean test WAPE">
            <a:extLst xmlns:a="http://schemas.openxmlformats.org/drawingml/2006/main">
              <a:ext uri="{FF2B5EF4-FFF2-40B4-BE49-F238E27FC236}">
                <a16:creationId xmlns:a16="http://schemas.microsoft.com/office/drawing/2014/main" id="{DAD4923C-898F-46EA-9CCB-51C3C83DAFBC}"/>
              </a:ext>
            </a:extLst>
          </p:cNvPr>
          <p:cNvSpPr>
            <a:spLocks xmlns:a="http://schemas.openxmlformats.org/drawingml/2006/main" noGrp="1"/>
          </p:cNvSpPr>
          <p:nvPr/>
        </p:nvSpPr>
        <p:spPr>
          <a:xfrm xmlns:a="http://schemas.openxmlformats.org/drawingml/2006/main">
            <a:off x="8324850" y="3000375"/>
            <a:ext cx="3114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retained mean test WAPE</a:t>
            </a:r>
          </a:p>
        </p:txBody>
      </p:sp>
      <p:sp>
        <p:nvSpPr>
          <p:cNvPr id="10" name="Validation selected the mean.&#10;The supervis">
            <a:extLst xmlns:a="http://schemas.openxmlformats.org/drawingml/2006/main">
              <a:ext uri="{FF2B5EF4-FFF2-40B4-BE49-F238E27FC236}">
                <a16:creationId xmlns:a16="http://schemas.microsoft.com/office/drawing/2014/main" id="{3799116B-F6E3-4AB1-9DD2-DBC51AE137F3}"/>
              </a:ext>
            </a:extLst>
          </p:cNvPr>
          <p:cNvSpPr>
            <a:spLocks xmlns:a="http://schemas.openxmlformats.org/drawingml/2006/main" noGrp="1"/>
          </p:cNvSpPr>
          <p:nvPr/>
        </p:nvSpPr>
        <p:spPr>
          <a:xfrm xmlns:a="http://schemas.openxmlformats.org/drawingml/2006/main">
            <a:off x="8324850" y="3943350"/>
            <a:ext cx="3124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Validation selected the mean.</a:t>
            </a:r>
          </a:p>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The supervised ridge lost.</a:t>
            </a:r>
          </a:p>
          <a:p xmlns:a="http://schemas.openxmlformats.org/drawingml/2006/main">
            <a:r>
              <a:t/>
            </a:r>
          </a:p>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Accuracy is still weak.</a:t>
            </a:r>
          </a:p>
        </p:txBody>
      </p:sp>
    </p:spTree>
    <p:extLst>
      <p:ext uri="{BB962C8B-B14F-4D97-AF65-F5344CB8AC3E}">
        <p14:creationId xmlns:p14="http://schemas.microsoft.com/office/powerpoint/2010/main" val="664300505"/>
      </p:ext>
    </p:extLst>
  </p:cSld>
</p:sld>
</file>

<file path=ppt/slides/slide13.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7" name="APPENDIX  TWO-MINUTE Q&amp;A">
            <a:extLst xmlns:a="http://schemas.openxmlformats.org/drawingml/2006/main">
              <a:ext uri="{FF2B5EF4-FFF2-40B4-BE49-F238E27FC236}">
                <a16:creationId xmlns:a16="http://schemas.microsoft.com/office/drawing/2014/main" id="{A33D0EED-7F27-48DC-BA17-95C70142354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TWO-MINUTE Q&amp;A</a:t>
            </a:r>
          </a:p>
        </p:txBody>
      </p:sp>
      <p:sp>
        <p:nvSpPr>
          <p:cNvPr id="2" name="Questions the demonstration can answer">
            <a:extLst xmlns:a="http://schemas.openxmlformats.org/drawingml/2006/main">
              <a:ext uri="{FF2B5EF4-FFF2-40B4-BE49-F238E27FC236}">
                <a16:creationId xmlns:a16="http://schemas.microsoft.com/office/drawing/2014/main" id="{C68512EF-9AE0-4CD8-B78E-3595D77DAA3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Questions the demonstration can answer</a:t>
            </a:r>
          </a:p>
        </p:txBody>
      </p:sp>
      <p:sp>
        <p:nvSpPr>
          <p:cNvPr id="3" name="10">
            <a:extLst xmlns:a="http://schemas.openxmlformats.org/drawingml/2006/main">
              <a:ext uri="{FF2B5EF4-FFF2-40B4-BE49-F238E27FC236}">
                <a16:creationId xmlns:a16="http://schemas.microsoft.com/office/drawing/2014/main" id="{F9DCA01E-8C6C-42E0-A5B8-77C0971314CB}"/>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13</a:t>
            </a:r>
          </a:p>
        </p:txBody>
      </p:sp>
      <p:sp>
        <p:nvSpPr>
          <p:cNvPr id="4" name="All operational values are conditional on ">
            <a:extLst xmlns:a="http://schemas.openxmlformats.org/drawingml/2006/main">
              <a:ext uri="{FF2B5EF4-FFF2-40B4-BE49-F238E27FC236}">
                <a16:creationId xmlns:a16="http://schemas.microsoft.com/office/drawing/2014/main" id="{1C477C9B-CEF7-4A42-8F60-8136977A92DB}"/>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All operational values are conditional on synthetic inputs. Real-world benefit and forecast quality require separate validation.</a:t>
            </a:r>
          </a:p>
        </p:txBody>
      </p:sp>
      <p:sp>
        <p:nvSpPr>
          <p:cNvPr id="5" name="">
            <a:extLst xmlns:a="http://schemas.openxmlformats.org/drawingml/2006/main">
              <a:ext uri="{FF2B5EF4-FFF2-40B4-BE49-F238E27FC236}">
                <a16:creationId xmlns:a16="http://schemas.microsoft.com/office/drawing/2014/main" id="{19D5B398-51AE-487E-938E-FC399605DE93}"/>
              </a:ext>
            </a:extLst>
          </p:cNvPr>
          <p:cNvSpPr>
            <a:spLocks xmlns:a="http://schemas.openxmlformats.org/drawingml/2006/main" noGrp="1"/>
          </p:cNvSpPr>
          <p:nvPr/>
        </p:nvSpPr>
        <p:spPr>
          <a:xfrm xmlns:a="http://schemas.openxmlformats.org/drawingml/2006/main">
            <a:off x="609600" y="20478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6" name="Did the warning cause a company delay?">
            <a:extLst xmlns:a="http://schemas.openxmlformats.org/drawingml/2006/main">
              <a:ext uri="{FF2B5EF4-FFF2-40B4-BE49-F238E27FC236}">
                <a16:creationId xmlns:a16="http://schemas.microsoft.com/office/drawing/2014/main" id="{56850E24-9E35-4D84-9F42-81BD04DB60ED}"/>
              </a:ext>
            </a:extLst>
          </p:cNvPr>
          <p:cNvSpPr>
            <a:spLocks xmlns:a="http://schemas.openxmlformats.org/drawingml/2006/main" noGrp="1"/>
          </p:cNvSpPr>
          <p:nvPr/>
        </p:nvSpPr>
        <p:spPr>
          <a:xfrm xmlns:a="http://schemas.openxmlformats.org/drawingml/2006/main">
            <a:off x="609600" y="22193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Did the warning cause a company delay?</a:t>
            </a:r>
          </a:p>
        </p:txBody>
      </p:sp>
      <p:sp>
        <p:nvSpPr>
          <p:cNvPr id="7" name="No. A human explicitly confirms a fictiona">
            <a:extLst xmlns:a="http://schemas.openxmlformats.org/drawingml/2006/main">
              <a:ext uri="{FF2B5EF4-FFF2-40B4-BE49-F238E27FC236}">
                <a16:creationId xmlns:a16="http://schemas.microsoft.com/office/drawing/2014/main" id="{9FEA9B50-18ED-4C83-A425-2BF8FCC259BC}"/>
              </a:ext>
            </a:extLst>
          </p:cNvPr>
          <p:cNvSpPr>
            <a:spLocks xmlns:a="http://schemas.openxmlformats.org/drawingml/2006/main" noGrp="1"/>
          </p:cNvSpPr>
          <p:nvPr/>
        </p:nvSpPr>
        <p:spPr>
          <a:xfrm xmlns:a="http://schemas.openxmlformats.org/drawingml/2006/main">
            <a:off x="609600" y="2952750"/>
            <a:ext cx="5076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A human explicitly confirms a fictional route analogy and an assumed total delay.</a:t>
            </a:r>
          </a:p>
        </p:txBody>
      </p:sp>
      <p:sp>
        <p:nvSpPr>
          <p:cNvPr id="8" name="">
            <a:extLst xmlns:a="http://schemas.openxmlformats.org/drawingml/2006/main">
              <a:ext uri="{FF2B5EF4-FFF2-40B4-BE49-F238E27FC236}">
                <a16:creationId xmlns:a16="http://schemas.microsoft.com/office/drawing/2014/main" id="{38D8CB58-B1D7-4D68-BE1A-BE676561DBA6}"/>
              </a:ext>
            </a:extLst>
          </p:cNvPr>
          <p:cNvSpPr>
            <a:spLocks xmlns:a="http://schemas.openxmlformats.org/drawingml/2006/main" noGrp="1"/>
          </p:cNvSpPr>
          <p:nvPr/>
        </p:nvSpPr>
        <p:spPr>
          <a:xfrm xmlns:a="http://schemas.openxmlformats.org/drawingml/2006/main">
            <a:off x="6267450" y="20478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9" name="How is a better decision demonstrated?">
            <a:extLst xmlns:a="http://schemas.openxmlformats.org/drawingml/2006/main">
              <a:ext uri="{FF2B5EF4-FFF2-40B4-BE49-F238E27FC236}">
                <a16:creationId xmlns:a16="http://schemas.microsoft.com/office/drawing/2014/main" id="{4CE46771-27D6-48CA-9ACC-35569C467514}"/>
              </a:ext>
            </a:extLst>
          </p:cNvPr>
          <p:cNvSpPr>
            <a:spLocks xmlns:a="http://schemas.openxmlformats.org/drawingml/2006/main" noGrp="1"/>
          </p:cNvSpPr>
          <p:nvPr/>
        </p:nvSpPr>
        <p:spPr>
          <a:xfrm xmlns:a="http://schemas.openxmlformats.org/drawingml/2006/main">
            <a:off x="6267450" y="22193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How is a better decision demonstrated?</a:t>
            </a:r>
          </a:p>
        </p:txBody>
      </p:sp>
      <p:sp>
        <p:nvSpPr>
          <p:cNvPr id="10" name="Compare the same inputs and constraints. S">
            <a:extLst xmlns:a="http://schemas.openxmlformats.org/drawingml/2006/main">
              <a:ext uri="{FF2B5EF4-FFF2-40B4-BE49-F238E27FC236}">
                <a16:creationId xmlns:a16="http://schemas.microsoft.com/office/drawing/2014/main" id="{79AA0193-E4D1-42F6-9E02-A708A30D13AF}"/>
              </a:ext>
            </a:extLst>
          </p:cNvPr>
          <p:cNvSpPr>
            <a:spLocks xmlns:a="http://schemas.openxmlformats.org/drawingml/2006/main" noGrp="1"/>
          </p:cNvSpPr>
          <p:nvPr/>
        </p:nvSpPr>
        <p:spPr>
          <a:xfrm xmlns:a="http://schemas.openxmlformats.org/drawingml/2006/main">
            <a:off x="6267450" y="2952750"/>
            <a:ext cx="5076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Compare the same inputs and constraints. Show cost, service and remaining risk together.</a:t>
            </a:r>
          </a:p>
        </p:txBody>
      </p:sp>
      <p:sp>
        <p:nvSpPr>
          <p:cNvPr id="11" name="">
            <a:extLst xmlns:a="http://schemas.openxmlformats.org/drawingml/2006/main">
              <a:ext uri="{FF2B5EF4-FFF2-40B4-BE49-F238E27FC236}">
                <a16:creationId xmlns:a16="http://schemas.microsoft.com/office/drawing/2014/main" id="{2577D206-5CF9-4EF6-8C93-1B72FF269A4B}"/>
              </a:ext>
            </a:extLst>
          </p:cNvPr>
          <p:cNvSpPr>
            <a:spLocks xmlns:a="http://schemas.openxmlformats.org/drawingml/2006/main" noGrp="1"/>
          </p:cNvSpPr>
          <p:nvPr/>
        </p:nvSpPr>
        <p:spPr>
          <a:xfrm xmlns:a="http://schemas.openxmlformats.org/drawingml/2006/main">
            <a:off x="609600" y="39909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2" name="Is this a trained autonomous agent?">
            <a:extLst xmlns:a="http://schemas.openxmlformats.org/drawingml/2006/main">
              <a:ext uri="{FF2B5EF4-FFF2-40B4-BE49-F238E27FC236}">
                <a16:creationId xmlns:a16="http://schemas.microsoft.com/office/drawing/2014/main" id="{C733FE08-BDF5-4C28-9373-9980631187F6}"/>
              </a:ext>
            </a:extLst>
          </p:cNvPr>
          <p:cNvSpPr>
            <a:spLocks xmlns:a="http://schemas.openxmlformats.org/drawingml/2006/main" noGrp="1"/>
          </p:cNvSpPr>
          <p:nvPr/>
        </p:nvSpPr>
        <p:spPr>
          <a:xfrm xmlns:a="http://schemas.openxmlformats.org/drawingml/2006/main">
            <a:off x="609600" y="41624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Is this a trained autonomous agent?</a:t>
            </a:r>
          </a:p>
        </p:txBody>
      </p:sp>
      <p:sp>
        <p:nvSpPr>
          <p:cNvPr id="13" name="No. Statistical forecasting and bounded sc">
            <a:extLst xmlns:a="http://schemas.openxmlformats.org/drawingml/2006/main">
              <a:ext uri="{FF2B5EF4-FFF2-40B4-BE49-F238E27FC236}">
                <a16:creationId xmlns:a16="http://schemas.microsoft.com/office/drawing/2014/main" id="{38A27124-BDA1-4439-B121-39B686CCF199}"/>
              </a:ext>
            </a:extLst>
          </p:cNvPr>
          <p:cNvSpPr>
            <a:spLocks xmlns:a="http://schemas.openxmlformats.org/drawingml/2006/main" noGrp="1"/>
          </p:cNvSpPr>
          <p:nvPr/>
        </p:nvSpPr>
        <p:spPr>
          <a:xfrm xmlns:a="http://schemas.openxmlformats.org/drawingml/2006/main">
            <a:off x="609600" y="4895850"/>
            <a:ext cx="5076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Statistical forecasting and bounded scenario enumeration support human review.</a:t>
            </a:r>
          </a:p>
        </p:txBody>
      </p:sp>
      <p:sp>
        <p:nvSpPr>
          <p:cNvPr id="14" name="">
            <a:extLst xmlns:a="http://schemas.openxmlformats.org/drawingml/2006/main">
              <a:ext uri="{FF2B5EF4-FFF2-40B4-BE49-F238E27FC236}">
                <a16:creationId xmlns:a16="http://schemas.microsoft.com/office/drawing/2014/main" id="{937FE1A6-56C3-41C2-A4CB-0C4DBB49C55C}"/>
              </a:ext>
            </a:extLst>
          </p:cNvPr>
          <p:cNvSpPr>
            <a:spLocks xmlns:a="http://schemas.openxmlformats.org/drawingml/2006/main" noGrp="1"/>
          </p:cNvSpPr>
          <p:nvPr/>
        </p:nvSpPr>
        <p:spPr>
          <a:xfrm xmlns:a="http://schemas.openxmlformats.org/drawingml/2006/main">
            <a:off x="6267450" y="39909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5" name="Can the system execute or save a joint pla">
            <a:extLst xmlns:a="http://schemas.openxmlformats.org/drawingml/2006/main">
              <a:ext uri="{FF2B5EF4-FFF2-40B4-BE49-F238E27FC236}">
                <a16:creationId xmlns:a16="http://schemas.microsoft.com/office/drawing/2014/main" id="{808B3DF6-ECA1-4568-A3E3-389ECD95E240}"/>
              </a:ext>
            </a:extLst>
          </p:cNvPr>
          <p:cNvSpPr>
            <a:spLocks xmlns:a="http://schemas.openxmlformats.org/drawingml/2006/main" noGrp="1"/>
          </p:cNvSpPr>
          <p:nvPr/>
        </p:nvSpPr>
        <p:spPr>
          <a:xfrm xmlns:a="http://schemas.openxmlformats.org/drawingml/2006/main">
            <a:off x="6267450" y="41624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Can the system execute or save a joint plan?</a:t>
            </a:r>
          </a:p>
        </p:txBody>
      </p:sp>
      <p:sp>
        <p:nvSpPr>
          <p:cNvPr id="16" name="No. Joint and sequential comparisons are r">
            <a:extLst xmlns:a="http://schemas.openxmlformats.org/drawingml/2006/main">
              <a:ext uri="{FF2B5EF4-FFF2-40B4-BE49-F238E27FC236}">
                <a16:creationId xmlns:a16="http://schemas.microsoft.com/office/drawing/2014/main" id="{9A0E6431-B062-4132-B5D2-24ED7F0BAEC5}"/>
              </a:ext>
            </a:extLst>
          </p:cNvPr>
          <p:cNvSpPr>
            <a:spLocks xmlns:a="http://schemas.openxmlformats.org/drawingml/2006/main" noGrp="1"/>
          </p:cNvSpPr>
          <p:nvPr/>
        </p:nvSpPr>
        <p:spPr>
          <a:xfrm xmlns:a="http://schemas.openxmlformats.org/drawingml/2006/main">
            <a:off x="6267450" y="4895850"/>
            <a:ext cx="5076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Joint and sequential comparisons are read-only. Existing saved choices remain case-scoped.</a:t>
            </a:r>
          </a:p>
        </p:txBody>
      </p:sp>
    </p:spTree>
    <p:extLst>
      <p:ext uri="{BB962C8B-B14F-4D97-AF65-F5344CB8AC3E}">
        <p14:creationId xmlns:p14="http://schemas.microsoft.com/office/powerpoint/2010/main" val="2112308655"/>
      </p:ext>
    </p:extLst>
  </p:cSld>
</p:sld>
</file>

<file path=ppt/slides/slide14.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EVIDENCE REGISTER">
            <a:extLst xmlns:a="http://schemas.openxmlformats.org/drawingml/2006/main">
              <a:ext uri="{FF2B5EF4-FFF2-40B4-BE49-F238E27FC236}">
                <a16:creationId xmlns:a16="http://schemas.microsoft.com/office/drawing/2014/main" id="{52CD0672-D935-4C53-A0AC-0253DFDD4A45}"/>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EVIDENCE REGISTER</a:t>
            </a:r>
          </a:p>
        </p:txBody>
      </p:sp>
      <p:sp>
        <p:nvSpPr>
          <p:cNvPr id="2" name="Sources and scope remain traceable">
            <a:extLst xmlns:a="http://schemas.openxmlformats.org/drawingml/2006/main">
              <a:ext uri="{FF2B5EF4-FFF2-40B4-BE49-F238E27FC236}">
                <a16:creationId xmlns:a16="http://schemas.microsoft.com/office/drawing/2014/main" id="{7FE9A106-B9C3-4E10-A65C-8D8873B5B6D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Sources and scope remain traceable</a:t>
            </a:r>
          </a:p>
        </p:txBody>
      </p:sp>
      <p:sp>
        <p:nvSpPr>
          <p:cNvPr id="3" name="11">
            <a:extLst xmlns:a="http://schemas.openxmlformats.org/drawingml/2006/main">
              <a:ext uri="{FF2B5EF4-FFF2-40B4-BE49-F238E27FC236}">
                <a16:creationId xmlns:a16="http://schemas.microsoft.com/office/drawing/2014/main" id="{951AFA65-238E-4B3E-8D27-86595441E37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14</a:t>
            </a:r>
          </a:p>
        </p:txBody>
      </p:sp>
      <p:sp>
        <p:nvSpPr>
          <p:cNvPr id="4" name="Track 1: detect, categorize, prioritize an">
            <a:extLst xmlns:a="http://schemas.openxmlformats.org/drawingml/2006/main">
              <a:ext uri="{FF2B5EF4-FFF2-40B4-BE49-F238E27FC236}">
                <a16:creationId xmlns:a16="http://schemas.microsoft.com/office/drawing/2014/main" id="{2363DE1B-DAE5-46B6-A0B1-9B54B8D1222E}"/>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Track 1: detect, categorize, prioritize and explain. Owner-confirmed format: three-minute pitch and two-minute Q&amp;A.</a:t>
            </a:r>
          </a:p>
        </p:txBody>
      </p:sp>
      <p:sp>
        <p:nvSpPr>
          <p:cNvPr id="5" name="">
            <a:extLst xmlns:a="http://schemas.openxmlformats.org/drawingml/2006/main">
              <a:ext uri="{FF2B5EF4-FFF2-40B4-BE49-F238E27FC236}">
                <a16:creationId xmlns:a16="http://schemas.microsoft.com/office/drawing/2014/main" id="{85803A5E-F719-43CB-87E3-7185CD5FEE6A}"/>
              </a:ext>
            </a:extLst>
          </p:cNvPr>
          <p:cNvSpPr>
            <a:spLocks xmlns:a="http://schemas.openxmlformats.org/drawingml/2006/main" noGrp="1"/>
          </p:cNvSpPr>
          <p:nvPr/>
        </p:nvSpPr>
        <p:spPr>
          <a:xfrm xmlns:a="http://schemas.openxmlformats.org/drawingml/2006/main">
            <a:off x="609600" y="20574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Warning evidence">
            <a:extLst xmlns:a="http://schemas.openxmlformats.org/drawingml/2006/main">
              <a:ext uri="{FF2B5EF4-FFF2-40B4-BE49-F238E27FC236}">
                <a16:creationId xmlns:a16="http://schemas.microsoft.com/office/drawing/2014/main" id="{55CE4F81-A20C-4A03-9715-38270E1F2A0C}"/>
              </a:ext>
            </a:extLst>
          </p:cNvPr>
          <p:cNvSpPr>
            <a:spLocks xmlns:a="http://schemas.openxmlformats.org/drawingml/2006/main" noGrp="1"/>
          </p:cNvSpPr>
          <p:nvPr/>
        </p:nvSpPr>
        <p:spPr>
          <a:xfrm xmlns:a="http://schemas.openxmlformats.org/drawingml/2006/main">
            <a:off x="609600" y="2219325"/>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Warning evidence</a:t>
            </a:r>
          </a:p>
        </p:txBody>
      </p:sp>
      <p:sp>
        <p:nvSpPr>
          <p:cNvPr id="7" name="MET Malaysia via data.gov.my, checked 10 O">
            <a:extLst xmlns:a="http://schemas.openxmlformats.org/drawingml/2006/main">
              <a:ext uri="{FF2B5EF4-FFF2-40B4-BE49-F238E27FC236}">
                <a16:creationId xmlns:a16="http://schemas.microsoft.com/office/drawing/2014/main" id="{8BFF08A8-CFB5-4065-A7D1-BA5850673A89}"/>
              </a:ext>
            </a:extLst>
          </p:cNvPr>
          <p:cNvSpPr>
            <a:spLocks xmlns:a="http://schemas.openxmlformats.org/drawingml/2006/main" noGrp="1"/>
          </p:cNvSpPr>
          <p:nvPr/>
        </p:nvSpPr>
        <p:spPr>
          <a:xfrm xmlns:a="http://schemas.openxmlformats.org/drawingml/2006/main">
            <a:off x="3619500" y="2190750"/>
            <a:ext cx="789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MET Malaysia via data.gov.my, checked 10 Oct 2026</a:t>
            </a:r>
          </a:p>
        </p:txBody>
      </p:sp>
      <p:sp>
        <p:nvSpPr>
          <p:cNvPr id="8" name="Saved warning facts; no observed incident ">
            <a:extLst xmlns:a="http://schemas.openxmlformats.org/drawingml/2006/main">
              <a:ext uri="{FF2B5EF4-FFF2-40B4-BE49-F238E27FC236}">
                <a16:creationId xmlns:a16="http://schemas.microsoft.com/office/drawing/2014/main" id="{E19D361C-A3F8-4770-BF73-639495A755C1}"/>
              </a:ext>
            </a:extLst>
          </p:cNvPr>
          <p:cNvSpPr>
            <a:spLocks xmlns:a="http://schemas.openxmlformats.org/drawingml/2006/main" noGrp="1"/>
          </p:cNvSpPr>
          <p:nvPr/>
        </p:nvSpPr>
        <p:spPr>
          <a:xfrm xmlns:a="http://schemas.openxmlformats.org/drawingml/2006/main">
            <a:off x="3619500" y="2581275"/>
            <a:ext cx="7896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Saved warning facts; no observed incident or verified exposure</a:t>
            </a:r>
          </a:p>
        </p:txBody>
      </p:sp>
      <p:sp>
        <p:nvSpPr>
          <p:cNvPr id="9" name="">
            <a:extLst xmlns:a="http://schemas.openxmlformats.org/drawingml/2006/main">
              <a:ext uri="{FF2B5EF4-FFF2-40B4-BE49-F238E27FC236}">
                <a16:creationId xmlns:a16="http://schemas.microsoft.com/office/drawing/2014/main" id="{CE11837D-C7F7-4EE2-88CE-3B0E5A10E503}"/>
              </a:ext>
            </a:extLst>
          </p:cNvPr>
          <p:cNvSpPr>
            <a:spLocks xmlns:a="http://schemas.openxmlformats.org/drawingml/2006/main" noGrp="1"/>
          </p:cNvSpPr>
          <p:nvPr/>
        </p:nvSpPr>
        <p:spPr>
          <a:xfrm xmlns:a="http://schemas.openxmlformats.org/drawingml/2006/main">
            <a:off x="609600" y="30003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Retail context">
            <a:extLst xmlns:a="http://schemas.openxmlformats.org/drawingml/2006/main">
              <a:ext uri="{FF2B5EF4-FFF2-40B4-BE49-F238E27FC236}">
                <a16:creationId xmlns:a16="http://schemas.microsoft.com/office/drawing/2014/main" id="{F6F0B5BF-AF53-4D91-A8E0-A292DB0692BD}"/>
              </a:ext>
            </a:extLst>
          </p:cNvPr>
          <p:cNvSpPr>
            <a:spLocks xmlns:a="http://schemas.openxmlformats.org/drawingml/2006/main" noGrp="1"/>
          </p:cNvSpPr>
          <p:nvPr/>
        </p:nvSpPr>
        <p:spPr>
          <a:xfrm xmlns:a="http://schemas.openxmlformats.org/drawingml/2006/main">
            <a:off x="609600" y="3162300"/>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Retail context</a:t>
            </a:r>
          </a:p>
        </p:txBody>
      </p:sp>
      <p:sp>
        <p:nvSpPr>
          <p:cNvPr id="11" name="MR D.I.Y. FY2025 annual and sustainability">
            <a:extLst xmlns:a="http://schemas.openxmlformats.org/drawingml/2006/main">
              <a:ext uri="{FF2B5EF4-FFF2-40B4-BE49-F238E27FC236}">
                <a16:creationId xmlns:a16="http://schemas.microsoft.com/office/drawing/2014/main" id="{1BD7F6F9-CAA4-4846-9A27-FAE49BDE6336}"/>
              </a:ext>
            </a:extLst>
          </p:cNvPr>
          <p:cNvSpPr>
            <a:spLocks xmlns:a="http://schemas.openxmlformats.org/drawingml/2006/main" noGrp="1"/>
          </p:cNvSpPr>
          <p:nvPr/>
        </p:nvSpPr>
        <p:spPr>
          <a:xfrm xmlns:a="http://schemas.openxmlformats.org/drawingml/2006/main">
            <a:off x="3619500" y="3133725"/>
            <a:ext cx="789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MR D.I.Y. FY2025 annual and sustainability reports</a:t>
            </a:r>
          </a:p>
        </p:txBody>
      </p:sp>
      <p:sp>
        <p:nvSpPr>
          <p:cNvPr id="12" name="Public operating context; company internal">
            <a:extLst xmlns:a="http://schemas.openxmlformats.org/drawingml/2006/main">
              <a:ext uri="{FF2B5EF4-FFF2-40B4-BE49-F238E27FC236}">
                <a16:creationId xmlns:a16="http://schemas.microsoft.com/office/drawing/2014/main" id="{9A2A9161-A962-407E-886E-8149CEDD27AA}"/>
              </a:ext>
            </a:extLst>
          </p:cNvPr>
          <p:cNvSpPr>
            <a:spLocks xmlns:a="http://schemas.openxmlformats.org/drawingml/2006/main" noGrp="1"/>
          </p:cNvSpPr>
          <p:nvPr/>
        </p:nvSpPr>
        <p:spPr>
          <a:xfrm xmlns:a="http://schemas.openxmlformats.org/drawingml/2006/main">
            <a:off x="3619500" y="3524250"/>
            <a:ext cx="7896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Public operating context; company internal records are synthetic</a:t>
            </a:r>
          </a:p>
        </p:txBody>
      </p:sp>
      <p:sp>
        <p:nvSpPr>
          <p:cNvPr id="13" name="">
            <a:extLst xmlns:a="http://schemas.openxmlformats.org/drawingml/2006/main">
              <a:ext uri="{FF2B5EF4-FFF2-40B4-BE49-F238E27FC236}">
                <a16:creationId xmlns:a16="http://schemas.microsoft.com/office/drawing/2014/main" id="{8699A5A1-F05F-4393-B63B-07E9F2182C6A}"/>
              </a:ext>
            </a:extLst>
          </p:cNvPr>
          <p:cNvSpPr>
            <a:spLocks xmlns:a="http://schemas.openxmlformats.org/drawingml/2006/main" noGrp="1"/>
          </p:cNvSpPr>
          <p:nvPr/>
        </p:nvSpPr>
        <p:spPr>
          <a:xfrm xmlns:a="http://schemas.openxmlformats.org/drawingml/2006/main">
            <a:off x="609600" y="39433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Operational model">
            <a:extLst xmlns:a="http://schemas.openxmlformats.org/drawingml/2006/main">
              <a:ext uri="{FF2B5EF4-FFF2-40B4-BE49-F238E27FC236}">
                <a16:creationId xmlns:a16="http://schemas.microsoft.com/office/drawing/2014/main" id="{2AC526B0-7AB3-41F1-9D15-BDD158E2EE9E}"/>
              </a:ext>
            </a:extLst>
          </p:cNvPr>
          <p:cNvSpPr>
            <a:spLocks xmlns:a="http://schemas.openxmlformats.org/drawingml/2006/main" noGrp="1"/>
          </p:cNvSpPr>
          <p:nvPr/>
        </p:nvSpPr>
        <p:spPr>
          <a:xfrm xmlns:a="http://schemas.openxmlformats.org/drawingml/2006/main">
            <a:off x="609600" y="4105275"/>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Operational model</a:t>
            </a:r>
          </a:p>
        </p:txBody>
      </p:sp>
      <p:sp>
        <p:nvSpPr>
          <p:cNvPr id="15" name="Approved fixture plus event and sequential">
            <a:extLst xmlns:a="http://schemas.openxmlformats.org/drawingml/2006/main">
              <a:ext uri="{FF2B5EF4-FFF2-40B4-BE49-F238E27FC236}">
                <a16:creationId xmlns:a16="http://schemas.microsoft.com/office/drawing/2014/main" id="{8308B403-EA8B-4AD5-A1CD-BE66FD36F4DA}"/>
              </a:ext>
            </a:extLst>
          </p:cNvPr>
          <p:cNvSpPr>
            <a:spLocks xmlns:a="http://schemas.openxmlformats.org/drawingml/2006/main" noGrp="1"/>
          </p:cNvSpPr>
          <p:nvPr/>
        </p:nvSpPr>
        <p:spPr>
          <a:xfrm xmlns:a="http://schemas.openxmlformats.org/drawingml/2006/main">
            <a:off x="3619500" y="4076700"/>
            <a:ext cx="789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Approved fixture plus event and sequential contracts</a:t>
            </a:r>
          </a:p>
        </p:txBody>
      </p:sp>
      <p:sp>
        <p:nvSpPr>
          <p:cNvPr id="16" name="Bounded conditional comparisons with expli">
            <a:extLst xmlns:a="http://schemas.openxmlformats.org/drawingml/2006/main">
              <a:ext uri="{FF2B5EF4-FFF2-40B4-BE49-F238E27FC236}">
                <a16:creationId xmlns:a16="http://schemas.microsoft.com/office/drawing/2014/main" id="{CC836682-53C1-4D3A-B911-08A55A92DFE7}"/>
              </a:ext>
            </a:extLst>
          </p:cNvPr>
          <p:cNvSpPr>
            <a:spLocks xmlns:a="http://schemas.openxmlformats.org/drawingml/2006/main" noGrp="1"/>
          </p:cNvSpPr>
          <p:nvPr/>
        </p:nvSpPr>
        <p:spPr>
          <a:xfrm xmlns:a="http://schemas.openxmlformats.org/drawingml/2006/main">
            <a:off x="3619500" y="4467225"/>
            <a:ext cx="7896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Bounded conditional comparisons with explicit assumptions</a:t>
            </a:r>
          </a:p>
        </p:txBody>
      </p:sp>
      <p:sp>
        <p:nvSpPr>
          <p:cNvPr id="17" name="">
            <a:extLst xmlns:a="http://schemas.openxmlformats.org/drawingml/2006/main">
              <a:ext uri="{FF2B5EF4-FFF2-40B4-BE49-F238E27FC236}">
                <a16:creationId xmlns:a16="http://schemas.microsoft.com/office/drawing/2014/main" id="{E041A8C4-F216-4FEF-A2EF-EB40F6C7484E}"/>
              </a:ext>
            </a:extLst>
          </p:cNvPr>
          <p:cNvSpPr>
            <a:spLocks xmlns:a="http://schemas.openxmlformats.org/drawingml/2006/main" noGrp="1"/>
          </p:cNvSpPr>
          <p:nvPr/>
        </p:nvSpPr>
        <p:spPr>
          <a:xfrm xmlns:a="http://schemas.openxmlformats.org/drawingml/2006/main">
            <a:off x="609600" y="48863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Forecast research">
            <a:extLst xmlns:a="http://schemas.openxmlformats.org/drawingml/2006/main">
              <a:ext uri="{FF2B5EF4-FFF2-40B4-BE49-F238E27FC236}">
                <a16:creationId xmlns:a16="http://schemas.microsoft.com/office/drawing/2014/main" id="{795C73F8-12F3-4D77-AB55-80FDE52F41F0}"/>
              </a:ext>
            </a:extLst>
          </p:cNvPr>
          <p:cNvSpPr>
            <a:spLocks xmlns:a="http://schemas.openxmlformats.org/drawingml/2006/main" noGrp="1"/>
          </p:cNvSpPr>
          <p:nvPr/>
        </p:nvSpPr>
        <p:spPr>
          <a:xfrm xmlns:a="http://schemas.openxmlformats.org/drawingml/2006/main">
            <a:off x="609600" y="5048250"/>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Forecast research</a:t>
            </a:r>
          </a:p>
        </p:txBody>
      </p:sp>
      <p:sp>
        <p:nvSpPr>
          <p:cNvPr id="19" name="UCI Online Retail II, 2009–2011">
            <a:extLst xmlns:a="http://schemas.openxmlformats.org/drawingml/2006/main">
              <a:ext uri="{FF2B5EF4-FFF2-40B4-BE49-F238E27FC236}">
                <a16:creationId xmlns:a16="http://schemas.microsoft.com/office/drawing/2014/main" id="{82D348B3-8104-4317-9AB6-8C253195B370}"/>
              </a:ext>
            </a:extLst>
          </p:cNvPr>
          <p:cNvSpPr>
            <a:spLocks xmlns:a="http://schemas.openxmlformats.org/drawingml/2006/main" noGrp="1"/>
          </p:cNvSpPr>
          <p:nvPr/>
        </p:nvSpPr>
        <p:spPr>
          <a:xfrm xmlns:a="http://schemas.openxmlformats.org/drawingml/2006/main">
            <a:off x="3619500" y="5019675"/>
            <a:ext cx="789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UCI Online Retail II, 2009–2011</a:t>
            </a:r>
          </a:p>
        </p:txBody>
      </p:sp>
      <p:sp>
        <p:nvSpPr>
          <p:cNvPr id="20" name="Original daily study and exploratory rolli">
            <a:extLst xmlns:a="http://schemas.openxmlformats.org/drawingml/2006/main">
              <a:ext uri="{FF2B5EF4-FFF2-40B4-BE49-F238E27FC236}">
                <a16:creationId xmlns:a16="http://schemas.microsoft.com/office/drawing/2014/main" id="{F31E3E1F-7344-4180-BDBB-29E35330CB35}"/>
              </a:ext>
            </a:extLst>
          </p:cNvPr>
          <p:cNvSpPr>
            <a:spLocks xmlns:a="http://schemas.openxmlformats.org/drawingml/2006/main" noGrp="1"/>
          </p:cNvSpPr>
          <p:nvPr/>
        </p:nvSpPr>
        <p:spPr>
          <a:xfrm xmlns:a="http://schemas.openxmlformats.org/drawingml/2006/main">
            <a:off x="3619500" y="5410200"/>
            <a:ext cx="7896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Original daily study and exploratory rolling study remain separate</a:t>
            </a:r>
          </a:p>
        </p:txBody>
      </p:sp>
    </p:spTree>
    <p:extLst>
      <p:ext uri="{BB962C8B-B14F-4D97-AF65-F5344CB8AC3E}">
        <p14:creationId xmlns:p14="http://schemas.microsoft.com/office/powerpoint/2010/main" val="727374661"/>
      </p:ext>
    </p:extLst>
  </p:cSld>
</p:sld>
</file>

<file path=ppt/slides/slide15.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6 SCREEN">
            <a:extLst xmlns:a="http://schemas.openxmlformats.org/drawingml/2006/main">
              <a:ext uri="{FF2B5EF4-FFF2-40B4-BE49-F238E27FC236}">
                <a16:creationId xmlns:a16="http://schemas.microsoft.com/office/drawing/2014/main" id="{A9808240-1D47-48A3-96C6-A29BDC2BE986}"/>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V76 SCREEN</a:t>
            </a:r>
          </a:p>
        </p:txBody>
      </p:sp>
      <p:sp>
        <p:nvSpPr>
          <p:cNvPr id="2" name="Saved official warning evidence">
            <a:extLst xmlns:a="http://schemas.openxmlformats.org/drawingml/2006/main">
              <a:ext uri="{FF2B5EF4-FFF2-40B4-BE49-F238E27FC236}">
                <a16:creationId xmlns:a16="http://schemas.microsoft.com/office/drawing/2014/main" id="{3DFED685-3E63-4D52-887F-8BB8207BB1EC}"/>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official warning evidence</a:t>
            </a:r>
          </a:p>
        </p:txBody>
      </p:sp>
      <p:sp>
        <p:nvSpPr>
          <p:cNvPr id="3" name="12">
            <a:extLst xmlns:a="http://schemas.openxmlformats.org/drawingml/2006/main">
              <a:ext uri="{FF2B5EF4-FFF2-40B4-BE49-F238E27FC236}">
                <a16:creationId xmlns:a16="http://schemas.microsoft.com/office/drawing/2014/main" id="{EACF9795-90D4-42BE-A665-0D2E8CBE74E9}"/>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15</a:t>
            </a:r>
          </a:p>
        </p:txBody>
      </p:sp>
      <p:sp>
        <p:nvSpPr>
          <p:cNvPr id="4" name="Saved v76 screen, 10 Oct 2026. Primary-sou">
            <a:extLst xmlns:a="http://schemas.openxmlformats.org/drawingml/2006/main">
              <a:ext uri="{FF2B5EF4-FFF2-40B4-BE49-F238E27FC236}">
                <a16:creationId xmlns:a16="http://schemas.microsoft.com/office/drawing/2014/main" id="{B9AC3436-0856-4C63-8FEC-84602858C146}"/>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v76 screen, 10 Oct 2026. Primary-source replay, not a live alert or verified company exposure.</a:t>
            </a:r>
          </a:p>
        </p:txBody>
      </p:sp>
      <p:pic>
        <p:nvPicPr>
          <p:cNvPr id="5" name="">
            <a:extLst xmlns:a="http://schemas.openxmlformats.org/drawingml/2006/main">
              <a:ext uri="{FF2B5EF4-FFF2-40B4-BE49-F238E27FC236}">
                <a16:creationId xmlns:a16="http://schemas.microsoft.com/office/drawing/2014/main" id="{C2EB9CBC-80E6-4C4E-A881-F7898B3B7B7C}"/>
              </a:ext>
            </a:extLst>
          </p:cNvPr>
          <p:cNvPicPr>
            <a:picLocks xmlns:a="http://schemas.openxmlformats.org/drawingml/2006/main" noChangeAspect="1"/>
          </p:cNvPicPr>
          <p:nvPr/>
        </p:nvPicPr>
        <p:blipFill>
          <a:blip xmlns:r="http://schemas.openxmlformats.org/officeDocument/2006/relationships" xmlns:a="http://schemas.openxmlformats.org/drawingml/2006/main" r:embed="R9dec05dddb6542f7"/>
          <a:stretch xmlns:a="http://schemas.openxmlformats.org/drawingml/2006/main"/>
        </p:blipFill>
        <p:spPr>
          <a:xfrm xmlns:a="http://schemas.openxmlformats.org/drawingml/2006/main">
            <a:off x="1582251" y="1800225"/>
            <a:ext cx="6008072" cy="4181475"/>
          </a:xfrm>
          <a:prstGeom xmlns:a="http://schemas.openxmlformats.org/drawingml/2006/main" prst="rect">
            <a:avLst/>
          </a:prstGeom>
        </p:spPr>
      </p:pic>
      <p:sp>
        <p:nvSpPr>
          <p:cNvPr id="6" name="Official weather warning&#10;&#10;Source checked a">
            <a:extLst xmlns:a="http://schemas.openxmlformats.org/drawingml/2006/main">
              <a:ext uri="{FF2B5EF4-FFF2-40B4-BE49-F238E27FC236}">
                <a16:creationId xmlns:a16="http://schemas.microsoft.com/office/drawing/2014/main" id="{4EB2B423-2436-4D98-9502-2B955902CBA9}"/>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Official weather warning</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Source checked and attributed</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Business impact unverified</a:t>
            </a:r>
          </a:p>
        </p:txBody>
      </p:sp>
    </p:spTree>
    <p:extLst>
      <p:ext uri="{BB962C8B-B14F-4D97-AF65-F5344CB8AC3E}">
        <p14:creationId xmlns:p14="http://schemas.microsoft.com/office/powerpoint/2010/main" val="1332502323"/>
      </p:ext>
    </p:extLst>
  </p:cSld>
</p:sld>
</file>

<file path=ppt/slides/slide16.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6 SCREEN">
            <a:extLst xmlns:a="http://schemas.openxmlformats.org/drawingml/2006/main">
              <a:ext uri="{FF2B5EF4-FFF2-40B4-BE49-F238E27FC236}">
                <a16:creationId xmlns:a16="http://schemas.microsoft.com/office/drawing/2014/main" id="{B3677731-70AB-4631-906C-CF251D5B195E}"/>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V76 SCREEN</a:t>
            </a:r>
          </a:p>
        </p:txBody>
      </p:sp>
      <p:sp>
        <p:nvSpPr>
          <p:cNvPr id="2" name="Saved fictional impact confirmation">
            <a:extLst xmlns:a="http://schemas.openxmlformats.org/drawingml/2006/main">
              <a:ext uri="{FF2B5EF4-FFF2-40B4-BE49-F238E27FC236}">
                <a16:creationId xmlns:a16="http://schemas.microsoft.com/office/drawing/2014/main" id="{EE10FAB5-AE86-431D-863B-3DC01696834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fictional impact confirmation</a:t>
            </a:r>
          </a:p>
        </p:txBody>
      </p:sp>
      <p:sp>
        <p:nvSpPr>
          <p:cNvPr id="3" name="13">
            <a:extLst xmlns:a="http://schemas.openxmlformats.org/drawingml/2006/main">
              <a:ext uri="{FF2B5EF4-FFF2-40B4-BE49-F238E27FC236}">
                <a16:creationId xmlns:a16="http://schemas.microsoft.com/office/drawing/2014/main" id="{14286295-7070-4246-9BF4-DEF267DBC29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16</a:t>
            </a:r>
          </a:p>
        </p:txBody>
      </p:sp>
      <p:sp>
        <p:nvSpPr>
          <p:cNvPr id="4" name="Saved v76 screen, 10 Oct 2026. Explicit hy">
            <a:extLst xmlns:a="http://schemas.openxmlformats.org/drawingml/2006/main">
              <a:ext uri="{FF2B5EF4-FFF2-40B4-BE49-F238E27FC236}">
                <a16:creationId xmlns:a16="http://schemas.microsoft.com/office/drawing/2014/main" id="{3A78B889-4E9E-475F-BC33-2727D974B6F6}"/>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v76 screen, 10 Oct 2026. Explicit hypothetical route mapping and four-day total delay.</a:t>
            </a:r>
          </a:p>
        </p:txBody>
      </p:sp>
      <p:pic>
        <p:nvPicPr>
          <p:cNvPr id="5" name="">
            <a:extLst xmlns:a="http://schemas.openxmlformats.org/drawingml/2006/main">
              <a:ext uri="{FF2B5EF4-FFF2-40B4-BE49-F238E27FC236}">
                <a16:creationId xmlns:a16="http://schemas.microsoft.com/office/drawing/2014/main" id="{523097D3-38D5-4E8F-A514-C7CAA3E510D7}"/>
              </a:ext>
            </a:extLst>
          </p:cNvPr>
          <p:cNvPicPr>
            <a:picLocks xmlns:a="http://schemas.openxmlformats.org/drawingml/2006/main" noChangeAspect="1"/>
          </p:cNvPicPr>
          <p:nvPr/>
        </p:nvPicPr>
        <p:blipFill>
          <a:blip xmlns:r="http://schemas.openxmlformats.org/officeDocument/2006/relationships" xmlns:a="http://schemas.openxmlformats.org/drawingml/2006/main" r:embed="Ra578e996de3d4f39"/>
          <a:stretch xmlns:a="http://schemas.openxmlformats.org/drawingml/2006/main"/>
        </p:blipFill>
        <p:spPr>
          <a:xfrm xmlns:a="http://schemas.openxmlformats.org/drawingml/2006/main">
            <a:off x="1582251" y="1800225"/>
            <a:ext cx="6008072" cy="4181475"/>
          </a:xfrm>
          <a:prstGeom xmlns:a="http://schemas.openxmlformats.org/drawingml/2006/main" prst="rect">
            <a:avLst/>
          </a:prstGeom>
        </p:spPr>
      </p:pic>
      <p:sp>
        <p:nvSpPr>
          <p:cNvPr id="6" name="Fictional route&#10;&#10;4-day total delay&#10;&#10;User c">
            <a:extLst xmlns:a="http://schemas.openxmlformats.org/drawingml/2006/main">
              <a:ext uri="{FF2B5EF4-FFF2-40B4-BE49-F238E27FC236}">
                <a16:creationId xmlns:a16="http://schemas.microsoft.com/office/drawing/2014/main" id="{2F377A9C-671A-4FB4-A6E9-24D713B3CC41}"/>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Fictional route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4-day total delay</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User confirms both assumptions</a:t>
            </a:r>
          </a:p>
        </p:txBody>
      </p:sp>
    </p:spTree>
    <p:extLst>
      <p:ext uri="{BB962C8B-B14F-4D97-AF65-F5344CB8AC3E}">
        <p14:creationId xmlns:p14="http://schemas.microsoft.com/office/powerpoint/2010/main" val="498687986"/>
      </p:ext>
    </p:extLst>
  </p:cSld>
</p:sld>
</file>

<file path=ppt/slides/slide1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6 SCREEN">
            <a:extLst xmlns:a="http://schemas.openxmlformats.org/drawingml/2006/main">
              <a:ext uri="{FF2B5EF4-FFF2-40B4-BE49-F238E27FC236}">
                <a16:creationId xmlns:a16="http://schemas.microsoft.com/office/drawing/2014/main" id="{FFE0AB2F-80BB-4F4E-98CD-C121BAC54BBE}"/>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V76 SCREEN</a:t>
            </a:r>
          </a:p>
        </p:txBody>
      </p:sp>
      <p:sp>
        <p:nvSpPr>
          <p:cNvPr id="2" name="Saved four-day replay comparison">
            <a:extLst xmlns:a="http://schemas.openxmlformats.org/drawingml/2006/main">
              <a:ext uri="{FF2B5EF4-FFF2-40B4-BE49-F238E27FC236}">
                <a16:creationId xmlns:a16="http://schemas.microsoft.com/office/drawing/2014/main" id="{7C897107-08CB-48C9-8B28-9CFE3E36DAB5}"/>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four-day replay comparison</a:t>
            </a:r>
          </a:p>
        </p:txBody>
      </p:sp>
      <p:sp>
        <p:nvSpPr>
          <p:cNvPr id="3" name="14">
            <a:extLst xmlns:a="http://schemas.openxmlformats.org/drawingml/2006/main">
              <a:ext uri="{FF2B5EF4-FFF2-40B4-BE49-F238E27FC236}">
                <a16:creationId xmlns:a16="http://schemas.microsoft.com/office/drawing/2014/main" id="{C77771E0-B4A1-4843-9C39-540F1F8B6D2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17</a:t>
            </a:r>
          </a:p>
        </p:txBody>
      </p:sp>
      <p:sp>
        <p:nvSpPr>
          <p:cNvPr id="4" name="Saved v76 screen, 10 Oct 2026. Same demand">
            <a:extLst xmlns:a="http://schemas.openxmlformats.org/drawingml/2006/main">
              <a:ext uri="{FF2B5EF4-FFF2-40B4-BE49-F238E27FC236}">
                <a16:creationId xmlns:a16="http://schemas.microsoft.com/office/drawing/2014/main" id="{6456FCAD-1F9D-455C-9CFA-0E9B6354B956}"/>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v76 screen, 10 Oct 2026. Same demand and resources; only the confirmed delay assumption changes.</a:t>
            </a:r>
          </a:p>
        </p:txBody>
      </p:sp>
      <p:pic>
        <p:nvPicPr>
          <p:cNvPr id="5" name="">
            <a:extLst xmlns:a="http://schemas.openxmlformats.org/drawingml/2006/main">
              <a:ext uri="{FF2B5EF4-FFF2-40B4-BE49-F238E27FC236}">
                <a16:creationId xmlns:a16="http://schemas.microsoft.com/office/drawing/2014/main" id="{B25C389E-C996-40FC-B441-7FE381980DD8}"/>
              </a:ext>
            </a:extLst>
          </p:cNvPr>
          <p:cNvPicPr>
            <a:picLocks xmlns:a="http://schemas.openxmlformats.org/drawingml/2006/main" noChangeAspect="1"/>
          </p:cNvPicPr>
          <p:nvPr/>
        </p:nvPicPr>
        <p:blipFill>
          <a:blip xmlns:r="http://schemas.openxmlformats.org/officeDocument/2006/relationships" xmlns:a="http://schemas.openxmlformats.org/drawingml/2006/main" r:embed="Rc8c86b8e829e4b3b"/>
          <a:stretch xmlns:a="http://schemas.openxmlformats.org/drawingml/2006/main"/>
        </p:blipFill>
        <p:spPr>
          <a:xfrm xmlns:a="http://schemas.openxmlformats.org/drawingml/2006/main">
            <a:off x="1582251" y="1800225"/>
            <a:ext cx="6008072" cy="4181475"/>
          </a:xfrm>
          <a:prstGeom xmlns:a="http://schemas.openxmlformats.org/drawingml/2006/main" prst="rect">
            <a:avLst/>
          </a:prstGeom>
        </p:spPr>
      </p:pic>
      <p:sp>
        <p:nvSpPr>
          <p:cNvPr id="6" name="68 unmet units&#10;with no change&#10;&#10;Inspected p">
            <a:extLst xmlns:a="http://schemas.openxmlformats.org/drawingml/2006/main">
              <a:ext uri="{FF2B5EF4-FFF2-40B4-BE49-F238E27FC236}">
                <a16:creationId xmlns:a16="http://schemas.microsoft.com/office/drawing/2014/main" id="{05B8F517-7597-4700-B14E-D7899786D3A0}"/>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68 unmet units</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with no change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Inspected plan:</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0 unmet, 1.3 h gap</a:t>
            </a:r>
          </a:p>
        </p:txBody>
      </p:sp>
    </p:spTree>
    <p:extLst>
      <p:ext uri="{BB962C8B-B14F-4D97-AF65-F5344CB8AC3E}">
        <p14:creationId xmlns:p14="http://schemas.microsoft.com/office/powerpoint/2010/main" val="1544014364"/>
      </p:ext>
    </p:extLst>
  </p:cSld>
</p:sld>
</file>

<file path=ppt/slides/slide18.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6 SCREEN">
            <a:extLst xmlns:a="http://schemas.openxmlformats.org/drawingml/2006/main">
              <a:ext uri="{FF2B5EF4-FFF2-40B4-BE49-F238E27FC236}">
                <a16:creationId xmlns:a16="http://schemas.microsoft.com/office/drawing/2014/main" id="{DE132BE4-0FEE-45AD-A173-B1BA9B7A716C}"/>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V76 SCREEN</a:t>
            </a:r>
          </a:p>
        </p:txBody>
      </p:sp>
      <p:sp>
        <p:nvSpPr>
          <p:cNvPr id="2" name="Saved observed-history replanning">
            <a:extLst xmlns:a="http://schemas.openxmlformats.org/drawingml/2006/main">
              <a:ext uri="{FF2B5EF4-FFF2-40B4-BE49-F238E27FC236}">
                <a16:creationId xmlns:a16="http://schemas.microsoft.com/office/drawing/2014/main" id="{5F3B78AD-10EB-4456-9A73-E4D9B5532FA8}"/>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observed-history replanning</a:t>
            </a:r>
          </a:p>
        </p:txBody>
      </p:sp>
      <p:sp>
        <p:nvSpPr>
          <p:cNvPr id="3" name="15">
            <a:extLst xmlns:a="http://schemas.openxmlformats.org/drawingml/2006/main">
              <a:ext uri="{FF2B5EF4-FFF2-40B4-BE49-F238E27FC236}">
                <a16:creationId xmlns:a16="http://schemas.microsoft.com/office/drawing/2014/main" id="{BA3E10E3-A344-4EF6-A6C1-62A5D1339EED}"/>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18</a:t>
            </a:r>
          </a:p>
        </p:txBody>
      </p:sp>
      <p:sp>
        <p:nvSpPr>
          <p:cNvPr id="4" name="Saved v76 screen, 10 Oct 2026. Confirmed f">
            <a:extLst xmlns:a="http://schemas.openxmlformats.org/drawingml/2006/main">
              <a:ext uri="{FF2B5EF4-FFF2-40B4-BE49-F238E27FC236}">
                <a16:creationId xmlns:a16="http://schemas.microsoft.com/office/drawing/2014/main" id="{127D70BF-A738-43EC-9B58-D6E5CBA8B3EF}"/>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v76 screen, 10 Oct 2026. Confirmed four-day replay. Synthetic observations and assumed scenario weights.</a:t>
            </a:r>
          </a:p>
        </p:txBody>
      </p:sp>
      <p:pic>
        <p:nvPicPr>
          <p:cNvPr id="5" name="">
            <a:extLst xmlns:a="http://schemas.openxmlformats.org/drawingml/2006/main">
              <a:ext uri="{FF2B5EF4-FFF2-40B4-BE49-F238E27FC236}">
                <a16:creationId xmlns:a16="http://schemas.microsoft.com/office/drawing/2014/main" id="{FBEFFD9B-E56B-4385-ADCA-614E2BA9B73F}"/>
              </a:ext>
            </a:extLst>
          </p:cNvPr>
          <p:cNvPicPr>
            <a:picLocks xmlns:a="http://schemas.openxmlformats.org/drawingml/2006/main" noChangeAspect="1"/>
          </p:cNvPicPr>
          <p:nvPr/>
        </p:nvPicPr>
        <p:blipFill>
          <a:blip xmlns:r="http://schemas.openxmlformats.org/officeDocument/2006/relationships" xmlns:a="http://schemas.openxmlformats.org/drawingml/2006/main" r:embed="R1dec740de2244280"/>
          <a:stretch xmlns:a="http://schemas.openxmlformats.org/drawingml/2006/main"/>
        </p:blipFill>
        <p:spPr>
          <a:xfrm xmlns:a="http://schemas.openxmlformats.org/drawingml/2006/main">
            <a:off x="1582251" y="1800225"/>
            <a:ext cx="6008072" cy="4181475"/>
          </a:xfrm>
          <a:prstGeom xmlns:a="http://schemas.openxmlformats.org/drawingml/2006/main" prst="rect">
            <a:avLst/>
          </a:prstGeom>
        </p:spPr>
      </p:pic>
      <p:sp>
        <p:nvSpPr>
          <p:cNvPr id="6" name="Day-2 carrier report&#10;&#10;Transfer + expedite&#10;">
            <a:extLst xmlns:a="http://schemas.openxmlformats.org/drawingml/2006/main">
              <a:ext uri="{FF2B5EF4-FFF2-40B4-BE49-F238E27FC236}">
                <a16:creationId xmlns:a16="http://schemas.microsoft.com/office/drawing/2014/main" id="{9ADA2D17-D673-4447-BA99-5AD4DC384BAB}"/>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Day-2 carrier report</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Transfer + expedite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Lower assumed cost,</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slightly more unmet demand</a:t>
            </a:r>
          </a:p>
        </p:txBody>
      </p:sp>
    </p:spTree>
    <p:extLst>
      <p:ext uri="{BB962C8B-B14F-4D97-AF65-F5344CB8AC3E}">
        <p14:creationId xmlns:p14="http://schemas.microsoft.com/office/powerpoint/2010/main" val="833122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2026-10-10T07:36:20.0900000Z</dcterms:created>
  <dcterms:modified xsi:type="dcterms:W3CDTF">2026-10-10T07:36:20.0900000Z</dcterms:modified>
</coreProperties>
</file>