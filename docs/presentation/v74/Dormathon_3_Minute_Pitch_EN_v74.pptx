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09d492d1bc540ee" /><Relationship Type="http://schemas.openxmlformats.org/officeDocument/2006/relationships/extended-properties" Target="/docProps/app.xml" Id="R5564ae3e6d784f14" /><Relationship Type="http://schemas.openxmlformats.org/officeDocument/2006/relationships/officeDocument" Target="/ppt/presentation.xml" Id="Ra04f1d8b47174ff8" /></Relationships>
</file>

<file path=ppt/presentation.xml><?xml version="1.0" encoding="utf-8"?>
<p:presentation xmlns:p="http://schemas.openxmlformats.org/presentationml/2006/main">
  <p:sldMasterIdLst>
    <p:sldMasterId xmlns:r="http://schemas.openxmlformats.org/officeDocument/2006/relationships" id="2147483648" r:id="R5bef2c73693b4f9c"/>
  </p:sldMasterIdLst>
  <p:notesMasterIdLst>
    <p:notesMasterId xmlns:r="http://schemas.openxmlformats.org/officeDocument/2006/relationships" r:id="Ra823c261af3c48b4"/>
  </p:notesMasterIdLst>
  <p:sldIdLst>
    <p:sldId xmlns:r="http://schemas.openxmlformats.org/officeDocument/2006/relationships" id="256" r:id="R5f9f91fa393248ba"/>
    <p:sldId xmlns:r="http://schemas.openxmlformats.org/officeDocument/2006/relationships" id="257" r:id="R868b7ac61d5a435f"/>
    <p:sldId xmlns:r="http://schemas.openxmlformats.org/officeDocument/2006/relationships" id="258" r:id="R3cffc5c6537d4dea"/>
    <p:sldId xmlns:r="http://schemas.openxmlformats.org/officeDocument/2006/relationships" id="259" r:id="Ra18b789531f844db"/>
    <p:sldId xmlns:r="http://schemas.openxmlformats.org/officeDocument/2006/relationships" id="260" r:id="R40df8b8f2ed44e72"/>
    <p:sldId xmlns:r="http://schemas.openxmlformats.org/officeDocument/2006/relationships" id="261" r:id="R351f98e00c7f4a70"/>
    <p:sldId xmlns:r="http://schemas.openxmlformats.org/officeDocument/2006/relationships" id="262" r:id="R4dc6dd7bf96d4268"/>
    <p:sldId xmlns:r="http://schemas.openxmlformats.org/officeDocument/2006/relationships" id="263" r:id="R15eb30c5ff8840e6"/>
    <p:sldId xmlns:r="http://schemas.openxmlformats.org/officeDocument/2006/relationships" id="264" r:id="R1f726e424afb4f34"/>
    <p:sldId xmlns:r="http://schemas.openxmlformats.org/officeDocument/2006/relationships" id="265" r:id="R440e1d5b5f7c4a6b"/>
    <p:sldId xmlns:r="http://schemas.openxmlformats.org/officeDocument/2006/relationships" id="266" r:id="R9143ed8c394042fc"/>
    <p:sldId xmlns:r="http://schemas.openxmlformats.org/officeDocument/2006/relationships" id="267" r:id="Ra21aab821b634a12"/>
    <p:sldId xmlns:r="http://schemas.openxmlformats.org/officeDocument/2006/relationships" id="268" r:id="R41aae535cb5d46de"/>
    <p:sldId xmlns:r="http://schemas.openxmlformats.org/officeDocument/2006/relationships" id="269" r:id="R2d3c4c57744349f3"/>
    <p:sldId xmlns:r="http://schemas.openxmlformats.org/officeDocument/2006/relationships" id="270" r:id="R7cf5e6dc8eae41f3"/>
    <p:sldId xmlns:r="http://schemas.openxmlformats.org/officeDocument/2006/relationships" id="271" r:id="R4474aa2051b44fac"/>
    <p:sldId xmlns:r="http://schemas.openxmlformats.org/officeDocument/2006/relationships" id="272" r:id="R92c1635edf1c4b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56f9dac5c8417f" /><Relationship Type="http://schemas.openxmlformats.org/officeDocument/2006/relationships/slideMaster" Target="/ppt/slideMasters/slideMaster1.xml" Id="R5bef2c73693b4f9c" /><Relationship Type="http://schemas.openxmlformats.org/officeDocument/2006/relationships/notesMaster" Target="/ppt/notesMasters/notesMaster1.xml" Id="Ra823c261af3c48b4" /><Relationship Type="http://schemas.openxmlformats.org/officeDocument/2006/relationships/presProps" Target="/ppt/presProps.xml" Id="Reff0c333c2724a4a" /><Relationship Type="http://schemas.openxmlformats.org/officeDocument/2006/relationships/tableStyles" Target="/ppt/tableStyles.xml" Id="R3ffe073245e34dda" /><Relationship Type="http://schemas.openxmlformats.org/officeDocument/2006/relationships/slide" Target="/ppt/slides/slide1.xml" Id="R5f9f91fa393248ba" /><Relationship Type="http://schemas.openxmlformats.org/officeDocument/2006/relationships/slide" Target="/ppt/slides/slide2.xml" Id="R868b7ac61d5a435f" /><Relationship Type="http://schemas.openxmlformats.org/officeDocument/2006/relationships/slide" Target="/ppt/slides/slide3.xml" Id="R3cffc5c6537d4dea" /><Relationship Type="http://schemas.openxmlformats.org/officeDocument/2006/relationships/slide" Target="/ppt/slides/slide4.xml" Id="Ra18b789531f844db" /><Relationship Type="http://schemas.openxmlformats.org/officeDocument/2006/relationships/slide" Target="/ppt/slides/slide5.xml" Id="R40df8b8f2ed44e72" /><Relationship Type="http://schemas.openxmlformats.org/officeDocument/2006/relationships/slide" Target="/ppt/slides/slide6.xml" Id="R351f98e00c7f4a70" /><Relationship Type="http://schemas.openxmlformats.org/officeDocument/2006/relationships/slide" Target="/ppt/slides/slide7.xml" Id="R4dc6dd7bf96d4268" /><Relationship Type="http://schemas.openxmlformats.org/officeDocument/2006/relationships/slide" Target="/ppt/slides/slide8.xml" Id="R15eb30c5ff8840e6" /><Relationship Type="http://schemas.openxmlformats.org/officeDocument/2006/relationships/slide" Target="/ppt/slides/slide9.xml" Id="R1f726e424afb4f34" /><Relationship Type="http://schemas.openxmlformats.org/officeDocument/2006/relationships/slide" Target="/ppt/slides/slide10.xml" Id="R440e1d5b5f7c4a6b" /><Relationship Type="http://schemas.openxmlformats.org/officeDocument/2006/relationships/slide" Target="/ppt/slides/slide11.xml" Id="R9143ed8c394042fc" /><Relationship Type="http://schemas.openxmlformats.org/officeDocument/2006/relationships/slide" Target="/ppt/slides/slide12.xml" Id="Ra21aab821b634a12" /><Relationship Type="http://schemas.openxmlformats.org/officeDocument/2006/relationships/slide" Target="/ppt/slides/slide13.xml" Id="R41aae535cb5d46de" /><Relationship Type="http://schemas.openxmlformats.org/officeDocument/2006/relationships/slide" Target="/ppt/slides/slide14.xml" Id="R2d3c4c57744349f3" /><Relationship Type="http://schemas.openxmlformats.org/officeDocument/2006/relationships/slide" Target="/ppt/slides/slide15.xml" Id="R7cf5e6dc8eae41f3" /><Relationship Type="http://schemas.openxmlformats.org/officeDocument/2006/relationships/slide" Target="/ppt/slides/slide16.xml" Id="R4474aa2051b44fac" /><Relationship Type="http://schemas.openxmlformats.org/officeDocument/2006/relationships/slide" Target="/ppt/slides/slide17.xml" Id="R92c1635edf1c4b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18525340b34b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04dbe57c5b444e" /><Relationship Type="http://schemas.openxmlformats.org/officeDocument/2006/relationships/notesMaster" Target="/ppt/notesMasters/notesMaster1.xml" Id="R41be173bc73a4e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1aa5b807a741aa" /><Relationship Type="http://schemas.openxmlformats.org/officeDocument/2006/relationships/notesMaster" Target="/ppt/notesMasters/notesMaster1.xml" Id="R90588ac9b1544f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40810afdef4141" /><Relationship Type="http://schemas.openxmlformats.org/officeDocument/2006/relationships/notesMaster" Target="/ppt/notesMasters/notesMaster1.xml" Id="Rbd96ded13c7f40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57c972be6442d6" /><Relationship Type="http://schemas.openxmlformats.org/officeDocument/2006/relationships/notesMaster" Target="/ppt/notesMasters/notesMaster1.xml" Id="Rfb2f7f93558a46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a2eca8fe9b475c" /><Relationship Type="http://schemas.openxmlformats.org/officeDocument/2006/relationships/notesMaster" Target="/ppt/notesMasters/notesMaster1.xml" Id="R632de6b486a14c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f71ae8b5cb4f61" /><Relationship Type="http://schemas.openxmlformats.org/officeDocument/2006/relationships/notesMaster" Target="/ppt/notesMasters/notesMaster1.xml" Id="Rcc8caf2420544a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397be2857f44dd" /><Relationship Type="http://schemas.openxmlformats.org/officeDocument/2006/relationships/notesMaster" Target="/ppt/notesMasters/notesMaster1.xml" Id="Re9bd00a144f742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d8d49bfad94f8d" /><Relationship Type="http://schemas.openxmlformats.org/officeDocument/2006/relationships/notesMaster" Target="/ppt/notesMasters/notesMaster1.xml" Id="Ra601c1c84a65486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68a9ed262a46ab" /><Relationship Type="http://schemas.openxmlformats.org/officeDocument/2006/relationships/notesMaster" Target="/ppt/notesMasters/notesMaster1.xml" Id="Re91c0fca954a480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1e716ce38c4222" /><Relationship Type="http://schemas.openxmlformats.org/officeDocument/2006/relationships/notesMaster" Target="/ppt/notesMasters/notesMaster1.xml" Id="Rbc37f0122fdc44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5833ef30724585" /><Relationship Type="http://schemas.openxmlformats.org/officeDocument/2006/relationships/notesMaster" Target="/ppt/notesMasters/notesMaster1.xml" Id="Rf33a9e82655643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ef36861fc4c4ac2" /><Relationship Type="http://schemas.openxmlformats.org/officeDocument/2006/relationships/notesMaster" Target="/ppt/notesMasters/notesMaster1.xml" Id="Rd9fdf22ab1c248c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26fd049e19a43be" /><Relationship Type="http://schemas.openxmlformats.org/officeDocument/2006/relationships/notesMaster" Target="/ppt/notesMasters/notesMaster1.xml" Id="R2ce9fd6dcb1f42a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7fe3902c3fb4754" /><Relationship Type="http://schemas.openxmlformats.org/officeDocument/2006/relationships/notesMaster" Target="/ppt/notesMasters/notesMaster1.xml" Id="R530b1f1ed7ce4a2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da560c52d7647fb" /><Relationship Type="http://schemas.openxmlformats.org/officeDocument/2006/relationships/notesMaster" Target="/ppt/notesMasters/notesMaster1.xml" Id="R6880aa3dc4094bc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44725c640e24fa2" /><Relationship Type="http://schemas.openxmlformats.org/officeDocument/2006/relationships/notesMaster" Target="/ppt/notesMasters/notesMaster1.xml" Id="Rea00fca571f048b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7eb693ab4994bbf" /><Relationship Type="http://schemas.openxmlformats.org/officeDocument/2006/relationships/notesMaster" Target="/ppt/notesMasters/notesMaster1.xml" Id="R4e492c8301fd42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00:00–00:15. A regional operations lead sees a delivery arriving late. Protecting service may need another store’s stock, invoice review or a different receiving window. Dormathon connects those exceptions to the evidence behind a response.</a:t>
            </a:r>
          </a:p>
          <a:p xmlns:a="http://schemas.openxmlformats.org/drawingml/2006/main">
            <a:r>
              <a:t>Primary format: 3-minute pitch and 2-minute Q&amp;A. Owner-confirmed ready target: 19:00 MYT on 10 October 2026, review at 20:00, submission on 11 October at 09:00.</a:t>
            </a:r>
          </a:p>
          <a:p xmlns:a="http://schemas.openxmlformats.org/drawingml/2006/main">
            <a:r>
              <a:t/>
            </a:r>
          </a:p>
          <a:p xmlns:a="http://schemas.openxmlformats.org/drawingml/2006/main">
            <a:r>
              <a:t>SOURCES</a:t>
            </a:r>
          </a:p>
          <a:p xmlns:a="http://schemas.openxmlformats.org/drawingml/2006/main">
            <a:r>
              <a:t>Approved Dormathon Product Specifications v0.4.1, 10 October 2026, S01–S11. Project source: docs/specs/Dormathon_Product_Specifications_v0.4.1_EN.md.</a:t>
            </a:r>
          </a:p>
          <a:p xmlns:a="http://schemas.openxmlformats.org/drawingml/2006/main">
            <a:r>
              <a:t>Hosted product: https://dormathon-risk-private-20261007.liuyz8715.chatgpt.site/workbench.html. Site v74 with captured v73/v74 evidence, published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00:15–00:40. These decisions compete for the same resources. Our MR D.I.Y. Malaysia demonstration uses public operating context and explicitly synthetic internal data. Forty cases cover supply, procurement, service and energy security. Six cases follow one linked replenishment episode, so a fix in one team cannot silently consume another team’s capacity.</a:t>
            </a:r>
          </a:p>
          <a:p xmlns:a="http://schemas.openxmlformats.org/drawingml/2006/main">
            <a:r>
              <a:t/>
            </a:r>
          </a:p>
          <a:p xmlns:a="http://schemas.openxmlformats.org/drawingml/2006/main">
            <a:r>
              <a:t>SOURCES</a:t>
            </a:r>
          </a:p>
          <a:p xmlns:a="http://schemas.openxmlformats.org/drawingml/2006/main">
            <a:r>
              <a:t>Approved Dormathon Product Specifications v0.4.1, 10 October 2026, S01–S11. Project source: docs/specs/Dormathon_Product_Specifications_v0.4.1_EN.md.</a:t>
            </a:r>
          </a:p>
          <a:p xmlns:a="http://schemas.openxmlformats.org/drawingml/2006/main">
            <a:r>
              <a:t>MR D.I.Y. Group (M) Berhad, Sustainability Report 2025, printed pp2,33,37–40,47–49. https://corporate.mrdiy.com/misc/sustainability/MRDIY-Sustainability_Report_2025.pdf</a:t>
            </a:r>
          </a:p>
          <a:p xmlns:a="http://schemas.openxmlformats.org/drawingml/2006/main">
            <a:r>
              <a:t>MR D.I.Y. Group (M) Berhad, Integrated Annual Report 2025. https://mrdiy.listedcompany.com/misc/ar/MRDIY_AR2025.pdf</a:t>
            </a:r>
          </a:p>
          <a:p xmlns:a="http://schemas.openxmlformats.org/drawingml/2006/main">
            <a:r>
              <a:t>Project evidence: docs/forecast-decision-expansion/README.md, joint-planner-contract.md, forecast-audit-report.v1.json; worker/mrdiy-demand-outlook.js and worker/mrdiy-joint-planner.js.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00:40–01:15. The outlook uses 196 days of authored synthetic sales history. It generates 148 units of demand across the next seven days and reconciles every declared arrival. Here, free stock runs out on October twelfth, before the next arrival on the thirteenth. The no-change path leaves 25.636 units unmet. These are conditional scenario results, not observed company shortages.</a:t>
            </a:r>
          </a:p>
          <a:p xmlns:a="http://schemas.openxmlformats.org/drawingml/2006/main">
            <a:r>
              <a:t>LIVE cue: use the preloaded SC01 Organization outlook, then Compare in Strategy. Alternatively stay on this real saved screenshot. History, stock and arrival inputs are synthetic. Original selected-case arithmetic uses a different constant-demand basis and must not be mixed with these figures.</a:t>
            </a:r>
          </a:p>
          <a:p xmlns:a="http://schemas.openxmlformats.org/drawingml/2006/main">
            <a:r>
              <a:t/>
            </a:r>
          </a:p>
          <a:p xmlns:a="http://schemas.openxmlformats.org/drawingml/2006/main">
            <a:r>
              <a:t>SOURCES</a:t>
            </a:r>
          </a:p>
          <a:p xmlns:a="http://schemas.openxmlformats.org/drawingml/2006/main">
            <a:r>
              <a:t>Project evidence: docs/forecast-decision-expansion/README.md, joint-planner-contract.md, forecast-audit-report.v1.json; worker/mrdiy-demand-outlook.js and worker/mrdiy-joint-planner.js.</a:t>
            </a:r>
          </a:p>
          <a:p xmlns:a="http://schemas.openxmlformats.org/drawingml/2006/main">
            <a:r>
              <a:t>Hosted v73/v74 desktop QA, 10 October 2026: demand outlook, bounded joint-plan comparison, resource accounting and missing-input behavior. Actual screenshots retained with capture version. Optional provider remains selected-case-only; no new paid request was required for expansion QA.</a:t>
            </a:r>
          </a:p>
          <a:p xmlns:a="http://schemas.openxmlformats.org/drawingml/2006/main">
            <a:r>
              <a:t>Hosted product: https://dormathon-risk-private-20261007.liuyz8715.chatgpt.site/workbench.html. Site v74 with captured v73/v74 evidence, published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01:15–01:55. Strategy compares seventy-two bounded packages across six linked cases. Forty-eight satisfy the declared shared constraints. One frontier example transfers a stock buffer, plans invoice review and qualified service, and protects safety-minimum power. It removes modeled unmet demand, while a one-point-three-hour continuity gap remains visible. That residual matters: feasible does not mean risk-free. This comparison executes nothing.</a:t>
            </a:r>
          </a:p>
          <a:p xmlns:a="http://schemas.openxmlformats.org/drawingml/2006/main">
            <a:r>
              <a:t>LIVE cue: point to the default frontier card. If needed choose No-change reference once, then return to the frontier. The known conditional cost is MYR63.968 versus MYR323.583 under no change. These costs exclude unpriced energy, service and review consequences. They are not whole-business value or realized savings. No route expedite is needed in this example.</a:t>
            </a:r>
          </a:p>
          <a:p xmlns:a="http://schemas.openxmlformats.org/drawingml/2006/main">
            <a:r>
              <a:t/>
            </a:r>
          </a:p>
          <a:p xmlns:a="http://schemas.openxmlformats.org/drawingml/2006/main">
            <a:r>
              <a:t>SOURCES</a:t>
            </a:r>
          </a:p>
          <a:p xmlns:a="http://schemas.openxmlformats.org/drawingml/2006/main">
            <a:r>
              <a:t>Project evidence: docs/forecast-decision-expansion/README.md, joint-planner-contract.md, forecast-audit-report.v1.json; worker/mrdiy-demand-outlook.js and worker/mrdiy-joint-planner.js.</a:t>
            </a:r>
          </a:p>
          <a:p xmlns:a="http://schemas.openxmlformats.org/drawingml/2006/main">
            <a:r>
              <a:t>Hosted v73/v74 desktop QA, 10 October 2026: demand outlook, bounded joint-plan comparison, resource accounting and missing-input behavior. Actual screenshots retained with capture version. Optional provider remains selected-case-only; no new paid request was required for expansion QA.</a:t>
            </a:r>
          </a:p>
          <a:p xmlns:a="http://schemas.openxmlformats.org/drawingml/2006/main">
            <a:r>
              <a:t>Hosted product: https://dormathon-risk-private-20261007.liuyz8715.chatgpt.site/workbench.html. Site v74 with captured v73/v74 evidence, published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01:55–02:30. This is the working plan view. One resource ledger prevents the same stock, cash or capacity from being counted twice. Inputs and unmet requirements remain inspectable. Missing lead time produces an abstention. The existing GPT-OSS Advisor explains selected cases only; it does not consume or endorse these joint plans. Saved human choices also remain case-scoped, and no order, payment or facility action executes.</a:t>
            </a:r>
          </a:p>
          <a:p xmlns:a="http://schemas.openxmlformats.org/drawingml/2006/main">
            <a:r>
              <a:t/>
            </a:r>
          </a:p>
          <a:p xmlns:a="http://schemas.openxmlformats.org/drawingml/2006/main">
            <a:r>
              <a:t>SOURCES</a:t>
            </a:r>
          </a:p>
          <a:p xmlns:a="http://schemas.openxmlformats.org/drawingml/2006/main">
            <a:r>
              <a:t>Project evidence: docs/forecast-decision-expansion/README.md, joint-planner-contract.md, forecast-audit-report.v1.json; worker/mrdiy-demand-outlook.js and worker/mrdiy-joint-planner.js.</a:t>
            </a:r>
          </a:p>
          <a:p xmlns:a="http://schemas.openxmlformats.org/drawingml/2006/main">
            <a:r>
              <a:t>Hosted v73/v74 desktop QA, 10 October 2026: demand outlook, bounded joint-plan comparison, resource accounting and missing-input behavior. Actual screenshots retained with capture version. Optional provider remains selected-case-only; no new paid request was required for expansion QA.</a:t>
            </a:r>
          </a:p>
          <a:p xmlns:a="http://schemas.openxmlformats.org/drawingml/2006/main">
            <a:r>
              <a:t>Hosted product: https://dormathon-risk-private-20261007.liuyz8715.chatgpt.site/workbench.html. Site v74 with captured v73/v74 evidence, published 10 October 2026.</a:t>
            </a:r>
          </a:p>
          <a:p xmlns:a="http://schemas.openxmlformats.org/drawingml/2006/main">
            <a:r>
              <a:t>Hosted QA: v71 SC01 comparison and selected-decision save/reopen, SC16 abstention and provider-response replays verified 10 October 2026. v70 live SovernStack GPT-OSS 120B verified for SC01 explanation and SC16 missing-input answer. No claim of all-case LLM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02:30–03:00. The result is a working decision workspace with visible trade-offs. A separate exploratory study achieved sixty-nine-point-seven-three percent weekly WAPE against seventy-seven-point-two-one for the same-fold mean baseline. Daily error remains high, and the data had prior exposure. We make no company-accuracy claim. The next proof needs observed stock, arrivals and warning outcomes. Dormathon already lets a lead inspect the consequence before acting.</a:t>
            </a:r>
          </a:p>
          <a:p xmlns:a="http://schemas.openxmlformats.org/drawingml/2006/main">
            <a:r>
              <a:t/>
            </a:r>
          </a:p>
          <a:p xmlns:a="http://schemas.openxmlformats.org/drawingml/2006/main">
            <a:r>
              <a:t>SOURCES</a:t>
            </a:r>
          </a:p>
          <a:p xmlns:a="http://schemas.openxmlformats.org/drawingml/2006/main">
            <a:r>
              <a:t>Project evidence: docs/forecast-decision-expansion/README.md, joint-planner-contract.md, forecast-audit-report.v1.json; worker/mrdiy-demand-outlook.js and worker/mrdiy-joint-planner.js.</a:t>
            </a:r>
          </a:p>
          <a:p xmlns:a="http://schemas.openxmlformats.org/drawingml/2006/main">
            <a:r>
              <a:t>Project evidence: data/forecast-rolling-report.v1.json; docs/forecast-decision-expansion/portable-reproduction/protocol.json. Eight retrospective rolling folds on previously exposed prior-training periods. Exact isolated reproduction passed.</a:t>
            </a:r>
          </a:p>
          <a:p xmlns:a="http://schemas.openxmlformats.org/drawingml/2006/main">
            <a:r>
              <a:t>Chen, D. (2012). Online Retail II [Dataset]. UCI Machine Learning Repository. DOI 10.24432/C5CG6D. CC BY 4.0. https://archive.ics.uci.edu/dataset/502/online+retail+ii</a:t>
            </a:r>
          </a:p>
          <a:p xmlns:a="http://schemas.openxmlformats.org/drawingml/2006/main">
            <a:r>
              <a:t>Hosted product: https://dormathon-risk-private-20261007.liuyz8715.chatgpt.site/workbench.html. Site v74 with captured v73/v74 evidence, published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Forty complete case workflows: sixteen supply, ten procurement, eight service and six energy-security cases. Bounded whole-episode enumeration covers the six deep cases SC01/02/17/18/27/35 only. Selected-case decisions remain saved/reopenable. No all-forty-case joint optimization or forecast-quality claim.</a:t>
            </a:r>
          </a:p>
          <a:p xmlns:a="http://schemas.openxmlformats.org/drawingml/2006/main">
            <a:r>
              <a:t/>
            </a:r>
          </a:p>
          <a:p xmlns:a="http://schemas.openxmlformats.org/drawingml/2006/main">
            <a:r>
              <a:t>SOURCES</a:t>
            </a:r>
          </a:p>
          <a:p xmlns:a="http://schemas.openxmlformats.org/drawingml/2006/main">
            <a:r>
              <a:t>Approved Dormathon Product Specifications v0.4.1, 10 October 2026, S01–S11. Project source: docs/specs/Dormathon_Product_Specifications_v0.4.1_EN.md.</a:t>
            </a:r>
          </a:p>
          <a:p xmlns:a="http://schemas.openxmlformats.org/drawingml/2006/main">
            <a:r>
              <a:t>Project evidence: docs/forecast-decision-expansion/README.md, joint-planner-contract.md, forecast-audit-report.v1.json; worker/mrdiy-demand-outlook.js and worker/mrdiy-joint-planner.js.</a:t>
            </a:r>
          </a:p>
          <a:p xmlns:a="http://schemas.openxmlformats.org/drawingml/2006/main">
            <a:r>
              <a:t>Hosted v73/v74 desktop QA, 10 October 2026: demand outlook, bounded joint-plan comparison, resource accounting and missing-input behavior. Actual screenshots retained with capture version. Optional provider remains selected-case-only; no new paid request was required for expansion QA.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boundaries: the outlook uses one synthetic series and its own past-validation selector. The external rolling report uses a global model selected per fold across eligible SKUs; it is not operationally promoted. FTS5/BM25 is lexical retrieval, with no blanket semantic/cross-language coverage claim. Joint comparison is deterministic bounded enumeration, no RL. Optional provider output cannot overwrite numeric rule facts or act. No new expansion plan content is sent to the paid provider.</a:t>
            </a:r>
          </a:p>
          <a:p xmlns:a="http://schemas.openxmlformats.org/drawingml/2006/main">
            <a:r>
              <a:t/>
            </a:r>
          </a:p>
          <a:p xmlns:a="http://schemas.openxmlformats.org/drawingml/2006/main">
            <a:r>
              <a:t>SOURCES</a:t>
            </a:r>
          </a:p>
          <a:p xmlns:a="http://schemas.openxmlformats.org/drawingml/2006/main">
            <a:r>
              <a:t>Project evidence: docs/forecast-decision-expansion/README.md, joint-planner-contract.md, forecast-audit-report.v1.json; worker/mrdiy-demand-outlook.js and worker/mrdiy-joint-planner.js.</a:t>
            </a:r>
          </a:p>
          <a:p xmlns:a="http://schemas.openxmlformats.org/drawingml/2006/main">
            <a:r>
              <a:t>Project evidence: data/forecast-rolling-report.v1.json; docs/forecast-decision-expansion/portable-reproduction/protocol.json. Eight retrospective rolling folds on previously exposed prior-training periods. Exact isolated reproduction passed.</a:t>
            </a:r>
          </a:p>
          <a:p xmlns:a="http://schemas.openxmlformats.org/drawingml/2006/main">
            <a:r>
              <a:t>Approved Dormathon Product Specifications v0.4.1, 10 October 2026, S01–S11. Project source: docs/specs/Dormathon_Product_Specifications_v0.4.1_EN.md.</a:t>
            </a:r>
          </a:p>
          <a:p xmlns:a="http://schemas.openxmlformats.org/drawingml/2006/main">
            <a:r>
              <a:t>Hosted QA: v71 SC01 comparison and selected-decision save/reopen, SC16 abstention and provider-response replays verified 10 October 2026. v70 live SovernStack GPT-OSS 120B verified for SC01 explanation and SC16 missing-input answer. No claim of all-case LLM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aggregate weekly WAPE: adaptive_past_validation 0.697338146015352; mean_28 0.7721168424858152. Difference: minus 7.477869647 percentage points. The descriptive paired 400-replicate two-way SKU/fold bootstrap interval for selector minus mean28 is minus 11.63 to minus 3.71 percentage points. Only eight time blocks, one retailer and prior exposure limit confirmation. Selector daily WAPE: 1.0852629627506531. There are 89,324 nonoverlapping weekly forecasts and 625,268 daily prediction points. Do not compare weekly 69.73% directly to original daily 103.41% as if they used the same target and split. The post-test best candidate is not substituted for the predeclared past-validation selector.</a:t>
            </a:r>
          </a:p>
          <a:p xmlns:a="http://schemas.openxmlformats.org/drawingml/2006/main">
            <a:r>
              <a:t/>
            </a:r>
          </a:p>
          <a:p xmlns:a="http://schemas.openxmlformats.org/drawingml/2006/main">
            <a:r>
              <a:t>SOURCES</a:t>
            </a:r>
          </a:p>
          <a:p xmlns:a="http://schemas.openxmlformats.org/drawingml/2006/main">
            <a:r>
              <a:t>Chen, D. (2012). Online Retail II [Dataset]. UCI Machine Learning Repository. DOI 10.24432/C5CG6D. CC BY 4.0. https://archive.ics.uci.edu/dataset/502/online+retail+ii</a:t>
            </a:r>
          </a:p>
          <a:p xmlns:a="http://schemas.openxmlformats.org/drawingml/2006/main">
            <a:r>
              <a:t>Project evidence: data/forecast-rolling-report.v1.json; docs/forecast-decision-expansion/portable-reproduction/protocol.json. Eight retrospective rolling folds on previously exposed prior-training periods. Exact isolated reproduction passed.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Fold test windows start on the first of each month from February through September 2011. Eligibility uses at least 180 calendar days and 26 nonzero training days strictly before validation. The matrix preserves 4,707 qualifying product IDs before per-fold eligibility. No future inactivity filters. Weekly targets are disjoint within each 28-day window; earlier folds may enter later history. Original October–December periods are not scored. Future-perturbation invariance, independent formulas and exact isolated rerun passed. Missing SKU dates count as zero recorded sales only under the source-declared complete-ledger assumption. Unknown engine inputs remain unknown.</a:t>
            </a:r>
          </a:p>
          <a:p xmlns:a="http://schemas.openxmlformats.org/drawingml/2006/main">
            <a:r>
              <a:t/>
            </a:r>
          </a:p>
          <a:p xmlns:a="http://schemas.openxmlformats.org/drawingml/2006/main">
            <a:r>
              <a:t>SOURCES</a:t>
            </a:r>
          </a:p>
          <a:p xmlns:a="http://schemas.openxmlformats.org/drawingml/2006/main">
            <a:r>
              <a:t>Project evidence: data/forecast-rolling-report.v1.json; docs/forecast-decision-expansion/portable-reproduction/protocol.json. Eight retrospective rolling folds on previously exposed prior-training periods. Exact isolated reproduction passed.</a:t>
            </a:r>
          </a:p>
          <a:p xmlns:a="http://schemas.openxmlformats.org/drawingml/2006/main">
            <a:r>
              <a:t>Project evidence: docs/forecast-decision-expansion/README.md, joint-planner-contract.md, forecast-audit-report.v1.json; worker/mrdiy-demand-outlook.js and worker/mrdiy-joint-planner.js.</a:t>
            </a:r>
          </a:p>
          <a:p xmlns:a="http://schemas.openxmlformats.org/drawingml/2006/main">
            <a:r>
              <a:t>Chen, D. (2012). Online Retail II [Dataset]. UCI Machine Learning Repository. DOI 10.24432/C5CG6D. CC BY 4.0. https://archive.ics.uci.edu/dataset/502/online+retail+ii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MYR 63.968 is known conditional cost, excludes unpriced energy, service and review effects, and is not realized profit. The 1.3-hour energy gap does not imply a known receiving delay; no conversion rule supplies it. Low/high authored-history scenarios are uncalibrated. The selected-case LLM does not receive or endorse joint plans. The old 40-unit gap and MYR 496 / 61.6 metrics belong to retained original selected-case assumptions. They are collapsed separately and are not comparable with the new 148-unit, all-arrivals outlook. Missing lead_days produces an abstention.</a:t>
            </a:r>
          </a:p>
          <a:p xmlns:a="http://schemas.openxmlformats.org/drawingml/2006/main">
            <a:r>
              <a:t/>
            </a:r>
          </a:p>
          <a:p xmlns:a="http://schemas.openxmlformats.org/drawingml/2006/main">
            <a:r>
              <a:t>SOURCES</a:t>
            </a:r>
          </a:p>
          <a:p xmlns:a="http://schemas.openxmlformats.org/drawingml/2006/main">
            <a:r>
              <a:t>Project evidence: docs/forecast-decision-expansion/README.md, joint-planner-contract.md, forecast-audit-report.v1.json; worker/mrdiy-demand-outlook.js and worker/mrdiy-joint-planner.js.</a:t>
            </a:r>
          </a:p>
          <a:p xmlns:a="http://schemas.openxmlformats.org/drawingml/2006/main">
            <a:r>
              <a:t>Hosted v73/v74 desktop QA, 10 October 2026: demand outlook, bounded joint-plan comparison, resource accounting and missing-input behavior. Actual screenshots retained with capture version. Optional provider remains selected-case-only; no new paid request was required for expansion QA.</a:t>
            </a:r>
          </a:p>
          <a:p xmlns:a="http://schemas.openxmlformats.org/drawingml/2006/main">
            <a:r>
              <a:t>Project evidence: data/forecast-rolling-report.v1.json; docs/forecast-decision-expansion/portable-reproduction/protocol.json. Eight retrospective rolling folds on previously exposed prior-training periods. Exact isolated reproduction passed.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frozen-split study retained unchanged. UCI Online Retail II, known-SKU primary test: 11 November–8 December 2011. Validation selected the 28-day mean. Test MAE: 6.9739845587935525, versus weekly naive 7.726607499588001 and ridge 7.606658118018797. Mean test WAPE: 103.4135708%, high absolute error. No direct mean-versus-naive confidence interval or significance claim. This daily target and split remain separate from the new exploratory weekly rolling study. The data was subsequently exposed; never represent it as a new untouched test.</a:t>
            </a:r>
          </a:p>
          <a:p xmlns:a="http://schemas.openxmlformats.org/drawingml/2006/main">
            <a:r>
              <a:t/>
            </a:r>
          </a:p>
          <a:p xmlns:a="http://schemas.openxmlformats.org/drawingml/2006/main">
            <a:r>
              <a:t>SOURCES</a:t>
            </a:r>
          </a:p>
          <a:p xmlns:a="http://schemas.openxmlformats.org/drawingml/2006/main">
            <a:r>
              <a:t>Chen, D. (2012). Online Retail II [Dataset]. UCI Machine Learning Repository. DOI 10.24432/C5CG6D. CC BY 4.0. https://archive.ics.uci.edu/dataset/502/online+retail+ii</a:t>
            </a:r>
          </a:p>
          <a:p xmlns:a="http://schemas.openxmlformats.org/drawingml/2006/main">
            <a:r>
              <a:t>Project evidence: docs/predictive-v0.4.1/artifacts/benchmark-report.v1.json and frozen-split.v1.json. Recomputed and checked 10 October 2026. Results are precomputed.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MR D.I.Y. FY2025 group reporting includes Malaysia and Brunei unless otherwise specified. The Malaysia demo workspace is separate. Owner-confirmed schedule: 10 October 2026, 19:00 MYT ready target, 20:00 review, and 11 October 09:00 submission. Official Track 1 asks for detection, categorization, prioritization, explanation and proof of a better decision. The supplied images include no weighted rubric or timing. Source references are below. Screens in this edition are labeled by their captured Site version.</a:t>
            </a:r>
          </a:p>
          <a:p xmlns:a="http://schemas.openxmlformats.org/drawingml/2006/main">
            <a:r>
              <a:t/>
            </a:r>
          </a:p>
          <a:p xmlns:a="http://schemas.openxmlformats.org/drawingml/2006/main">
            <a:r>
              <a:t>SOURCES</a:t>
            </a:r>
          </a:p>
          <a:p xmlns:a="http://schemas.openxmlformats.org/drawingml/2006/main">
            <a:r>
              <a:t>MR D.I.Y. Group (M) Berhad, Integrated Annual Report 2025. https://mrdiy.listedcompany.com/misc/ar/MRDIY_AR2025.pdf</a:t>
            </a:r>
          </a:p>
          <a:p xmlns:a="http://schemas.openxmlformats.org/drawingml/2006/main">
            <a:r>
              <a:t>MR D.I.Y. Group (M) Berhad, Sustainability Report 2025, printed pp2,33,37–40,47–49. https://corporate.mrdiy.com/misc/sustainability/MRDIY-Sustainability_Report_2025.pdf</a:t>
            </a:r>
          </a:p>
          <a:p xmlns:a="http://schemas.openxmlformats.org/drawingml/2006/main">
            <a:r>
              <a:t>Chen, D. (2012). Online Retail II [Dataset]. UCI Machine Learning Repository. DOI 10.24432/C5CG6D. CC BY 4.0. https://archive.ics.uci.edu/dataset/502/online+retail+ii</a:t>
            </a:r>
          </a:p>
          <a:p xmlns:a="http://schemas.openxmlformats.org/drawingml/2006/main">
            <a:r>
              <a:t>Approved Dormathon Product Specifications v0.4.1, 10 October 2026, S01–S11. Project source: docs/specs/Dormathon_Product_Specifications_v0.4.1_EN.md.</a:t>
            </a:r>
          </a:p>
          <a:p xmlns:a="http://schemas.openxmlformats.org/drawingml/2006/main">
            <a:r>
              <a:t>Project evidence: docs/forecast-decision-expansion/README.md, joint-planner-contract.md, forecast-audit-report.v1.json; worker/mrdiy-demand-outlook.js and worker/mrdiy-joint-planner.js.</a:t>
            </a:r>
          </a:p>
          <a:p xmlns:a="http://schemas.openxmlformats.org/drawingml/2006/main">
            <a:r>
              <a:t>Project evidence: data/forecast-rolling-report.v1.json; docs/forecast-decision-expansion/portable-reproduction/protocol.json. Eight retrospective rolling folds on previously exposed prior-training periods. Exact isolated reproduction passed.</a:t>
            </a:r>
          </a:p>
          <a:p xmlns:a="http://schemas.openxmlformats.org/drawingml/2006/main">
            <a:r>
              <a:t>Hosted v73/v74 desktop QA, 10 October 2026: demand outlook, bounded joint-plan comparison, resource accounting and missing-input behavior. Actual screenshots retained with capture version. Optional provider remains selected-case-only; no new paid request was required for expansion QA.</a:t>
            </a:r>
          </a:p>
          <a:p xmlns:a="http://schemas.openxmlformats.org/drawingml/2006/main">
            <a:r>
              <a:t>Hosted product: https://dormathon-risk-private-20261007.liuyz8715.chatgpt.site/workbench.html. Site v74 with captured v73/v74 evidence, published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FALLBACK. Saved screen, not a live interaction. Default authored synthetic history. Next declared arrival13October. Separate from original selected-case baseline.</a:t>
            </a:r>
          </a:p>
          <a:p xmlns:a="http://schemas.openxmlformats.org/drawingml/2006/main">
            <a:r>
              <a:t/>
            </a:r>
          </a:p>
          <a:p xmlns:a="http://schemas.openxmlformats.org/drawingml/2006/main">
            <a:r>
              <a:t>SOURCES</a:t>
            </a:r>
          </a:p>
          <a:p xmlns:a="http://schemas.openxmlformats.org/drawingml/2006/main">
            <a:r>
              <a:t>Hosted product: https://dormathon-risk-private-20261007.liuyz8715.chatgpt.site/workbench.html. Site v74 with captured v73/v74 evidence, published 10 October 2026.</a:t>
            </a:r>
          </a:p>
          <a:p xmlns:a="http://schemas.openxmlformats.org/drawingml/2006/main">
            <a:r>
              <a:t>Hosted v73/v74 desktop QA, 10 October 2026: demand outlook, bounded joint-plan comparison, resource accounting and missing-input behavior. Actual screenshots retained with capture version. Optional provider remains selected-case-only; no new paid request was required for expansion QA.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FALLBACK. Saved screen, not a live interaction. Cleaner v74 panel. Same bounded comparison values. Five action slots, six linked cases. Read-only, no resources actually reserved.</a:t>
            </a:r>
          </a:p>
          <a:p xmlns:a="http://schemas.openxmlformats.org/drawingml/2006/main">
            <a:r>
              <a:t/>
            </a:r>
          </a:p>
          <a:p xmlns:a="http://schemas.openxmlformats.org/drawingml/2006/main">
            <a:r>
              <a:t>SOURCES</a:t>
            </a:r>
          </a:p>
          <a:p xmlns:a="http://schemas.openxmlformats.org/drawingml/2006/main">
            <a:r>
              <a:t>Hosted product: https://dormathon-risk-private-20261007.liuyz8715.chatgpt.site/workbench.html. Site v74 with captured v73/v74 evidence, published 10 October 2026.</a:t>
            </a:r>
          </a:p>
          <a:p xmlns:a="http://schemas.openxmlformats.org/drawingml/2006/main">
            <a:r>
              <a:t>Hosted v73/v74 desktop QA, 10 October 2026: demand outlook, bounded joint-plan comparison, resource accounting and missing-input behavior. Actual screenshots retained with capture version. Optional provider remains selected-case-only; no new paid request was required for expansion QA.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FALLBACK. Saved screen, not a live interaction. Independent external UCI study. Targets and limitations remain visible. No company validation.</a:t>
            </a:r>
          </a:p>
          <a:p xmlns:a="http://schemas.openxmlformats.org/drawingml/2006/main">
            <a:r>
              <a:t/>
            </a:r>
          </a:p>
          <a:p xmlns:a="http://schemas.openxmlformats.org/drawingml/2006/main">
            <a:r>
              <a:t>SOURCES</a:t>
            </a:r>
          </a:p>
          <a:p xmlns:a="http://schemas.openxmlformats.org/drawingml/2006/main">
            <a:r>
              <a:t>Hosted product: https://dormathon-risk-private-20261007.liuyz8715.chatgpt.site/workbench.html. Site v74 with captured v73/v74 evidence, published 10 October 2026.</a:t>
            </a:r>
          </a:p>
          <a:p xmlns:a="http://schemas.openxmlformats.org/drawingml/2006/main">
            <a:r>
              <a:t>Hosted v73/v74 desktop QA, 10 October 2026: demand outlook, bounded joint-plan comparison, resource accounting and missing-input behavior. Actual screenshots retained with capture version. Optional provider remains selected-case-only; no new paid request was required for expansion QA.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FALLBACK. Saved screen, not a live interaction. Selected case SC16 lacks required lead time. No unrelated joint plan appears. Existing selected-case controls remain separate.</a:t>
            </a:r>
          </a:p>
          <a:p xmlns:a="http://schemas.openxmlformats.org/drawingml/2006/main">
            <a:r>
              <a:t/>
            </a:r>
          </a:p>
          <a:p xmlns:a="http://schemas.openxmlformats.org/drawingml/2006/main">
            <a:r>
              <a:t>SOURCES</a:t>
            </a:r>
          </a:p>
          <a:p xmlns:a="http://schemas.openxmlformats.org/drawingml/2006/main">
            <a:r>
              <a:t>Hosted product: https://dormathon-risk-private-20261007.liuyz8715.chatgpt.site/workbench.html. Site v74 with captured v73/v74 evidence, published 10 October 2026.</a:t>
            </a:r>
          </a:p>
          <a:p xmlns:a="http://schemas.openxmlformats.org/drawingml/2006/main">
            <a:r>
              <a:t>Hosted v73/v74 desktop QA, 10 October 2026: demand outlook, bounded joint-plan comparison, resource accounting and missing-input behavior. Actual screenshots retained with capture version. Optional provider remains selected-case-only; no new paid request was required for expansion QA.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722c73a0824e1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427f1f9cbe240e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2c343331c73444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4079bf72eda401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7a9943f052244c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72bee3bfc6c44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2CE1FD-320A-4329-B4DE-0BCCC33B061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2D20609-A381-4FAB-B080-61497BBCE71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F3E5E29-CDD7-48EE-BB6E-AE390CA472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6D0BC3-B5F1-4B51-BFFA-4B477BD7DC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43B69A-1B1E-4202-BBA7-183A9BAADF3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1029B0A-A5EB-4142-B829-F0BCD6BE67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8E4A59-E530-4467-93B5-35DD061CAA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69F80A9-BBF1-4A46-86F7-31ECBDACFCC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9B24B7-724A-46FB-927A-D6CDC56EE6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037F0D-DCA0-4A13-9C20-A0F4D85DA76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b5960017e44008" /><Relationship Type="http://schemas.openxmlformats.org/officeDocument/2006/relationships/slideLayout" Target="/ppt/slideLayouts/slideLayout1.xml" Id="Rd9f9d8e403364916" /><Relationship Type="http://schemas.openxmlformats.org/officeDocument/2006/relationships/slideLayout" Target="/ppt/slideLayouts/slideLayout2.xml" Id="Rf56ca278f06c4d71" /><Relationship Type="http://schemas.openxmlformats.org/officeDocument/2006/relationships/slideLayout" Target="/ppt/slideLayouts/slideLayout3.xml" Id="R896243e7adbb4d94" /><Relationship Type="http://schemas.openxmlformats.org/officeDocument/2006/relationships/slideLayout" Target="/ppt/slideLayouts/slideLayout4.xml" Id="R828e9da003d9420b" /><Relationship Type="http://schemas.openxmlformats.org/officeDocument/2006/relationships/slideLayout" Target="/ppt/slideLayouts/slideLayout5.xml" Id="R4dcee7894f80443d" /><Relationship Type="http://schemas.openxmlformats.org/officeDocument/2006/relationships/slideLayout" Target="/ppt/slideLayouts/slideLayout6.xml" Id="R3a80d87fb2784e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f9d8e403364916"/>
    <p:sldLayoutId xmlns:r="http://schemas.openxmlformats.org/officeDocument/2006/relationships" id="2147483650" r:id="Rf56ca278f06c4d71"/>
    <p:sldLayoutId xmlns:r="http://schemas.openxmlformats.org/officeDocument/2006/relationships" id="2147483651" r:id="R896243e7adbb4d94"/>
    <p:sldLayoutId xmlns:r="http://schemas.openxmlformats.org/officeDocument/2006/relationships" id="2147483652" r:id="R828e9da003d9420b"/>
    <p:sldLayoutId xmlns:r="http://schemas.openxmlformats.org/officeDocument/2006/relationships" id="2147483653" r:id="R4dcee7894f80443d"/>
    <p:sldLayoutId xmlns:r="http://schemas.openxmlformats.org/officeDocument/2006/relationships" id="2147483654" r:id="R3a80d87fb2784e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292af2ff56f466d" /><Relationship Type="http://schemas.openxmlformats.org/officeDocument/2006/relationships/notesSlide" Target="/ppt/notesSlides/notesSlide1.xml" Id="Ra809d2c13a324e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9e69dea0de04426" /><Relationship Type="http://schemas.openxmlformats.org/officeDocument/2006/relationships/notesSlide" Target="/ppt/notesSlides/notesSlide2.xml" Id="R830aaebfe70e49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9b6a30ed7d4ef5" /><Relationship Type="http://schemas.openxmlformats.org/officeDocument/2006/relationships/image" Target="/ppt/media/image.jpeg" Id="Rccf19e08a5924a65" /><Relationship Type="http://schemas.openxmlformats.org/officeDocument/2006/relationships/notesSlide" Target="/ppt/notesSlides/notesSlide3.xml" Id="R25155dc9177842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3133f1815e049b2" /><Relationship Type="http://schemas.openxmlformats.org/officeDocument/2006/relationships/notesSlide" Target="/ppt/notesSlides/notesSlide4.xml" Id="Rda41c309096f4c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ff82d965b3143c3" /><Relationship Type="http://schemas.openxmlformats.org/officeDocument/2006/relationships/image" Target="/ppt/media/image2.jpeg" Id="Rabbada4feeec495d" /><Relationship Type="http://schemas.openxmlformats.org/officeDocument/2006/relationships/notesSlide" Target="/ppt/notesSlides/notesSlide5.xml" Id="R7b8f158a21ad46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2bd2156e4c64006" /><Relationship Type="http://schemas.openxmlformats.org/officeDocument/2006/relationships/notesSlide" Target="/ppt/notesSlides/notesSlide6.xml" Id="R09ee2584503244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b11a9d158a1420d" /><Relationship Type="http://schemas.openxmlformats.org/officeDocument/2006/relationships/notesSlide" Target="/ppt/notesSlides/notesSlide7.xml" Id="R7201b99697d44e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ae9d68b1ee74305" /><Relationship Type="http://schemas.openxmlformats.org/officeDocument/2006/relationships/notesSlide" Target="/ppt/notesSlides/notesSlide8.xml" Id="R28d707816c8646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68bd8b0b77d4c5e" /><Relationship Type="http://schemas.openxmlformats.org/officeDocument/2006/relationships/chart" Target="/ppt/slides/charts/chart1.xml" Id="R6a37f99249874500" /><Relationship Type="http://schemas.openxmlformats.org/officeDocument/2006/relationships/notesSlide" Target="/ppt/notesSlides/notesSlide9.xml" Id="Rf10da2aee41740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48a0ef00fc941ab" /><Relationship Type="http://schemas.openxmlformats.org/officeDocument/2006/relationships/notesSlide" Target="/ppt/notesSlides/notesSlide10.xml" Id="R6d8ade08d48d42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3ba5f8adf8c42fe" /><Relationship Type="http://schemas.openxmlformats.org/officeDocument/2006/relationships/notesSlide" Target="/ppt/notesSlides/notesSlide11.xml" Id="Rbc58744d0df7421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11dba1a4f3c45d7" /><Relationship Type="http://schemas.openxmlformats.org/officeDocument/2006/relationships/chart" Target="/ppt/slides/charts/chart2.xml" Id="R5cbb89fec098498e" /><Relationship Type="http://schemas.openxmlformats.org/officeDocument/2006/relationships/notesSlide" Target="/ppt/notesSlides/notesSlide12.xml" Id="Re338958768c242c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4708a00ed164b2b" /><Relationship Type="http://schemas.openxmlformats.org/officeDocument/2006/relationships/notesSlide" Target="/ppt/notesSlides/notesSlide13.xml" Id="R8ec43fb730c24e0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1cf3a15b9594f42" /><Relationship Type="http://schemas.openxmlformats.org/officeDocument/2006/relationships/image" Target="/ppt/media/image3.jpeg" Id="Re53316adf65e4960" /><Relationship Type="http://schemas.openxmlformats.org/officeDocument/2006/relationships/notesSlide" Target="/ppt/notesSlides/notesSlide14.xml" Id="R9edebde0071f4f9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d9d2e3a115344a2" /><Relationship Type="http://schemas.openxmlformats.org/officeDocument/2006/relationships/image" Target="/ppt/media/image4.jpeg" Id="Rc12ba9959ad24c21" /><Relationship Type="http://schemas.openxmlformats.org/officeDocument/2006/relationships/notesSlide" Target="/ppt/notesSlides/notesSlide15.xml" Id="R797bd7fdebcb44d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d1c7f8626a54eea" /><Relationship Type="http://schemas.openxmlformats.org/officeDocument/2006/relationships/image" Target="/ppt/media/image5.jpeg" Id="R2c07b62baedf4c0c" /><Relationship Type="http://schemas.openxmlformats.org/officeDocument/2006/relationships/notesSlide" Target="/ppt/notesSlides/notesSlide16.xml" Id="R57518e7098c1446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04e19f3a5e2423d" /><Relationship Type="http://schemas.openxmlformats.org/officeDocument/2006/relationships/image" Target="/ppt/media/image6.jpeg" Id="Rc2d471c23ce645e1" /><Relationship Type="http://schemas.openxmlformats.org/officeDocument/2006/relationships/notesSlide" Target="/ppt/notesSlides/notesSlide17.xml" Id="R7b73fb624605476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original-benchmark-source.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Weekly WAPE percent</c:v>
          </c:tx>
          <c:spPr>
            <a:solidFill xmlns:a="http://schemas.openxmlformats.org/drawingml/2006/main">
              <a:srgbClr val="969691"/>
            </a:solidFill>
          </c:spPr>
          <c:dPt>
            <c:idx val="1"/>
            <c:invertIfNegative val="0"/>
            <c:spPr>
              <a:solidFill xmlns:a="http://schemas.openxmlformats.org/drawingml/2006/main">
                <a:srgbClr val="121212"/>
              </a:solidFill>
            </c:spPr>
          </c:dPt>
          <c:cat>
            <c:strRef>
              <c:f>'Chart Data'!$A$2:$A$3</c:f>
              <c:strCache>
                <c:ptCount val="2"/>
                <c:pt idx="0">
                  <c:v>28-day mean</c:v>
                </c:pt>
                <c:pt idx="1">
                  <c:v>Past-validation selector</c:v>
                </c:pt>
              </c:strCache>
            </c:strRef>
          </c:cat>
          <c:val>
            <c:numRef>
              <c:f>'Chart Data'!$B$2:$B$3</c:f>
              <c:numCache>
                <c:formatCode>0</c:formatCode>
                <c:ptCount val="2"/>
                <c:pt idx="0">
                  <c:v>77.21</c:v>
                </c:pt>
                <c:pt idx="1">
                  <c:v>69.73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solidFill>
                    <a:srgbClr val="121212"/>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majorGridlines>
          <c:spPr>
            <a:ln xmlns:a="http://schemas.openxmlformats.org/drawingml/2006/main" w="4763">
              <a:solidFill>
                <a:srgbClr val="C6C6C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26262"/>
                </a:solidFill>
                <a:latin typeface="Liberation Sans"/>
                <a:ea typeface="Liberation Sans"/>
                <a:cs typeface="Liberation Sans"/>
              </a:defRPr>
            </a:pPr>
          </a:p>
        </c:txPr>
        <c:crossAx val="48672768"/>
      </c:catAx>
      <c:valAx>
        <c:axId val="48672768"/>
        <c:scaling>
          <c:orientation val="minMax"/>
          <c:max val="10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21212"/>
                </a:solidFill>
                <a:latin typeface="Liberation Sans"/>
                <a:ea typeface="Liberation Sans"/>
                <a:cs typeface="Liberation Sans"/>
              </a:defRPr>
            </a:pPr>
          </a:p>
        </c:txPr>
        <c:crossAx val="48650112"/>
        <c:crossBetween val="between"/>
        <c:majorUnit val="25"/>
      </c:valAx>
      <c:spPr>
        <a:solidFill xmlns:a="http://schemas.openxmlformats.org/drawingml/2006/main">
          <a:srgbClr val="F5F5F1"/>
        </a:solidFill>
      </c:spPr>
    </c:plotArea>
    <c:plotVisOnly val="1"/>
  </c:chart>
  <c:spPr>
    <a:solidFill xmlns:a="http://schemas.openxmlformats.org/drawingml/2006/main">
      <a:srgbClr val="F5F5F1"/>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Test MAE</c:v>
          </c:tx>
          <c:spPr>
            <a:solidFill xmlns:a="http://schemas.openxmlformats.org/drawingml/2006/main">
              <a:srgbClr val="969691"/>
            </a:solidFill>
          </c:spPr>
          <c:dPt>
            <c:idx val="1"/>
            <c:invertIfNegative val="0"/>
            <c:spPr>
              <a:solidFill xmlns:a="http://schemas.openxmlformats.org/drawingml/2006/main">
                <a:srgbClr val="121212"/>
              </a:solidFill>
            </c:spPr>
          </c:dPt>
          <c:cat>
            <c:strRef>
              <c:f>'Chart Data'!$A$2:$A$4</c:f>
              <c:strCache>
                <c:ptCount val="3"/>
                <c:pt idx="0">
                  <c:v>Weekly naive</c:v>
                </c:pt>
                <c:pt idx="1">
                  <c:v>28-day mean</c:v>
                </c:pt>
                <c:pt idx="2">
                  <c:v>Direct ridge</c:v>
                </c:pt>
              </c:strCache>
            </c:strRef>
          </c:cat>
          <c:val>
            <c:numRef>
              <c:f>'Chart Data'!$B$2:$B$4</c:f>
              <c:numCache>
                <c:formatCode>0.0</c:formatCode>
                <c:ptCount val="3"/>
                <c:pt idx="0">
                  <c:v>7.727</c:v>
                </c:pt>
                <c:pt idx="1">
                  <c:v>6.974</c:v>
                </c:pt>
                <c:pt idx="2">
                  <c:v>7.607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75">
                  <a:solidFill>
                    <a:srgbClr val="121212"/>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majorGridlines>
          <c:spPr>
            <a:ln xmlns:a="http://schemas.openxmlformats.org/drawingml/2006/main" w="4763">
              <a:solidFill>
                <a:srgbClr val="C6C6C2"/>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26262"/>
                </a:solidFill>
                <a:latin typeface="Liberation Sans"/>
                <a:ea typeface="Liberation Sans"/>
                <a:cs typeface="Liberation Sans"/>
              </a:defRPr>
            </a:pPr>
          </a:p>
        </c:txPr>
        <c:crossAx val="48672768"/>
      </c:catAx>
      <c:valAx>
        <c:axId val="48672768"/>
        <c:scaling>
          <c:orientation val="minMax"/>
          <c:max val="9"/>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21212"/>
                </a:solidFill>
                <a:latin typeface="Liberation Sans"/>
                <a:ea typeface="Liberation Sans"/>
                <a:cs typeface="Liberation Sans"/>
              </a:defRPr>
            </a:pPr>
          </a:p>
        </c:txPr>
        <c:crossAx val="48650112"/>
        <c:crossBetween val="between"/>
        <c:majorUnit val="3"/>
      </c:valAx>
      <c:spPr>
        <a:solidFill xmlns:a="http://schemas.openxmlformats.org/drawingml/2006/main">
          <a:srgbClr val="F5F5F1"/>
        </a:solidFill>
      </c:spPr>
    </c:plotArea>
    <c:plotVisOnly val="1"/>
  </c:chart>
  <c:spPr>
    <a:solidFill xmlns:a="http://schemas.openxmlformats.org/drawingml/2006/main">
      <a:srgbClr val="F5F5F1"/>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1212"/>
        </a:solidFill>
      </p:bgPr>
    </p:bg>
    <p:spTree>
      <p:nvGrpSpPr>
        <p:cNvPr id="1" name=""/>
        <p:cNvGrpSpPr/>
        <p:nvPr/>
      </p:nvGrpSpPr>
      <p:grpSpPr>
        <a:xfrm xmlns:a="http://schemas.openxmlformats.org/drawingml/2006/main"/>
      </p:grpSpPr>
      <p:sp>
        <p:nvSpPr>
          <p:cNvPr id="29" name="01">
            <a:extLst xmlns:a="http://schemas.openxmlformats.org/drawingml/2006/main">
              <a:ext uri="{FF2B5EF4-FFF2-40B4-BE49-F238E27FC236}">
                <a16:creationId xmlns:a16="http://schemas.microsoft.com/office/drawing/2014/main" id="{3A79BB62-BBC3-4B24-AC61-7D37D27A6824}"/>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AAAAA4"/>
                </a:solidFill>
                <a:latin typeface="Liberation Sans"/>
                <a:ea typeface="Liberation Sans"/>
                <a:cs typeface="Liberation Sans"/>
              </a:defRPr>
            </a:defPPr>
          </a:lstStyle>
          <a:p xmlns:a="http://schemas.openxmlformats.org/drawingml/2006/main">
            <a:pPr algn="r">
              <a:buNone/>
              <a:defRPr sz="975" b="0">
                <a:solidFill>
                  <a:srgbClr val="AAAAA4"/>
                </a:solidFill>
                <a:latin typeface="Liberation Sans"/>
                <a:ea typeface="Liberation Sans"/>
                <a:cs typeface="Liberation Sans"/>
              </a:defRPr>
            </a:pPr>
            <a:r>
              <a:rPr sz="975" b="0">
                <a:solidFill>
                  <a:srgbClr val="AAAAA4"/>
                </a:solidFill>
                <a:latin typeface="Liberation Sans"/>
                <a:ea typeface="Liberation Sans"/>
                <a:cs typeface="Liberation Sans"/>
              </a:rPr>
              <a:t>01</a:t>
            </a:r>
          </a:p>
        </p:txBody>
      </p:sp>
      <p:sp>
        <p:nvSpPr>
          <p:cNvPr id="2" name="Track 1 Predictive Model Track   /   Taote">
            <a:extLst xmlns:a="http://schemas.openxmlformats.org/drawingml/2006/main">
              <a:ext uri="{FF2B5EF4-FFF2-40B4-BE49-F238E27FC236}">
                <a16:creationId xmlns:a16="http://schemas.microsoft.com/office/drawing/2014/main" id="{8B81FB6E-73BA-4B56-8D51-B9C7CEEB7FED}"/>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5BD"/>
                </a:solidFill>
                <a:latin typeface="Liberation Sans"/>
                <a:ea typeface="Liberation Sans"/>
                <a:cs typeface="Liberation Sans"/>
              </a:defRPr>
            </a:defPPr>
          </a:lstStyle>
          <a:p xmlns:a="http://schemas.openxmlformats.org/drawingml/2006/main">
            <a:pPr algn="l">
              <a:buNone/>
              <a:defRPr sz="1050" b="0">
                <a:solidFill>
                  <a:srgbClr val="C5C5BD"/>
                </a:solidFill>
                <a:latin typeface="Liberation Sans"/>
                <a:ea typeface="Liberation Sans"/>
                <a:cs typeface="Liberation Sans"/>
              </a:defRPr>
            </a:pPr>
            <a:r>
              <a:rPr sz="1050" b="0">
                <a:solidFill>
                  <a:srgbClr val="C5C5BD"/>
                </a:solidFill>
                <a:latin typeface="Liberation Sans"/>
                <a:ea typeface="Liberation Sans"/>
                <a:cs typeface="Liberation Sans"/>
              </a:rPr>
              <a:t>Track 1 Predictive Model Track   /   Taotern   /   10 October 2026</a:t>
            </a:r>
          </a:p>
        </p:txBody>
      </p:sp>
      <p:sp>
        <p:nvSpPr>
          <p:cNvPr id="3" name="Dormathon">
            <a:extLst xmlns:a="http://schemas.openxmlformats.org/drawingml/2006/main">
              <a:ext uri="{FF2B5EF4-FFF2-40B4-BE49-F238E27FC236}">
                <a16:creationId xmlns:a16="http://schemas.microsoft.com/office/drawing/2014/main" id="{46E4DAA0-9491-475B-BB2F-6B648ED4E8DC}"/>
              </a:ext>
            </a:extLst>
          </p:cNvPr>
          <p:cNvSpPr>
            <a:spLocks xmlns:a="http://schemas.openxmlformats.org/drawingml/2006/main" noGrp="1"/>
          </p:cNvSpPr>
          <p:nvPr/>
        </p:nvSpPr>
        <p:spPr>
          <a:xfrm xmlns:a="http://schemas.openxmlformats.org/drawingml/2006/main">
            <a:off x="609600" y="1333500"/>
            <a:ext cx="7477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FFFFFF"/>
                </a:solidFill>
                <a:latin typeface="Liberation Sans"/>
                <a:ea typeface="Liberation Sans"/>
                <a:cs typeface="Liberation Sans"/>
              </a:defRPr>
            </a:defPPr>
          </a:lstStyle>
          <a:p xmlns:a="http://schemas.openxmlformats.org/drawingml/2006/main">
            <a:pPr algn="l">
              <a:buNone/>
              <a:defRPr sz="6300" b="1">
                <a:solidFill>
                  <a:srgbClr val="FFFFFF"/>
                </a:solidFill>
                <a:latin typeface="Liberation Sans"/>
                <a:ea typeface="Liberation Sans"/>
                <a:cs typeface="Liberation Sans"/>
              </a:defRPr>
            </a:pPr>
            <a:r>
              <a:rPr sz="6300" b="1">
                <a:solidFill>
                  <a:srgbClr val="FFFFFF"/>
                </a:solidFill>
                <a:latin typeface="Liberation Sans"/>
                <a:ea typeface="Liberation Sans"/>
                <a:cs typeface="Liberation Sans"/>
              </a:rPr>
              <a:t>Dormathon</a:t>
            </a:r>
          </a:p>
        </p:txBody>
      </p:sp>
      <p:sp>
        <p:nvSpPr>
          <p:cNvPr id="4" name="Retail decisions&#10;with evidence">
            <a:extLst xmlns:a="http://schemas.openxmlformats.org/drawingml/2006/main">
              <a:ext uri="{FF2B5EF4-FFF2-40B4-BE49-F238E27FC236}">
                <a16:creationId xmlns:a16="http://schemas.microsoft.com/office/drawing/2014/main" id="{11166B7A-CA7C-482C-B677-BD08D962A775}"/>
              </a:ext>
            </a:extLst>
          </p:cNvPr>
          <p:cNvSpPr>
            <a:spLocks xmlns:a="http://schemas.openxmlformats.org/drawingml/2006/main" noGrp="1"/>
          </p:cNvSpPr>
          <p:nvPr/>
        </p:nvSpPr>
        <p:spPr>
          <a:xfrm xmlns:a="http://schemas.openxmlformats.org/drawingml/2006/main">
            <a:off x="647700" y="2647950"/>
            <a:ext cx="6858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FFFFFF"/>
                </a:solidFill>
                <a:latin typeface="Liberation Sans"/>
                <a:ea typeface="Liberation Sans"/>
                <a:cs typeface="Liberation Sans"/>
              </a:defRPr>
            </a:defPPr>
          </a:lstStyle>
          <a:p xmlns:a="http://schemas.openxmlformats.org/drawingml/2006/main">
            <a:pPr algn="l">
              <a:buNone/>
              <a:defRPr sz="3600" b="0">
                <a:solidFill>
                  <a:srgbClr val="FFFFFF"/>
                </a:solidFill>
                <a:latin typeface="Liberation Sans"/>
                <a:ea typeface="Liberation Sans"/>
                <a:cs typeface="Liberation Sans"/>
              </a:defRPr>
            </a:pPr>
            <a:r>
              <a:rPr sz="3600" b="0">
                <a:solidFill>
                  <a:srgbClr val="FFFFFF"/>
                </a:solidFill>
                <a:latin typeface="Liberation Sans"/>
                <a:ea typeface="Liberation Sans"/>
                <a:cs typeface="Liberation Sans"/>
              </a:rPr>
              <a:t>Retail decisions</a:t>
            </a:r>
          </a:p>
          <a:p xmlns:a="http://schemas.openxmlformats.org/drawingml/2006/main">
            <a:pPr algn="l">
              <a:buNone/>
              <a:defRPr sz="3600" b="0">
                <a:solidFill>
                  <a:srgbClr val="FFFFFF"/>
                </a:solidFill>
                <a:latin typeface="Liberation Sans"/>
                <a:ea typeface="Liberation Sans"/>
                <a:cs typeface="Liberation Sans"/>
              </a:defRPr>
            </a:pPr>
            <a:r>
              <a:rPr sz="3600" b="0">
                <a:solidFill>
                  <a:srgbClr val="FFFFFF"/>
                </a:solidFill>
                <a:latin typeface="Liberation Sans"/>
                <a:ea typeface="Liberation Sans"/>
                <a:cs typeface="Liberation Sans"/>
              </a:rPr>
              <a:t>with evidence</a:t>
            </a:r>
          </a:p>
        </p:txBody>
      </p:sp>
      <p:sp>
        <p:nvSpPr>
          <p:cNvPr id="5" name="An operations workspace for connected exce">
            <a:extLst xmlns:a="http://schemas.openxmlformats.org/drawingml/2006/main">
              <a:ext uri="{FF2B5EF4-FFF2-40B4-BE49-F238E27FC236}">
                <a16:creationId xmlns:a16="http://schemas.microsoft.com/office/drawing/2014/main" id="{764664CE-3989-48D4-A205-4E610876E2CB}"/>
              </a:ext>
            </a:extLst>
          </p:cNvPr>
          <p:cNvSpPr>
            <a:spLocks xmlns:a="http://schemas.openxmlformats.org/drawingml/2006/main" noGrp="1"/>
          </p:cNvSpPr>
          <p:nvPr/>
        </p:nvSpPr>
        <p:spPr>
          <a:xfrm xmlns:a="http://schemas.openxmlformats.org/drawingml/2006/main">
            <a:off x="647700" y="4686300"/>
            <a:ext cx="604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C3C3BD"/>
                </a:solidFill>
                <a:latin typeface="Liberation Sans"/>
                <a:ea typeface="Liberation Sans"/>
                <a:cs typeface="Liberation Sans"/>
              </a:defRPr>
            </a:defPPr>
          </a:lstStyle>
          <a:p xmlns:a="http://schemas.openxmlformats.org/drawingml/2006/main">
            <a:pPr algn="l">
              <a:buNone/>
              <a:defRPr sz="1950" b="0">
                <a:solidFill>
                  <a:srgbClr val="C3C3BD"/>
                </a:solidFill>
                <a:latin typeface="Liberation Sans"/>
                <a:ea typeface="Liberation Sans"/>
                <a:cs typeface="Liberation Sans"/>
              </a:defRPr>
            </a:pPr>
            <a:r>
              <a:rPr sz="1950" b="0">
                <a:solidFill>
                  <a:srgbClr val="C3C3BD"/>
                </a:solidFill>
                <a:latin typeface="Liberation Sans"/>
                <a:ea typeface="Liberation Sans"/>
                <a:cs typeface="Liberation Sans"/>
              </a:rPr>
              <a:t>An operations workspace for connected exceptions</a:t>
            </a:r>
          </a:p>
        </p:txBody>
      </p:sp>
      <p:sp>
        <p:nvSpPr>
          <p:cNvPr id="6" name="">
            <a:extLst xmlns:a="http://schemas.openxmlformats.org/drawingml/2006/main">
              <a:ext uri="{FF2B5EF4-FFF2-40B4-BE49-F238E27FC236}">
                <a16:creationId xmlns:a16="http://schemas.microsoft.com/office/drawing/2014/main" id="{220B3E89-C66F-4CC9-ACF3-2B2EFB94D11C}"/>
              </a:ext>
            </a:extLst>
          </p:cNvPr>
          <p:cNvSpPr>
            <a:spLocks xmlns:a="http://schemas.openxmlformats.org/drawingml/2006/main" noGrp="1"/>
          </p:cNvSpPr>
          <p:nvPr/>
        </p:nvSpPr>
        <p:spPr>
          <a:xfrm xmlns:a="http://schemas.openxmlformats.org/drawingml/2006/main">
            <a:off x="8420100" y="1485900"/>
            <a:ext cx="2638425" cy="542925"/>
          </a:xfrm>
          <a:custGeom xmlns:a="http://schemas.openxmlformats.org/drawingml/2006/main">
            <a:pathLst>
              <a:path w="2638425" h="542925">
                <a:moveTo>
                  <a:pt x="0" y="0"/>
                </a:moveTo>
                <a:lnTo>
                  <a:pt x="1876425" y="0"/>
                </a:lnTo>
                <a:lnTo>
                  <a:pt x="2638425" y="542925"/>
                </a:lnTo>
                <a:lnTo>
                  <a:pt x="762000" y="542925"/>
                </a:lnTo>
                <a:close/>
              </a:path>
            </a:pathLst>
          </a:custGeom>
          <a:solidFill xmlns:a="http://schemas.openxmlformats.org/drawingml/2006/main">
            <a:srgbClr val="202020"/>
          </a:solidFill>
          <a:ln xmlns:a="http://schemas.openxmlformats.org/drawingml/2006/main" w="9525">
            <a:solidFill>
              <a:srgbClr val="C9C9C2"/>
            </a:solidFill>
            <a:prstDash val="solid"/>
          </a:ln>
        </p:spPr>
      </p:sp>
      <p:sp>
        <p:nvSpPr>
          <p:cNvPr id="7" name="">
            <a:extLst xmlns:a="http://schemas.openxmlformats.org/drawingml/2006/main">
              <a:ext uri="{FF2B5EF4-FFF2-40B4-BE49-F238E27FC236}">
                <a16:creationId xmlns:a16="http://schemas.microsoft.com/office/drawing/2014/main" id="{E92647DE-E3F3-4DD1-82B2-71EDF0D50E7D}"/>
              </a:ext>
            </a:extLst>
          </p:cNvPr>
          <p:cNvSpPr>
            <a:spLocks xmlns:a="http://schemas.openxmlformats.org/drawingml/2006/main" noGrp="1"/>
          </p:cNvSpPr>
          <p:nvPr/>
        </p:nvSpPr>
        <p:spPr>
          <a:xfrm xmlns:a="http://schemas.openxmlformats.org/drawingml/2006/main">
            <a:off x="8420100" y="1733550"/>
            <a:ext cx="2638425" cy="542925"/>
          </a:xfrm>
          <a:custGeom xmlns:a="http://schemas.openxmlformats.org/drawingml/2006/main">
            <a:pathLst>
              <a:path w="2638425" h="542925">
                <a:moveTo>
                  <a:pt x="0" y="0"/>
                </a:moveTo>
                <a:lnTo>
                  <a:pt x="1876425" y="0"/>
                </a:lnTo>
                <a:lnTo>
                  <a:pt x="2638425" y="542925"/>
                </a:lnTo>
                <a:lnTo>
                  <a:pt x="762000" y="542925"/>
                </a:lnTo>
                <a:close/>
              </a:path>
            </a:pathLst>
          </a:custGeom>
          <a:noFill xmlns:a="http://schemas.openxmlformats.org/drawingml/2006/main"/>
          <a:ln xmlns:a="http://schemas.openxmlformats.org/drawingml/2006/main" w="9525">
            <a:solidFill>
              <a:srgbClr val="60605B"/>
            </a:solidFill>
            <a:prstDash val="solid"/>
          </a:ln>
        </p:spPr>
      </p:sp>
      <p:sp>
        <p:nvSpPr>
          <p:cNvPr id="8" name="">
            <a:extLst xmlns:a="http://schemas.openxmlformats.org/drawingml/2006/main">
              <a:ext uri="{FF2B5EF4-FFF2-40B4-BE49-F238E27FC236}">
                <a16:creationId xmlns:a16="http://schemas.microsoft.com/office/drawing/2014/main" id="{EB5CA794-C090-4704-8B91-AFCF2DEDFB4E}"/>
              </a:ext>
            </a:extLst>
          </p:cNvPr>
          <p:cNvSpPr>
            <a:spLocks xmlns:a="http://schemas.openxmlformats.org/drawingml/2006/main" noGrp="1"/>
          </p:cNvSpPr>
          <p:nvPr/>
        </p:nvSpPr>
        <p:spPr>
          <a:xfrm xmlns:a="http://schemas.openxmlformats.org/drawingml/2006/main">
            <a:off x="8039100" y="2638425"/>
            <a:ext cx="2638425" cy="542925"/>
          </a:xfrm>
          <a:custGeom xmlns:a="http://schemas.openxmlformats.org/drawingml/2006/main">
            <a:pathLst>
              <a:path w="2638425" h="542925">
                <a:moveTo>
                  <a:pt x="0" y="0"/>
                </a:moveTo>
                <a:lnTo>
                  <a:pt x="1876425" y="0"/>
                </a:lnTo>
                <a:lnTo>
                  <a:pt x="2638425" y="542925"/>
                </a:lnTo>
                <a:lnTo>
                  <a:pt x="762000" y="542925"/>
                </a:lnTo>
                <a:close/>
              </a:path>
            </a:pathLst>
          </a:custGeom>
          <a:solidFill xmlns:a="http://schemas.openxmlformats.org/drawingml/2006/main">
            <a:srgbClr val="E8E8E1"/>
          </a:solidFill>
          <a:ln xmlns:a="http://schemas.openxmlformats.org/drawingml/2006/main" w="9525">
            <a:solidFill>
              <a:srgbClr val="E8E8E1"/>
            </a:solidFill>
            <a:prstDash val="solid"/>
          </a:ln>
        </p:spPr>
      </p:sp>
      <p:sp>
        <p:nvSpPr>
          <p:cNvPr id="9" name="">
            <a:extLst xmlns:a="http://schemas.openxmlformats.org/drawingml/2006/main">
              <a:ext uri="{FF2B5EF4-FFF2-40B4-BE49-F238E27FC236}">
                <a16:creationId xmlns:a16="http://schemas.microsoft.com/office/drawing/2014/main" id="{B33D7AF1-18D1-454D-B494-EE06D958E52B}"/>
              </a:ext>
            </a:extLst>
          </p:cNvPr>
          <p:cNvSpPr>
            <a:spLocks xmlns:a="http://schemas.openxmlformats.org/drawingml/2006/main" noGrp="1"/>
          </p:cNvSpPr>
          <p:nvPr/>
        </p:nvSpPr>
        <p:spPr>
          <a:xfrm xmlns:a="http://schemas.openxmlformats.org/drawingml/2006/main">
            <a:off x="8801100" y="3181350"/>
            <a:ext cx="1876425" cy="457200"/>
          </a:xfrm>
          <a:custGeom xmlns:a="http://schemas.openxmlformats.org/drawingml/2006/main">
            <a:pathLst>
              <a:path w="1876425" h="457200">
                <a:moveTo>
                  <a:pt x="0" y="0"/>
                </a:moveTo>
                <a:lnTo>
                  <a:pt x="1876425" y="0"/>
                </a:lnTo>
                <a:lnTo>
                  <a:pt x="1876425" y="457200"/>
                </a:lnTo>
                <a:lnTo>
                  <a:pt x="0" y="457200"/>
                </a:lnTo>
                <a:close/>
              </a:path>
            </a:pathLst>
          </a:custGeom>
          <a:solidFill xmlns:a="http://schemas.openxmlformats.org/drawingml/2006/main">
            <a:srgbClr val="85857F"/>
          </a:solidFill>
          <a:ln xmlns:a="http://schemas.openxmlformats.org/drawingml/2006/main" w="9525">
            <a:solidFill>
              <a:srgbClr val="C9C9C2"/>
            </a:solidFill>
            <a:prstDash val="solid"/>
          </a:ln>
        </p:spPr>
      </p:sp>
      <p:sp>
        <p:nvSpPr>
          <p:cNvPr id="10" name="">
            <a:extLst xmlns:a="http://schemas.openxmlformats.org/drawingml/2006/main">
              <a:ext uri="{FF2B5EF4-FFF2-40B4-BE49-F238E27FC236}">
                <a16:creationId xmlns:a16="http://schemas.microsoft.com/office/drawing/2014/main" id="{60C09C90-1194-4081-97D2-24C4EE86B270}"/>
              </a:ext>
            </a:extLst>
          </p:cNvPr>
          <p:cNvSpPr>
            <a:spLocks xmlns:a="http://schemas.openxmlformats.org/drawingml/2006/main" noGrp="1"/>
          </p:cNvSpPr>
          <p:nvPr/>
        </p:nvSpPr>
        <p:spPr>
          <a:xfrm xmlns:a="http://schemas.openxmlformats.org/drawingml/2006/main">
            <a:off x="8039100" y="2638425"/>
            <a:ext cx="762000" cy="1000125"/>
          </a:xfrm>
          <a:custGeom xmlns:a="http://schemas.openxmlformats.org/drawingml/2006/main">
            <a:pathLst>
              <a:path w="762000" h="1000125">
                <a:moveTo>
                  <a:pt x="0" y="0"/>
                </a:moveTo>
                <a:lnTo>
                  <a:pt x="762000" y="542925"/>
                </a:lnTo>
                <a:lnTo>
                  <a:pt x="762000" y="1000125"/>
                </a:lnTo>
                <a:lnTo>
                  <a:pt x="0" y="457200"/>
                </a:lnTo>
                <a:close/>
              </a:path>
            </a:pathLst>
          </a:custGeom>
          <a:solidFill xmlns:a="http://schemas.openxmlformats.org/drawingml/2006/main">
            <a:srgbClr val="BDBDB5"/>
          </a:solidFill>
          <a:ln xmlns:a="http://schemas.openxmlformats.org/drawingml/2006/main" w="9525">
            <a:solidFill>
              <a:srgbClr val="C9C9C2"/>
            </a:solidFill>
            <a:prstDash val="solid"/>
          </a:ln>
        </p:spPr>
      </p:sp>
      <p:sp>
        <p:nvSpPr>
          <p:cNvPr id="11" name="">
            <a:extLst xmlns:a="http://schemas.openxmlformats.org/drawingml/2006/main">
              <a:ext uri="{FF2B5EF4-FFF2-40B4-BE49-F238E27FC236}">
                <a16:creationId xmlns:a16="http://schemas.microsoft.com/office/drawing/2014/main" id="{F85E8ECF-7F11-45FC-8101-8B0F3FF7E3BE}"/>
              </a:ext>
            </a:extLst>
          </p:cNvPr>
          <p:cNvSpPr>
            <a:spLocks xmlns:a="http://schemas.openxmlformats.org/drawingml/2006/main" noGrp="1"/>
          </p:cNvSpPr>
          <p:nvPr/>
        </p:nvSpPr>
        <p:spPr>
          <a:xfrm xmlns:a="http://schemas.openxmlformats.org/drawingml/2006/main">
            <a:off x="8420100" y="4391025"/>
            <a:ext cx="2638425" cy="542925"/>
          </a:xfrm>
          <a:custGeom xmlns:a="http://schemas.openxmlformats.org/drawingml/2006/main">
            <a:pathLst>
              <a:path w="2638425" h="542925">
                <a:moveTo>
                  <a:pt x="0" y="0"/>
                </a:moveTo>
                <a:lnTo>
                  <a:pt x="1876425" y="0"/>
                </a:lnTo>
                <a:lnTo>
                  <a:pt x="2638425" y="542925"/>
                </a:lnTo>
                <a:lnTo>
                  <a:pt x="762000" y="542925"/>
                </a:lnTo>
                <a:close/>
              </a:path>
            </a:pathLst>
          </a:custGeom>
          <a:noFill xmlns:a="http://schemas.openxmlformats.org/drawingml/2006/main"/>
          <a:ln xmlns:a="http://schemas.openxmlformats.org/drawingml/2006/main" w="13335">
            <a:solidFill>
              <a:srgbClr val="ABABA3"/>
            </a:solidFill>
            <a:prstDash val="solid"/>
          </a:ln>
        </p:spPr>
      </p:sp>
      <p:sp>
        <p:nvSpPr>
          <p:cNvPr id="12" name="">
            <a:extLst xmlns:a="http://schemas.openxmlformats.org/drawingml/2006/main">
              <a:ext uri="{FF2B5EF4-FFF2-40B4-BE49-F238E27FC236}">
                <a16:creationId xmlns:a16="http://schemas.microsoft.com/office/drawing/2014/main" id="{F61D75BC-2AD7-4373-A7BA-3185CB31A754}"/>
              </a:ext>
            </a:extLst>
          </p:cNvPr>
          <p:cNvSpPr>
            <a:spLocks xmlns:a="http://schemas.openxmlformats.org/drawingml/2006/main" noGrp="1"/>
          </p:cNvSpPr>
          <p:nvPr/>
        </p:nvSpPr>
        <p:spPr>
          <a:xfrm xmlns:a="http://schemas.openxmlformats.org/drawingml/2006/main">
            <a:off x="8591550"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13" name="">
            <a:extLst xmlns:a="http://schemas.openxmlformats.org/drawingml/2006/main">
              <a:ext uri="{FF2B5EF4-FFF2-40B4-BE49-F238E27FC236}">
                <a16:creationId xmlns:a16="http://schemas.microsoft.com/office/drawing/2014/main" id="{5ACB3750-E864-4C87-92AD-C2AB2EDBE3F2}"/>
              </a:ext>
            </a:extLst>
          </p:cNvPr>
          <p:cNvSpPr>
            <a:spLocks xmlns:a="http://schemas.openxmlformats.org/drawingml/2006/main" noGrp="1"/>
          </p:cNvSpPr>
          <p:nvPr/>
        </p:nvSpPr>
        <p:spPr>
          <a:xfrm xmlns:a="http://schemas.openxmlformats.org/drawingml/2006/main">
            <a:off x="84296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14" name="">
            <a:extLst xmlns:a="http://schemas.openxmlformats.org/drawingml/2006/main">
              <a:ext uri="{FF2B5EF4-FFF2-40B4-BE49-F238E27FC236}">
                <a16:creationId xmlns:a16="http://schemas.microsoft.com/office/drawing/2014/main" id="{4C6E0397-ACD0-4079-9D57-0A6FFA78ED9A}"/>
              </a:ext>
            </a:extLst>
          </p:cNvPr>
          <p:cNvSpPr>
            <a:spLocks xmlns:a="http://schemas.openxmlformats.org/drawingml/2006/main" noGrp="1"/>
          </p:cNvSpPr>
          <p:nvPr/>
        </p:nvSpPr>
        <p:spPr>
          <a:xfrm xmlns:a="http://schemas.openxmlformats.org/drawingml/2006/main">
            <a:off x="8810625"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15" name="">
            <a:extLst xmlns:a="http://schemas.openxmlformats.org/drawingml/2006/main">
              <a:ext uri="{FF2B5EF4-FFF2-40B4-BE49-F238E27FC236}">
                <a16:creationId xmlns:a16="http://schemas.microsoft.com/office/drawing/2014/main" id="{8BAA0A7A-E434-46DF-8DCC-00FA6AC661EE}"/>
              </a:ext>
            </a:extLst>
          </p:cNvPr>
          <p:cNvSpPr>
            <a:spLocks xmlns:a="http://schemas.openxmlformats.org/drawingml/2006/main" noGrp="1"/>
          </p:cNvSpPr>
          <p:nvPr/>
        </p:nvSpPr>
        <p:spPr>
          <a:xfrm xmlns:a="http://schemas.openxmlformats.org/drawingml/2006/main">
            <a:off x="86963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16" name="">
            <a:extLst xmlns:a="http://schemas.openxmlformats.org/drawingml/2006/main">
              <a:ext uri="{FF2B5EF4-FFF2-40B4-BE49-F238E27FC236}">
                <a16:creationId xmlns:a16="http://schemas.microsoft.com/office/drawing/2014/main" id="{70AA3B38-20E0-469C-B2FC-8760170B89CD}"/>
              </a:ext>
            </a:extLst>
          </p:cNvPr>
          <p:cNvSpPr>
            <a:spLocks xmlns:a="http://schemas.openxmlformats.org/drawingml/2006/main" noGrp="1"/>
          </p:cNvSpPr>
          <p:nvPr/>
        </p:nvSpPr>
        <p:spPr>
          <a:xfrm xmlns:a="http://schemas.openxmlformats.org/drawingml/2006/main">
            <a:off x="9029700"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17" name="">
            <a:extLst xmlns:a="http://schemas.openxmlformats.org/drawingml/2006/main">
              <a:ext uri="{FF2B5EF4-FFF2-40B4-BE49-F238E27FC236}">
                <a16:creationId xmlns:a16="http://schemas.microsoft.com/office/drawing/2014/main" id="{ED9A02ED-3D6E-46EE-861E-924832115E98}"/>
              </a:ext>
            </a:extLst>
          </p:cNvPr>
          <p:cNvSpPr>
            <a:spLocks xmlns:a="http://schemas.openxmlformats.org/drawingml/2006/main" noGrp="1"/>
          </p:cNvSpPr>
          <p:nvPr/>
        </p:nvSpPr>
        <p:spPr>
          <a:xfrm xmlns:a="http://schemas.openxmlformats.org/drawingml/2006/main">
            <a:off x="89630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18" name="">
            <a:extLst xmlns:a="http://schemas.openxmlformats.org/drawingml/2006/main">
              <a:ext uri="{FF2B5EF4-FFF2-40B4-BE49-F238E27FC236}">
                <a16:creationId xmlns:a16="http://schemas.microsoft.com/office/drawing/2014/main" id="{16CB14C3-7EC9-4CF0-8611-4E22A2220CFA}"/>
              </a:ext>
            </a:extLst>
          </p:cNvPr>
          <p:cNvSpPr>
            <a:spLocks xmlns:a="http://schemas.openxmlformats.org/drawingml/2006/main" noGrp="1"/>
          </p:cNvSpPr>
          <p:nvPr/>
        </p:nvSpPr>
        <p:spPr>
          <a:xfrm xmlns:a="http://schemas.openxmlformats.org/drawingml/2006/main">
            <a:off x="9248775"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19" name="">
            <a:extLst xmlns:a="http://schemas.openxmlformats.org/drawingml/2006/main">
              <a:ext uri="{FF2B5EF4-FFF2-40B4-BE49-F238E27FC236}">
                <a16:creationId xmlns:a16="http://schemas.microsoft.com/office/drawing/2014/main" id="{EBEB06F4-65FD-42CB-B3B1-D27143782F8B}"/>
              </a:ext>
            </a:extLst>
          </p:cNvPr>
          <p:cNvSpPr>
            <a:spLocks xmlns:a="http://schemas.openxmlformats.org/drawingml/2006/main" noGrp="1"/>
          </p:cNvSpPr>
          <p:nvPr/>
        </p:nvSpPr>
        <p:spPr>
          <a:xfrm xmlns:a="http://schemas.openxmlformats.org/drawingml/2006/main">
            <a:off x="92297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20" name="">
            <a:extLst xmlns:a="http://schemas.openxmlformats.org/drawingml/2006/main">
              <a:ext uri="{FF2B5EF4-FFF2-40B4-BE49-F238E27FC236}">
                <a16:creationId xmlns:a16="http://schemas.microsoft.com/office/drawing/2014/main" id="{4DAA6DD0-F646-4542-A895-2B1E023BDC62}"/>
              </a:ext>
            </a:extLst>
          </p:cNvPr>
          <p:cNvSpPr>
            <a:spLocks xmlns:a="http://schemas.openxmlformats.org/drawingml/2006/main" noGrp="1"/>
          </p:cNvSpPr>
          <p:nvPr/>
        </p:nvSpPr>
        <p:spPr>
          <a:xfrm xmlns:a="http://schemas.openxmlformats.org/drawingml/2006/main">
            <a:off x="9467850"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21" name="">
            <a:extLst xmlns:a="http://schemas.openxmlformats.org/drawingml/2006/main">
              <a:ext uri="{FF2B5EF4-FFF2-40B4-BE49-F238E27FC236}">
                <a16:creationId xmlns:a16="http://schemas.microsoft.com/office/drawing/2014/main" id="{28375F9B-2299-4FF4-AD20-C9E2B2DE564B}"/>
              </a:ext>
            </a:extLst>
          </p:cNvPr>
          <p:cNvSpPr>
            <a:spLocks xmlns:a="http://schemas.openxmlformats.org/drawingml/2006/main" noGrp="1"/>
          </p:cNvSpPr>
          <p:nvPr/>
        </p:nvSpPr>
        <p:spPr>
          <a:xfrm xmlns:a="http://schemas.openxmlformats.org/drawingml/2006/main">
            <a:off x="94964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22" name="">
            <a:extLst xmlns:a="http://schemas.openxmlformats.org/drawingml/2006/main">
              <a:ext uri="{FF2B5EF4-FFF2-40B4-BE49-F238E27FC236}">
                <a16:creationId xmlns:a16="http://schemas.microsoft.com/office/drawing/2014/main" id="{7052D4DA-4C67-4A34-8958-5B9E42FAA3B4}"/>
              </a:ext>
            </a:extLst>
          </p:cNvPr>
          <p:cNvSpPr>
            <a:spLocks xmlns:a="http://schemas.openxmlformats.org/drawingml/2006/main" noGrp="1"/>
          </p:cNvSpPr>
          <p:nvPr/>
        </p:nvSpPr>
        <p:spPr>
          <a:xfrm xmlns:a="http://schemas.openxmlformats.org/drawingml/2006/main">
            <a:off x="9686925"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23" name="">
            <a:extLst xmlns:a="http://schemas.openxmlformats.org/drawingml/2006/main">
              <a:ext uri="{FF2B5EF4-FFF2-40B4-BE49-F238E27FC236}">
                <a16:creationId xmlns:a16="http://schemas.microsoft.com/office/drawing/2014/main" id="{6E5A6E78-D448-4D7C-8AC6-CBD3646A21CA}"/>
              </a:ext>
            </a:extLst>
          </p:cNvPr>
          <p:cNvSpPr>
            <a:spLocks xmlns:a="http://schemas.openxmlformats.org/drawingml/2006/main" noGrp="1"/>
          </p:cNvSpPr>
          <p:nvPr/>
        </p:nvSpPr>
        <p:spPr>
          <a:xfrm xmlns:a="http://schemas.openxmlformats.org/drawingml/2006/main">
            <a:off x="97631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24" name="">
            <a:extLst xmlns:a="http://schemas.openxmlformats.org/drawingml/2006/main">
              <a:ext uri="{FF2B5EF4-FFF2-40B4-BE49-F238E27FC236}">
                <a16:creationId xmlns:a16="http://schemas.microsoft.com/office/drawing/2014/main" id="{8E4562FF-8191-4EF4-A645-D8908C4F4759}"/>
              </a:ext>
            </a:extLst>
          </p:cNvPr>
          <p:cNvSpPr>
            <a:spLocks xmlns:a="http://schemas.openxmlformats.org/drawingml/2006/main" noGrp="1"/>
          </p:cNvSpPr>
          <p:nvPr/>
        </p:nvSpPr>
        <p:spPr>
          <a:xfrm xmlns:a="http://schemas.openxmlformats.org/drawingml/2006/main">
            <a:off x="9906000"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25" name="">
            <a:extLst xmlns:a="http://schemas.openxmlformats.org/drawingml/2006/main">
              <a:ext uri="{FF2B5EF4-FFF2-40B4-BE49-F238E27FC236}">
                <a16:creationId xmlns:a16="http://schemas.microsoft.com/office/drawing/2014/main" id="{84044223-5A67-478D-B11D-23291B4E0AAB}"/>
              </a:ext>
            </a:extLst>
          </p:cNvPr>
          <p:cNvSpPr>
            <a:spLocks xmlns:a="http://schemas.openxmlformats.org/drawingml/2006/main" noGrp="1"/>
          </p:cNvSpPr>
          <p:nvPr/>
        </p:nvSpPr>
        <p:spPr>
          <a:xfrm xmlns:a="http://schemas.openxmlformats.org/drawingml/2006/main">
            <a:off x="100298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26" name="">
            <a:extLst xmlns:a="http://schemas.openxmlformats.org/drawingml/2006/main">
              <a:ext uri="{FF2B5EF4-FFF2-40B4-BE49-F238E27FC236}">
                <a16:creationId xmlns:a16="http://schemas.microsoft.com/office/drawing/2014/main" id="{7ECB6B7E-E1E0-4582-A468-DCDDD698AFBD}"/>
              </a:ext>
            </a:extLst>
          </p:cNvPr>
          <p:cNvSpPr>
            <a:spLocks xmlns:a="http://schemas.openxmlformats.org/drawingml/2006/main" noGrp="1"/>
          </p:cNvSpPr>
          <p:nvPr/>
        </p:nvSpPr>
        <p:spPr>
          <a:xfrm xmlns:a="http://schemas.openxmlformats.org/drawingml/2006/main">
            <a:off x="8420100" y="1495425"/>
            <a:ext cx="0" cy="2886075"/>
          </a:xfrm>
          <a:prstGeom xmlns:a="http://schemas.openxmlformats.org/drawingml/2006/main" prst="line">
            <a:avLst/>
          </a:prstGeom>
          <a:noFill xmlns:a="http://schemas.openxmlformats.org/drawingml/2006/main"/>
          <a:ln xmlns:a="http://schemas.openxmlformats.org/drawingml/2006/main" w="6668">
            <a:solidFill>
              <a:srgbClr val="777771"/>
            </a:solidFill>
            <a:prstDash val="solid"/>
          </a:ln>
        </p:spPr>
      </p:sp>
      <p:sp>
        <p:nvSpPr>
          <p:cNvPr id="27" name="">
            <a:extLst xmlns:a="http://schemas.openxmlformats.org/drawingml/2006/main">
              <a:ext uri="{FF2B5EF4-FFF2-40B4-BE49-F238E27FC236}">
                <a16:creationId xmlns:a16="http://schemas.microsoft.com/office/drawing/2014/main" id="{30B0E8BA-7F5B-4792-9999-0D0584BF1D4D}"/>
              </a:ext>
            </a:extLst>
          </p:cNvPr>
          <p:cNvSpPr>
            <a:spLocks xmlns:a="http://schemas.openxmlformats.org/drawingml/2006/main" noGrp="1"/>
          </p:cNvSpPr>
          <p:nvPr/>
        </p:nvSpPr>
        <p:spPr>
          <a:xfrm xmlns:a="http://schemas.openxmlformats.org/drawingml/2006/main">
            <a:off x="11058525" y="2038350"/>
            <a:ext cx="0" cy="2905125"/>
          </a:xfrm>
          <a:prstGeom xmlns:a="http://schemas.openxmlformats.org/drawingml/2006/main" prst="line">
            <a:avLst/>
          </a:prstGeom>
          <a:noFill xmlns:a="http://schemas.openxmlformats.org/drawingml/2006/main"/>
          <a:ln xmlns:a="http://schemas.openxmlformats.org/drawingml/2006/main" w="6668">
            <a:solidFill>
              <a:srgbClr val="777771"/>
            </a:solidFill>
            <a:prstDash val="solid"/>
          </a:ln>
        </p:spPr>
      </p:sp>
      <p:sp>
        <p:nvSpPr>
          <p:cNvPr id="28" name="">
            <a:extLst xmlns:a="http://schemas.openxmlformats.org/drawingml/2006/main">
              <a:ext uri="{FF2B5EF4-FFF2-40B4-BE49-F238E27FC236}">
                <a16:creationId xmlns:a16="http://schemas.microsoft.com/office/drawing/2014/main" id="{BF67DB0B-ECD8-473A-A6A8-5A5854C5BE45}"/>
              </a:ext>
            </a:extLst>
          </p:cNvPr>
          <p:cNvSpPr>
            <a:spLocks xmlns:a="http://schemas.openxmlformats.org/drawingml/2006/main" noGrp="1"/>
          </p:cNvSpPr>
          <p:nvPr/>
        </p:nvSpPr>
        <p:spPr>
          <a:xfrm xmlns:a="http://schemas.openxmlformats.org/drawingml/2006/main">
            <a:off x="9182100" y="2028825"/>
            <a:ext cx="0" cy="2914650"/>
          </a:xfrm>
          <a:prstGeom xmlns:a="http://schemas.openxmlformats.org/drawingml/2006/main" prst="line">
            <a:avLst/>
          </a:prstGeom>
          <a:noFill xmlns:a="http://schemas.openxmlformats.org/drawingml/2006/main"/>
          <a:ln xmlns:a="http://schemas.openxmlformats.org/drawingml/2006/main" w="6668">
            <a:solidFill>
              <a:srgbClr val="777771"/>
            </a:solidFill>
            <a:prstDash val="solid"/>
          </a:ln>
        </p:spPr>
      </p:sp>
    </p:spTree>
    <p:extLst>
      <p:ext uri="{BB962C8B-B14F-4D97-AF65-F5344CB8AC3E}">
        <p14:creationId xmlns:p14="http://schemas.microsoft.com/office/powerpoint/2010/main" val="516928351"/>
      </p:ext>
    </p:extLst>
  </p:cSld>
</p:sld>
</file>

<file path=ppt/slides/slide2.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20" name="THE OPERATING PROBLEM">
            <a:extLst xmlns:a="http://schemas.openxmlformats.org/drawingml/2006/main">
              <a:ext uri="{FF2B5EF4-FFF2-40B4-BE49-F238E27FC236}">
                <a16:creationId xmlns:a16="http://schemas.microsoft.com/office/drawing/2014/main" id="{D1F482FA-7484-4EC9-9180-E37348FF0251}"/>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buNone/>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THE OPERATING PROBLEM</a:t>
            </a:r>
          </a:p>
        </p:txBody>
      </p:sp>
      <p:sp>
        <p:nvSpPr>
          <p:cNvPr id="2" name="A delayed delivery changes more than stock">
            <a:extLst xmlns:a="http://schemas.openxmlformats.org/drawingml/2006/main">
              <a:ext uri="{FF2B5EF4-FFF2-40B4-BE49-F238E27FC236}">
                <a16:creationId xmlns:a16="http://schemas.microsoft.com/office/drawing/2014/main" id="{37D1232A-D744-4EEA-BDC3-DF796FADF878}"/>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buNone/>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A delayed delivery changes more than stock</a:t>
            </a:r>
          </a:p>
        </p:txBody>
      </p:sp>
      <p:sp>
        <p:nvSpPr>
          <p:cNvPr id="3" name="02">
            <a:extLst xmlns:a="http://schemas.openxmlformats.org/drawingml/2006/main">
              <a:ext uri="{FF2B5EF4-FFF2-40B4-BE49-F238E27FC236}">
                <a16:creationId xmlns:a16="http://schemas.microsoft.com/office/drawing/2014/main" id="{F59BFBDB-E89F-4537-8006-E8EDD056BCAF}"/>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buNone/>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02</a:t>
            </a:r>
          </a:p>
        </p:txBody>
      </p:sp>
      <p:sp>
        <p:nvSpPr>
          <p:cNvPr id="4" name="MR D.I.Y. public disclosures describe exis">
            <a:extLst xmlns:a="http://schemas.openxmlformats.org/drawingml/2006/main">
              <a:ext uri="{FF2B5EF4-FFF2-40B4-BE49-F238E27FC236}">
                <a16:creationId xmlns:a16="http://schemas.microsoft.com/office/drawing/2014/main" id="{5D78D64C-4969-4DDD-AFF3-D1F2282DFD3D}"/>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buNone/>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MR D.I.Y. public disclosures describe existing analytics, automation and service systems. Our incidents are hypothetical.</a:t>
            </a:r>
          </a:p>
        </p:txBody>
      </p:sp>
      <p:sp>
        <p:nvSpPr>
          <p:cNvPr id="5" name="The user">
            <a:extLst xmlns:a="http://schemas.openxmlformats.org/drawingml/2006/main">
              <a:ext uri="{FF2B5EF4-FFF2-40B4-BE49-F238E27FC236}">
                <a16:creationId xmlns:a16="http://schemas.microsoft.com/office/drawing/2014/main" id="{E3AFDA26-DE95-4613-86AE-EC939C8357B0}"/>
              </a:ext>
            </a:extLst>
          </p:cNvPr>
          <p:cNvSpPr>
            <a:spLocks xmlns:a="http://schemas.openxmlformats.org/drawingml/2006/main" noGrp="1"/>
          </p:cNvSpPr>
          <p:nvPr/>
        </p:nvSpPr>
        <p:spPr>
          <a:xfrm xmlns:a="http://schemas.openxmlformats.org/drawingml/2006/main">
            <a:off x="628650" y="20764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626262"/>
                </a:solidFill>
                <a:latin typeface="Liberation Sans"/>
                <a:ea typeface="Liberation Sans"/>
                <a:cs typeface="Liberation Sans"/>
              </a:defRPr>
            </a:defPPr>
          </a:lstStyle>
          <a:p xmlns:a="http://schemas.openxmlformats.org/drawingml/2006/main">
            <a:pPr algn="l">
              <a:buNone/>
              <a:defRPr sz="1350" b="1">
                <a:solidFill>
                  <a:srgbClr val="626262"/>
                </a:solidFill>
                <a:latin typeface="Liberation Sans"/>
                <a:ea typeface="Liberation Sans"/>
                <a:cs typeface="Liberation Sans"/>
              </a:defRPr>
            </a:pPr>
            <a:r>
              <a:rPr sz="1350" b="1">
                <a:solidFill>
                  <a:srgbClr val="626262"/>
                </a:solidFill>
                <a:latin typeface="Liberation Sans"/>
                <a:ea typeface="Liberation Sans"/>
                <a:cs typeface="Liberation Sans"/>
              </a:rPr>
              <a:t>The user</a:t>
            </a:r>
          </a:p>
        </p:txBody>
      </p:sp>
      <p:sp>
        <p:nvSpPr>
          <p:cNvPr id="6" name="Regional&#10;operations lead">
            <a:extLst xmlns:a="http://schemas.openxmlformats.org/drawingml/2006/main">
              <a:ext uri="{FF2B5EF4-FFF2-40B4-BE49-F238E27FC236}">
                <a16:creationId xmlns:a16="http://schemas.microsoft.com/office/drawing/2014/main" id="{313BC64B-F381-4DC9-B80F-1D496F85818C}"/>
              </a:ext>
            </a:extLst>
          </p:cNvPr>
          <p:cNvSpPr>
            <a:spLocks xmlns:a="http://schemas.openxmlformats.org/drawingml/2006/main" noGrp="1"/>
          </p:cNvSpPr>
          <p:nvPr/>
        </p:nvSpPr>
        <p:spPr>
          <a:xfrm xmlns:a="http://schemas.openxmlformats.org/drawingml/2006/main">
            <a:off x="609600" y="2447925"/>
            <a:ext cx="36004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1212"/>
                </a:solidFill>
                <a:latin typeface="Liberation Sans"/>
                <a:ea typeface="Liberation Sans"/>
                <a:cs typeface="Liberation Sans"/>
              </a:defRPr>
            </a:defPPr>
          </a:lstStyle>
          <a:p xmlns:a="http://schemas.openxmlformats.org/drawingml/2006/main">
            <a:pPr algn="l">
              <a:buNone/>
              <a:defRPr sz="3150" b="1">
                <a:solidFill>
                  <a:srgbClr val="121212"/>
                </a:solidFill>
                <a:latin typeface="Liberation Sans"/>
                <a:ea typeface="Liberation Sans"/>
                <a:cs typeface="Liberation Sans"/>
              </a:defRPr>
            </a:pPr>
            <a:r>
              <a:rPr sz="3150" b="1">
                <a:solidFill>
                  <a:srgbClr val="121212"/>
                </a:solidFill>
                <a:latin typeface="Liberation Sans"/>
                <a:ea typeface="Liberation Sans"/>
                <a:cs typeface="Liberation Sans"/>
              </a:rPr>
              <a:t>Regional</a:t>
            </a:r>
          </a:p>
          <a:p xmlns:a="http://schemas.openxmlformats.org/drawingml/2006/main">
            <a:pPr algn="l">
              <a:buNone/>
              <a:defRPr sz="3150" b="1">
                <a:solidFill>
                  <a:srgbClr val="121212"/>
                </a:solidFill>
                <a:latin typeface="Liberation Sans"/>
                <a:ea typeface="Liberation Sans"/>
                <a:cs typeface="Liberation Sans"/>
              </a:defRPr>
            </a:pPr>
            <a:r>
              <a:rPr sz="3150" b="1">
                <a:solidFill>
                  <a:srgbClr val="121212"/>
                </a:solidFill>
                <a:latin typeface="Liberation Sans"/>
                <a:ea typeface="Liberation Sans"/>
                <a:cs typeface="Liberation Sans"/>
              </a:rPr>
              <a:t>operations lead</a:t>
            </a:r>
          </a:p>
        </p:txBody>
      </p:sp>
      <p:sp>
        <p:nvSpPr>
          <p:cNvPr id="7" name="One decision can create a new constraint f">
            <a:extLst xmlns:a="http://schemas.openxmlformats.org/drawingml/2006/main">
              <a:ext uri="{FF2B5EF4-FFF2-40B4-BE49-F238E27FC236}">
                <a16:creationId xmlns:a16="http://schemas.microsoft.com/office/drawing/2014/main" id="{0B90F533-CF21-4ED9-B36F-B099D30EE658}"/>
              </a:ext>
            </a:extLst>
          </p:cNvPr>
          <p:cNvSpPr>
            <a:spLocks xmlns:a="http://schemas.openxmlformats.org/drawingml/2006/main" noGrp="1"/>
          </p:cNvSpPr>
          <p:nvPr/>
        </p:nvSpPr>
        <p:spPr>
          <a:xfrm xmlns:a="http://schemas.openxmlformats.org/drawingml/2006/main">
            <a:off x="628650" y="4095750"/>
            <a:ext cx="3209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1212"/>
                </a:solidFill>
                <a:latin typeface="Liberation Sans"/>
                <a:ea typeface="Liberation Sans"/>
                <a:cs typeface="Liberation Sans"/>
              </a:defRPr>
            </a:defPPr>
          </a:lstStyle>
          <a:p xmlns:a="http://schemas.openxmlformats.org/drawingml/2006/main">
            <a:pPr algn="l">
              <a:buNone/>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One decision can create a new constraint for another team.</a:t>
            </a:r>
          </a:p>
        </p:txBody>
      </p:sp>
      <p:sp>
        <p:nvSpPr>
          <p:cNvPr id="8" name="">
            <a:extLst xmlns:a="http://schemas.openxmlformats.org/drawingml/2006/main">
              <a:ext uri="{FF2B5EF4-FFF2-40B4-BE49-F238E27FC236}">
                <a16:creationId xmlns:a16="http://schemas.microsoft.com/office/drawing/2014/main" id="{FCA4982A-3B8E-456F-A790-0628030836A8}"/>
              </a:ext>
            </a:extLst>
          </p:cNvPr>
          <p:cNvSpPr>
            <a:spLocks xmlns:a="http://schemas.openxmlformats.org/drawingml/2006/main" noGrp="1"/>
          </p:cNvSpPr>
          <p:nvPr/>
        </p:nvSpPr>
        <p:spPr>
          <a:xfrm xmlns:a="http://schemas.openxmlformats.org/drawingml/2006/main">
            <a:off x="4810125" y="2143125"/>
            <a:ext cx="6762750" cy="0"/>
          </a:xfrm>
          <a:prstGeom xmlns:a="http://schemas.openxmlformats.org/drawingml/2006/main" prst="line">
            <a:avLst/>
          </a:prstGeom>
          <a:noFill xmlns:a="http://schemas.openxmlformats.org/drawingml/2006/main"/>
          <a:ln xmlns:a="http://schemas.openxmlformats.org/drawingml/2006/main" w="19050">
            <a:solidFill>
              <a:srgbClr val="121212"/>
            </a:solidFill>
            <a:prstDash val="solid"/>
          </a:ln>
        </p:spPr>
      </p:sp>
      <p:sp>
        <p:nvSpPr>
          <p:cNvPr id="9" name="Supply">
            <a:extLst xmlns:a="http://schemas.openxmlformats.org/drawingml/2006/main">
              <a:ext uri="{FF2B5EF4-FFF2-40B4-BE49-F238E27FC236}">
                <a16:creationId xmlns:a16="http://schemas.microsoft.com/office/drawing/2014/main" id="{6FFDB0A4-EDF9-4C9D-B43B-AABC0D78C0CD}"/>
              </a:ext>
            </a:extLst>
          </p:cNvPr>
          <p:cNvSpPr>
            <a:spLocks xmlns:a="http://schemas.openxmlformats.org/drawingml/2006/main" noGrp="1"/>
          </p:cNvSpPr>
          <p:nvPr/>
        </p:nvSpPr>
        <p:spPr>
          <a:xfrm xmlns:a="http://schemas.openxmlformats.org/drawingml/2006/main">
            <a:off x="4810125" y="23145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buNone/>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Supply</a:t>
            </a:r>
          </a:p>
        </p:txBody>
      </p:sp>
      <p:sp>
        <p:nvSpPr>
          <p:cNvPr id="10" name="Which stock covers the gap?">
            <a:extLst xmlns:a="http://schemas.openxmlformats.org/drawingml/2006/main">
              <a:ext uri="{FF2B5EF4-FFF2-40B4-BE49-F238E27FC236}">
                <a16:creationId xmlns:a16="http://schemas.microsoft.com/office/drawing/2014/main" id="{9213C87A-7E4D-4296-A72F-18992BBABDCE}"/>
              </a:ext>
            </a:extLst>
          </p:cNvPr>
          <p:cNvSpPr>
            <a:spLocks xmlns:a="http://schemas.openxmlformats.org/drawingml/2006/main" noGrp="1"/>
          </p:cNvSpPr>
          <p:nvPr/>
        </p:nvSpPr>
        <p:spPr>
          <a:xfrm xmlns:a="http://schemas.openxmlformats.org/drawingml/2006/main">
            <a:off x="6905625" y="2314575"/>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buNone/>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Which stock covers the gap?</a:t>
            </a:r>
          </a:p>
        </p:txBody>
      </p:sp>
      <p:sp>
        <p:nvSpPr>
          <p:cNvPr id="11" name="">
            <a:extLst xmlns:a="http://schemas.openxmlformats.org/drawingml/2006/main">
              <a:ext uri="{FF2B5EF4-FFF2-40B4-BE49-F238E27FC236}">
                <a16:creationId xmlns:a16="http://schemas.microsoft.com/office/drawing/2014/main" id="{B97CD78A-263F-459D-A246-7F8B98947967}"/>
              </a:ext>
            </a:extLst>
          </p:cNvPr>
          <p:cNvSpPr>
            <a:spLocks xmlns:a="http://schemas.openxmlformats.org/drawingml/2006/main" noGrp="1"/>
          </p:cNvSpPr>
          <p:nvPr/>
        </p:nvSpPr>
        <p:spPr>
          <a:xfrm xmlns:a="http://schemas.openxmlformats.org/drawingml/2006/main">
            <a:off x="4810125" y="3009900"/>
            <a:ext cx="6762750" cy="0"/>
          </a:xfrm>
          <a:prstGeom xmlns:a="http://schemas.openxmlformats.org/drawingml/2006/main" prst="line">
            <a:avLst/>
          </a:prstGeom>
          <a:noFill xmlns:a="http://schemas.openxmlformats.org/drawingml/2006/main"/>
          <a:ln xmlns:a="http://schemas.openxmlformats.org/drawingml/2006/main" w="9525">
            <a:solidFill>
              <a:srgbClr val="121212"/>
            </a:solidFill>
            <a:prstDash val="solid"/>
          </a:ln>
        </p:spPr>
      </p:sp>
      <p:sp>
        <p:nvSpPr>
          <p:cNvPr id="12" name="Procurement">
            <a:extLst xmlns:a="http://schemas.openxmlformats.org/drawingml/2006/main">
              <a:ext uri="{FF2B5EF4-FFF2-40B4-BE49-F238E27FC236}">
                <a16:creationId xmlns:a16="http://schemas.microsoft.com/office/drawing/2014/main" id="{3861CBFE-ACE2-41B3-83BE-10A3E656FB46}"/>
              </a:ext>
            </a:extLst>
          </p:cNvPr>
          <p:cNvSpPr>
            <a:spLocks xmlns:a="http://schemas.openxmlformats.org/drawingml/2006/main" noGrp="1"/>
          </p:cNvSpPr>
          <p:nvPr/>
        </p:nvSpPr>
        <p:spPr>
          <a:xfrm xmlns:a="http://schemas.openxmlformats.org/drawingml/2006/main">
            <a:off x="4810125" y="31813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buNone/>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Procurement</a:t>
            </a:r>
          </a:p>
        </p:txBody>
      </p:sp>
      <p:sp>
        <p:nvSpPr>
          <p:cNvPr id="13" name="Can the invoice pass review?">
            <a:extLst xmlns:a="http://schemas.openxmlformats.org/drawingml/2006/main">
              <a:ext uri="{FF2B5EF4-FFF2-40B4-BE49-F238E27FC236}">
                <a16:creationId xmlns:a16="http://schemas.microsoft.com/office/drawing/2014/main" id="{FA6ED108-2D86-4A26-986B-7877E77453BA}"/>
              </a:ext>
            </a:extLst>
          </p:cNvPr>
          <p:cNvSpPr>
            <a:spLocks xmlns:a="http://schemas.openxmlformats.org/drawingml/2006/main" noGrp="1"/>
          </p:cNvSpPr>
          <p:nvPr/>
        </p:nvSpPr>
        <p:spPr>
          <a:xfrm xmlns:a="http://schemas.openxmlformats.org/drawingml/2006/main">
            <a:off x="6905625" y="3181350"/>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buNone/>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Can the invoice pass review?</a:t>
            </a:r>
          </a:p>
        </p:txBody>
      </p:sp>
      <p:sp>
        <p:nvSpPr>
          <p:cNvPr id="14" name="">
            <a:extLst xmlns:a="http://schemas.openxmlformats.org/drawingml/2006/main">
              <a:ext uri="{FF2B5EF4-FFF2-40B4-BE49-F238E27FC236}">
                <a16:creationId xmlns:a16="http://schemas.microsoft.com/office/drawing/2014/main" id="{199CD7F1-A1EF-4A6A-90A5-C36F62491807}"/>
              </a:ext>
            </a:extLst>
          </p:cNvPr>
          <p:cNvSpPr>
            <a:spLocks xmlns:a="http://schemas.openxmlformats.org/drawingml/2006/main" noGrp="1"/>
          </p:cNvSpPr>
          <p:nvPr/>
        </p:nvSpPr>
        <p:spPr>
          <a:xfrm xmlns:a="http://schemas.openxmlformats.org/drawingml/2006/main">
            <a:off x="4810125" y="3876675"/>
            <a:ext cx="6762750" cy="0"/>
          </a:xfrm>
          <a:prstGeom xmlns:a="http://schemas.openxmlformats.org/drawingml/2006/main" prst="line">
            <a:avLst/>
          </a:prstGeom>
          <a:noFill xmlns:a="http://schemas.openxmlformats.org/drawingml/2006/main"/>
          <a:ln xmlns:a="http://schemas.openxmlformats.org/drawingml/2006/main" w="9525">
            <a:solidFill>
              <a:srgbClr val="121212"/>
            </a:solidFill>
            <a:prstDash val="solid"/>
          </a:ln>
        </p:spPr>
      </p:sp>
      <p:sp>
        <p:nvSpPr>
          <p:cNvPr id="15" name="Service">
            <a:extLst xmlns:a="http://schemas.openxmlformats.org/drawingml/2006/main">
              <a:ext uri="{FF2B5EF4-FFF2-40B4-BE49-F238E27FC236}">
                <a16:creationId xmlns:a16="http://schemas.microsoft.com/office/drawing/2014/main" id="{9F8C3B90-6517-4682-AFF5-E1745BE7BFA8}"/>
              </a:ext>
            </a:extLst>
          </p:cNvPr>
          <p:cNvSpPr>
            <a:spLocks xmlns:a="http://schemas.openxmlformats.org/drawingml/2006/main" noGrp="1"/>
          </p:cNvSpPr>
          <p:nvPr/>
        </p:nvSpPr>
        <p:spPr>
          <a:xfrm xmlns:a="http://schemas.openxmlformats.org/drawingml/2006/main">
            <a:off x="4810125" y="404812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buNone/>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Service</a:t>
            </a:r>
          </a:p>
        </p:txBody>
      </p:sp>
      <p:sp>
        <p:nvSpPr>
          <p:cNvPr id="16" name="Which promise depends on that stock?">
            <a:extLst xmlns:a="http://schemas.openxmlformats.org/drawingml/2006/main">
              <a:ext uri="{FF2B5EF4-FFF2-40B4-BE49-F238E27FC236}">
                <a16:creationId xmlns:a16="http://schemas.microsoft.com/office/drawing/2014/main" id="{C45BB8B9-6393-4A10-894F-A95DFB681D67}"/>
              </a:ext>
            </a:extLst>
          </p:cNvPr>
          <p:cNvSpPr>
            <a:spLocks xmlns:a="http://schemas.openxmlformats.org/drawingml/2006/main" noGrp="1"/>
          </p:cNvSpPr>
          <p:nvPr/>
        </p:nvSpPr>
        <p:spPr>
          <a:xfrm xmlns:a="http://schemas.openxmlformats.org/drawingml/2006/main">
            <a:off x="6905625" y="4048125"/>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buNone/>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Which promise depends on that stock?</a:t>
            </a:r>
          </a:p>
        </p:txBody>
      </p:sp>
      <p:sp>
        <p:nvSpPr>
          <p:cNvPr id="17" name="">
            <a:extLst xmlns:a="http://schemas.openxmlformats.org/drawingml/2006/main">
              <a:ext uri="{FF2B5EF4-FFF2-40B4-BE49-F238E27FC236}">
                <a16:creationId xmlns:a16="http://schemas.microsoft.com/office/drawing/2014/main" id="{D65BCE9B-B840-408C-983F-3D118CE4060C}"/>
              </a:ext>
            </a:extLst>
          </p:cNvPr>
          <p:cNvSpPr>
            <a:spLocks xmlns:a="http://schemas.openxmlformats.org/drawingml/2006/main" noGrp="1"/>
          </p:cNvSpPr>
          <p:nvPr/>
        </p:nvSpPr>
        <p:spPr>
          <a:xfrm xmlns:a="http://schemas.openxmlformats.org/drawingml/2006/main">
            <a:off x="4810125" y="4743450"/>
            <a:ext cx="6762750" cy="0"/>
          </a:xfrm>
          <a:prstGeom xmlns:a="http://schemas.openxmlformats.org/drawingml/2006/main" prst="line">
            <a:avLst/>
          </a:prstGeom>
          <a:noFill xmlns:a="http://schemas.openxmlformats.org/drawingml/2006/main"/>
          <a:ln xmlns:a="http://schemas.openxmlformats.org/drawingml/2006/main" w="9525">
            <a:solidFill>
              <a:srgbClr val="121212"/>
            </a:solidFill>
            <a:prstDash val="solid"/>
          </a:ln>
        </p:spPr>
      </p:sp>
      <p:sp>
        <p:nvSpPr>
          <p:cNvPr id="18" name="Continuity">
            <a:extLst xmlns:a="http://schemas.openxmlformats.org/drawingml/2006/main">
              <a:ext uri="{FF2B5EF4-FFF2-40B4-BE49-F238E27FC236}">
                <a16:creationId xmlns:a16="http://schemas.microsoft.com/office/drawing/2014/main" id="{B1BE77A2-B615-49D2-8496-7816328E391C}"/>
              </a:ext>
            </a:extLst>
          </p:cNvPr>
          <p:cNvSpPr>
            <a:spLocks xmlns:a="http://schemas.openxmlformats.org/drawingml/2006/main" noGrp="1"/>
          </p:cNvSpPr>
          <p:nvPr/>
        </p:nvSpPr>
        <p:spPr>
          <a:xfrm xmlns:a="http://schemas.openxmlformats.org/drawingml/2006/main">
            <a:off x="4810125" y="49149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buNone/>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Continuity</a:t>
            </a:r>
          </a:p>
        </p:txBody>
      </p:sp>
      <p:sp>
        <p:nvSpPr>
          <p:cNvPr id="19" name="Can receiving safely keep running?">
            <a:extLst xmlns:a="http://schemas.openxmlformats.org/drawingml/2006/main">
              <a:ext uri="{FF2B5EF4-FFF2-40B4-BE49-F238E27FC236}">
                <a16:creationId xmlns:a16="http://schemas.microsoft.com/office/drawing/2014/main" id="{AC65AB23-AB75-43BD-8DA7-56886B054166}"/>
              </a:ext>
            </a:extLst>
          </p:cNvPr>
          <p:cNvSpPr>
            <a:spLocks xmlns:a="http://schemas.openxmlformats.org/drawingml/2006/main" noGrp="1"/>
          </p:cNvSpPr>
          <p:nvPr/>
        </p:nvSpPr>
        <p:spPr>
          <a:xfrm xmlns:a="http://schemas.openxmlformats.org/drawingml/2006/main">
            <a:off x="6905625" y="4914900"/>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buNone/>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Can receiving safely keep running?</a:t>
            </a:r>
          </a:p>
        </p:txBody>
      </p:sp>
    </p:spTree>
    <p:extLst>
      <p:ext uri="{BB962C8B-B14F-4D97-AF65-F5344CB8AC3E}">
        <p14:creationId xmlns:p14="http://schemas.microsoft.com/office/powerpoint/2010/main" val="1915488745"/>
      </p:ext>
    </p:extLst>
  </p:cSld>
</p:sld>
</file>

<file path=ppt/slides/slide3.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0" name="SC01  DEMAND AND ARRIVAL OUTLOOK">
            <a:extLst xmlns:a="http://schemas.openxmlformats.org/drawingml/2006/main">
              <a:ext uri="{FF2B5EF4-FFF2-40B4-BE49-F238E27FC236}">
                <a16:creationId xmlns:a16="http://schemas.microsoft.com/office/drawing/2014/main" id="{D6C7C1AB-4663-43B5-8D20-612F49F98A3D}"/>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SC01  DEMAND AND ARRIVAL OUTLOOK</a:t>
            </a:r>
          </a:p>
        </p:txBody>
      </p:sp>
      <p:sp>
        <p:nvSpPr>
          <p:cNvPr id="2" name="Shortage appears before the next arrival">
            <a:extLst xmlns:a="http://schemas.openxmlformats.org/drawingml/2006/main">
              <a:ext uri="{FF2B5EF4-FFF2-40B4-BE49-F238E27FC236}">
                <a16:creationId xmlns:a16="http://schemas.microsoft.com/office/drawing/2014/main" id="{3C96E95B-4C2A-4416-8F74-DADEE902FD78}"/>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Shortage appears before the next arrival</a:t>
            </a:r>
          </a:p>
        </p:txBody>
      </p:sp>
      <p:sp>
        <p:nvSpPr>
          <p:cNvPr id="3" name="03">
            <a:extLst xmlns:a="http://schemas.openxmlformats.org/drawingml/2006/main">
              <a:ext uri="{FF2B5EF4-FFF2-40B4-BE49-F238E27FC236}">
                <a16:creationId xmlns:a16="http://schemas.microsoft.com/office/drawing/2014/main" id="{634B6F97-7E32-4220-B6AA-18ED16C60A4A}"/>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03</a:t>
            </a:r>
          </a:p>
        </p:txBody>
      </p:sp>
      <p:sp>
        <p:nvSpPr>
          <p:cNvPr id="4" name="196 authored synthetic history days. Condi">
            <a:extLst xmlns:a="http://schemas.openxmlformats.org/drawingml/2006/main">
              <a:ext uri="{FF2B5EF4-FFF2-40B4-BE49-F238E27FC236}">
                <a16:creationId xmlns:a16="http://schemas.microsoft.com/office/drawing/2014/main" id="{A63A26A0-9BB2-4AFA-BC03-D7C1B0E07694}"/>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196 authored synthetic history days. Conditional point path. Low/high are not calibrated confidence limits. Saved v73 screen.</a:t>
            </a:r>
          </a:p>
        </p:txBody>
      </p:sp>
      <p:sp>
        <p:nvSpPr>
          <p:cNvPr id="5" name="148">
            <a:extLst xmlns:a="http://schemas.openxmlformats.org/drawingml/2006/main">
              <a:ext uri="{FF2B5EF4-FFF2-40B4-BE49-F238E27FC236}">
                <a16:creationId xmlns:a16="http://schemas.microsoft.com/office/drawing/2014/main" id="{664DF352-D70B-4038-8090-38504E7C16B9}"/>
              </a:ext>
            </a:extLst>
          </p:cNvPr>
          <p:cNvSpPr>
            <a:spLocks xmlns:a="http://schemas.openxmlformats.org/drawingml/2006/main" noGrp="1"/>
          </p:cNvSpPr>
          <p:nvPr/>
        </p:nvSpPr>
        <p:spPr>
          <a:xfrm xmlns:a="http://schemas.openxmlformats.org/drawingml/2006/main">
            <a:off x="609600" y="2009775"/>
            <a:ext cx="323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121212"/>
                </a:solidFill>
                <a:latin typeface="Liberation Sans"/>
                <a:ea typeface="Liberation Sans"/>
                <a:cs typeface="Liberation Sans"/>
              </a:defRPr>
            </a:defPPr>
          </a:lstStyle>
          <a:p xmlns:a="http://schemas.openxmlformats.org/drawingml/2006/main">
            <a:pPr algn="l">
              <a:defRPr sz="5850" b="1">
                <a:solidFill>
                  <a:srgbClr val="121212"/>
                </a:solidFill>
                <a:latin typeface="Liberation Sans"/>
                <a:ea typeface="Liberation Sans"/>
                <a:cs typeface="Liberation Sans"/>
              </a:defRPr>
            </a:pPr>
            <a:r>
              <a:rPr sz="5850" b="1">
                <a:solidFill>
                  <a:srgbClr val="121212"/>
                </a:solidFill>
                <a:latin typeface="Liberation Sans"/>
                <a:ea typeface="Liberation Sans"/>
                <a:cs typeface="Liberation Sans"/>
              </a:rPr>
              <a:t>148</a:t>
            </a:r>
          </a:p>
        </p:txBody>
      </p:sp>
      <p:sp>
        <p:nvSpPr>
          <p:cNvPr id="6" name="units of seven-day demand">
            <a:extLst xmlns:a="http://schemas.openxmlformats.org/drawingml/2006/main">
              <a:ext uri="{FF2B5EF4-FFF2-40B4-BE49-F238E27FC236}">
                <a16:creationId xmlns:a16="http://schemas.microsoft.com/office/drawing/2014/main" id="{EFEFD4D3-24B6-4928-8F5B-F887070E7963}"/>
              </a:ext>
            </a:extLst>
          </p:cNvPr>
          <p:cNvSpPr>
            <a:spLocks xmlns:a="http://schemas.openxmlformats.org/drawingml/2006/main" noGrp="1"/>
          </p:cNvSpPr>
          <p:nvPr/>
        </p:nvSpPr>
        <p:spPr>
          <a:xfrm xmlns:a="http://schemas.openxmlformats.org/drawingml/2006/main">
            <a:off x="638175" y="29622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26262"/>
                </a:solidFill>
                <a:latin typeface="Liberation Sans"/>
                <a:ea typeface="Liberation Sans"/>
                <a:cs typeface="Liberation Sans"/>
              </a:defRPr>
            </a:defPPr>
          </a:lstStyle>
          <a:p xmlns:a="http://schemas.openxmlformats.org/drawingml/2006/main">
            <a:pPr algn="l">
              <a:defRPr sz="1800" b="0">
                <a:solidFill>
                  <a:srgbClr val="626262"/>
                </a:solidFill>
                <a:latin typeface="Liberation Sans"/>
                <a:ea typeface="Liberation Sans"/>
                <a:cs typeface="Liberation Sans"/>
              </a:defRPr>
            </a:pPr>
            <a:r>
              <a:rPr sz="1800" b="0">
                <a:solidFill>
                  <a:srgbClr val="626262"/>
                </a:solidFill>
                <a:latin typeface="Liberation Sans"/>
                <a:ea typeface="Liberation Sans"/>
                <a:cs typeface="Liberation Sans"/>
              </a:rPr>
              <a:t>units of seven-day demand</a:t>
            </a:r>
          </a:p>
        </p:txBody>
      </p:sp>
      <p:sp>
        <p:nvSpPr>
          <p:cNvPr id="7" name="25.636">
            <a:extLst xmlns:a="http://schemas.openxmlformats.org/drawingml/2006/main">
              <a:ext uri="{FF2B5EF4-FFF2-40B4-BE49-F238E27FC236}">
                <a16:creationId xmlns:a16="http://schemas.microsoft.com/office/drawing/2014/main" id="{BB7219EE-7C3F-4D9C-A747-8E2A48D646BA}"/>
              </a:ext>
            </a:extLst>
          </p:cNvPr>
          <p:cNvSpPr>
            <a:spLocks xmlns:a="http://schemas.openxmlformats.org/drawingml/2006/main" noGrp="1"/>
          </p:cNvSpPr>
          <p:nvPr/>
        </p:nvSpPr>
        <p:spPr>
          <a:xfrm xmlns:a="http://schemas.openxmlformats.org/drawingml/2006/main">
            <a:off x="609600" y="3867150"/>
            <a:ext cx="3305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21212"/>
                </a:solidFill>
                <a:latin typeface="Liberation Sans"/>
                <a:ea typeface="Liberation Sans"/>
                <a:cs typeface="Liberation Sans"/>
              </a:defRPr>
            </a:defPPr>
          </a:lstStyle>
          <a:p xmlns:a="http://schemas.openxmlformats.org/drawingml/2006/main">
            <a:pPr algn="l">
              <a:defRPr sz="4425" b="1">
                <a:solidFill>
                  <a:srgbClr val="121212"/>
                </a:solidFill>
                <a:latin typeface="Liberation Sans"/>
                <a:ea typeface="Liberation Sans"/>
                <a:cs typeface="Liberation Sans"/>
              </a:defRPr>
            </a:pPr>
            <a:r>
              <a:rPr sz="4425" b="1">
                <a:solidFill>
                  <a:srgbClr val="121212"/>
                </a:solidFill>
                <a:latin typeface="Liberation Sans"/>
                <a:ea typeface="Liberation Sans"/>
                <a:cs typeface="Liberation Sans"/>
              </a:rPr>
              <a:t>25.636</a:t>
            </a:r>
          </a:p>
        </p:txBody>
      </p:sp>
      <p:sp>
        <p:nvSpPr>
          <p:cNvPr id="8" name="units unmet with no change">
            <a:extLst xmlns:a="http://schemas.openxmlformats.org/drawingml/2006/main">
              <a:ext uri="{FF2B5EF4-FFF2-40B4-BE49-F238E27FC236}">
                <a16:creationId xmlns:a16="http://schemas.microsoft.com/office/drawing/2014/main" id="{0C9AB9B6-8DA0-4E49-B521-E6E0EC9D9AE0}"/>
              </a:ext>
            </a:extLst>
          </p:cNvPr>
          <p:cNvSpPr>
            <a:spLocks xmlns:a="http://schemas.openxmlformats.org/drawingml/2006/main" noGrp="1"/>
          </p:cNvSpPr>
          <p:nvPr/>
        </p:nvSpPr>
        <p:spPr>
          <a:xfrm xmlns:a="http://schemas.openxmlformats.org/drawingml/2006/main">
            <a:off x="638175" y="4695825"/>
            <a:ext cx="31051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26262"/>
                </a:solidFill>
                <a:latin typeface="Liberation Sans"/>
                <a:ea typeface="Liberation Sans"/>
                <a:cs typeface="Liberation Sans"/>
              </a:defRPr>
            </a:defPPr>
          </a:lstStyle>
          <a:p xmlns:a="http://schemas.openxmlformats.org/drawingml/2006/main">
            <a:pPr algn="l">
              <a:defRPr sz="1800" b="0">
                <a:solidFill>
                  <a:srgbClr val="626262"/>
                </a:solidFill>
                <a:latin typeface="Liberation Sans"/>
                <a:ea typeface="Liberation Sans"/>
                <a:cs typeface="Liberation Sans"/>
              </a:defRPr>
            </a:pPr>
            <a:r>
              <a:rPr sz="1800" b="0">
                <a:solidFill>
                  <a:srgbClr val="626262"/>
                </a:solidFill>
                <a:latin typeface="Liberation Sans"/>
                <a:ea typeface="Liberation Sans"/>
                <a:cs typeface="Liberation Sans"/>
              </a:rPr>
              <a:t>units unmet with no change</a:t>
            </a:r>
          </a:p>
        </p:txBody>
      </p:sp>
      <p:pic>
        <p:nvPicPr>
          <p:cNvPr id="9" name="">
            <a:extLst xmlns:a="http://schemas.openxmlformats.org/drawingml/2006/main">
              <a:ext uri="{FF2B5EF4-FFF2-40B4-BE49-F238E27FC236}">
                <a16:creationId xmlns:a16="http://schemas.microsoft.com/office/drawing/2014/main" id="{3A5C42CD-D442-440D-B3EE-D1D8E5E06852}"/>
              </a:ext>
            </a:extLst>
          </p:cNvPr>
          <p:cNvPicPr>
            <a:picLocks xmlns:a="http://schemas.openxmlformats.org/drawingml/2006/main" noChangeAspect="1"/>
          </p:cNvPicPr>
          <p:nvPr/>
        </p:nvPicPr>
        <p:blipFill>
          <a:blip xmlns:r="http://schemas.openxmlformats.org/officeDocument/2006/relationships" xmlns:a="http://schemas.openxmlformats.org/drawingml/2006/main" r:embed="Rccf19e08a5924a65"/>
          <a:srcRect xmlns:a="http://schemas.openxmlformats.org/drawingml/2006/main" l="21000" t="40900" r="2500" b="5000"/>
          <a:stretch xmlns:a="http://schemas.openxmlformats.org/drawingml/2006/main"/>
        </p:blipFill>
        <p:spPr>
          <a:xfrm xmlns:a="http://schemas.openxmlformats.org/drawingml/2006/main">
            <a:off x="4143375" y="2057400"/>
            <a:ext cx="7410450" cy="3762375"/>
          </a:xfrm>
          <a:prstGeom xmlns:a="http://schemas.openxmlformats.org/drawingml/2006/main" prst="rect">
            <a:avLst/>
          </a:prstGeom>
        </p:spPr>
      </p:pic>
    </p:spTree>
    <p:extLst>
      <p:ext uri="{BB962C8B-B14F-4D97-AF65-F5344CB8AC3E}">
        <p14:creationId xmlns:p14="http://schemas.microsoft.com/office/powerpoint/2010/main" val="851955069"/>
      </p:ext>
    </p:extLst>
  </p:cSld>
</p:sld>
</file>

<file path=ppt/slides/slide4.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3" name="SIX LINKED CASES  WHOLE-EPISODE COMPARISON">
            <a:extLst xmlns:a="http://schemas.openxmlformats.org/drawingml/2006/main">
              <a:ext uri="{FF2B5EF4-FFF2-40B4-BE49-F238E27FC236}">
                <a16:creationId xmlns:a16="http://schemas.microsoft.com/office/drawing/2014/main" id="{83C4A244-9DA1-4247-A70C-A89E8E30DBD7}"/>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SIX LINKED CASES  WHOLE-EPISODE COMPARISON</a:t>
            </a:r>
          </a:p>
        </p:txBody>
      </p:sp>
      <p:sp>
        <p:nvSpPr>
          <p:cNvPr id="2" name="A feasible package can still carry risk">
            <a:extLst xmlns:a="http://schemas.openxmlformats.org/drawingml/2006/main">
              <a:ext uri="{FF2B5EF4-FFF2-40B4-BE49-F238E27FC236}">
                <a16:creationId xmlns:a16="http://schemas.microsoft.com/office/drawing/2014/main" id="{3BCF332F-2324-48ED-A57B-F202D1B5D45C}"/>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A feasible package can still carry risk</a:t>
            </a:r>
          </a:p>
        </p:txBody>
      </p:sp>
      <p:sp>
        <p:nvSpPr>
          <p:cNvPr id="3" name="04">
            <a:extLst xmlns:a="http://schemas.openxmlformats.org/drawingml/2006/main">
              <a:ext uri="{FF2B5EF4-FFF2-40B4-BE49-F238E27FC236}">
                <a16:creationId xmlns:a16="http://schemas.microsoft.com/office/drawing/2014/main" id="{5ABDBBC4-BBD8-4347-9FA6-86C1AA308057}"/>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04</a:t>
            </a:r>
          </a:p>
        </p:txBody>
      </p:sp>
      <p:sp>
        <p:nvSpPr>
          <p:cNvPr id="4" name="Default synthetic snapshot, no additional ">
            <a:extLst xmlns:a="http://schemas.openxmlformats.org/drawingml/2006/main">
              <a:ext uri="{FF2B5EF4-FFF2-40B4-BE49-F238E27FC236}">
                <a16:creationId xmlns:a16="http://schemas.microsoft.com/office/drawing/2014/main" id="{242DE509-A16F-4FF4-8989-10781BA0402B}"/>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Default synthetic snapshot, no additional session reservations. Bounded comparison only. No learned or globally optimal policy.</a:t>
            </a:r>
          </a:p>
        </p:txBody>
      </p:sp>
      <p:sp>
        <p:nvSpPr>
          <p:cNvPr id="5" name="72">
            <a:extLst xmlns:a="http://schemas.openxmlformats.org/drawingml/2006/main">
              <a:ext uri="{FF2B5EF4-FFF2-40B4-BE49-F238E27FC236}">
                <a16:creationId xmlns:a16="http://schemas.microsoft.com/office/drawing/2014/main" id="{62261D16-15E8-4386-916E-817450DD02DD}"/>
              </a:ext>
            </a:extLst>
          </p:cNvPr>
          <p:cNvSpPr>
            <a:spLocks xmlns:a="http://schemas.openxmlformats.org/drawingml/2006/main" noGrp="1"/>
          </p:cNvSpPr>
          <p:nvPr/>
        </p:nvSpPr>
        <p:spPr>
          <a:xfrm xmlns:a="http://schemas.openxmlformats.org/drawingml/2006/main">
            <a:off x="609600" y="1905000"/>
            <a:ext cx="319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21212"/>
                </a:solidFill>
                <a:latin typeface="Liberation Sans"/>
                <a:ea typeface="Liberation Sans"/>
                <a:cs typeface="Liberation Sans"/>
              </a:defRPr>
            </a:defPPr>
          </a:lstStyle>
          <a:p xmlns:a="http://schemas.openxmlformats.org/drawingml/2006/main">
            <a:pPr algn="l">
              <a:defRPr sz="4950" b="1">
                <a:solidFill>
                  <a:srgbClr val="121212"/>
                </a:solidFill>
                <a:latin typeface="Liberation Sans"/>
                <a:ea typeface="Liberation Sans"/>
                <a:cs typeface="Liberation Sans"/>
              </a:defRPr>
            </a:pPr>
            <a:r>
              <a:rPr sz="4950" b="1">
                <a:solidFill>
                  <a:srgbClr val="121212"/>
                </a:solidFill>
                <a:latin typeface="Liberation Sans"/>
                <a:ea typeface="Liberation Sans"/>
                <a:cs typeface="Liberation Sans"/>
              </a:rPr>
              <a:t>72</a:t>
            </a:r>
          </a:p>
        </p:txBody>
      </p:sp>
      <p:sp>
        <p:nvSpPr>
          <p:cNvPr id="6" name="packages checked">
            <a:extLst xmlns:a="http://schemas.openxmlformats.org/drawingml/2006/main">
              <a:ext uri="{FF2B5EF4-FFF2-40B4-BE49-F238E27FC236}">
                <a16:creationId xmlns:a16="http://schemas.microsoft.com/office/drawing/2014/main" id="{C7EB8CD1-3085-4ECE-8C86-F50817D90792}"/>
              </a:ext>
            </a:extLst>
          </p:cNvPr>
          <p:cNvSpPr>
            <a:spLocks xmlns:a="http://schemas.openxmlformats.org/drawingml/2006/main" noGrp="1"/>
          </p:cNvSpPr>
          <p:nvPr/>
        </p:nvSpPr>
        <p:spPr>
          <a:xfrm xmlns:a="http://schemas.openxmlformats.org/drawingml/2006/main">
            <a:off x="638175" y="2733675"/>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26262"/>
                </a:solidFill>
                <a:latin typeface="Liberation Sans"/>
                <a:ea typeface="Liberation Sans"/>
                <a:cs typeface="Liberation Sans"/>
              </a:defRPr>
            </a:defPPr>
          </a:lstStyle>
          <a:p xmlns:a="http://schemas.openxmlformats.org/drawingml/2006/main">
            <a:pPr algn="l">
              <a:defRPr sz="1725" b="0">
                <a:solidFill>
                  <a:srgbClr val="626262"/>
                </a:solidFill>
                <a:latin typeface="Liberation Sans"/>
                <a:ea typeface="Liberation Sans"/>
                <a:cs typeface="Liberation Sans"/>
              </a:defRPr>
            </a:pPr>
            <a:r>
              <a:rPr sz="1725" b="0">
                <a:solidFill>
                  <a:srgbClr val="626262"/>
                </a:solidFill>
                <a:latin typeface="Liberation Sans"/>
                <a:ea typeface="Liberation Sans"/>
                <a:cs typeface="Liberation Sans"/>
              </a:rPr>
              <a:t>packages checked</a:t>
            </a:r>
          </a:p>
        </p:txBody>
      </p:sp>
      <p:sp>
        <p:nvSpPr>
          <p:cNvPr id="7" name="48">
            <a:extLst xmlns:a="http://schemas.openxmlformats.org/drawingml/2006/main">
              <a:ext uri="{FF2B5EF4-FFF2-40B4-BE49-F238E27FC236}">
                <a16:creationId xmlns:a16="http://schemas.microsoft.com/office/drawing/2014/main" id="{4EC60EBC-96E3-46BC-991B-3F347A31EC97}"/>
              </a:ext>
            </a:extLst>
          </p:cNvPr>
          <p:cNvSpPr>
            <a:spLocks xmlns:a="http://schemas.openxmlformats.org/drawingml/2006/main" noGrp="1"/>
          </p:cNvSpPr>
          <p:nvPr/>
        </p:nvSpPr>
        <p:spPr>
          <a:xfrm xmlns:a="http://schemas.openxmlformats.org/drawingml/2006/main">
            <a:off x="4324350" y="1905000"/>
            <a:ext cx="319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21212"/>
                </a:solidFill>
                <a:latin typeface="Liberation Sans"/>
                <a:ea typeface="Liberation Sans"/>
                <a:cs typeface="Liberation Sans"/>
              </a:defRPr>
            </a:defPPr>
          </a:lstStyle>
          <a:p xmlns:a="http://schemas.openxmlformats.org/drawingml/2006/main">
            <a:pPr algn="l">
              <a:defRPr sz="4950" b="1">
                <a:solidFill>
                  <a:srgbClr val="121212"/>
                </a:solidFill>
                <a:latin typeface="Liberation Sans"/>
                <a:ea typeface="Liberation Sans"/>
                <a:cs typeface="Liberation Sans"/>
              </a:defRPr>
            </a:pPr>
            <a:r>
              <a:rPr sz="4950" b="1">
                <a:solidFill>
                  <a:srgbClr val="121212"/>
                </a:solidFill>
                <a:latin typeface="Liberation Sans"/>
                <a:ea typeface="Liberation Sans"/>
                <a:cs typeface="Liberation Sans"/>
              </a:rPr>
              <a:t>48</a:t>
            </a:r>
          </a:p>
        </p:txBody>
      </p:sp>
      <p:sp>
        <p:nvSpPr>
          <p:cNvPr id="8" name="feasible">
            <a:extLst xmlns:a="http://schemas.openxmlformats.org/drawingml/2006/main">
              <a:ext uri="{FF2B5EF4-FFF2-40B4-BE49-F238E27FC236}">
                <a16:creationId xmlns:a16="http://schemas.microsoft.com/office/drawing/2014/main" id="{9703A27F-000A-4E26-A3D2-D4A8401C3609}"/>
              </a:ext>
            </a:extLst>
          </p:cNvPr>
          <p:cNvSpPr>
            <a:spLocks xmlns:a="http://schemas.openxmlformats.org/drawingml/2006/main" noGrp="1"/>
          </p:cNvSpPr>
          <p:nvPr/>
        </p:nvSpPr>
        <p:spPr>
          <a:xfrm xmlns:a="http://schemas.openxmlformats.org/drawingml/2006/main">
            <a:off x="4352925" y="2733675"/>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26262"/>
                </a:solidFill>
                <a:latin typeface="Liberation Sans"/>
                <a:ea typeface="Liberation Sans"/>
                <a:cs typeface="Liberation Sans"/>
              </a:defRPr>
            </a:defPPr>
          </a:lstStyle>
          <a:p xmlns:a="http://schemas.openxmlformats.org/drawingml/2006/main">
            <a:pPr algn="l">
              <a:defRPr sz="1725" b="0">
                <a:solidFill>
                  <a:srgbClr val="626262"/>
                </a:solidFill>
                <a:latin typeface="Liberation Sans"/>
                <a:ea typeface="Liberation Sans"/>
                <a:cs typeface="Liberation Sans"/>
              </a:defRPr>
            </a:pPr>
            <a:r>
              <a:rPr sz="1725" b="0">
                <a:solidFill>
                  <a:srgbClr val="626262"/>
                </a:solidFill>
                <a:latin typeface="Liberation Sans"/>
                <a:ea typeface="Liberation Sans"/>
                <a:cs typeface="Liberation Sans"/>
              </a:rPr>
              <a:t>feasible</a:t>
            </a:r>
          </a:p>
        </p:txBody>
      </p:sp>
      <p:sp>
        <p:nvSpPr>
          <p:cNvPr id="9" name="24">
            <a:extLst xmlns:a="http://schemas.openxmlformats.org/drawingml/2006/main">
              <a:ext uri="{FF2B5EF4-FFF2-40B4-BE49-F238E27FC236}">
                <a16:creationId xmlns:a16="http://schemas.microsoft.com/office/drawing/2014/main" id="{FB9EA290-09AE-47A3-8AD1-C74D8C28F5CB}"/>
              </a:ext>
            </a:extLst>
          </p:cNvPr>
          <p:cNvSpPr>
            <a:spLocks xmlns:a="http://schemas.openxmlformats.org/drawingml/2006/main" noGrp="1"/>
          </p:cNvSpPr>
          <p:nvPr/>
        </p:nvSpPr>
        <p:spPr>
          <a:xfrm xmlns:a="http://schemas.openxmlformats.org/drawingml/2006/main">
            <a:off x="8039100" y="1905000"/>
            <a:ext cx="319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21212"/>
                </a:solidFill>
                <a:latin typeface="Liberation Sans"/>
                <a:ea typeface="Liberation Sans"/>
                <a:cs typeface="Liberation Sans"/>
              </a:defRPr>
            </a:defPPr>
          </a:lstStyle>
          <a:p xmlns:a="http://schemas.openxmlformats.org/drawingml/2006/main">
            <a:pPr algn="l">
              <a:defRPr sz="4950" b="1">
                <a:solidFill>
                  <a:srgbClr val="121212"/>
                </a:solidFill>
                <a:latin typeface="Liberation Sans"/>
                <a:ea typeface="Liberation Sans"/>
                <a:cs typeface="Liberation Sans"/>
              </a:defRPr>
            </a:pPr>
            <a:r>
              <a:rPr sz="4950" b="1">
                <a:solidFill>
                  <a:srgbClr val="121212"/>
                </a:solidFill>
                <a:latin typeface="Liberation Sans"/>
                <a:ea typeface="Liberation Sans"/>
                <a:cs typeface="Liberation Sans"/>
              </a:rPr>
              <a:t>24</a:t>
            </a:r>
          </a:p>
        </p:txBody>
      </p:sp>
      <p:sp>
        <p:nvSpPr>
          <p:cNvPr id="10" name="blocked">
            <a:extLst xmlns:a="http://schemas.openxmlformats.org/drawingml/2006/main">
              <a:ext uri="{FF2B5EF4-FFF2-40B4-BE49-F238E27FC236}">
                <a16:creationId xmlns:a16="http://schemas.microsoft.com/office/drawing/2014/main" id="{70C7C4F9-6E0F-4A14-A162-40F6A9F04541}"/>
              </a:ext>
            </a:extLst>
          </p:cNvPr>
          <p:cNvSpPr>
            <a:spLocks xmlns:a="http://schemas.openxmlformats.org/drawingml/2006/main" noGrp="1"/>
          </p:cNvSpPr>
          <p:nvPr/>
        </p:nvSpPr>
        <p:spPr>
          <a:xfrm xmlns:a="http://schemas.openxmlformats.org/drawingml/2006/main">
            <a:off x="8067675" y="2733675"/>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26262"/>
                </a:solidFill>
                <a:latin typeface="Liberation Sans"/>
                <a:ea typeface="Liberation Sans"/>
                <a:cs typeface="Liberation Sans"/>
              </a:defRPr>
            </a:defPPr>
          </a:lstStyle>
          <a:p xmlns:a="http://schemas.openxmlformats.org/drawingml/2006/main">
            <a:pPr algn="l">
              <a:defRPr sz="1725" b="0">
                <a:solidFill>
                  <a:srgbClr val="626262"/>
                </a:solidFill>
                <a:latin typeface="Liberation Sans"/>
                <a:ea typeface="Liberation Sans"/>
                <a:cs typeface="Liberation Sans"/>
              </a:defRPr>
            </a:pPr>
            <a:r>
              <a:rPr sz="1725" b="0">
                <a:solidFill>
                  <a:srgbClr val="626262"/>
                </a:solidFill>
                <a:latin typeface="Liberation Sans"/>
                <a:ea typeface="Liberation Sans"/>
                <a:cs typeface="Liberation Sans"/>
              </a:rPr>
              <a:t>blocked</a:t>
            </a:r>
          </a:p>
        </p:txBody>
      </p:sp>
      <p:graphicFrame>
        <p:nvGraphicFramePr>
          <p:cNvPr id="11" name="">
            <a:extLst xmlns:a="http://schemas.openxmlformats.org/drawingml/2006/main">
              <a:ext uri="{FF2B5EF4-FFF2-40B4-BE49-F238E27FC236}">
                <a16:creationId xmlns:a16="http://schemas.microsoft.com/office/drawing/2014/main" id="{806F263D-4E29-4753-BC87-981D58EA67AD}"/>
              </a:ext>
            </a:extLst>
          </p:cNvPr>
          <p:cNvGraphicFramePr/>
          <p:nvPr/>
        </p:nvGraphicFramePr>
        <p:xfrm>
          <a:off xmlns:a="http://schemas.openxmlformats.org/drawingml/2006/main" x="609600" y="3381375"/>
          <a:ext xmlns:a="http://schemas.openxmlformats.org/drawingml/2006/main" cx="10953750" cy="1762125"/>
        </p:xfrm>
        <a:graphic xmlns:a="http://schemas.openxmlformats.org/drawingml/2006/main">
          <a:graphicData uri="http://schemas.openxmlformats.org/drawingml/2006/table">
            <a:tbl>
              <a:tblPr/>
              <a:tblGrid>
                <a:gridCol w="5410200"/>
                <a:gridCol w="3000375"/>
                <a:gridCol w="2543175"/>
              </a:tblGrid>
              <a:tr h="587375">
                <a:tc>
                  <a:txBody>
                    <a:bodyPr lIns="114300" tIns="114300" rIns="114300" bIns="114300"/>
                    <a:lstStyle/>
                    <a:p>
                      <a:r>
                        <a:rPr sz="1275" b="1">
                          <a:solidFill>
                            <a:srgbClr val="FFFFFF"/>
                          </a:solidFill>
                          <a:latin typeface="Liberation Sans"/>
                          <a:ea typeface="Liberation Sans"/>
                          <a:cs typeface="Liberation Sans"/>
                        </a:rPr>
                        <a:t>Whole-episode package</a:t>
                      </a:r>
                    </a:p>
                  </a:txBody>
                  <a:tcPr marL="91440" marR="91440" marT="45720" marB="45720">
                    <a:solidFill>
                      <a:srgbClr val="121212"/>
                    </a:solidFill>
                  </a:tcPr>
                </a:tc>
                <a:tc>
                  <a:txBody>
                    <a:bodyPr lIns="114300" tIns="114300" rIns="114300" bIns="114300"/>
                    <a:lstStyle/>
                    <a:p>
                      <a:r>
                        <a:rPr sz="1275" b="1">
                          <a:solidFill>
                            <a:srgbClr val="FFFFFF"/>
                          </a:solidFill>
                          <a:latin typeface="Liberation Sans"/>
                          <a:ea typeface="Liberation Sans"/>
                          <a:cs typeface="Liberation Sans"/>
                        </a:rPr>
                        <a:t>Modeled unmet demand</a:t>
                      </a:r>
                    </a:p>
                  </a:txBody>
                  <a:tcPr marL="91440" marR="91440" marT="45720" marB="45720">
                    <a:solidFill>
                      <a:srgbClr val="121212"/>
                    </a:solidFill>
                  </a:tcPr>
                </a:tc>
                <a:tc>
                  <a:txBody>
                    <a:bodyPr lIns="114300" tIns="114300" rIns="114300" bIns="114300"/>
                    <a:lstStyle/>
                    <a:p>
                      <a:r>
                        <a:rPr sz="1275" b="1">
                          <a:solidFill>
                            <a:srgbClr val="FFFFFF"/>
                          </a:solidFill>
                          <a:latin typeface="Liberation Sans"/>
                          <a:ea typeface="Liberation Sans"/>
                          <a:cs typeface="Liberation Sans"/>
                        </a:rPr>
                        <a:t>Continuity gap</a:t>
                      </a:r>
                    </a:p>
                  </a:txBody>
                  <a:tcPr marL="91440" marR="91440" marT="45720" marB="45720">
                    <a:solidFill>
                      <a:srgbClr val="121212"/>
                    </a:solidFill>
                  </a:tcPr>
                </a:tc>
              </a:tr>
              <a:tr h="587375">
                <a:tc>
                  <a:txBody>
                    <a:bodyPr lIns="114300" tIns="114300" rIns="114300" bIns="114300"/>
                    <a:lstStyle/>
                    <a:p>
                      <a:r>
                        <a:rPr sz="1650" b="0">
                          <a:solidFill>
                            <a:srgbClr val="121212"/>
                          </a:solidFill>
                          <a:latin typeface="Liberation Sans"/>
                          <a:ea typeface="Liberation Sans"/>
                          <a:cs typeface="Liberation Sans"/>
                        </a:rPr>
                        <a:t>No change</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25.636 units</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4.0 hours</a:t>
                      </a:r>
                    </a:p>
                  </a:txBody>
                  <a:tcPr marL="91440" marR="91440" marT="45720" marB="45720">
                    <a:solidFill>
                      <a:srgbClr val="FFFFFF"/>
                    </a:solidFill>
                  </a:tcPr>
                </a:tc>
              </a:tr>
              <a:tr h="587375">
                <a:tc>
                  <a:txBody>
                    <a:bodyPr lIns="114300" tIns="114300" rIns="114300" bIns="114300"/>
                    <a:lstStyle/>
                    <a:p>
                      <a:r>
                        <a:rPr sz="1650" b="0">
                          <a:solidFill>
                            <a:srgbClr val="121212"/>
                          </a:solidFill>
                          <a:latin typeface="Liberation Sans"/>
                          <a:ea typeface="Liberation Sans"/>
                          <a:cs typeface="Liberation Sans"/>
                        </a:rPr>
                        <a:t>One frontier example</a:t>
                      </a:r>
                    </a:p>
                  </a:txBody>
                  <a:tcPr marL="91440" marR="91440" marT="45720" marB="45720">
                    <a:solidFill>
                      <a:srgbClr val="F5F5F1"/>
                    </a:solidFill>
                  </a:tcPr>
                </a:tc>
                <a:tc>
                  <a:txBody>
                    <a:bodyPr lIns="114300" tIns="114300" rIns="114300" bIns="114300"/>
                    <a:lstStyle/>
                    <a:p>
                      <a:r>
                        <a:rPr sz="1650" b="0">
                          <a:solidFill>
                            <a:srgbClr val="121212"/>
                          </a:solidFill>
                          <a:latin typeface="Liberation Sans"/>
                          <a:ea typeface="Liberation Sans"/>
                          <a:cs typeface="Liberation Sans"/>
                        </a:rPr>
                        <a:t>0 units</a:t>
                      </a:r>
                    </a:p>
                  </a:txBody>
                  <a:tcPr marL="91440" marR="91440" marT="45720" marB="45720">
                    <a:solidFill>
                      <a:srgbClr val="F5F5F1"/>
                    </a:solidFill>
                  </a:tcPr>
                </a:tc>
                <a:tc>
                  <a:txBody>
                    <a:bodyPr lIns="114300" tIns="114300" rIns="114300" bIns="114300"/>
                    <a:lstStyle/>
                    <a:p>
                      <a:r>
                        <a:rPr sz="1650" b="0">
                          <a:solidFill>
                            <a:srgbClr val="121212"/>
                          </a:solidFill>
                          <a:latin typeface="Liberation Sans"/>
                          <a:ea typeface="Liberation Sans"/>
                          <a:cs typeface="Liberation Sans"/>
                        </a:rPr>
                        <a:t>1.3 hours</a:t>
                      </a:r>
                    </a:p>
                  </a:txBody>
                  <a:tcPr marL="91440" marR="91440" marT="45720" marB="45720">
                    <a:solidFill>
                      <a:srgbClr val="F5F5F1"/>
                    </a:solidFill>
                  </a:tcPr>
                </a:tc>
              </a:tr>
            </a:tbl>
          </a:graphicData>
        </a:graphic>
      </p:graphicFrame>
      <p:sp>
        <p:nvSpPr>
          <p:cNvPr id="12" name="Buffer transfer + invoice review + qualifi">
            <a:extLst xmlns:a="http://schemas.openxmlformats.org/drawingml/2006/main">
              <a:ext uri="{FF2B5EF4-FFF2-40B4-BE49-F238E27FC236}">
                <a16:creationId xmlns:a16="http://schemas.microsoft.com/office/drawing/2014/main" id="{55A0FEA9-769B-407C-AECF-CEAD58179BCE}"/>
              </a:ext>
            </a:extLst>
          </p:cNvPr>
          <p:cNvSpPr>
            <a:spLocks xmlns:a="http://schemas.openxmlformats.org/drawingml/2006/main" noGrp="1"/>
          </p:cNvSpPr>
          <p:nvPr/>
        </p:nvSpPr>
        <p:spPr>
          <a:xfrm xmlns:a="http://schemas.openxmlformats.org/drawingml/2006/main">
            <a:off x="638175" y="5410200"/>
            <a:ext cx="10896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21212"/>
                </a:solidFill>
                <a:latin typeface="Liberation Sans"/>
                <a:ea typeface="Liberation Sans"/>
                <a:cs typeface="Liberation Sans"/>
              </a:defRPr>
            </a:defPPr>
          </a:lstStyle>
          <a:p xmlns:a="http://schemas.openxmlformats.org/drawingml/2006/main">
            <a:pPr algn="l">
              <a:defRPr sz="1875" b="1">
                <a:solidFill>
                  <a:srgbClr val="121212"/>
                </a:solidFill>
                <a:latin typeface="Liberation Sans"/>
                <a:ea typeface="Liberation Sans"/>
                <a:cs typeface="Liberation Sans"/>
              </a:defRPr>
            </a:pPr>
            <a:r>
              <a:rPr sz="1875" b="1">
                <a:solidFill>
                  <a:srgbClr val="121212"/>
                </a:solidFill>
                <a:latin typeface="Liberation Sans"/>
                <a:ea typeface="Liberation Sans"/>
                <a:cs typeface="Liberation Sans"/>
              </a:rPr>
              <a:t>Buffer transfer + invoice review + qualified service + safety-minimum power</a:t>
            </a:r>
          </a:p>
        </p:txBody>
      </p:sp>
    </p:spTree>
    <p:extLst>
      <p:ext uri="{BB962C8B-B14F-4D97-AF65-F5344CB8AC3E}">
        <p14:creationId xmlns:p14="http://schemas.microsoft.com/office/powerpoint/2010/main" val="1747194027"/>
      </p:ext>
    </p:extLst>
  </p:cSld>
</p:sld>
</file>

<file path=ppt/slides/slide5.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1" name="WORKING PRODUCT  SHARED RESOURCE ACCOUNTIN">
            <a:extLst xmlns:a="http://schemas.openxmlformats.org/drawingml/2006/main">
              <a:ext uri="{FF2B5EF4-FFF2-40B4-BE49-F238E27FC236}">
                <a16:creationId xmlns:a16="http://schemas.microsoft.com/office/drawing/2014/main" id="{607024A6-C4D8-45D8-ADE5-1B7CE89AEAB8}"/>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WORKING PRODUCT  SHARED RESOURCE ACCOUNTING</a:t>
            </a:r>
          </a:p>
        </p:txBody>
      </p:sp>
      <p:sp>
        <p:nvSpPr>
          <p:cNvPr id="2" name="Every comparison retains its evidence">
            <a:extLst xmlns:a="http://schemas.openxmlformats.org/drawingml/2006/main">
              <a:ext uri="{FF2B5EF4-FFF2-40B4-BE49-F238E27FC236}">
                <a16:creationId xmlns:a16="http://schemas.microsoft.com/office/drawing/2014/main" id="{8C7FA2A0-88D9-4F5E-B9F3-5835E98FF07B}"/>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Every comparison retains its evidence</a:t>
            </a:r>
          </a:p>
        </p:txBody>
      </p:sp>
      <p:sp>
        <p:nvSpPr>
          <p:cNvPr id="3" name="05">
            <a:extLst xmlns:a="http://schemas.openxmlformats.org/drawingml/2006/main">
              <a:ext uri="{FF2B5EF4-FFF2-40B4-BE49-F238E27FC236}">
                <a16:creationId xmlns:a16="http://schemas.microsoft.com/office/drawing/2014/main" id="{DE073FC6-5076-4D5A-9EED-56AB6AB6D1C0}"/>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05</a:t>
            </a:r>
          </a:p>
        </p:txBody>
      </p:sp>
      <p:sp>
        <p:nvSpPr>
          <p:cNvPr id="4" name="Actual v74 screen, 10 Oct 2026. Synthetic ">
            <a:extLst xmlns:a="http://schemas.openxmlformats.org/drawingml/2006/main">
              <a:ext uri="{FF2B5EF4-FFF2-40B4-BE49-F238E27FC236}">
                <a16:creationId xmlns:a16="http://schemas.microsoft.com/office/drawing/2014/main" id="{6A3040F4-4826-4556-A989-C68830482DE5}"/>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Actual v74 screen, 10 Oct 2026. Synthetic operations. Joint plans are read-only; selected-case records remain separate.</a:t>
            </a:r>
          </a:p>
        </p:txBody>
      </p:sp>
      <p:pic>
        <p:nvPicPr>
          <p:cNvPr id="5" name="">
            <a:extLst xmlns:a="http://schemas.openxmlformats.org/drawingml/2006/main">
              <a:ext uri="{FF2B5EF4-FFF2-40B4-BE49-F238E27FC236}">
                <a16:creationId xmlns:a16="http://schemas.microsoft.com/office/drawing/2014/main" id="{E437A55F-16C9-416A-9C2E-6DC43E9FCEDB}"/>
              </a:ext>
            </a:extLst>
          </p:cNvPr>
          <p:cNvPicPr>
            <a:picLocks xmlns:a="http://schemas.openxmlformats.org/drawingml/2006/main" noChangeAspect="1"/>
          </p:cNvPicPr>
          <p:nvPr/>
        </p:nvPicPr>
        <p:blipFill>
          <a:blip xmlns:r="http://schemas.openxmlformats.org/officeDocument/2006/relationships" xmlns:a="http://schemas.openxmlformats.org/drawingml/2006/main" r:embed="Rabbada4feeec495d"/>
          <a:srcRect xmlns:a="http://schemas.openxmlformats.org/drawingml/2006/main" l="18800" t="10500" r="3300" b="28000"/>
          <a:stretch xmlns:a="http://schemas.openxmlformats.org/drawingml/2006/main"/>
        </p:blipFill>
        <p:spPr>
          <a:xfrm xmlns:a="http://schemas.openxmlformats.org/drawingml/2006/main">
            <a:off x="609600" y="1952625"/>
            <a:ext cx="7581900" cy="3962400"/>
          </a:xfrm>
          <a:prstGeom xmlns:a="http://schemas.openxmlformats.org/drawingml/2006/main" prst="rect">
            <a:avLst/>
          </a:prstGeom>
        </p:spPr>
      </p:pic>
      <p:sp>
        <p:nvSpPr>
          <p:cNvPr id="6" name="One ledger">
            <a:extLst xmlns:a="http://schemas.openxmlformats.org/drawingml/2006/main">
              <a:ext uri="{FF2B5EF4-FFF2-40B4-BE49-F238E27FC236}">
                <a16:creationId xmlns:a16="http://schemas.microsoft.com/office/drawing/2014/main" id="{CAFB6D56-D104-4C2E-B0D9-96046DF9D73F}"/>
              </a:ext>
            </a:extLst>
          </p:cNvPr>
          <p:cNvSpPr>
            <a:spLocks xmlns:a="http://schemas.openxmlformats.org/drawingml/2006/main" noGrp="1"/>
          </p:cNvSpPr>
          <p:nvPr/>
        </p:nvSpPr>
        <p:spPr>
          <a:xfrm xmlns:a="http://schemas.openxmlformats.org/drawingml/2006/main">
            <a:off x="8696325" y="2047875"/>
            <a:ext cx="2876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1212"/>
                </a:solidFill>
                <a:latin typeface="Liberation Sans"/>
                <a:ea typeface="Liberation Sans"/>
                <a:cs typeface="Liberation Sans"/>
              </a:defRPr>
            </a:defPPr>
          </a:lstStyle>
          <a:p xmlns:a="http://schemas.openxmlformats.org/drawingml/2006/main">
            <a:pPr algn="l">
              <a:defRPr sz="2175" b="1">
                <a:solidFill>
                  <a:srgbClr val="121212"/>
                </a:solidFill>
                <a:latin typeface="Liberation Sans"/>
                <a:ea typeface="Liberation Sans"/>
                <a:cs typeface="Liberation Sans"/>
              </a:defRPr>
            </a:pPr>
            <a:r>
              <a:rPr sz="2175" b="1">
                <a:solidFill>
                  <a:srgbClr val="121212"/>
                </a:solidFill>
                <a:latin typeface="Liberation Sans"/>
                <a:ea typeface="Liberation Sans"/>
                <a:cs typeface="Liberation Sans"/>
              </a:rPr>
              <a:t>One ledger</a:t>
            </a:r>
          </a:p>
        </p:txBody>
      </p:sp>
      <p:sp>
        <p:nvSpPr>
          <p:cNvPr id="7" name="Cash, stock, fuel, staff,&#10;transport, stora">
            <a:extLst xmlns:a="http://schemas.openxmlformats.org/drawingml/2006/main">
              <a:ext uri="{FF2B5EF4-FFF2-40B4-BE49-F238E27FC236}">
                <a16:creationId xmlns:a16="http://schemas.microsoft.com/office/drawing/2014/main" id="{350D18E0-F9FE-4F3C-8FEE-B28CFD64ACF1}"/>
              </a:ext>
            </a:extLst>
          </p:cNvPr>
          <p:cNvSpPr>
            <a:spLocks xmlns:a="http://schemas.openxmlformats.org/drawingml/2006/main" noGrp="1"/>
          </p:cNvSpPr>
          <p:nvPr/>
        </p:nvSpPr>
        <p:spPr>
          <a:xfrm xmlns:a="http://schemas.openxmlformats.org/drawingml/2006/main">
            <a:off x="8696325" y="2533650"/>
            <a:ext cx="2876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Cash, stock, fuel, staff,</a:t>
            </a:r>
          </a:p>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transport, storage and energy</a:t>
            </a:r>
          </a:p>
        </p:txBody>
      </p:sp>
      <p:sp>
        <p:nvSpPr>
          <p:cNvPr id="8" name="">
            <a:extLst xmlns:a="http://schemas.openxmlformats.org/drawingml/2006/main">
              <a:ext uri="{FF2B5EF4-FFF2-40B4-BE49-F238E27FC236}">
                <a16:creationId xmlns:a16="http://schemas.microsoft.com/office/drawing/2014/main" id="{9860530E-6565-49EA-BBAC-913DB6068958}"/>
              </a:ext>
            </a:extLst>
          </p:cNvPr>
          <p:cNvSpPr>
            <a:spLocks xmlns:a="http://schemas.openxmlformats.org/drawingml/2006/main" noGrp="1"/>
          </p:cNvSpPr>
          <p:nvPr/>
        </p:nvSpPr>
        <p:spPr>
          <a:xfrm xmlns:a="http://schemas.openxmlformats.org/drawingml/2006/main">
            <a:off x="8696325" y="3476625"/>
            <a:ext cx="2828925"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9" name="Human control">
            <a:extLst xmlns:a="http://schemas.openxmlformats.org/drawingml/2006/main">
              <a:ext uri="{FF2B5EF4-FFF2-40B4-BE49-F238E27FC236}">
                <a16:creationId xmlns:a16="http://schemas.microsoft.com/office/drawing/2014/main" id="{82FCEFF7-79A8-4B01-A259-08910D4E82CA}"/>
              </a:ext>
            </a:extLst>
          </p:cNvPr>
          <p:cNvSpPr>
            <a:spLocks xmlns:a="http://schemas.openxmlformats.org/drawingml/2006/main" noGrp="1"/>
          </p:cNvSpPr>
          <p:nvPr/>
        </p:nvSpPr>
        <p:spPr>
          <a:xfrm xmlns:a="http://schemas.openxmlformats.org/drawingml/2006/main">
            <a:off x="8696325" y="3714750"/>
            <a:ext cx="2876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1212"/>
                </a:solidFill>
                <a:latin typeface="Liberation Sans"/>
                <a:ea typeface="Liberation Sans"/>
                <a:cs typeface="Liberation Sans"/>
              </a:defRPr>
            </a:defPPr>
          </a:lstStyle>
          <a:p xmlns:a="http://schemas.openxmlformats.org/drawingml/2006/main">
            <a:pPr algn="l">
              <a:defRPr sz="2175" b="1">
                <a:solidFill>
                  <a:srgbClr val="121212"/>
                </a:solidFill>
                <a:latin typeface="Liberation Sans"/>
                <a:ea typeface="Liberation Sans"/>
                <a:cs typeface="Liberation Sans"/>
              </a:defRPr>
            </a:pPr>
            <a:r>
              <a:rPr sz="2175" b="1">
                <a:solidFill>
                  <a:srgbClr val="121212"/>
                </a:solidFill>
                <a:latin typeface="Liberation Sans"/>
                <a:ea typeface="Liberation Sans"/>
                <a:cs typeface="Liberation Sans"/>
              </a:rPr>
              <a:t>Human control</a:t>
            </a:r>
          </a:p>
        </p:txBody>
      </p:sp>
      <p:sp>
        <p:nvSpPr>
          <p:cNvPr id="10" name="No whole-plan save&#10;or execution&#10;&#10;LLM expla">
            <a:extLst xmlns:a="http://schemas.openxmlformats.org/drawingml/2006/main">
              <a:ext uri="{FF2B5EF4-FFF2-40B4-BE49-F238E27FC236}">
                <a16:creationId xmlns:a16="http://schemas.microsoft.com/office/drawing/2014/main" id="{D741E2EC-3554-4C24-A611-6173C89DD472}"/>
              </a:ext>
            </a:extLst>
          </p:cNvPr>
          <p:cNvSpPr>
            <a:spLocks xmlns:a="http://schemas.openxmlformats.org/drawingml/2006/main" noGrp="1"/>
          </p:cNvSpPr>
          <p:nvPr/>
        </p:nvSpPr>
        <p:spPr>
          <a:xfrm xmlns:a="http://schemas.openxmlformats.org/drawingml/2006/main">
            <a:off x="8696325" y="4200525"/>
            <a:ext cx="28765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No whole-plan save</a:t>
            </a:r>
          </a:p>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or execution</a:t>
            </a:r>
          </a:p>
          <a:p xmlns:a="http://schemas.openxmlformats.org/drawingml/2006/main">
            <a:r>
              <a:t/>
            </a:r>
          </a:p>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LLM explains selected</a:t>
            </a:r>
          </a:p>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cases only</a:t>
            </a:r>
          </a:p>
        </p:txBody>
      </p:sp>
    </p:spTree>
    <p:extLst>
      <p:ext uri="{BB962C8B-B14F-4D97-AF65-F5344CB8AC3E}">
        <p14:creationId xmlns:p14="http://schemas.microsoft.com/office/powerpoint/2010/main" val="382680984"/>
      </p:ext>
    </p:extLst>
  </p:cSld>
</p:sld>
</file>

<file path=ppt/slides/slide6.xml><?xml version="1.0" encoding="utf-8"?>
<p:sld xmlns:p="http://schemas.openxmlformats.org/presentationml/2006/main">
  <p:cSld>
    <p:bg>
      <p:bgPr>
        <a:solidFill xmlns:a="http://schemas.openxmlformats.org/drawingml/2006/main">
          <a:srgbClr val="121212"/>
        </a:solidFill>
      </p:bgPr>
    </p:bg>
    <p:spTree>
      <p:nvGrpSpPr>
        <p:cNvPr id="1" name=""/>
        <p:cNvGrpSpPr/>
        <p:nvPr/>
      </p:nvGrpSpPr>
      <p:grpSpPr>
        <a:xfrm xmlns:a="http://schemas.openxmlformats.org/drawingml/2006/main"/>
      </p:grpSpPr>
      <p:sp>
        <p:nvSpPr>
          <p:cNvPr id="12" name="DORMATHON">
            <a:extLst xmlns:a="http://schemas.openxmlformats.org/drawingml/2006/main">
              <a:ext uri="{FF2B5EF4-FFF2-40B4-BE49-F238E27FC236}">
                <a16:creationId xmlns:a16="http://schemas.microsoft.com/office/drawing/2014/main" id="{FFFF64B1-8195-4B75-AF00-E79AD4BFDAB7}"/>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DADA7"/>
                </a:solidFill>
                <a:latin typeface="Liberation Sans"/>
                <a:ea typeface="Liberation Sans"/>
                <a:cs typeface="Liberation Sans"/>
              </a:defRPr>
            </a:defPPr>
          </a:lstStyle>
          <a:p xmlns:a="http://schemas.openxmlformats.org/drawingml/2006/main">
            <a:pPr algn="l">
              <a:defRPr sz="1050" b="1">
                <a:solidFill>
                  <a:srgbClr val="ADADA7"/>
                </a:solidFill>
                <a:latin typeface="Liberation Sans"/>
                <a:ea typeface="Liberation Sans"/>
                <a:cs typeface="Liberation Sans"/>
              </a:defRPr>
            </a:pPr>
            <a:r>
              <a:rPr sz="1050" b="1">
                <a:solidFill>
                  <a:srgbClr val="ADADA7"/>
                </a:solidFill>
                <a:latin typeface="Liberation Sans"/>
                <a:ea typeface="Liberation Sans"/>
                <a:cs typeface="Liberation Sans"/>
              </a:rPr>
              <a:t>DORMATHON</a:t>
            </a:r>
          </a:p>
        </p:txBody>
      </p:sp>
      <p:sp>
        <p:nvSpPr>
          <p:cNvPr id="2" name="A working retail decision workspace">
            <a:extLst xmlns:a="http://schemas.openxmlformats.org/drawingml/2006/main">
              <a:ext uri="{FF2B5EF4-FFF2-40B4-BE49-F238E27FC236}">
                <a16:creationId xmlns:a16="http://schemas.microsoft.com/office/drawing/2014/main" id="{E433125A-18F3-4741-8168-B993B2563566}"/>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Liberation Sans"/>
                <a:ea typeface="Liberation Sans"/>
                <a:cs typeface="Liberation Sans"/>
              </a:defRPr>
            </a:defPPr>
          </a:lstStyle>
          <a:p xmlns:a="http://schemas.openxmlformats.org/drawingml/2006/main">
            <a:pPr algn="l">
              <a:defRPr sz="3300" b="1">
                <a:solidFill>
                  <a:srgbClr val="FFFFFF"/>
                </a:solidFill>
                <a:latin typeface="Liberation Sans"/>
                <a:ea typeface="Liberation Sans"/>
                <a:cs typeface="Liberation Sans"/>
              </a:defRPr>
            </a:pPr>
            <a:r>
              <a:rPr sz="3300" b="1">
                <a:solidFill>
                  <a:srgbClr val="FFFFFF"/>
                </a:solidFill>
                <a:latin typeface="Liberation Sans"/>
                <a:ea typeface="Liberation Sans"/>
                <a:cs typeface="Liberation Sans"/>
              </a:rPr>
              <a:t>A working retail decision workspace</a:t>
            </a:r>
          </a:p>
        </p:txBody>
      </p:sp>
      <p:sp>
        <p:nvSpPr>
          <p:cNvPr id="3" name="06">
            <a:extLst xmlns:a="http://schemas.openxmlformats.org/drawingml/2006/main">
              <a:ext uri="{FF2B5EF4-FFF2-40B4-BE49-F238E27FC236}">
                <a16:creationId xmlns:a16="http://schemas.microsoft.com/office/drawing/2014/main" id="{F1FB49BA-5021-4424-9662-496266A09B07}"/>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AAAAA4"/>
                </a:solidFill>
                <a:latin typeface="Liberation Sans"/>
                <a:ea typeface="Liberation Sans"/>
                <a:cs typeface="Liberation Sans"/>
              </a:defRPr>
            </a:defPPr>
          </a:lstStyle>
          <a:p xmlns:a="http://schemas.openxmlformats.org/drawingml/2006/main">
            <a:pPr algn="r">
              <a:defRPr sz="975" b="0">
                <a:solidFill>
                  <a:srgbClr val="AAAAA4"/>
                </a:solidFill>
                <a:latin typeface="Liberation Sans"/>
                <a:ea typeface="Liberation Sans"/>
                <a:cs typeface="Liberation Sans"/>
              </a:defRPr>
            </a:pPr>
            <a:r>
              <a:rPr sz="975" b="0">
                <a:solidFill>
                  <a:srgbClr val="AAAAA4"/>
                </a:solidFill>
                <a:latin typeface="Liberation Sans"/>
                <a:ea typeface="Liberation Sans"/>
                <a:cs typeface="Liberation Sans"/>
              </a:rPr>
              <a:t>06</a:t>
            </a:r>
          </a:p>
        </p:txBody>
      </p:sp>
      <p:sp>
        <p:nvSpPr>
          <p:cNvPr id="4" name="Public MR D.I.Y. context. Synthetic operat">
            <a:extLst xmlns:a="http://schemas.openxmlformats.org/drawingml/2006/main">
              <a:ext uri="{FF2B5EF4-FFF2-40B4-BE49-F238E27FC236}">
                <a16:creationId xmlns:a16="http://schemas.microsoft.com/office/drawing/2014/main" id="{64B8C6E9-C16F-4AD2-BF78-06C3C8270D11}"/>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5BD"/>
                </a:solidFill>
                <a:latin typeface="Liberation Sans"/>
                <a:ea typeface="Liberation Sans"/>
                <a:cs typeface="Liberation Sans"/>
              </a:defRPr>
            </a:defPPr>
          </a:lstStyle>
          <a:p xmlns:a="http://schemas.openxmlformats.org/drawingml/2006/main">
            <a:pPr algn="l">
              <a:defRPr sz="1050" b="0">
                <a:solidFill>
                  <a:srgbClr val="C5C5BD"/>
                </a:solidFill>
                <a:latin typeface="Liberation Sans"/>
                <a:ea typeface="Liberation Sans"/>
                <a:cs typeface="Liberation Sans"/>
              </a:defRPr>
            </a:pPr>
            <a:r>
              <a:rPr sz="1050" b="0">
                <a:solidFill>
                  <a:srgbClr val="C5C5BD"/>
                </a:solidFill>
                <a:latin typeface="Liberation Sans"/>
                <a:ea typeface="Liberation Sans"/>
                <a:cs typeface="Liberation Sans"/>
              </a:rPr>
              <a:t>Public MR D.I.Y. context. Synthetic operations and conditional simulations. Human review remains required.</a:t>
            </a:r>
          </a:p>
        </p:txBody>
      </p:sp>
      <p:sp>
        <p:nvSpPr>
          <p:cNvPr id="5" name="See the shortage.&#10;Compare a feasible respo">
            <a:extLst xmlns:a="http://schemas.openxmlformats.org/drawingml/2006/main">
              <a:ext uri="{FF2B5EF4-FFF2-40B4-BE49-F238E27FC236}">
                <a16:creationId xmlns:a16="http://schemas.microsoft.com/office/drawing/2014/main" id="{AC5DBB71-147B-4341-B207-FFEBBADA76D2}"/>
              </a:ext>
            </a:extLst>
          </p:cNvPr>
          <p:cNvSpPr>
            <a:spLocks xmlns:a="http://schemas.openxmlformats.org/drawingml/2006/main" noGrp="1"/>
          </p:cNvSpPr>
          <p:nvPr/>
        </p:nvSpPr>
        <p:spPr>
          <a:xfrm xmlns:a="http://schemas.openxmlformats.org/drawingml/2006/main">
            <a:off x="619125" y="2057400"/>
            <a:ext cx="671512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Liberation Sans"/>
                <a:ea typeface="Liberation Sans"/>
                <a:cs typeface="Liberation Sans"/>
              </a:defRPr>
            </a:defPPr>
          </a:lstStyle>
          <a:p xmlns:a="http://schemas.openxmlformats.org/drawingml/2006/main">
            <a:pPr algn="l">
              <a:defRPr sz="3450" b="1">
                <a:solidFill>
                  <a:srgbClr val="FFFFFF"/>
                </a:solidFill>
                <a:latin typeface="Liberation Sans"/>
                <a:ea typeface="Liberation Sans"/>
                <a:cs typeface="Liberation Sans"/>
              </a:defRPr>
            </a:pPr>
            <a:r>
              <a:rPr sz="3450" b="1">
                <a:solidFill>
                  <a:srgbClr val="FFFFFF"/>
                </a:solidFill>
                <a:latin typeface="Liberation Sans"/>
                <a:ea typeface="Liberation Sans"/>
                <a:cs typeface="Liberation Sans"/>
              </a:rPr>
              <a:t>See the shortage.</a:t>
            </a:r>
          </a:p>
          <a:p xmlns:a="http://schemas.openxmlformats.org/drawingml/2006/main">
            <a:pPr algn="l">
              <a:defRPr sz="3450" b="1">
                <a:solidFill>
                  <a:srgbClr val="FFFFFF"/>
                </a:solidFill>
                <a:latin typeface="Liberation Sans"/>
                <a:ea typeface="Liberation Sans"/>
                <a:cs typeface="Liberation Sans"/>
              </a:defRPr>
            </a:pPr>
            <a:r>
              <a:rPr sz="3450" b="1">
                <a:solidFill>
                  <a:srgbClr val="FFFFFF"/>
                </a:solidFill>
                <a:latin typeface="Liberation Sans"/>
                <a:ea typeface="Liberation Sans"/>
                <a:cs typeface="Liberation Sans"/>
              </a:rPr>
              <a:t>Compare a feasible response.</a:t>
            </a:r>
          </a:p>
        </p:txBody>
      </p:sp>
      <p:sp>
        <p:nvSpPr>
          <p:cNvPr id="6" name="Dated outlooks, shared constraints&#10;and vis">
            <a:extLst xmlns:a="http://schemas.openxmlformats.org/drawingml/2006/main">
              <a:ext uri="{FF2B5EF4-FFF2-40B4-BE49-F238E27FC236}">
                <a16:creationId xmlns:a16="http://schemas.microsoft.com/office/drawing/2014/main" id="{EB986649-1509-4C0A-9A77-AC0755E2F8B1}"/>
              </a:ext>
            </a:extLst>
          </p:cNvPr>
          <p:cNvSpPr>
            <a:spLocks xmlns:a="http://schemas.openxmlformats.org/drawingml/2006/main" noGrp="1"/>
          </p:cNvSpPr>
          <p:nvPr/>
        </p:nvSpPr>
        <p:spPr>
          <a:xfrm xmlns:a="http://schemas.openxmlformats.org/drawingml/2006/main">
            <a:off x="647700" y="3943350"/>
            <a:ext cx="59531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C8C8C0"/>
                </a:solidFill>
                <a:latin typeface="Liberation Sans"/>
                <a:ea typeface="Liberation Sans"/>
                <a:cs typeface="Liberation Sans"/>
              </a:defRPr>
            </a:defPPr>
          </a:lstStyle>
          <a:p xmlns:a="http://schemas.openxmlformats.org/drawingml/2006/main">
            <a:pPr algn="l">
              <a:defRPr sz="2100" b="0">
                <a:solidFill>
                  <a:srgbClr val="C8C8C0"/>
                </a:solidFill>
                <a:latin typeface="Liberation Sans"/>
                <a:ea typeface="Liberation Sans"/>
                <a:cs typeface="Liberation Sans"/>
              </a:defRPr>
            </a:pPr>
            <a:r>
              <a:rPr sz="2100" b="0">
                <a:solidFill>
                  <a:srgbClr val="C8C8C0"/>
                </a:solidFill>
                <a:latin typeface="Liberation Sans"/>
                <a:ea typeface="Liberation Sans"/>
                <a:cs typeface="Liberation Sans"/>
              </a:rPr>
              <a:t>Dated outlooks, shared constraints</a:t>
            </a:r>
          </a:p>
          <a:p xmlns:a="http://schemas.openxmlformats.org/drawingml/2006/main">
            <a:pPr algn="l">
              <a:defRPr sz="2100" b="0">
                <a:solidFill>
                  <a:srgbClr val="C8C8C0"/>
                </a:solidFill>
                <a:latin typeface="Liberation Sans"/>
                <a:ea typeface="Liberation Sans"/>
                <a:cs typeface="Liberation Sans"/>
              </a:defRPr>
            </a:pPr>
            <a:r>
              <a:rPr sz="2100" b="0">
                <a:solidFill>
                  <a:srgbClr val="C8C8C0"/>
                </a:solidFill>
                <a:latin typeface="Liberation Sans"/>
                <a:ea typeface="Liberation Sans"/>
                <a:cs typeface="Liberation Sans"/>
              </a:rPr>
              <a:t>and visible residual risk</a:t>
            </a:r>
          </a:p>
        </p:txBody>
      </p:sp>
      <p:sp>
        <p:nvSpPr>
          <p:cNvPr id="7" name="">
            <a:extLst xmlns:a="http://schemas.openxmlformats.org/drawingml/2006/main">
              <a:ext uri="{FF2B5EF4-FFF2-40B4-BE49-F238E27FC236}">
                <a16:creationId xmlns:a16="http://schemas.microsoft.com/office/drawing/2014/main" id="{F89D0ECD-AC1F-4175-B688-6C6ADFC864FB}"/>
              </a:ext>
            </a:extLst>
          </p:cNvPr>
          <p:cNvSpPr>
            <a:spLocks xmlns:a="http://schemas.openxmlformats.org/drawingml/2006/main" noGrp="1"/>
          </p:cNvSpPr>
          <p:nvPr/>
        </p:nvSpPr>
        <p:spPr>
          <a:xfrm xmlns:a="http://schemas.openxmlformats.org/drawingml/2006/main">
            <a:off x="7639050" y="2057400"/>
            <a:ext cx="0" cy="3562350"/>
          </a:xfrm>
          <a:prstGeom xmlns:a="http://schemas.openxmlformats.org/drawingml/2006/main" prst="line">
            <a:avLst/>
          </a:prstGeom>
          <a:noFill xmlns:a="http://schemas.openxmlformats.org/drawingml/2006/main"/>
          <a:ln xmlns:a="http://schemas.openxmlformats.org/drawingml/2006/main" w="9525">
            <a:solidFill>
              <a:srgbClr val="65655F"/>
            </a:solidFill>
            <a:prstDash val="solid"/>
          </a:ln>
        </p:spPr>
      </p:sp>
      <p:sp>
        <p:nvSpPr>
          <p:cNvPr id="8" name="Evidence today">
            <a:extLst xmlns:a="http://schemas.openxmlformats.org/drawingml/2006/main">
              <a:ext uri="{FF2B5EF4-FFF2-40B4-BE49-F238E27FC236}">
                <a16:creationId xmlns:a16="http://schemas.microsoft.com/office/drawing/2014/main" id="{B8B57D21-B17F-4546-9813-402BB896C2CA}"/>
              </a:ext>
            </a:extLst>
          </p:cNvPr>
          <p:cNvSpPr>
            <a:spLocks xmlns:a="http://schemas.openxmlformats.org/drawingml/2006/main" noGrp="1"/>
          </p:cNvSpPr>
          <p:nvPr/>
        </p:nvSpPr>
        <p:spPr>
          <a:xfrm xmlns:a="http://schemas.openxmlformats.org/drawingml/2006/main">
            <a:off x="7991475" y="2152650"/>
            <a:ext cx="35337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C8C8C0"/>
                </a:solidFill>
                <a:latin typeface="Liberation Sans"/>
                <a:ea typeface="Liberation Sans"/>
                <a:cs typeface="Liberation Sans"/>
              </a:defRPr>
            </a:defPPr>
          </a:lstStyle>
          <a:p xmlns:a="http://schemas.openxmlformats.org/drawingml/2006/main">
            <a:pPr algn="l">
              <a:defRPr sz="1650" b="1">
                <a:solidFill>
                  <a:srgbClr val="C8C8C0"/>
                </a:solidFill>
                <a:latin typeface="Liberation Sans"/>
                <a:ea typeface="Liberation Sans"/>
                <a:cs typeface="Liberation Sans"/>
              </a:defRPr>
            </a:pPr>
            <a:r>
              <a:rPr sz="1650" b="1">
                <a:solidFill>
                  <a:srgbClr val="C8C8C0"/>
                </a:solidFill>
                <a:latin typeface="Liberation Sans"/>
                <a:ea typeface="Liberation Sans"/>
                <a:cs typeface="Liberation Sans"/>
              </a:rPr>
              <a:t>Evidence today</a:t>
            </a:r>
          </a:p>
        </p:txBody>
      </p:sp>
      <p:sp>
        <p:nvSpPr>
          <p:cNvPr id="9" name="69.73% weekly WAPE">
            <a:extLst xmlns:a="http://schemas.openxmlformats.org/drawingml/2006/main">
              <a:ext uri="{FF2B5EF4-FFF2-40B4-BE49-F238E27FC236}">
                <a16:creationId xmlns:a16="http://schemas.microsoft.com/office/drawing/2014/main" id="{DE6B94A7-0B98-46D7-8161-F5BDA66A9538}"/>
              </a:ext>
            </a:extLst>
          </p:cNvPr>
          <p:cNvSpPr>
            <a:spLocks xmlns:a="http://schemas.openxmlformats.org/drawingml/2006/main" noGrp="1"/>
          </p:cNvSpPr>
          <p:nvPr/>
        </p:nvSpPr>
        <p:spPr>
          <a:xfrm xmlns:a="http://schemas.openxmlformats.org/drawingml/2006/main">
            <a:off x="7991475" y="2686050"/>
            <a:ext cx="3552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Liberation Sans"/>
                <a:ea typeface="Liberation Sans"/>
                <a:cs typeface="Liberation Sans"/>
              </a:defRPr>
            </a:defPPr>
          </a:lstStyle>
          <a:p xmlns:a="http://schemas.openxmlformats.org/drawingml/2006/main">
            <a:pPr algn="l">
              <a:defRPr sz="2100" b="1">
                <a:solidFill>
                  <a:srgbClr val="FFFFFF"/>
                </a:solidFill>
                <a:latin typeface="Liberation Sans"/>
                <a:ea typeface="Liberation Sans"/>
                <a:cs typeface="Liberation Sans"/>
              </a:defRPr>
            </a:pPr>
            <a:r>
              <a:rPr sz="2100" b="1">
                <a:solidFill>
                  <a:srgbClr val="FFFFFF"/>
                </a:solidFill>
                <a:latin typeface="Liberation Sans"/>
                <a:ea typeface="Liberation Sans"/>
                <a:cs typeface="Liberation Sans"/>
              </a:rPr>
              <a:t>69.73% weekly WAPE</a:t>
            </a:r>
          </a:p>
        </p:txBody>
      </p:sp>
      <p:sp>
        <p:nvSpPr>
          <p:cNvPr id="10" name="Exploratory external study&#10;Daily WAPE 108.">
            <a:extLst xmlns:a="http://schemas.openxmlformats.org/drawingml/2006/main">
              <a:ext uri="{FF2B5EF4-FFF2-40B4-BE49-F238E27FC236}">
                <a16:creationId xmlns:a16="http://schemas.microsoft.com/office/drawing/2014/main" id="{2CE86BF6-2E19-4887-84C1-342E5F494BED}"/>
              </a:ext>
            </a:extLst>
          </p:cNvPr>
          <p:cNvSpPr>
            <a:spLocks xmlns:a="http://schemas.openxmlformats.org/drawingml/2006/main" noGrp="1"/>
          </p:cNvSpPr>
          <p:nvPr/>
        </p:nvSpPr>
        <p:spPr>
          <a:xfrm xmlns:a="http://schemas.openxmlformats.org/drawingml/2006/main">
            <a:off x="7991475" y="3286125"/>
            <a:ext cx="35337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Liberation Sans"/>
                <a:ea typeface="Liberation Sans"/>
                <a:cs typeface="Liberation Sans"/>
              </a:defRPr>
            </a:defPPr>
          </a:lstStyle>
          <a:p xmlns:a="http://schemas.openxmlformats.org/drawingml/2006/main">
            <a:pPr algn="l">
              <a:defRPr sz="1725" b="0">
                <a:solidFill>
                  <a:srgbClr val="FFFFFF"/>
                </a:solidFill>
                <a:latin typeface="Liberation Sans"/>
                <a:ea typeface="Liberation Sans"/>
                <a:cs typeface="Liberation Sans"/>
              </a:defRPr>
            </a:pPr>
            <a:r>
              <a:rPr sz="1725" b="0">
                <a:solidFill>
                  <a:srgbClr val="FFFFFF"/>
                </a:solidFill>
                <a:latin typeface="Liberation Sans"/>
                <a:ea typeface="Liberation Sans"/>
                <a:cs typeface="Liberation Sans"/>
              </a:rPr>
              <a:t>Exploratory external study</a:t>
            </a:r>
          </a:p>
          <a:p xmlns:a="http://schemas.openxmlformats.org/drawingml/2006/main">
            <a:pPr algn="l">
              <a:defRPr sz="1725" b="0">
                <a:solidFill>
                  <a:srgbClr val="FFFFFF"/>
                </a:solidFill>
                <a:latin typeface="Liberation Sans"/>
                <a:ea typeface="Liberation Sans"/>
                <a:cs typeface="Liberation Sans"/>
              </a:defRPr>
            </a:pPr>
            <a:r>
              <a:rPr sz="1725" b="0">
                <a:solidFill>
                  <a:srgbClr val="FFFFFF"/>
                </a:solidFill>
                <a:latin typeface="Liberation Sans"/>
                <a:ea typeface="Liberation Sans"/>
                <a:cs typeface="Liberation Sans"/>
              </a:rPr>
              <a:t>Daily WAPE 108.53%</a:t>
            </a:r>
          </a:p>
          <a:p xmlns:a="http://schemas.openxmlformats.org/drawingml/2006/main">
            <a:pPr algn="l">
              <a:defRPr sz="1725" b="0">
                <a:solidFill>
                  <a:srgbClr val="FFFFFF"/>
                </a:solidFill>
                <a:latin typeface="Liberation Sans"/>
                <a:ea typeface="Liberation Sans"/>
                <a:cs typeface="Liberation Sans"/>
              </a:defRPr>
            </a:pPr>
            <a:r>
              <a:rPr sz="1725" b="0">
                <a:solidFill>
                  <a:srgbClr val="FFFFFF"/>
                </a:solidFill>
                <a:latin typeface="Liberation Sans"/>
                <a:ea typeface="Liberation Sans"/>
                <a:cs typeface="Liberation Sans"/>
              </a:rPr>
              <a:t>No company validation</a:t>
            </a:r>
          </a:p>
        </p:txBody>
      </p:sp>
      <p:sp>
        <p:nvSpPr>
          <p:cNvPr id="11" name="Next: observed stock, arrivals&#10;and warning">
            <a:extLst xmlns:a="http://schemas.openxmlformats.org/drawingml/2006/main">
              <a:ext uri="{FF2B5EF4-FFF2-40B4-BE49-F238E27FC236}">
                <a16:creationId xmlns:a16="http://schemas.microsoft.com/office/drawing/2014/main" id="{97651FDC-45EE-4546-841F-78F14BD18763}"/>
              </a:ext>
            </a:extLst>
          </p:cNvPr>
          <p:cNvSpPr>
            <a:spLocks xmlns:a="http://schemas.openxmlformats.org/drawingml/2006/main" noGrp="1"/>
          </p:cNvSpPr>
          <p:nvPr/>
        </p:nvSpPr>
        <p:spPr>
          <a:xfrm xmlns:a="http://schemas.openxmlformats.org/drawingml/2006/main">
            <a:off x="7991475" y="4819650"/>
            <a:ext cx="3571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8C8C0"/>
                </a:solidFill>
                <a:latin typeface="Liberation Sans"/>
                <a:ea typeface="Liberation Sans"/>
                <a:cs typeface="Liberation Sans"/>
              </a:defRPr>
            </a:defPPr>
          </a:lstStyle>
          <a:p xmlns:a="http://schemas.openxmlformats.org/drawingml/2006/main">
            <a:pPr algn="l">
              <a:defRPr sz="1725" b="0">
                <a:solidFill>
                  <a:srgbClr val="C8C8C0"/>
                </a:solidFill>
                <a:latin typeface="Liberation Sans"/>
                <a:ea typeface="Liberation Sans"/>
                <a:cs typeface="Liberation Sans"/>
              </a:defRPr>
            </a:pPr>
            <a:r>
              <a:rPr sz="1725" b="0">
                <a:solidFill>
                  <a:srgbClr val="C8C8C0"/>
                </a:solidFill>
                <a:latin typeface="Liberation Sans"/>
                <a:ea typeface="Liberation Sans"/>
                <a:cs typeface="Liberation Sans"/>
              </a:rPr>
              <a:t>Next: observed stock, arrivals</a:t>
            </a:r>
          </a:p>
          <a:p xmlns:a="http://schemas.openxmlformats.org/drawingml/2006/main">
            <a:pPr algn="l">
              <a:defRPr sz="1725" b="0">
                <a:solidFill>
                  <a:srgbClr val="C8C8C0"/>
                </a:solidFill>
                <a:latin typeface="Liberation Sans"/>
                <a:ea typeface="Liberation Sans"/>
                <a:cs typeface="Liberation Sans"/>
              </a:defRPr>
            </a:pPr>
            <a:r>
              <a:rPr sz="1725" b="0">
                <a:solidFill>
                  <a:srgbClr val="C8C8C0"/>
                </a:solidFill>
                <a:latin typeface="Liberation Sans"/>
                <a:ea typeface="Liberation Sans"/>
                <a:cs typeface="Liberation Sans"/>
              </a:rPr>
              <a:t>and warning outcomes</a:t>
            </a:r>
          </a:p>
        </p:txBody>
      </p:sp>
    </p:spTree>
    <p:extLst>
      <p:ext uri="{BB962C8B-B14F-4D97-AF65-F5344CB8AC3E}">
        <p14:creationId xmlns:p14="http://schemas.microsoft.com/office/powerpoint/2010/main" val="664819634"/>
      </p:ext>
    </p:extLst>
  </p:cSld>
</p:sld>
</file>

<file path=ppt/slides/slide7.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22" name="PRODUCT SCOPE">
            <a:extLst xmlns:a="http://schemas.openxmlformats.org/drawingml/2006/main">
              <a:ext uri="{FF2B5EF4-FFF2-40B4-BE49-F238E27FC236}">
                <a16:creationId xmlns:a16="http://schemas.microsoft.com/office/drawing/2014/main" id="{8CEB3808-AA40-4219-BA97-C0C8A7EE0939}"/>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buNone/>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PRODUCT SCOPE</a:t>
            </a:r>
          </a:p>
        </p:txBody>
      </p:sp>
      <p:sp>
        <p:nvSpPr>
          <p:cNvPr id="2" name="40 cases share one operating snapshot">
            <a:extLst xmlns:a="http://schemas.openxmlformats.org/drawingml/2006/main">
              <a:ext uri="{FF2B5EF4-FFF2-40B4-BE49-F238E27FC236}">
                <a16:creationId xmlns:a16="http://schemas.microsoft.com/office/drawing/2014/main" id="{C059D621-C089-42C0-A1CF-5F9552CA11E5}"/>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buNone/>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40 cases share one operating snapshot</a:t>
            </a:r>
          </a:p>
        </p:txBody>
      </p:sp>
      <p:sp>
        <p:nvSpPr>
          <p:cNvPr id="3" name="03">
            <a:extLst xmlns:a="http://schemas.openxmlformats.org/drawingml/2006/main">
              <a:ext uri="{FF2B5EF4-FFF2-40B4-BE49-F238E27FC236}">
                <a16:creationId xmlns:a16="http://schemas.microsoft.com/office/drawing/2014/main" id="{18146956-EEFB-4D3F-92FB-B71903138C69}"/>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buNone/>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07</a:t>
            </a:r>
          </a:p>
        </p:txBody>
      </p:sp>
      <p:sp>
        <p:nvSpPr>
          <p:cNvPr id="4" name="Synthetic MR D.I.Y. Malaysia workspace: 2 ">
            <a:extLst xmlns:a="http://schemas.openxmlformats.org/drawingml/2006/main">
              <a:ext uri="{FF2B5EF4-FFF2-40B4-BE49-F238E27FC236}">
                <a16:creationId xmlns:a16="http://schemas.microsoft.com/office/drawing/2014/main" id="{212BB7F9-B452-43BF-8F47-EFF02E014C0B}"/>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buNone/>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Synthetic MR D.I.Y. Malaysia workspace: 2 distribution clusters, 8 stores and 24 SKUs. Six cases form the deep demonstration.</a:t>
            </a:r>
          </a:p>
        </p:txBody>
      </p:sp>
      <p:sp>
        <p:nvSpPr>
          <p:cNvPr id="5" name="40">
            <a:extLst xmlns:a="http://schemas.openxmlformats.org/drawingml/2006/main">
              <a:ext uri="{FF2B5EF4-FFF2-40B4-BE49-F238E27FC236}">
                <a16:creationId xmlns:a16="http://schemas.microsoft.com/office/drawing/2014/main" id="{23A9B6FF-C898-4274-BBF8-811716B90866}"/>
              </a:ext>
            </a:extLst>
          </p:cNvPr>
          <p:cNvSpPr>
            <a:spLocks xmlns:a="http://schemas.openxmlformats.org/drawingml/2006/main" noGrp="1"/>
          </p:cNvSpPr>
          <p:nvPr/>
        </p:nvSpPr>
        <p:spPr>
          <a:xfrm xmlns:a="http://schemas.openxmlformats.org/drawingml/2006/main">
            <a:off x="581025" y="2028825"/>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0" b="1">
                <a:solidFill>
                  <a:srgbClr val="121212"/>
                </a:solidFill>
                <a:latin typeface="Liberation Sans"/>
                <a:ea typeface="Liberation Sans"/>
                <a:cs typeface="Liberation Sans"/>
              </a:defRPr>
            </a:defPPr>
          </a:lstStyle>
          <a:p xmlns:a="http://schemas.openxmlformats.org/drawingml/2006/main">
            <a:pPr algn="l">
              <a:buNone/>
              <a:defRPr sz="9900" b="1">
                <a:solidFill>
                  <a:srgbClr val="121212"/>
                </a:solidFill>
                <a:latin typeface="Liberation Sans"/>
                <a:ea typeface="Liberation Sans"/>
                <a:cs typeface="Liberation Sans"/>
              </a:defRPr>
            </a:pPr>
            <a:r>
              <a:rPr sz="9900" b="1">
                <a:solidFill>
                  <a:srgbClr val="121212"/>
                </a:solidFill>
                <a:latin typeface="Liberation Sans"/>
                <a:ea typeface="Liberation Sans"/>
                <a:cs typeface="Liberation Sans"/>
              </a:rPr>
              <a:t>40</a:t>
            </a:r>
          </a:p>
        </p:txBody>
      </p:sp>
      <p:sp>
        <p:nvSpPr>
          <p:cNvPr id="6" name="complete case workflows">
            <a:extLst xmlns:a="http://schemas.openxmlformats.org/drawingml/2006/main">
              <a:ext uri="{FF2B5EF4-FFF2-40B4-BE49-F238E27FC236}">
                <a16:creationId xmlns:a16="http://schemas.microsoft.com/office/drawing/2014/main" id="{4B7DB861-BDE2-46C3-952E-6B3A5BDD705F}"/>
              </a:ext>
            </a:extLst>
          </p:cNvPr>
          <p:cNvSpPr>
            <a:spLocks xmlns:a="http://schemas.openxmlformats.org/drawingml/2006/main" noGrp="1"/>
          </p:cNvSpPr>
          <p:nvPr/>
        </p:nvSpPr>
        <p:spPr>
          <a:xfrm xmlns:a="http://schemas.openxmlformats.org/drawingml/2006/main">
            <a:off x="647700" y="3476625"/>
            <a:ext cx="328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21212"/>
                </a:solidFill>
                <a:latin typeface="Liberation Sans"/>
                <a:ea typeface="Liberation Sans"/>
                <a:cs typeface="Liberation Sans"/>
              </a:defRPr>
            </a:defPPr>
          </a:lstStyle>
          <a:p xmlns:a="http://schemas.openxmlformats.org/drawingml/2006/main">
            <a:pPr algn="l">
              <a:buNone/>
              <a:defRPr sz="2100" b="0">
                <a:solidFill>
                  <a:srgbClr val="121212"/>
                </a:solidFill>
                <a:latin typeface="Liberation Sans"/>
                <a:ea typeface="Liberation Sans"/>
                <a:cs typeface="Liberation Sans"/>
              </a:defRPr>
            </a:pPr>
            <a:r>
              <a:rPr sz="2100" b="0">
                <a:solidFill>
                  <a:srgbClr val="121212"/>
                </a:solidFill>
                <a:latin typeface="Liberation Sans"/>
                <a:ea typeface="Liberation Sans"/>
                <a:cs typeface="Liberation Sans"/>
              </a:rPr>
              <a:t>complete case workflows</a:t>
            </a:r>
          </a:p>
        </p:txBody>
      </p:sp>
      <p:sp>
        <p:nvSpPr>
          <p:cNvPr id="7" name="Inspect evidence and options.&#10;Save and reo">
            <a:extLst xmlns:a="http://schemas.openxmlformats.org/drawingml/2006/main">
              <a:ext uri="{FF2B5EF4-FFF2-40B4-BE49-F238E27FC236}">
                <a16:creationId xmlns:a16="http://schemas.microsoft.com/office/drawing/2014/main" id="{EDE413D5-AEA2-430C-8BB2-C1E164D04917}"/>
              </a:ext>
            </a:extLst>
          </p:cNvPr>
          <p:cNvSpPr>
            <a:spLocks xmlns:a="http://schemas.openxmlformats.org/drawingml/2006/main" noGrp="1"/>
          </p:cNvSpPr>
          <p:nvPr/>
        </p:nvSpPr>
        <p:spPr>
          <a:xfrm xmlns:a="http://schemas.openxmlformats.org/drawingml/2006/main">
            <a:off x="647700" y="4429125"/>
            <a:ext cx="323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26262"/>
                </a:solidFill>
                <a:latin typeface="Liberation Sans"/>
                <a:ea typeface="Liberation Sans"/>
                <a:cs typeface="Liberation Sans"/>
              </a:defRPr>
            </a:defPPr>
          </a:lstStyle>
          <a:p xmlns:a="http://schemas.openxmlformats.org/drawingml/2006/main">
            <a:pPr algn="l">
              <a:buNone/>
              <a:defRPr sz="1725" b="0">
                <a:solidFill>
                  <a:srgbClr val="626262"/>
                </a:solidFill>
                <a:latin typeface="Liberation Sans"/>
                <a:ea typeface="Liberation Sans"/>
                <a:cs typeface="Liberation Sans"/>
              </a:defRPr>
            </a:pPr>
            <a:r>
              <a:rPr sz="1725" b="0">
                <a:solidFill>
                  <a:srgbClr val="626262"/>
                </a:solidFill>
                <a:latin typeface="Liberation Sans"/>
                <a:ea typeface="Liberation Sans"/>
                <a:cs typeface="Liberation Sans"/>
              </a:rPr>
              <a:t>Inspect evidence and options.</a:t>
            </a:r>
          </a:p>
          <a:p xmlns:a="http://schemas.openxmlformats.org/drawingml/2006/main">
            <a:pPr algn="l">
              <a:buNone/>
              <a:defRPr sz="1725" b="0">
                <a:solidFill>
                  <a:srgbClr val="626262"/>
                </a:solidFill>
                <a:latin typeface="Liberation Sans"/>
                <a:ea typeface="Liberation Sans"/>
                <a:cs typeface="Liberation Sans"/>
              </a:defRPr>
            </a:pPr>
            <a:r>
              <a:rPr sz="1725" b="0">
                <a:solidFill>
                  <a:srgbClr val="626262"/>
                </a:solidFill>
                <a:latin typeface="Liberation Sans"/>
                <a:ea typeface="Liberation Sans"/>
                <a:cs typeface="Liberation Sans"/>
              </a:rPr>
              <a:t>Save and reopen a decision.</a:t>
            </a:r>
          </a:p>
        </p:txBody>
      </p:sp>
      <p:sp>
        <p:nvSpPr>
          <p:cNvPr id="8" name="">
            <a:extLst xmlns:a="http://schemas.openxmlformats.org/drawingml/2006/main">
              <a:ext uri="{FF2B5EF4-FFF2-40B4-BE49-F238E27FC236}">
                <a16:creationId xmlns:a16="http://schemas.microsoft.com/office/drawing/2014/main" id="{D28E171E-DC40-4749-BBF3-3EF8D767F878}"/>
              </a:ext>
            </a:extLst>
          </p:cNvPr>
          <p:cNvSpPr>
            <a:spLocks xmlns:a="http://schemas.openxmlformats.org/drawingml/2006/main" noGrp="1"/>
          </p:cNvSpPr>
          <p:nvPr/>
        </p:nvSpPr>
        <p:spPr>
          <a:xfrm xmlns:a="http://schemas.openxmlformats.org/drawingml/2006/main">
            <a:off x="4600575" y="2124075"/>
            <a:ext cx="69532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9" name="16">
            <a:extLst xmlns:a="http://schemas.openxmlformats.org/drawingml/2006/main">
              <a:ext uri="{FF2B5EF4-FFF2-40B4-BE49-F238E27FC236}">
                <a16:creationId xmlns:a16="http://schemas.microsoft.com/office/drawing/2014/main" id="{298CFD74-009F-4DD2-90C3-9B53A8FD2B19}"/>
              </a:ext>
            </a:extLst>
          </p:cNvPr>
          <p:cNvSpPr>
            <a:spLocks xmlns:a="http://schemas.openxmlformats.org/drawingml/2006/main" noGrp="1"/>
          </p:cNvSpPr>
          <p:nvPr/>
        </p:nvSpPr>
        <p:spPr>
          <a:xfrm xmlns:a="http://schemas.openxmlformats.org/drawingml/2006/main">
            <a:off x="4619625" y="2219325"/>
            <a:ext cx="781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21212"/>
                </a:solidFill>
                <a:latin typeface="Liberation Sans"/>
                <a:ea typeface="Liberation Sans"/>
                <a:cs typeface="Liberation Sans"/>
              </a:defRPr>
            </a:defPPr>
          </a:lstStyle>
          <a:p xmlns:a="http://schemas.openxmlformats.org/drawingml/2006/main">
            <a:pPr algn="l">
              <a:buNone/>
              <a:defRPr sz="2850" b="1">
                <a:solidFill>
                  <a:srgbClr val="121212"/>
                </a:solidFill>
                <a:latin typeface="Liberation Sans"/>
                <a:ea typeface="Liberation Sans"/>
                <a:cs typeface="Liberation Sans"/>
              </a:defRPr>
            </a:pPr>
            <a:r>
              <a:rPr sz="2850" b="1">
                <a:solidFill>
                  <a:srgbClr val="121212"/>
                </a:solidFill>
                <a:latin typeface="Liberation Sans"/>
                <a:ea typeface="Liberation Sans"/>
                <a:cs typeface="Liberation Sans"/>
              </a:rPr>
              <a:t>16</a:t>
            </a:r>
          </a:p>
        </p:txBody>
      </p:sp>
      <p:sp>
        <p:nvSpPr>
          <p:cNvPr id="10" name="Supply">
            <a:extLst xmlns:a="http://schemas.openxmlformats.org/drawingml/2006/main">
              <a:ext uri="{FF2B5EF4-FFF2-40B4-BE49-F238E27FC236}">
                <a16:creationId xmlns:a16="http://schemas.microsoft.com/office/drawing/2014/main" id="{48B86532-3B7A-4F14-8685-DF268B5D754B}"/>
              </a:ext>
            </a:extLst>
          </p:cNvPr>
          <p:cNvSpPr>
            <a:spLocks xmlns:a="http://schemas.openxmlformats.org/drawingml/2006/main" noGrp="1"/>
          </p:cNvSpPr>
          <p:nvPr/>
        </p:nvSpPr>
        <p:spPr>
          <a:xfrm xmlns:a="http://schemas.openxmlformats.org/drawingml/2006/main">
            <a:off x="5724525" y="2295525"/>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1212"/>
                </a:solidFill>
                <a:latin typeface="Liberation Sans"/>
                <a:ea typeface="Liberation Sans"/>
                <a:cs typeface="Liberation Sans"/>
              </a:defRPr>
            </a:defPPr>
          </a:lstStyle>
          <a:p xmlns:a="http://schemas.openxmlformats.org/drawingml/2006/main">
            <a:pPr algn="l">
              <a:buNone/>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Supply</a:t>
            </a:r>
          </a:p>
        </p:txBody>
      </p:sp>
      <p:sp>
        <p:nvSpPr>
          <p:cNvPr id="11" name="">
            <a:extLst xmlns:a="http://schemas.openxmlformats.org/drawingml/2006/main">
              <a:ext uri="{FF2B5EF4-FFF2-40B4-BE49-F238E27FC236}">
                <a16:creationId xmlns:a16="http://schemas.microsoft.com/office/drawing/2014/main" id="{A189DCE7-42F2-45CB-A36D-85BAEC0EEE96}"/>
              </a:ext>
            </a:extLst>
          </p:cNvPr>
          <p:cNvSpPr>
            <a:spLocks xmlns:a="http://schemas.openxmlformats.org/drawingml/2006/main" noGrp="1"/>
          </p:cNvSpPr>
          <p:nvPr/>
        </p:nvSpPr>
        <p:spPr>
          <a:xfrm xmlns:a="http://schemas.openxmlformats.org/drawingml/2006/main">
            <a:off x="4600575" y="2838450"/>
            <a:ext cx="69532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2" name="10">
            <a:extLst xmlns:a="http://schemas.openxmlformats.org/drawingml/2006/main">
              <a:ext uri="{FF2B5EF4-FFF2-40B4-BE49-F238E27FC236}">
                <a16:creationId xmlns:a16="http://schemas.microsoft.com/office/drawing/2014/main" id="{4EBCED3A-D006-41CB-AD0B-C55D09E47D78}"/>
              </a:ext>
            </a:extLst>
          </p:cNvPr>
          <p:cNvSpPr>
            <a:spLocks xmlns:a="http://schemas.openxmlformats.org/drawingml/2006/main" noGrp="1"/>
          </p:cNvSpPr>
          <p:nvPr/>
        </p:nvSpPr>
        <p:spPr>
          <a:xfrm xmlns:a="http://schemas.openxmlformats.org/drawingml/2006/main">
            <a:off x="4619625" y="2933700"/>
            <a:ext cx="781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21212"/>
                </a:solidFill>
                <a:latin typeface="Liberation Sans"/>
                <a:ea typeface="Liberation Sans"/>
                <a:cs typeface="Liberation Sans"/>
              </a:defRPr>
            </a:defPPr>
          </a:lstStyle>
          <a:p xmlns:a="http://schemas.openxmlformats.org/drawingml/2006/main">
            <a:pPr algn="l">
              <a:buNone/>
              <a:defRPr sz="2850" b="1">
                <a:solidFill>
                  <a:srgbClr val="121212"/>
                </a:solidFill>
                <a:latin typeface="Liberation Sans"/>
                <a:ea typeface="Liberation Sans"/>
                <a:cs typeface="Liberation Sans"/>
              </a:defRPr>
            </a:pPr>
            <a:r>
              <a:rPr sz="2850" b="1">
                <a:solidFill>
                  <a:srgbClr val="121212"/>
                </a:solidFill>
                <a:latin typeface="Liberation Sans"/>
                <a:ea typeface="Liberation Sans"/>
                <a:cs typeface="Liberation Sans"/>
              </a:rPr>
              <a:t>10</a:t>
            </a:r>
          </a:p>
        </p:txBody>
      </p:sp>
      <p:sp>
        <p:nvSpPr>
          <p:cNvPr id="13" name="Procurement">
            <a:extLst xmlns:a="http://schemas.openxmlformats.org/drawingml/2006/main">
              <a:ext uri="{FF2B5EF4-FFF2-40B4-BE49-F238E27FC236}">
                <a16:creationId xmlns:a16="http://schemas.microsoft.com/office/drawing/2014/main" id="{92D44FD0-0B97-4AB5-A122-52CFD64AC480}"/>
              </a:ext>
            </a:extLst>
          </p:cNvPr>
          <p:cNvSpPr>
            <a:spLocks xmlns:a="http://schemas.openxmlformats.org/drawingml/2006/main" noGrp="1"/>
          </p:cNvSpPr>
          <p:nvPr/>
        </p:nvSpPr>
        <p:spPr>
          <a:xfrm xmlns:a="http://schemas.openxmlformats.org/drawingml/2006/main">
            <a:off x="5724525" y="3009900"/>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1212"/>
                </a:solidFill>
                <a:latin typeface="Liberation Sans"/>
                <a:ea typeface="Liberation Sans"/>
                <a:cs typeface="Liberation Sans"/>
              </a:defRPr>
            </a:defPPr>
          </a:lstStyle>
          <a:p xmlns:a="http://schemas.openxmlformats.org/drawingml/2006/main">
            <a:pPr algn="l">
              <a:buNone/>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Procurement</a:t>
            </a:r>
          </a:p>
        </p:txBody>
      </p:sp>
      <p:sp>
        <p:nvSpPr>
          <p:cNvPr id="14" name="">
            <a:extLst xmlns:a="http://schemas.openxmlformats.org/drawingml/2006/main">
              <a:ext uri="{FF2B5EF4-FFF2-40B4-BE49-F238E27FC236}">
                <a16:creationId xmlns:a16="http://schemas.microsoft.com/office/drawing/2014/main" id="{68EE54D8-6A5A-4746-9B75-1D4B0380F44F}"/>
              </a:ext>
            </a:extLst>
          </p:cNvPr>
          <p:cNvSpPr>
            <a:spLocks xmlns:a="http://schemas.openxmlformats.org/drawingml/2006/main" noGrp="1"/>
          </p:cNvSpPr>
          <p:nvPr/>
        </p:nvSpPr>
        <p:spPr>
          <a:xfrm xmlns:a="http://schemas.openxmlformats.org/drawingml/2006/main">
            <a:off x="4600575" y="3552825"/>
            <a:ext cx="69532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5" name="08">
            <a:extLst xmlns:a="http://schemas.openxmlformats.org/drawingml/2006/main">
              <a:ext uri="{FF2B5EF4-FFF2-40B4-BE49-F238E27FC236}">
                <a16:creationId xmlns:a16="http://schemas.microsoft.com/office/drawing/2014/main" id="{DEDED948-5CAC-45E1-9EFE-2CB9F49B2CC1}"/>
              </a:ext>
            </a:extLst>
          </p:cNvPr>
          <p:cNvSpPr>
            <a:spLocks xmlns:a="http://schemas.openxmlformats.org/drawingml/2006/main" noGrp="1"/>
          </p:cNvSpPr>
          <p:nvPr/>
        </p:nvSpPr>
        <p:spPr>
          <a:xfrm xmlns:a="http://schemas.openxmlformats.org/drawingml/2006/main">
            <a:off x="4619625" y="3648075"/>
            <a:ext cx="781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21212"/>
                </a:solidFill>
                <a:latin typeface="Liberation Sans"/>
                <a:ea typeface="Liberation Sans"/>
                <a:cs typeface="Liberation Sans"/>
              </a:defRPr>
            </a:defPPr>
          </a:lstStyle>
          <a:p xmlns:a="http://schemas.openxmlformats.org/drawingml/2006/main">
            <a:pPr algn="l">
              <a:buNone/>
              <a:defRPr sz="2850" b="1">
                <a:solidFill>
                  <a:srgbClr val="121212"/>
                </a:solidFill>
                <a:latin typeface="Liberation Sans"/>
                <a:ea typeface="Liberation Sans"/>
                <a:cs typeface="Liberation Sans"/>
              </a:defRPr>
            </a:pPr>
            <a:r>
              <a:rPr sz="2850" b="1">
                <a:solidFill>
                  <a:srgbClr val="121212"/>
                </a:solidFill>
                <a:latin typeface="Liberation Sans"/>
                <a:ea typeface="Liberation Sans"/>
                <a:cs typeface="Liberation Sans"/>
              </a:rPr>
              <a:t>08</a:t>
            </a:r>
          </a:p>
        </p:txBody>
      </p:sp>
      <p:sp>
        <p:nvSpPr>
          <p:cNvPr id="16" name="Service">
            <a:extLst xmlns:a="http://schemas.openxmlformats.org/drawingml/2006/main">
              <a:ext uri="{FF2B5EF4-FFF2-40B4-BE49-F238E27FC236}">
                <a16:creationId xmlns:a16="http://schemas.microsoft.com/office/drawing/2014/main" id="{C70CA987-1DA6-413E-A9AE-7FD9CB657DB1}"/>
              </a:ext>
            </a:extLst>
          </p:cNvPr>
          <p:cNvSpPr>
            <a:spLocks xmlns:a="http://schemas.openxmlformats.org/drawingml/2006/main" noGrp="1"/>
          </p:cNvSpPr>
          <p:nvPr/>
        </p:nvSpPr>
        <p:spPr>
          <a:xfrm xmlns:a="http://schemas.openxmlformats.org/drawingml/2006/main">
            <a:off x="5724525" y="3724275"/>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1212"/>
                </a:solidFill>
                <a:latin typeface="Liberation Sans"/>
                <a:ea typeface="Liberation Sans"/>
                <a:cs typeface="Liberation Sans"/>
              </a:defRPr>
            </a:defPPr>
          </a:lstStyle>
          <a:p xmlns:a="http://schemas.openxmlformats.org/drawingml/2006/main">
            <a:pPr algn="l">
              <a:buNone/>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Service</a:t>
            </a:r>
          </a:p>
        </p:txBody>
      </p:sp>
      <p:sp>
        <p:nvSpPr>
          <p:cNvPr id="17" name="">
            <a:extLst xmlns:a="http://schemas.openxmlformats.org/drawingml/2006/main">
              <a:ext uri="{FF2B5EF4-FFF2-40B4-BE49-F238E27FC236}">
                <a16:creationId xmlns:a16="http://schemas.microsoft.com/office/drawing/2014/main" id="{DF7CD918-0BDF-49C5-B561-2693CCE14110}"/>
              </a:ext>
            </a:extLst>
          </p:cNvPr>
          <p:cNvSpPr>
            <a:spLocks xmlns:a="http://schemas.openxmlformats.org/drawingml/2006/main" noGrp="1"/>
          </p:cNvSpPr>
          <p:nvPr/>
        </p:nvSpPr>
        <p:spPr>
          <a:xfrm xmlns:a="http://schemas.openxmlformats.org/drawingml/2006/main">
            <a:off x="4600575" y="4267200"/>
            <a:ext cx="69532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8" name="06">
            <a:extLst xmlns:a="http://schemas.openxmlformats.org/drawingml/2006/main">
              <a:ext uri="{FF2B5EF4-FFF2-40B4-BE49-F238E27FC236}">
                <a16:creationId xmlns:a16="http://schemas.microsoft.com/office/drawing/2014/main" id="{6A753B22-E21F-4C0E-A0B9-EEE564811EFE}"/>
              </a:ext>
            </a:extLst>
          </p:cNvPr>
          <p:cNvSpPr>
            <a:spLocks xmlns:a="http://schemas.openxmlformats.org/drawingml/2006/main" noGrp="1"/>
          </p:cNvSpPr>
          <p:nvPr/>
        </p:nvSpPr>
        <p:spPr>
          <a:xfrm xmlns:a="http://schemas.openxmlformats.org/drawingml/2006/main">
            <a:off x="4619625" y="4362450"/>
            <a:ext cx="781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21212"/>
                </a:solidFill>
                <a:latin typeface="Liberation Sans"/>
                <a:ea typeface="Liberation Sans"/>
                <a:cs typeface="Liberation Sans"/>
              </a:defRPr>
            </a:defPPr>
          </a:lstStyle>
          <a:p xmlns:a="http://schemas.openxmlformats.org/drawingml/2006/main">
            <a:pPr algn="l">
              <a:buNone/>
              <a:defRPr sz="2850" b="1">
                <a:solidFill>
                  <a:srgbClr val="121212"/>
                </a:solidFill>
                <a:latin typeface="Liberation Sans"/>
                <a:ea typeface="Liberation Sans"/>
                <a:cs typeface="Liberation Sans"/>
              </a:defRPr>
            </a:pPr>
            <a:r>
              <a:rPr sz="2850" b="1">
                <a:solidFill>
                  <a:srgbClr val="121212"/>
                </a:solidFill>
                <a:latin typeface="Liberation Sans"/>
                <a:ea typeface="Liberation Sans"/>
                <a:cs typeface="Liberation Sans"/>
              </a:rPr>
              <a:t>06</a:t>
            </a:r>
          </a:p>
        </p:txBody>
      </p:sp>
      <p:sp>
        <p:nvSpPr>
          <p:cNvPr id="19" name="Energy security">
            <a:extLst xmlns:a="http://schemas.openxmlformats.org/drawingml/2006/main">
              <a:ext uri="{FF2B5EF4-FFF2-40B4-BE49-F238E27FC236}">
                <a16:creationId xmlns:a16="http://schemas.microsoft.com/office/drawing/2014/main" id="{5C91E0F2-EA7A-477F-BCD4-15172BE06818}"/>
              </a:ext>
            </a:extLst>
          </p:cNvPr>
          <p:cNvSpPr>
            <a:spLocks xmlns:a="http://schemas.openxmlformats.org/drawingml/2006/main" noGrp="1"/>
          </p:cNvSpPr>
          <p:nvPr/>
        </p:nvSpPr>
        <p:spPr>
          <a:xfrm xmlns:a="http://schemas.openxmlformats.org/drawingml/2006/main">
            <a:off x="5724525" y="4438650"/>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1212"/>
                </a:solidFill>
                <a:latin typeface="Liberation Sans"/>
                <a:ea typeface="Liberation Sans"/>
                <a:cs typeface="Liberation Sans"/>
              </a:defRPr>
            </a:defPPr>
          </a:lstStyle>
          <a:p xmlns:a="http://schemas.openxmlformats.org/drawingml/2006/main">
            <a:pPr algn="l">
              <a:buNone/>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Energy security</a:t>
            </a:r>
          </a:p>
        </p:txBody>
      </p:sp>
      <p:sp>
        <p:nvSpPr>
          <p:cNvPr id="20" name="SC01 / SC02 / SC17 / SC18 / SC27 / SC35">
            <a:extLst xmlns:a="http://schemas.openxmlformats.org/drawingml/2006/main">
              <a:ext uri="{FF2B5EF4-FFF2-40B4-BE49-F238E27FC236}">
                <a16:creationId xmlns:a16="http://schemas.microsoft.com/office/drawing/2014/main" id="{37DE574D-FCC7-43B3-A78B-CA0162024822}"/>
              </a:ext>
            </a:extLst>
          </p:cNvPr>
          <p:cNvSpPr>
            <a:spLocks xmlns:a="http://schemas.openxmlformats.org/drawingml/2006/main" noGrp="1"/>
          </p:cNvSpPr>
          <p:nvPr/>
        </p:nvSpPr>
        <p:spPr>
          <a:xfrm xmlns:a="http://schemas.openxmlformats.org/drawingml/2006/main">
            <a:off x="4619625" y="5286375"/>
            <a:ext cx="695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21212"/>
                </a:solidFill>
                <a:latin typeface="Liberation Sans"/>
                <a:ea typeface="Liberation Sans"/>
                <a:cs typeface="Liberation Sans"/>
              </a:defRPr>
            </a:defPPr>
          </a:lstStyle>
          <a:p xmlns:a="http://schemas.openxmlformats.org/drawingml/2006/main">
            <a:pPr algn="l">
              <a:buNone/>
              <a:defRPr sz="1650" b="1">
                <a:solidFill>
                  <a:srgbClr val="121212"/>
                </a:solidFill>
                <a:latin typeface="Liberation Sans"/>
                <a:ea typeface="Liberation Sans"/>
                <a:cs typeface="Liberation Sans"/>
              </a:defRPr>
            </a:pPr>
            <a:r>
              <a:rPr sz="1650" b="1">
                <a:solidFill>
                  <a:srgbClr val="121212"/>
                </a:solidFill>
                <a:latin typeface="Liberation Sans"/>
                <a:ea typeface="Liberation Sans"/>
                <a:cs typeface="Liberation Sans"/>
              </a:rPr>
              <a:t>SC01 / SC02 / SC17 / SC18 / SC27 / SC35</a:t>
            </a:r>
          </a:p>
        </p:txBody>
      </p:sp>
      <p:sp>
        <p:nvSpPr>
          <p:cNvPr id="21" name="Same shipment, invoice, service task and r">
            <a:extLst xmlns:a="http://schemas.openxmlformats.org/drawingml/2006/main">
              <a:ext uri="{FF2B5EF4-FFF2-40B4-BE49-F238E27FC236}">
                <a16:creationId xmlns:a16="http://schemas.microsoft.com/office/drawing/2014/main" id="{7B51BD79-2EE5-4D5D-A426-289A8F18A8FC}"/>
              </a:ext>
            </a:extLst>
          </p:cNvPr>
          <p:cNvSpPr>
            <a:spLocks xmlns:a="http://schemas.openxmlformats.org/drawingml/2006/main" noGrp="1"/>
          </p:cNvSpPr>
          <p:nvPr/>
        </p:nvSpPr>
        <p:spPr>
          <a:xfrm xmlns:a="http://schemas.openxmlformats.org/drawingml/2006/main">
            <a:off x="4619625" y="5648325"/>
            <a:ext cx="695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buNone/>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Same shipment, invoice, service task and resource pools</a:t>
            </a:r>
          </a:p>
        </p:txBody>
      </p:sp>
    </p:spTree>
    <p:extLst>
      <p:ext uri="{BB962C8B-B14F-4D97-AF65-F5344CB8AC3E}">
        <p14:creationId xmlns:p14="http://schemas.microsoft.com/office/powerpoint/2010/main" val="21379035"/>
      </p:ext>
    </p:extLst>
  </p:cSld>
</p:sld>
</file>

<file path=ppt/slides/slide8.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21" name="APPENDIX  EVIDENCE AND MODEL ROLES">
            <a:extLst xmlns:a="http://schemas.openxmlformats.org/drawingml/2006/main">
              <a:ext uri="{FF2B5EF4-FFF2-40B4-BE49-F238E27FC236}">
                <a16:creationId xmlns:a16="http://schemas.microsoft.com/office/drawing/2014/main" id="{1EB754D7-EB9F-4169-93D3-FA40D985E657}"/>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EVIDENCE AND MODEL ROLES</a:t>
            </a:r>
          </a:p>
        </p:txBody>
      </p:sp>
      <p:sp>
        <p:nvSpPr>
          <p:cNvPr id="2" name="Different evidence serves different decisi">
            <a:extLst xmlns:a="http://schemas.openxmlformats.org/drawingml/2006/main">
              <a:ext uri="{FF2B5EF4-FFF2-40B4-BE49-F238E27FC236}">
                <a16:creationId xmlns:a16="http://schemas.microsoft.com/office/drawing/2014/main" id="{1C749794-EA06-4F46-8287-A34822B3C213}"/>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Different evidence serves different decisions</a:t>
            </a:r>
          </a:p>
        </p:txBody>
      </p:sp>
      <p:sp>
        <p:nvSpPr>
          <p:cNvPr id="3" name="07">
            <a:extLst xmlns:a="http://schemas.openxmlformats.org/drawingml/2006/main">
              <a:ext uri="{FF2B5EF4-FFF2-40B4-BE49-F238E27FC236}">
                <a16:creationId xmlns:a16="http://schemas.microsoft.com/office/drawing/2014/main" id="{93AFAA79-BE88-4BDA-B9ED-8E5737F038FE}"/>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08</a:t>
            </a:r>
          </a:p>
        </p:txBody>
      </p:sp>
      <p:sp>
        <p:nvSpPr>
          <p:cNvPr id="4" name="No public headline alone establishes compa">
            <a:extLst xmlns:a="http://schemas.openxmlformats.org/drawingml/2006/main">
              <a:ext uri="{FF2B5EF4-FFF2-40B4-BE49-F238E27FC236}">
                <a16:creationId xmlns:a16="http://schemas.microsoft.com/office/drawing/2014/main" id="{5FD58226-BD62-4564-90E0-BA991925F2FC}"/>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No public headline alone establishes company exposure. No external retailer score validates this synthetic company scenario.</a:t>
            </a:r>
          </a:p>
        </p:txBody>
      </p:sp>
      <p:sp>
        <p:nvSpPr>
          <p:cNvPr id="5" name="">
            <a:extLst xmlns:a="http://schemas.openxmlformats.org/drawingml/2006/main">
              <a:ext uri="{FF2B5EF4-FFF2-40B4-BE49-F238E27FC236}">
                <a16:creationId xmlns:a16="http://schemas.microsoft.com/office/drawing/2014/main" id="{CEC18791-0D7E-41E1-AA29-A3C29C6C26B4}"/>
              </a:ext>
            </a:extLst>
          </p:cNvPr>
          <p:cNvSpPr>
            <a:spLocks xmlns:a="http://schemas.openxmlformats.org/drawingml/2006/main" noGrp="1"/>
          </p:cNvSpPr>
          <p:nvPr/>
        </p:nvSpPr>
        <p:spPr>
          <a:xfrm xmlns:a="http://schemas.openxmlformats.org/drawingml/2006/main">
            <a:off x="609600" y="2028825"/>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6" name="Public context">
            <a:extLst xmlns:a="http://schemas.openxmlformats.org/drawingml/2006/main">
              <a:ext uri="{FF2B5EF4-FFF2-40B4-BE49-F238E27FC236}">
                <a16:creationId xmlns:a16="http://schemas.microsoft.com/office/drawing/2014/main" id="{97AB8F75-2FFB-47F1-97C6-20EB64EDDA6B}"/>
              </a:ext>
            </a:extLst>
          </p:cNvPr>
          <p:cNvSpPr>
            <a:spLocks xmlns:a="http://schemas.openxmlformats.org/drawingml/2006/main" noGrp="1"/>
          </p:cNvSpPr>
          <p:nvPr/>
        </p:nvSpPr>
        <p:spPr>
          <a:xfrm xmlns:a="http://schemas.openxmlformats.org/drawingml/2006/main">
            <a:off x="609600" y="2190750"/>
            <a:ext cx="2790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1212"/>
                </a:solidFill>
                <a:latin typeface="Liberation Sans"/>
                <a:ea typeface="Liberation Sans"/>
                <a:cs typeface="Liberation Sans"/>
              </a:defRPr>
            </a:defPPr>
          </a:lstStyle>
          <a:p xmlns:a="http://schemas.openxmlformats.org/drawingml/2006/main">
            <a:pPr algn="l">
              <a:defRPr sz="1800" b="1">
                <a:solidFill>
                  <a:srgbClr val="121212"/>
                </a:solidFill>
                <a:latin typeface="Liberation Sans"/>
                <a:ea typeface="Liberation Sans"/>
                <a:cs typeface="Liberation Sans"/>
              </a:defRPr>
            </a:pPr>
            <a:r>
              <a:rPr sz="1800" b="1">
                <a:solidFill>
                  <a:srgbClr val="121212"/>
                </a:solidFill>
                <a:latin typeface="Liberation Sans"/>
                <a:ea typeface="Liberation Sans"/>
                <a:cs typeface="Liberation Sans"/>
              </a:rPr>
              <a:t>Public context</a:t>
            </a:r>
          </a:p>
        </p:txBody>
      </p:sp>
      <p:sp>
        <p:nvSpPr>
          <p:cNvPr id="7" name="Official reports and lexical retrieval">
            <a:extLst xmlns:a="http://schemas.openxmlformats.org/drawingml/2006/main">
              <a:ext uri="{FF2B5EF4-FFF2-40B4-BE49-F238E27FC236}">
                <a16:creationId xmlns:a16="http://schemas.microsoft.com/office/drawing/2014/main" id="{4FD0DD6C-BDC9-440F-A11D-D5D224849A0B}"/>
              </a:ext>
            </a:extLst>
          </p:cNvPr>
          <p:cNvSpPr>
            <a:spLocks xmlns:a="http://schemas.openxmlformats.org/drawingml/2006/main" noGrp="1"/>
          </p:cNvSpPr>
          <p:nvPr/>
        </p:nvSpPr>
        <p:spPr>
          <a:xfrm xmlns:a="http://schemas.openxmlformats.org/drawingml/2006/main">
            <a:off x="3638550" y="2162175"/>
            <a:ext cx="7810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1212"/>
                </a:solidFill>
                <a:latin typeface="Liberation Sans"/>
                <a:ea typeface="Liberation Sans"/>
                <a:cs typeface="Liberation Sans"/>
              </a:defRPr>
            </a:defPPr>
          </a:lstStyle>
          <a:p xmlns:a="http://schemas.openxmlformats.org/drawingml/2006/main">
            <a:pPr algn="l">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Official reports and lexical retrieval</a:t>
            </a:r>
          </a:p>
        </p:txBody>
      </p:sp>
      <p:sp>
        <p:nvSpPr>
          <p:cNvPr id="8" name="Context and traceable source records">
            <a:extLst xmlns:a="http://schemas.openxmlformats.org/drawingml/2006/main">
              <a:ext uri="{FF2B5EF4-FFF2-40B4-BE49-F238E27FC236}">
                <a16:creationId xmlns:a16="http://schemas.microsoft.com/office/drawing/2014/main" id="{A7F42F2C-CEAF-4E48-BBAA-66E88F0692A3}"/>
              </a:ext>
            </a:extLst>
          </p:cNvPr>
          <p:cNvSpPr>
            <a:spLocks xmlns:a="http://schemas.openxmlformats.org/drawingml/2006/main" noGrp="1"/>
          </p:cNvSpPr>
          <p:nvPr/>
        </p:nvSpPr>
        <p:spPr>
          <a:xfrm xmlns:a="http://schemas.openxmlformats.org/drawingml/2006/main">
            <a:off x="3638550" y="2533650"/>
            <a:ext cx="781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26262"/>
                </a:solidFill>
                <a:latin typeface="Liberation Sans"/>
                <a:ea typeface="Liberation Sans"/>
                <a:cs typeface="Liberation Sans"/>
              </a:defRPr>
            </a:defPPr>
          </a:lstStyle>
          <a:p xmlns:a="http://schemas.openxmlformats.org/drawingml/2006/main">
            <a:pPr algn="l">
              <a:defRPr sz="1650" b="0">
                <a:solidFill>
                  <a:srgbClr val="626262"/>
                </a:solidFill>
                <a:latin typeface="Liberation Sans"/>
                <a:ea typeface="Liberation Sans"/>
                <a:cs typeface="Liberation Sans"/>
              </a:defRPr>
            </a:pPr>
            <a:r>
              <a:rPr sz="1650" b="0">
                <a:solidFill>
                  <a:srgbClr val="626262"/>
                </a:solidFill>
                <a:latin typeface="Liberation Sans"/>
                <a:ea typeface="Liberation Sans"/>
                <a:cs typeface="Liberation Sans"/>
              </a:rPr>
              <a:t>Context and traceable source records</a:t>
            </a:r>
          </a:p>
        </p:txBody>
      </p:sp>
      <p:sp>
        <p:nvSpPr>
          <p:cNvPr id="9" name="">
            <a:extLst xmlns:a="http://schemas.openxmlformats.org/drawingml/2006/main">
              <a:ext uri="{FF2B5EF4-FFF2-40B4-BE49-F238E27FC236}">
                <a16:creationId xmlns:a16="http://schemas.microsoft.com/office/drawing/2014/main" id="{196A7AF4-F626-48C8-87C6-0C0B641DCA88}"/>
              </a:ext>
            </a:extLst>
          </p:cNvPr>
          <p:cNvSpPr>
            <a:spLocks xmlns:a="http://schemas.openxmlformats.org/drawingml/2006/main" noGrp="1"/>
          </p:cNvSpPr>
          <p:nvPr/>
        </p:nvSpPr>
        <p:spPr>
          <a:xfrm xmlns:a="http://schemas.openxmlformats.org/drawingml/2006/main">
            <a:off x="609600" y="2971800"/>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0" name="Synthetic outlook">
            <a:extLst xmlns:a="http://schemas.openxmlformats.org/drawingml/2006/main">
              <a:ext uri="{FF2B5EF4-FFF2-40B4-BE49-F238E27FC236}">
                <a16:creationId xmlns:a16="http://schemas.microsoft.com/office/drawing/2014/main" id="{3ACF48A2-A224-4001-81B8-F35341B0AD82}"/>
              </a:ext>
            </a:extLst>
          </p:cNvPr>
          <p:cNvSpPr>
            <a:spLocks xmlns:a="http://schemas.openxmlformats.org/drawingml/2006/main" noGrp="1"/>
          </p:cNvSpPr>
          <p:nvPr/>
        </p:nvSpPr>
        <p:spPr>
          <a:xfrm xmlns:a="http://schemas.openxmlformats.org/drawingml/2006/main">
            <a:off x="609600" y="3133725"/>
            <a:ext cx="2790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1212"/>
                </a:solidFill>
                <a:latin typeface="Liberation Sans"/>
                <a:ea typeface="Liberation Sans"/>
                <a:cs typeface="Liberation Sans"/>
              </a:defRPr>
            </a:defPPr>
          </a:lstStyle>
          <a:p xmlns:a="http://schemas.openxmlformats.org/drawingml/2006/main">
            <a:pPr algn="l">
              <a:defRPr sz="1800" b="1">
                <a:solidFill>
                  <a:srgbClr val="121212"/>
                </a:solidFill>
                <a:latin typeface="Liberation Sans"/>
                <a:ea typeface="Liberation Sans"/>
                <a:cs typeface="Liberation Sans"/>
              </a:defRPr>
            </a:pPr>
            <a:r>
              <a:rPr sz="1800" b="1">
                <a:solidFill>
                  <a:srgbClr val="121212"/>
                </a:solidFill>
                <a:latin typeface="Liberation Sans"/>
                <a:ea typeface="Liberation Sans"/>
                <a:cs typeface="Liberation Sans"/>
              </a:rPr>
              <a:t>Synthetic outlook</a:t>
            </a:r>
          </a:p>
        </p:txBody>
      </p:sp>
      <p:sp>
        <p:nvSpPr>
          <p:cNvPr id="11" name="Authored history and statistical selector">
            <a:extLst xmlns:a="http://schemas.openxmlformats.org/drawingml/2006/main">
              <a:ext uri="{FF2B5EF4-FFF2-40B4-BE49-F238E27FC236}">
                <a16:creationId xmlns:a16="http://schemas.microsoft.com/office/drawing/2014/main" id="{B7646603-3AA3-4BDF-B00E-85A41332E070}"/>
              </a:ext>
            </a:extLst>
          </p:cNvPr>
          <p:cNvSpPr>
            <a:spLocks xmlns:a="http://schemas.openxmlformats.org/drawingml/2006/main" noGrp="1"/>
          </p:cNvSpPr>
          <p:nvPr/>
        </p:nvSpPr>
        <p:spPr>
          <a:xfrm xmlns:a="http://schemas.openxmlformats.org/drawingml/2006/main">
            <a:off x="3638550" y="3105150"/>
            <a:ext cx="7810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1212"/>
                </a:solidFill>
                <a:latin typeface="Liberation Sans"/>
                <a:ea typeface="Liberation Sans"/>
                <a:cs typeface="Liberation Sans"/>
              </a:defRPr>
            </a:defPPr>
          </a:lstStyle>
          <a:p xmlns:a="http://schemas.openxmlformats.org/drawingml/2006/main">
            <a:pPr algn="l">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Authored history and statistical selector</a:t>
            </a:r>
          </a:p>
        </p:txBody>
      </p:sp>
      <p:sp>
        <p:nvSpPr>
          <p:cNvPr id="12" name="Dated demand, stock and arrival arithmetic">
            <a:extLst xmlns:a="http://schemas.openxmlformats.org/drawingml/2006/main">
              <a:ext uri="{FF2B5EF4-FFF2-40B4-BE49-F238E27FC236}">
                <a16:creationId xmlns:a16="http://schemas.microsoft.com/office/drawing/2014/main" id="{557C97B0-B91C-496E-889B-B33BEF6CB87B}"/>
              </a:ext>
            </a:extLst>
          </p:cNvPr>
          <p:cNvSpPr>
            <a:spLocks xmlns:a="http://schemas.openxmlformats.org/drawingml/2006/main" noGrp="1"/>
          </p:cNvSpPr>
          <p:nvPr/>
        </p:nvSpPr>
        <p:spPr>
          <a:xfrm xmlns:a="http://schemas.openxmlformats.org/drawingml/2006/main">
            <a:off x="3638550" y="3476625"/>
            <a:ext cx="781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26262"/>
                </a:solidFill>
                <a:latin typeface="Liberation Sans"/>
                <a:ea typeface="Liberation Sans"/>
                <a:cs typeface="Liberation Sans"/>
              </a:defRPr>
            </a:defPPr>
          </a:lstStyle>
          <a:p xmlns:a="http://schemas.openxmlformats.org/drawingml/2006/main">
            <a:pPr algn="l">
              <a:defRPr sz="1650" b="0">
                <a:solidFill>
                  <a:srgbClr val="626262"/>
                </a:solidFill>
                <a:latin typeface="Liberation Sans"/>
                <a:ea typeface="Liberation Sans"/>
                <a:cs typeface="Liberation Sans"/>
              </a:defRPr>
            </a:pPr>
            <a:r>
              <a:rPr sz="1650" b="0">
                <a:solidFill>
                  <a:srgbClr val="626262"/>
                </a:solidFill>
                <a:latin typeface="Liberation Sans"/>
                <a:ea typeface="Liberation Sans"/>
                <a:cs typeface="Liberation Sans"/>
              </a:rPr>
              <a:t>Dated demand, stock and arrival arithmetic</a:t>
            </a:r>
          </a:p>
        </p:txBody>
      </p:sp>
      <p:sp>
        <p:nvSpPr>
          <p:cNvPr id="13" name="">
            <a:extLst xmlns:a="http://schemas.openxmlformats.org/drawingml/2006/main">
              <a:ext uri="{FF2B5EF4-FFF2-40B4-BE49-F238E27FC236}">
                <a16:creationId xmlns:a16="http://schemas.microsoft.com/office/drawing/2014/main" id="{131080D2-9251-42B0-9CD5-6C265C7DC4ED}"/>
              </a:ext>
            </a:extLst>
          </p:cNvPr>
          <p:cNvSpPr>
            <a:spLocks xmlns:a="http://schemas.openxmlformats.org/drawingml/2006/main" noGrp="1"/>
          </p:cNvSpPr>
          <p:nvPr/>
        </p:nvSpPr>
        <p:spPr>
          <a:xfrm xmlns:a="http://schemas.openxmlformats.org/drawingml/2006/main">
            <a:off x="609600" y="3914775"/>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4" name="Joint comparison">
            <a:extLst xmlns:a="http://schemas.openxmlformats.org/drawingml/2006/main">
              <a:ext uri="{FF2B5EF4-FFF2-40B4-BE49-F238E27FC236}">
                <a16:creationId xmlns:a16="http://schemas.microsoft.com/office/drawing/2014/main" id="{8E753633-F025-47DD-AD35-E799B43975F3}"/>
              </a:ext>
            </a:extLst>
          </p:cNvPr>
          <p:cNvSpPr>
            <a:spLocks xmlns:a="http://schemas.openxmlformats.org/drawingml/2006/main" noGrp="1"/>
          </p:cNvSpPr>
          <p:nvPr/>
        </p:nvSpPr>
        <p:spPr>
          <a:xfrm xmlns:a="http://schemas.openxmlformats.org/drawingml/2006/main">
            <a:off x="609600" y="4076700"/>
            <a:ext cx="2790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1212"/>
                </a:solidFill>
                <a:latin typeface="Liberation Sans"/>
                <a:ea typeface="Liberation Sans"/>
                <a:cs typeface="Liberation Sans"/>
              </a:defRPr>
            </a:defPPr>
          </a:lstStyle>
          <a:p xmlns:a="http://schemas.openxmlformats.org/drawingml/2006/main">
            <a:pPr algn="l">
              <a:defRPr sz="1800" b="1">
                <a:solidFill>
                  <a:srgbClr val="121212"/>
                </a:solidFill>
                <a:latin typeface="Liberation Sans"/>
                <a:ea typeface="Liberation Sans"/>
                <a:cs typeface="Liberation Sans"/>
              </a:defRPr>
            </a:pPr>
            <a:r>
              <a:rPr sz="1800" b="1">
                <a:solidFill>
                  <a:srgbClr val="121212"/>
                </a:solidFill>
                <a:latin typeface="Liberation Sans"/>
                <a:ea typeface="Liberation Sans"/>
                <a:cs typeface="Liberation Sans"/>
              </a:rPr>
              <a:t>Joint comparison</a:t>
            </a:r>
          </a:p>
        </p:txBody>
      </p:sp>
      <p:sp>
        <p:nvSpPr>
          <p:cNvPr id="15" name="72 bounded action combinations">
            <a:extLst xmlns:a="http://schemas.openxmlformats.org/drawingml/2006/main">
              <a:ext uri="{FF2B5EF4-FFF2-40B4-BE49-F238E27FC236}">
                <a16:creationId xmlns:a16="http://schemas.microsoft.com/office/drawing/2014/main" id="{5584DAA4-9214-46F2-AC16-BAFA958A0898}"/>
              </a:ext>
            </a:extLst>
          </p:cNvPr>
          <p:cNvSpPr>
            <a:spLocks xmlns:a="http://schemas.openxmlformats.org/drawingml/2006/main" noGrp="1"/>
          </p:cNvSpPr>
          <p:nvPr/>
        </p:nvSpPr>
        <p:spPr>
          <a:xfrm xmlns:a="http://schemas.openxmlformats.org/drawingml/2006/main">
            <a:off x="3638550" y="4048125"/>
            <a:ext cx="7810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1212"/>
                </a:solidFill>
                <a:latin typeface="Liberation Sans"/>
                <a:ea typeface="Liberation Sans"/>
                <a:cs typeface="Liberation Sans"/>
              </a:defRPr>
            </a:defPPr>
          </a:lstStyle>
          <a:p xmlns:a="http://schemas.openxmlformats.org/drawingml/2006/main">
            <a:pPr algn="l">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72 bounded action combinations</a:t>
            </a:r>
          </a:p>
        </p:txBody>
      </p:sp>
      <p:sp>
        <p:nvSpPr>
          <p:cNvPr id="16" name="Hard constraints and residual trade-offs">
            <a:extLst xmlns:a="http://schemas.openxmlformats.org/drawingml/2006/main">
              <a:ext uri="{FF2B5EF4-FFF2-40B4-BE49-F238E27FC236}">
                <a16:creationId xmlns:a16="http://schemas.microsoft.com/office/drawing/2014/main" id="{BAC49729-EBB2-41D8-9C91-7B38B09DD36D}"/>
              </a:ext>
            </a:extLst>
          </p:cNvPr>
          <p:cNvSpPr>
            <a:spLocks xmlns:a="http://schemas.openxmlformats.org/drawingml/2006/main" noGrp="1"/>
          </p:cNvSpPr>
          <p:nvPr/>
        </p:nvSpPr>
        <p:spPr>
          <a:xfrm xmlns:a="http://schemas.openxmlformats.org/drawingml/2006/main">
            <a:off x="3638550" y="4419600"/>
            <a:ext cx="781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26262"/>
                </a:solidFill>
                <a:latin typeface="Liberation Sans"/>
                <a:ea typeface="Liberation Sans"/>
                <a:cs typeface="Liberation Sans"/>
              </a:defRPr>
            </a:defPPr>
          </a:lstStyle>
          <a:p xmlns:a="http://schemas.openxmlformats.org/drawingml/2006/main">
            <a:pPr algn="l">
              <a:defRPr sz="1650" b="0">
                <a:solidFill>
                  <a:srgbClr val="626262"/>
                </a:solidFill>
                <a:latin typeface="Liberation Sans"/>
                <a:ea typeface="Liberation Sans"/>
                <a:cs typeface="Liberation Sans"/>
              </a:defRPr>
            </a:pPr>
            <a:r>
              <a:rPr sz="1650" b="0">
                <a:solidFill>
                  <a:srgbClr val="626262"/>
                </a:solidFill>
                <a:latin typeface="Liberation Sans"/>
                <a:ea typeface="Liberation Sans"/>
                <a:cs typeface="Liberation Sans"/>
              </a:rPr>
              <a:t>Hard constraints and residual trade-offs</a:t>
            </a:r>
          </a:p>
        </p:txBody>
      </p:sp>
      <p:sp>
        <p:nvSpPr>
          <p:cNvPr id="17" name="">
            <a:extLst xmlns:a="http://schemas.openxmlformats.org/drawingml/2006/main">
              <a:ext uri="{FF2B5EF4-FFF2-40B4-BE49-F238E27FC236}">
                <a16:creationId xmlns:a16="http://schemas.microsoft.com/office/drawing/2014/main" id="{7636F9AF-F6D9-481B-8933-767453B25C79}"/>
              </a:ext>
            </a:extLst>
          </p:cNvPr>
          <p:cNvSpPr>
            <a:spLocks xmlns:a="http://schemas.openxmlformats.org/drawingml/2006/main" noGrp="1"/>
          </p:cNvSpPr>
          <p:nvPr/>
        </p:nvSpPr>
        <p:spPr>
          <a:xfrm xmlns:a="http://schemas.openxmlformats.org/drawingml/2006/main">
            <a:off x="609600" y="4857750"/>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8" name="Optional LLM">
            <a:extLst xmlns:a="http://schemas.openxmlformats.org/drawingml/2006/main">
              <a:ext uri="{FF2B5EF4-FFF2-40B4-BE49-F238E27FC236}">
                <a16:creationId xmlns:a16="http://schemas.microsoft.com/office/drawing/2014/main" id="{48635FDC-1DE7-4D12-AD57-6BF0309EA537}"/>
              </a:ext>
            </a:extLst>
          </p:cNvPr>
          <p:cNvSpPr>
            <a:spLocks xmlns:a="http://schemas.openxmlformats.org/drawingml/2006/main" noGrp="1"/>
          </p:cNvSpPr>
          <p:nvPr/>
        </p:nvSpPr>
        <p:spPr>
          <a:xfrm xmlns:a="http://schemas.openxmlformats.org/drawingml/2006/main">
            <a:off x="609600" y="5019675"/>
            <a:ext cx="2790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1212"/>
                </a:solidFill>
                <a:latin typeface="Liberation Sans"/>
                <a:ea typeface="Liberation Sans"/>
                <a:cs typeface="Liberation Sans"/>
              </a:defRPr>
            </a:defPPr>
          </a:lstStyle>
          <a:p xmlns:a="http://schemas.openxmlformats.org/drawingml/2006/main">
            <a:pPr algn="l">
              <a:defRPr sz="1800" b="1">
                <a:solidFill>
                  <a:srgbClr val="121212"/>
                </a:solidFill>
                <a:latin typeface="Liberation Sans"/>
                <a:ea typeface="Liberation Sans"/>
                <a:cs typeface="Liberation Sans"/>
              </a:defRPr>
            </a:pPr>
            <a:r>
              <a:rPr sz="1800" b="1">
                <a:solidFill>
                  <a:srgbClr val="121212"/>
                </a:solidFill>
                <a:latin typeface="Liberation Sans"/>
                <a:ea typeface="Liberation Sans"/>
                <a:cs typeface="Liberation Sans"/>
              </a:rPr>
              <a:t>Optional LLM</a:t>
            </a:r>
          </a:p>
        </p:txBody>
      </p:sp>
      <p:sp>
        <p:nvSpPr>
          <p:cNvPr id="19" name="GPT-OSS 120B via SovernStack">
            <a:extLst xmlns:a="http://schemas.openxmlformats.org/drawingml/2006/main">
              <a:ext uri="{FF2B5EF4-FFF2-40B4-BE49-F238E27FC236}">
                <a16:creationId xmlns:a16="http://schemas.microsoft.com/office/drawing/2014/main" id="{C9142877-047B-4169-9B7F-C450DCF1B262}"/>
              </a:ext>
            </a:extLst>
          </p:cNvPr>
          <p:cNvSpPr>
            <a:spLocks xmlns:a="http://schemas.openxmlformats.org/drawingml/2006/main" noGrp="1"/>
          </p:cNvSpPr>
          <p:nvPr/>
        </p:nvSpPr>
        <p:spPr>
          <a:xfrm xmlns:a="http://schemas.openxmlformats.org/drawingml/2006/main">
            <a:off x="3638550" y="4991100"/>
            <a:ext cx="7810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1212"/>
                </a:solidFill>
                <a:latin typeface="Liberation Sans"/>
                <a:ea typeface="Liberation Sans"/>
                <a:cs typeface="Liberation Sans"/>
              </a:defRPr>
            </a:defPPr>
          </a:lstStyle>
          <a:p xmlns:a="http://schemas.openxmlformats.org/drawingml/2006/main">
            <a:pPr algn="l">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GPT-OSS 120B via SovernStack</a:t>
            </a:r>
          </a:p>
        </p:txBody>
      </p:sp>
      <p:sp>
        <p:nvSpPr>
          <p:cNvPr id="20" name="Selected-case explanation only">
            <a:extLst xmlns:a="http://schemas.openxmlformats.org/drawingml/2006/main">
              <a:ext uri="{FF2B5EF4-FFF2-40B4-BE49-F238E27FC236}">
                <a16:creationId xmlns:a16="http://schemas.microsoft.com/office/drawing/2014/main" id="{C2B0974C-70D0-4010-86A1-9B6BD7172115}"/>
              </a:ext>
            </a:extLst>
          </p:cNvPr>
          <p:cNvSpPr>
            <a:spLocks xmlns:a="http://schemas.openxmlformats.org/drawingml/2006/main" noGrp="1"/>
          </p:cNvSpPr>
          <p:nvPr/>
        </p:nvSpPr>
        <p:spPr>
          <a:xfrm xmlns:a="http://schemas.openxmlformats.org/drawingml/2006/main">
            <a:off x="3638550" y="5362575"/>
            <a:ext cx="781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26262"/>
                </a:solidFill>
                <a:latin typeface="Liberation Sans"/>
                <a:ea typeface="Liberation Sans"/>
                <a:cs typeface="Liberation Sans"/>
              </a:defRPr>
            </a:defPPr>
          </a:lstStyle>
          <a:p xmlns:a="http://schemas.openxmlformats.org/drawingml/2006/main">
            <a:pPr algn="l">
              <a:defRPr sz="1650" b="0">
                <a:solidFill>
                  <a:srgbClr val="626262"/>
                </a:solidFill>
                <a:latin typeface="Liberation Sans"/>
                <a:ea typeface="Liberation Sans"/>
                <a:cs typeface="Liberation Sans"/>
              </a:defRPr>
            </a:pPr>
            <a:r>
              <a:rPr sz="1650" b="0">
                <a:solidFill>
                  <a:srgbClr val="626262"/>
                </a:solidFill>
                <a:latin typeface="Liberation Sans"/>
                <a:ea typeface="Liberation Sans"/>
                <a:cs typeface="Liberation Sans"/>
              </a:rPr>
              <a:t>Selected-case explanation only</a:t>
            </a:r>
          </a:p>
        </p:txBody>
      </p:sp>
    </p:spTree>
    <p:extLst>
      <p:ext uri="{BB962C8B-B14F-4D97-AF65-F5344CB8AC3E}">
        <p14:creationId xmlns:p14="http://schemas.microsoft.com/office/powerpoint/2010/main" val="2040117136"/>
      </p:ext>
    </p:extLst>
  </p:cSld>
</p:sld>
</file>

<file path=ppt/slides/slide9.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1" name="APPENDIX  EXTERNAL ROLLING-ORIGIN RESULTS">
            <a:extLst xmlns:a="http://schemas.openxmlformats.org/drawingml/2006/main">
              <a:ext uri="{FF2B5EF4-FFF2-40B4-BE49-F238E27FC236}">
                <a16:creationId xmlns:a16="http://schemas.microsoft.com/office/drawing/2014/main" id="{1CF3EB19-3110-442B-AF9A-4B9DBDBAD3DD}"/>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EXTERNAL ROLLING-ORIGIN RESULTS</a:t>
            </a:r>
          </a:p>
        </p:txBody>
      </p:sp>
      <p:sp>
        <p:nvSpPr>
          <p:cNvPr id="2" name="Weekly error improved in an exploratory st">
            <a:extLst xmlns:a="http://schemas.openxmlformats.org/drawingml/2006/main">
              <a:ext uri="{FF2B5EF4-FFF2-40B4-BE49-F238E27FC236}">
                <a16:creationId xmlns:a16="http://schemas.microsoft.com/office/drawing/2014/main" id="{98016B3F-762C-4C73-8661-3F1FEDD7AFEE}"/>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Weekly error improved in an exploratory study</a:t>
            </a:r>
          </a:p>
        </p:txBody>
      </p:sp>
      <p:sp>
        <p:nvSpPr>
          <p:cNvPr id="3" name="08">
            <a:extLst xmlns:a="http://schemas.openxmlformats.org/drawingml/2006/main">
              <a:ext uri="{FF2B5EF4-FFF2-40B4-BE49-F238E27FC236}">
                <a16:creationId xmlns:a16="http://schemas.microsoft.com/office/drawing/2014/main" id="{C59ABA6B-4E59-4F01-AA66-A7F59E9A4E3A}"/>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09</a:t>
            </a:r>
          </a:p>
        </p:txBody>
      </p:sp>
      <p:sp>
        <p:nvSpPr>
          <p:cNvPr id="4" name="UCI Online Retail II. Eight 2011 folds on ">
            <a:extLst xmlns:a="http://schemas.openxmlformats.org/drawingml/2006/main">
              <a:ext uri="{FF2B5EF4-FFF2-40B4-BE49-F238E27FC236}">
                <a16:creationId xmlns:a16="http://schemas.microsoft.com/office/drawing/2014/main" id="{B41E7EE5-556F-4940-A567-78FC4CC45954}"/>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UCI Online Retail II. Eight 2011 folds on previously exposed prior-training periods. Lower WAPE is better; it is not accuracy.</a:t>
            </a:r>
          </a:p>
        </p:txBody>
      </p:sp>
      <p:sp>
        <p:nvSpPr>
          <p:cNvPr id="5" name="Seven-day total WAPE, percent">
            <a:extLst xmlns:a="http://schemas.openxmlformats.org/drawingml/2006/main">
              <a:ext uri="{FF2B5EF4-FFF2-40B4-BE49-F238E27FC236}">
                <a16:creationId xmlns:a16="http://schemas.microsoft.com/office/drawing/2014/main" id="{4FE5A389-7AF5-4071-B0AA-05D46D9EA42B}"/>
              </a:ext>
            </a:extLst>
          </p:cNvPr>
          <p:cNvSpPr>
            <a:spLocks xmlns:a="http://schemas.openxmlformats.org/drawingml/2006/main" noGrp="1"/>
          </p:cNvSpPr>
          <p:nvPr/>
        </p:nvSpPr>
        <p:spPr>
          <a:xfrm xmlns:a="http://schemas.openxmlformats.org/drawingml/2006/main">
            <a:off x="619125" y="2009775"/>
            <a:ext cx="70675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21212"/>
                </a:solidFill>
                <a:latin typeface="Liberation Sans"/>
                <a:ea typeface="Liberation Sans"/>
                <a:cs typeface="Liberation Sans"/>
              </a:defRPr>
            </a:defPPr>
          </a:lstStyle>
          <a:p xmlns:a="http://schemas.openxmlformats.org/drawingml/2006/main">
            <a:pPr algn="l">
              <a:defRPr sz="1650" b="1">
                <a:solidFill>
                  <a:srgbClr val="121212"/>
                </a:solidFill>
                <a:latin typeface="Liberation Sans"/>
                <a:ea typeface="Liberation Sans"/>
                <a:cs typeface="Liberation Sans"/>
              </a:defRPr>
            </a:pPr>
            <a:r>
              <a:rPr sz="1650" b="1">
                <a:solidFill>
                  <a:srgbClr val="121212"/>
                </a:solidFill>
                <a:latin typeface="Liberation Sans"/>
                <a:ea typeface="Liberation Sans"/>
                <a:cs typeface="Liberation Sans"/>
              </a:rPr>
              <a:t>Seven-day total WAPE, percent</a:t>
            </a:r>
          </a:p>
        </p:txBody>
      </p:sp>
      <p:graphicFrame>
        <p:nvGraphicFramePr>
          <p:cNvPr id="6" name="Chart">
            <a:extLst xmlns:a="http://schemas.openxmlformats.org/drawingml/2006/main">
              <a:ext uri="{FF2B5EF4-FFF2-40B4-BE49-F238E27FC236}">
                <a16:creationId xmlns:a16="http://schemas.microsoft.com/office/drawing/2014/main" id="{67B92797-2685-495E-BE87-8BA6259F59AC}"/>
              </a:ext>
            </a:extLst>
          </p:cNvPr>
          <p:cNvGraphicFramePr/>
          <p:nvPr/>
        </p:nvGraphicFramePr>
        <p:xfrm>
          <a:off xmlns:a="http://schemas.openxmlformats.org/drawingml/2006/main" x="581025" y="2581275"/>
          <a:ext xmlns:a="http://schemas.openxmlformats.org/drawingml/2006/main" cx="6991350" cy="3000375"/>
        </p:xfrm>
        <a:graphic xmlns:a="http://schemas.openxmlformats.org/drawingml/2006/main">
          <a:graphicData uri="http://schemas.openxmlformats.org/drawingml/2006/chart">
            <c:chart xmlns:r="http://schemas.openxmlformats.org/officeDocument/2006/relationships" xmlns:c="http://schemas.openxmlformats.org/drawingml/2006/chart" r:id="R6a37f99249874500"/>
          </a:graphicData>
        </a:graphic>
      </p:graphicFrame>
      <p:sp>
        <p:nvSpPr>
          <p:cNvPr id="7" name="">
            <a:extLst xmlns:a="http://schemas.openxmlformats.org/drawingml/2006/main">
              <a:ext uri="{FF2B5EF4-FFF2-40B4-BE49-F238E27FC236}">
                <a16:creationId xmlns:a16="http://schemas.microsoft.com/office/drawing/2014/main" id="{D414099E-DC87-4A06-A222-D7D6934D6100}"/>
              </a:ext>
            </a:extLst>
          </p:cNvPr>
          <p:cNvSpPr>
            <a:spLocks xmlns:a="http://schemas.openxmlformats.org/drawingml/2006/main" noGrp="1"/>
          </p:cNvSpPr>
          <p:nvPr/>
        </p:nvSpPr>
        <p:spPr>
          <a:xfrm xmlns:a="http://schemas.openxmlformats.org/drawingml/2006/main">
            <a:off x="7905750" y="2009775"/>
            <a:ext cx="0" cy="373380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8" name="108.53%">
            <a:extLst xmlns:a="http://schemas.openxmlformats.org/drawingml/2006/main">
              <a:ext uri="{FF2B5EF4-FFF2-40B4-BE49-F238E27FC236}">
                <a16:creationId xmlns:a16="http://schemas.microsoft.com/office/drawing/2014/main" id="{59E2A753-27F6-470A-AF13-908644E45622}"/>
              </a:ext>
            </a:extLst>
          </p:cNvPr>
          <p:cNvSpPr>
            <a:spLocks xmlns:a="http://schemas.openxmlformats.org/drawingml/2006/main" noGrp="1"/>
          </p:cNvSpPr>
          <p:nvPr/>
        </p:nvSpPr>
        <p:spPr>
          <a:xfrm xmlns:a="http://schemas.openxmlformats.org/drawingml/2006/main">
            <a:off x="8267700" y="2105025"/>
            <a:ext cx="32956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121212"/>
                </a:solidFill>
                <a:latin typeface="Liberation Sans"/>
                <a:ea typeface="Liberation Sans"/>
                <a:cs typeface="Liberation Sans"/>
              </a:defRPr>
            </a:defPPr>
          </a:lstStyle>
          <a:p xmlns:a="http://schemas.openxmlformats.org/drawingml/2006/main">
            <a:pPr algn="l">
              <a:defRPr sz="4275" b="1">
                <a:solidFill>
                  <a:srgbClr val="121212"/>
                </a:solidFill>
                <a:latin typeface="Liberation Sans"/>
                <a:ea typeface="Liberation Sans"/>
                <a:cs typeface="Liberation Sans"/>
              </a:defRPr>
            </a:pPr>
            <a:r>
              <a:rPr sz="4275" b="1">
                <a:solidFill>
                  <a:srgbClr val="121212"/>
                </a:solidFill>
                <a:latin typeface="Liberation Sans"/>
                <a:ea typeface="Liberation Sans"/>
                <a:cs typeface="Liberation Sans"/>
              </a:rPr>
              <a:t>108.53%</a:t>
            </a:r>
          </a:p>
        </p:txBody>
      </p:sp>
      <p:sp>
        <p:nvSpPr>
          <p:cNvPr id="9" name="selector daily WAPE">
            <a:extLst xmlns:a="http://schemas.openxmlformats.org/drawingml/2006/main">
              <a:ext uri="{FF2B5EF4-FFF2-40B4-BE49-F238E27FC236}">
                <a16:creationId xmlns:a16="http://schemas.microsoft.com/office/drawing/2014/main" id="{C8913BE7-73E5-45A2-8AFB-2BF4BA246060}"/>
              </a:ext>
            </a:extLst>
          </p:cNvPr>
          <p:cNvSpPr>
            <a:spLocks xmlns:a="http://schemas.openxmlformats.org/drawingml/2006/main" noGrp="1"/>
          </p:cNvSpPr>
          <p:nvPr/>
        </p:nvSpPr>
        <p:spPr>
          <a:xfrm xmlns:a="http://schemas.openxmlformats.org/drawingml/2006/main">
            <a:off x="8296275" y="2962275"/>
            <a:ext cx="32099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selector daily WAPE</a:t>
            </a:r>
          </a:p>
        </p:txBody>
      </p:sp>
      <p:sp>
        <p:nvSpPr>
          <p:cNvPr id="10" name="Same-fold weekly gain:&#10;7.48 percentage poi">
            <a:extLst xmlns:a="http://schemas.openxmlformats.org/drawingml/2006/main">
              <a:ext uri="{FF2B5EF4-FFF2-40B4-BE49-F238E27FC236}">
                <a16:creationId xmlns:a16="http://schemas.microsoft.com/office/drawing/2014/main" id="{F7E8EA28-BE58-4862-9796-8B2745F985C2}"/>
              </a:ext>
            </a:extLst>
          </p:cNvPr>
          <p:cNvSpPr>
            <a:spLocks xmlns:a="http://schemas.openxmlformats.org/drawingml/2006/main" noGrp="1"/>
          </p:cNvSpPr>
          <p:nvPr/>
        </p:nvSpPr>
        <p:spPr>
          <a:xfrm xmlns:a="http://schemas.openxmlformats.org/drawingml/2006/main">
            <a:off x="8296275" y="3905250"/>
            <a:ext cx="32004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Same-fold weekly gain:</a:t>
            </a:r>
          </a:p>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7.48 percentage points</a:t>
            </a:r>
          </a:p>
          <a:p xmlns:a="http://schemas.openxmlformats.org/drawingml/2006/main">
            <a:r>
              <a:t/>
            </a:r>
          </a:p>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No pristine holdout</a:t>
            </a:r>
          </a:p>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No company validation</a:t>
            </a:r>
          </a:p>
        </p:txBody>
      </p:sp>
    </p:spTree>
    <p:extLst>
      <p:ext uri="{BB962C8B-B14F-4D97-AF65-F5344CB8AC3E}">
        <p14:creationId xmlns:p14="http://schemas.microsoft.com/office/powerpoint/2010/main" val="1903554909"/>
      </p:ext>
    </p:extLst>
  </p:cSld>
</p:sld>
</file>

<file path=ppt/slides/slide10.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8" name="APPENDIX  EVALUATION PROTOCOL">
            <a:extLst xmlns:a="http://schemas.openxmlformats.org/drawingml/2006/main">
              <a:ext uri="{FF2B5EF4-FFF2-40B4-BE49-F238E27FC236}">
                <a16:creationId xmlns:a16="http://schemas.microsoft.com/office/drawing/2014/main" id="{CF605A90-7AE2-401E-A020-7EC500C77A4F}"/>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EVALUATION PROTOCOL</a:t>
            </a:r>
          </a:p>
        </p:txBody>
      </p:sp>
      <p:sp>
        <p:nvSpPr>
          <p:cNvPr id="2" name="The new study uses eight rolling folds">
            <a:extLst xmlns:a="http://schemas.openxmlformats.org/drawingml/2006/main">
              <a:ext uri="{FF2B5EF4-FFF2-40B4-BE49-F238E27FC236}">
                <a16:creationId xmlns:a16="http://schemas.microsoft.com/office/drawing/2014/main" id="{AF9F74AB-B81C-4805-B9E7-F381C0E3DEA0}"/>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The new study uses eight rolling folds</a:t>
            </a:r>
          </a:p>
        </p:txBody>
      </p:sp>
      <p:sp>
        <p:nvSpPr>
          <p:cNvPr id="3" name="09">
            <a:extLst xmlns:a="http://schemas.openxmlformats.org/drawingml/2006/main">
              <a:ext uri="{FF2B5EF4-FFF2-40B4-BE49-F238E27FC236}">
                <a16:creationId xmlns:a16="http://schemas.microsoft.com/office/drawing/2014/main" id="{75EF4FFC-1D0F-4A3B-908A-0B646F8A81A8}"/>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10</a:t>
            </a:r>
          </a:p>
        </p:txBody>
      </p:sp>
      <p:sp>
        <p:nvSpPr>
          <p:cNvPr id="4" name="A predeclared new analysis of previously e">
            <a:extLst xmlns:a="http://schemas.openxmlformats.org/drawingml/2006/main">
              <a:ext uri="{FF2B5EF4-FFF2-40B4-BE49-F238E27FC236}">
                <a16:creationId xmlns:a16="http://schemas.microsoft.com/office/drawing/2014/main" id="{8E23AEA3-0319-4E23-BCB7-2DE4D9F0F286}"/>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A predeclared new analysis of previously exposed data. Temporal safeguards do not turn it into an untouched holdout.</a:t>
            </a:r>
          </a:p>
        </p:txBody>
      </p:sp>
      <p:graphicFrame>
        <p:nvGraphicFramePr>
          <p:cNvPr id="5" name="">
            <a:extLst xmlns:a="http://schemas.openxmlformats.org/drawingml/2006/main">
              <a:ext uri="{FF2B5EF4-FFF2-40B4-BE49-F238E27FC236}">
                <a16:creationId xmlns:a16="http://schemas.microsoft.com/office/drawing/2014/main" id="{854FD09D-5E98-46C7-8E0F-BE0CB234864E}"/>
              </a:ext>
            </a:extLst>
          </p:cNvPr>
          <p:cNvGraphicFramePr/>
          <p:nvPr/>
        </p:nvGraphicFramePr>
        <p:xfrm>
          <a:off xmlns:a="http://schemas.openxmlformats.org/drawingml/2006/main" x="609600" y="2028825"/>
          <a:ext xmlns:a="http://schemas.openxmlformats.org/drawingml/2006/main" cx="10953750" cy="3000375"/>
        </p:xfrm>
        <a:graphic xmlns:a="http://schemas.openxmlformats.org/drawingml/2006/main">
          <a:graphicData uri="http://schemas.openxmlformats.org/drawingml/2006/table">
            <a:tbl>
              <a:tblPr/>
              <a:tblGrid>
                <a:gridCol w="4143375"/>
                <a:gridCol w="6810375"/>
              </a:tblGrid>
              <a:tr h="600075">
                <a:tc>
                  <a:txBody>
                    <a:bodyPr lIns="114300" tIns="114300" rIns="114300" bIns="114300"/>
                    <a:lstStyle/>
                    <a:p>
                      <a:r>
                        <a:rPr sz="1275" b="1">
                          <a:solidFill>
                            <a:srgbClr val="FFFFFF"/>
                          </a:solidFill>
                          <a:latin typeface="Liberation Sans"/>
                          <a:ea typeface="Liberation Sans"/>
                          <a:cs typeface="Liberation Sans"/>
                        </a:rPr>
                        <a:t>Design</a:t>
                      </a:r>
                    </a:p>
                  </a:txBody>
                  <a:tcPr marL="91440" marR="91440" marT="45720" marB="45720">
                    <a:solidFill>
                      <a:srgbClr val="121212"/>
                    </a:solidFill>
                  </a:tcPr>
                </a:tc>
                <a:tc>
                  <a:txBody>
                    <a:bodyPr lIns="114300" tIns="114300" rIns="114300" bIns="114300"/>
                    <a:lstStyle/>
                    <a:p>
                      <a:r>
                        <a:rPr sz="1275" b="1">
                          <a:solidFill>
                            <a:srgbClr val="FFFFFF"/>
                          </a:solidFill>
                          <a:latin typeface="Liberation Sans"/>
                          <a:ea typeface="Liberation Sans"/>
                          <a:cs typeface="Liberation Sans"/>
                        </a:rPr>
                        <a:t>Declared rule</a:t>
                      </a:r>
                    </a:p>
                  </a:txBody>
                  <a:tcPr marL="91440" marR="91440" marT="45720" marB="45720">
                    <a:solidFill>
                      <a:srgbClr val="121212"/>
                    </a:solidFill>
                  </a:tcPr>
                </a:tc>
              </a:tr>
              <a:tr h="600075">
                <a:tc>
                  <a:txBody>
                    <a:bodyPr lIns="114300" tIns="114300" rIns="114300" bIns="114300"/>
                    <a:lstStyle/>
                    <a:p>
                      <a:r>
                        <a:rPr sz="1650" b="0">
                          <a:solidFill>
                            <a:srgbClr val="121212"/>
                          </a:solidFill>
                          <a:latin typeface="Liberation Sans"/>
                          <a:ea typeface="Liberation Sans"/>
                          <a:cs typeface="Liberation Sans"/>
                        </a:rPr>
                        <a:t>Eight test windows</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28 days each, starting Feb through Sep 2011</a:t>
                      </a:r>
                    </a:p>
                  </a:txBody>
                  <a:tcPr marL="91440" marR="91440" marT="45720" marB="45720">
                    <a:solidFill>
                      <a:srgbClr val="FFFFFF"/>
                    </a:solidFill>
                  </a:tcPr>
                </a:tc>
              </a:tr>
              <a:tr h="600075">
                <a:tc>
                  <a:txBody>
                    <a:bodyPr lIns="114300" tIns="114300" rIns="114300" bIns="114300"/>
                    <a:lstStyle/>
                    <a:p>
                      <a:r>
                        <a:rPr sz="1650" b="0">
                          <a:solidFill>
                            <a:srgbClr val="121212"/>
                          </a:solidFill>
                          <a:latin typeface="Liberation Sans"/>
                          <a:ea typeface="Liberation Sans"/>
                          <a:cs typeface="Liberation Sans"/>
                        </a:rPr>
                        <a:t>Each fold selects from past data</a:t>
                      </a:r>
                    </a:p>
                  </a:txBody>
                  <a:tcPr marL="91440" marR="91440" marT="45720" marB="45720">
                    <a:solidFill>
                      <a:srgbClr val="F5F5F1"/>
                    </a:solidFill>
                  </a:tcPr>
                </a:tc>
                <a:tc>
                  <a:txBody>
                    <a:bodyPr lIns="114300" tIns="114300" rIns="114300" bIns="114300"/>
                    <a:lstStyle/>
                    <a:p>
                      <a:r>
                        <a:rPr sz="1650" b="0">
                          <a:solidFill>
                            <a:srgbClr val="121212"/>
                          </a:solidFill>
                          <a:latin typeface="Liberation Sans"/>
                          <a:ea typeface="Liberation Sans"/>
                          <a:cs typeface="Liberation Sans"/>
                        </a:rPr>
                        <a:t>28 validation days precede its test</a:t>
                      </a:r>
                    </a:p>
                  </a:txBody>
                  <a:tcPr marL="91440" marR="91440" marT="45720" marB="45720">
                    <a:solidFill>
                      <a:srgbClr val="F5F5F1"/>
                    </a:solidFill>
                  </a:tcPr>
                </a:tc>
              </a:tr>
              <a:tr h="600075">
                <a:tc>
                  <a:txBody>
                    <a:bodyPr lIns="114300" tIns="114300" rIns="114300" bIns="114300"/>
                    <a:lstStyle/>
                    <a:p>
                      <a:r>
                        <a:rPr sz="1650" b="0">
                          <a:solidFill>
                            <a:srgbClr val="121212"/>
                          </a:solidFill>
                          <a:latin typeface="Liberation Sans"/>
                          <a:ea typeface="Liberation Sans"/>
                          <a:cs typeface="Liberation Sans"/>
                        </a:rPr>
                        <a:t>14 fixed point candidates</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Lowest validation seven-day total WAPE</a:t>
                      </a:r>
                    </a:p>
                  </a:txBody>
                  <a:tcPr marL="91440" marR="91440" marT="45720" marB="45720">
                    <a:solidFill>
                      <a:srgbClr val="FFFFFF"/>
                    </a:solidFill>
                  </a:tcPr>
                </a:tc>
              </a:tr>
              <a:tr h="600075">
                <a:tc>
                  <a:txBody>
                    <a:bodyPr lIns="114300" tIns="114300" rIns="114300" bIns="114300"/>
                    <a:lstStyle/>
                    <a:p>
                      <a:r>
                        <a:rPr sz="1650" b="0">
                          <a:solidFill>
                            <a:srgbClr val="121212"/>
                          </a:solidFill>
                          <a:latin typeface="Liberation Sans"/>
                          <a:ea typeface="Liberation Sans"/>
                          <a:cs typeface="Liberation Sans"/>
                        </a:rPr>
                        <a:t>Evaluation and uncertainty</a:t>
                      </a:r>
                    </a:p>
                  </a:txBody>
                  <a:tcPr marL="91440" marR="91440" marT="45720" marB="45720">
                    <a:solidFill>
                      <a:srgbClr val="F5F5F1"/>
                    </a:solidFill>
                  </a:tcPr>
                </a:tc>
                <a:tc>
                  <a:txBody>
                    <a:bodyPr lIns="114300" tIns="114300" rIns="114300" bIns="114300"/>
                    <a:lstStyle/>
                    <a:p>
                      <a:r>
                        <a:rPr sz="1650" b="0">
                          <a:solidFill>
                            <a:srgbClr val="121212"/>
                          </a:solidFill>
                          <a:latin typeface="Liberation Sans"/>
                          <a:ea typeface="Liberation Sans"/>
                          <a:cs typeface="Liberation Sans"/>
                        </a:rPr>
                        <a:t>4 weekly origins per fold; 400 paired resamples</a:t>
                      </a:r>
                    </a:p>
                  </a:txBody>
                  <a:tcPr marL="91440" marR="91440" marT="45720" marB="45720">
                    <a:solidFill>
                      <a:srgbClr val="F5F5F1"/>
                    </a:solidFill>
                  </a:tcPr>
                </a:tc>
              </a:tr>
            </a:tbl>
          </a:graphicData>
        </a:graphic>
      </p:graphicFrame>
      <p:sp>
        <p:nvSpPr>
          <p:cNvPr id="6" name="Target: positive recorded sales">
            <a:extLst xmlns:a="http://schemas.openxmlformats.org/drawingml/2006/main">
              <a:ext uri="{FF2B5EF4-FFF2-40B4-BE49-F238E27FC236}">
                <a16:creationId xmlns:a16="http://schemas.microsoft.com/office/drawing/2014/main" id="{6E0B86EA-A181-4EA3-B0E6-DFF6D9F1FB23}"/>
              </a:ext>
            </a:extLst>
          </p:cNvPr>
          <p:cNvSpPr>
            <a:spLocks xmlns:a="http://schemas.openxmlformats.org/drawingml/2006/main" noGrp="1"/>
          </p:cNvSpPr>
          <p:nvPr/>
        </p:nvSpPr>
        <p:spPr>
          <a:xfrm xmlns:a="http://schemas.openxmlformats.org/drawingml/2006/main">
            <a:off x="638175" y="5314950"/>
            <a:ext cx="1052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21212"/>
                </a:solidFill>
                <a:latin typeface="Liberation Sans"/>
                <a:ea typeface="Liberation Sans"/>
                <a:cs typeface="Liberation Sans"/>
              </a:defRPr>
            </a:defPPr>
          </a:lstStyle>
          <a:p xmlns:a="http://schemas.openxmlformats.org/drawingml/2006/main">
            <a:pPr algn="l">
              <a:defRPr sz="2100" b="1">
                <a:solidFill>
                  <a:srgbClr val="121212"/>
                </a:solidFill>
                <a:latin typeface="Liberation Sans"/>
                <a:ea typeface="Liberation Sans"/>
                <a:cs typeface="Liberation Sans"/>
              </a:defRPr>
            </a:pPr>
            <a:r>
              <a:rPr sz="2100" b="1">
                <a:solidFill>
                  <a:srgbClr val="121212"/>
                </a:solidFill>
                <a:latin typeface="Liberation Sans"/>
                <a:ea typeface="Liberation Sans"/>
                <a:cs typeface="Liberation Sans"/>
              </a:rPr>
              <a:t>Target: positive recorded sales</a:t>
            </a:r>
          </a:p>
        </p:txBody>
      </p:sp>
      <p:sp>
        <p:nvSpPr>
          <p:cNvPr id="7" name="A demand proxy. No actual stockout labels,">
            <a:extLst xmlns:a="http://schemas.openxmlformats.org/drawingml/2006/main">
              <a:ext uri="{FF2B5EF4-FFF2-40B4-BE49-F238E27FC236}">
                <a16:creationId xmlns:a16="http://schemas.microsoft.com/office/drawing/2014/main" id="{C08188CA-3674-4859-A5AE-89000B22B08E}"/>
              </a:ext>
            </a:extLst>
          </p:cNvPr>
          <p:cNvSpPr>
            <a:spLocks xmlns:a="http://schemas.openxmlformats.org/drawingml/2006/main" noGrp="1"/>
          </p:cNvSpPr>
          <p:nvPr/>
        </p:nvSpPr>
        <p:spPr>
          <a:xfrm xmlns:a="http://schemas.openxmlformats.org/drawingml/2006/main">
            <a:off x="638175" y="57435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26262"/>
                </a:solidFill>
                <a:latin typeface="Liberation Sans"/>
                <a:ea typeface="Liberation Sans"/>
                <a:cs typeface="Liberation Sans"/>
              </a:defRPr>
            </a:defPPr>
          </a:lstStyle>
          <a:p xmlns:a="http://schemas.openxmlformats.org/drawingml/2006/main">
            <a:pPr algn="l">
              <a:defRPr sz="1650" b="0">
                <a:solidFill>
                  <a:srgbClr val="626262"/>
                </a:solidFill>
                <a:latin typeface="Liberation Sans"/>
                <a:ea typeface="Liberation Sans"/>
                <a:cs typeface="Liberation Sans"/>
              </a:defRPr>
            </a:pPr>
            <a:r>
              <a:rPr sz="1650" b="0">
                <a:solidFill>
                  <a:srgbClr val="626262"/>
                </a:solidFill>
                <a:latin typeface="Liberation Sans"/>
                <a:ea typeface="Liberation Sans"/>
                <a:cs typeface="Liberation Sans"/>
              </a:rPr>
              <a:t>A demand proxy. No actual stockout labels, inventory or operational calibration.</a:t>
            </a:r>
          </a:p>
        </p:txBody>
      </p:sp>
    </p:spTree>
    <p:extLst>
      <p:ext uri="{BB962C8B-B14F-4D97-AF65-F5344CB8AC3E}">
        <p14:creationId xmlns:p14="http://schemas.microsoft.com/office/powerpoint/2010/main" val="1404210358"/>
      </p:ext>
    </p:extLst>
  </p:cSld>
</p:sld>
</file>

<file path=ppt/slides/slide11.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7" name="APPENDIX  Q&amp;A">
            <a:extLst xmlns:a="http://schemas.openxmlformats.org/drawingml/2006/main">
              <a:ext uri="{FF2B5EF4-FFF2-40B4-BE49-F238E27FC236}">
                <a16:creationId xmlns:a16="http://schemas.microsoft.com/office/drawing/2014/main" id="{AAB3366E-C7F4-4944-85B2-C5FBBEE42733}"/>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Q&amp;A</a:t>
            </a:r>
          </a:p>
        </p:txBody>
      </p:sp>
      <p:sp>
        <p:nvSpPr>
          <p:cNvPr id="2" name="Questions the evidence can answer">
            <a:extLst xmlns:a="http://schemas.openxmlformats.org/drawingml/2006/main">
              <a:ext uri="{FF2B5EF4-FFF2-40B4-BE49-F238E27FC236}">
                <a16:creationId xmlns:a16="http://schemas.microsoft.com/office/drawing/2014/main" id="{256EE7E8-E835-4B5F-970B-395D69DA8433}"/>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Questions the evidence can answer</a:t>
            </a:r>
          </a:p>
        </p:txBody>
      </p:sp>
      <p:sp>
        <p:nvSpPr>
          <p:cNvPr id="3" name="10">
            <a:extLst xmlns:a="http://schemas.openxmlformats.org/drawingml/2006/main">
              <a:ext uri="{FF2B5EF4-FFF2-40B4-BE49-F238E27FC236}">
                <a16:creationId xmlns:a16="http://schemas.microsoft.com/office/drawing/2014/main" id="{3A9B625C-9973-44A1-9637-2F2A7B3BAD35}"/>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11</a:t>
            </a:r>
          </a:p>
        </p:txBody>
      </p:sp>
      <p:sp>
        <p:nvSpPr>
          <p:cNvPr id="4" name="Synthetic scenarios demonstrate calculatio">
            <a:extLst xmlns:a="http://schemas.openxmlformats.org/drawingml/2006/main">
              <a:ext uri="{FF2B5EF4-FFF2-40B4-BE49-F238E27FC236}">
                <a16:creationId xmlns:a16="http://schemas.microsoft.com/office/drawing/2014/main" id="{597B7BC1-D5B2-4EC7-9796-F36C59CD951E}"/>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Synthetic scenarios demonstrate calculation and integration. Real operating outcomes remain to be measured.</a:t>
            </a:r>
          </a:p>
        </p:txBody>
      </p:sp>
      <p:sp>
        <p:nvSpPr>
          <p:cNvPr id="5" name="">
            <a:extLst xmlns:a="http://schemas.openxmlformats.org/drawingml/2006/main">
              <a:ext uri="{FF2B5EF4-FFF2-40B4-BE49-F238E27FC236}">
                <a16:creationId xmlns:a16="http://schemas.microsoft.com/office/drawing/2014/main" id="{4ED9CF44-04BE-4F45-A7F0-6AC970B2ED5A}"/>
              </a:ext>
            </a:extLst>
          </p:cNvPr>
          <p:cNvSpPr>
            <a:spLocks xmlns:a="http://schemas.openxmlformats.org/drawingml/2006/main" noGrp="1"/>
          </p:cNvSpPr>
          <p:nvPr/>
        </p:nvSpPr>
        <p:spPr>
          <a:xfrm xmlns:a="http://schemas.openxmlformats.org/drawingml/2006/main">
            <a:off x="609600" y="2047875"/>
            <a:ext cx="5219700" cy="0"/>
          </a:xfrm>
          <a:prstGeom xmlns:a="http://schemas.openxmlformats.org/drawingml/2006/main" prst="line">
            <a:avLst/>
          </a:prstGeom>
          <a:noFill xmlns:a="http://schemas.openxmlformats.org/drawingml/2006/main"/>
          <a:ln xmlns:a="http://schemas.openxmlformats.org/drawingml/2006/main" w="9525">
            <a:solidFill>
              <a:srgbClr val="121212"/>
            </a:solidFill>
            <a:prstDash val="solid"/>
          </a:ln>
        </p:spPr>
      </p:sp>
      <p:sp>
        <p:nvSpPr>
          <p:cNvPr id="6" name="Is the forecast real company data?">
            <a:extLst xmlns:a="http://schemas.openxmlformats.org/drawingml/2006/main">
              <a:ext uri="{FF2B5EF4-FFF2-40B4-BE49-F238E27FC236}">
                <a16:creationId xmlns:a16="http://schemas.microsoft.com/office/drawing/2014/main" id="{54CB80E2-3192-43C6-9F53-BE891ABC1991}"/>
              </a:ext>
            </a:extLst>
          </p:cNvPr>
          <p:cNvSpPr>
            <a:spLocks xmlns:a="http://schemas.openxmlformats.org/drawingml/2006/main" noGrp="1"/>
          </p:cNvSpPr>
          <p:nvPr/>
        </p:nvSpPr>
        <p:spPr>
          <a:xfrm xmlns:a="http://schemas.openxmlformats.org/drawingml/2006/main">
            <a:off x="609600" y="2219325"/>
            <a:ext cx="5219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Is the forecast real company data?</a:t>
            </a:r>
          </a:p>
        </p:txBody>
      </p:sp>
      <p:sp>
        <p:nvSpPr>
          <p:cNvPr id="7" name="No. The 196-day history is authored synthe">
            <a:extLst xmlns:a="http://schemas.openxmlformats.org/drawingml/2006/main">
              <a:ext uri="{FF2B5EF4-FFF2-40B4-BE49-F238E27FC236}">
                <a16:creationId xmlns:a16="http://schemas.microsoft.com/office/drawing/2014/main" id="{A10BEF90-DFED-47E4-AE15-C3750233C6D7}"/>
              </a:ext>
            </a:extLst>
          </p:cNvPr>
          <p:cNvSpPr>
            <a:spLocks xmlns:a="http://schemas.openxmlformats.org/drawingml/2006/main" noGrp="1"/>
          </p:cNvSpPr>
          <p:nvPr/>
        </p:nvSpPr>
        <p:spPr>
          <a:xfrm xmlns:a="http://schemas.openxmlformats.org/drawingml/2006/main">
            <a:off x="609600" y="2924175"/>
            <a:ext cx="50768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No. The 196-day history is authored synthetic data. Public reports supply operating context.</a:t>
            </a:r>
          </a:p>
        </p:txBody>
      </p:sp>
      <p:sp>
        <p:nvSpPr>
          <p:cNvPr id="8" name="">
            <a:extLst xmlns:a="http://schemas.openxmlformats.org/drawingml/2006/main">
              <a:ext uri="{FF2B5EF4-FFF2-40B4-BE49-F238E27FC236}">
                <a16:creationId xmlns:a16="http://schemas.microsoft.com/office/drawing/2014/main" id="{1A0CB026-E158-49ED-BB6A-307AFA9B65D1}"/>
              </a:ext>
            </a:extLst>
          </p:cNvPr>
          <p:cNvSpPr>
            <a:spLocks xmlns:a="http://schemas.openxmlformats.org/drawingml/2006/main" noGrp="1"/>
          </p:cNvSpPr>
          <p:nvPr/>
        </p:nvSpPr>
        <p:spPr>
          <a:xfrm xmlns:a="http://schemas.openxmlformats.org/drawingml/2006/main">
            <a:off x="6267450" y="2047875"/>
            <a:ext cx="5219700" cy="0"/>
          </a:xfrm>
          <a:prstGeom xmlns:a="http://schemas.openxmlformats.org/drawingml/2006/main" prst="line">
            <a:avLst/>
          </a:prstGeom>
          <a:noFill xmlns:a="http://schemas.openxmlformats.org/drawingml/2006/main"/>
          <a:ln xmlns:a="http://schemas.openxmlformats.org/drawingml/2006/main" w="9525">
            <a:solidFill>
              <a:srgbClr val="121212"/>
            </a:solidFill>
            <a:prstDash val="solid"/>
          </a:ln>
        </p:spPr>
      </p:sp>
      <p:sp>
        <p:nvSpPr>
          <p:cNvPr id="9" name="What does the frontier mean?">
            <a:extLst xmlns:a="http://schemas.openxmlformats.org/drawingml/2006/main">
              <a:ext uri="{FF2B5EF4-FFF2-40B4-BE49-F238E27FC236}">
                <a16:creationId xmlns:a16="http://schemas.microsoft.com/office/drawing/2014/main" id="{8CA5399D-AC0F-4278-99DB-FD3772E77DA8}"/>
              </a:ext>
            </a:extLst>
          </p:cNvPr>
          <p:cNvSpPr>
            <a:spLocks xmlns:a="http://schemas.openxmlformats.org/drawingml/2006/main" noGrp="1"/>
          </p:cNvSpPr>
          <p:nvPr/>
        </p:nvSpPr>
        <p:spPr>
          <a:xfrm xmlns:a="http://schemas.openxmlformats.org/drawingml/2006/main">
            <a:off x="6267450" y="2219325"/>
            <a:ext cx="5219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What does the frontier mean?</a:t>
            </a:r>
          </a:p>
        </p:txBody>
      </p:sp>
      <p:sp>
        <p:nvSpPr>
          <p:cNvPr id="10" name="Within this catalog, no feasible alternati">
            <a:extLst xmlns:a="http://schemas.openxmlformats.org/drawingml/2006/main">
              <a:ext uri="{FF2B5EF4-FFF2-40B4-BE49-F238E27FC236}">
                <a16:creationId xmlns:a16="http://schemas.microsoft.com/office/drawing/2014/main" id="{5B0E74C9-F0FE-4E46-9429-15D19758C244}"/>
              </a:ext>
            </a:extLst>
          </p:cNvPr>
          <p:cNvSpPr>
            <a:spLocks xmlns:a="http://schemas.openxmlformats.org/drawingml/2006/main" noGrp="1"/>
          </p:cNvSpPr>
          <p:nvPr/>
        </p:nvSpPr>
        <p:spPr>
          <a:xfrm xmlns:a="http://schemas.openxmlformats.org/drawingml/2006/main">
            <a:off x="6267450" y="2924175"/>
            <a:ext cx="50768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Within this catalog, no feasible alternative improves one displayed objective without worsening another.</a:t>
            </a:r>
          </a:p>
        </p:txBody>
      </p:sp>
      <p:sp>
        <p:nvSpPr>
          <p:cNvPr id="11" name="">
            <a:extLst xmlns:a="http://schemas.openxmlformats.org/drawingml/2006/main">
              <a:ext uri="{FF2B5EF4-FFF2-40B4-BE49-F238E27FC236}">
                <a16:creationId xmlns:a16="http://schemas.microsoft.com/office/drawing/2014/main" id="{2620C13E-A1E2-490B-8264-CC78E5009F8B}"/>
              </a:ext>
            </a:extLst>
          </p:cNvPr>
          <p:cNvSpPr>
            <a:spLocks xmlns:a="http://schemas.openxmlformats.org/drawingml/2006/main" noGrp="1"/>
          </p:cNvSpPr>
          <p:nvPr/>
        </p:nvSpPr>
        <p:spPr>
          <a:xfrm xmlns:a="http://schemas.openxmlformats.org/drawingml/2006/main">
            <a:off x="609600" y="3990975"/>
            <a:ext cx="5219700" cy="0"/>
          </a:xfrm>
          <a:prstGeom xmlns:a="http://schemas.openxmlformats.org/drawingml/2006/main" prst="line">
            <a:avLst/>
          </a:prstGeom>
          <a:noFill xmlns:a="http://schemas.openxmlformats.org/drawingml/2006/main"/>
          <a:ln xmlns:a="http://schemas.openxmlformats.org/drawingml/2006/main" w="9525">
            <a:solidFill>
              <a:srgbClr val="121212"/>
            </a:solidFill>
            <a:prstDash val="solid"/>
          </a:ln>
        </p:spPr>
      </p:sp>
      <p:sp>
        <p:nvSpPr>
          <p:cNvPr id="12" name="Can it save or execute a joint plan?">
            <a:extLst xmlns:a="http://schemas.openxmlformats.org/drawingml/2006/main">
              <a:ext uri="{FF2B5EF4-FFF2-40B4-BE49-F238E27FC236}">
                <a16:creationId xmlns:a16="http://schemas.microsoft.com/office/drawing/2014/main" id="{DC1055C3-8420-4397-BDB2-43A9755B5BFB}"/>
              </a:ext>
            </a:extLst>
          </p:cNvPr>
          <p:cNvSpPr>
            <a:spLocks xmlns:a="http://schemas.openxmlformats.org/drawingml/2006/main" noGrp="1"/>
          </p:cNvSpPr>
          <p:nvPr/>
        </p:nvSpPr>
        <p:spPr>
          <a:xfrm xmlns:a="http://schemas.openxmlformats.org/drawingml/2006/main">
            <a:off x="609600" y="4162425"/>
            <a:ext cx="5219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Can it save or execute a joint plan?</a:t>
            </a:r>
          </a:p>
        </p:txBody>
      </p:sp>
      <p:sp>
        <p:nvSpPr>
          <p:cNvPr id="13" name="No. Joint plans are read-only comparisons.">
            <a:extLst xmlns:a="http://schemas.openxmlformats.org/drawingml/2006/main">
              <a:ext uri="{FF2B5EF4-FFF2-40B4-BE49-F238E27FC236}">
                <a16:creationId xmlns:a16="http://schemas.microsoft.com/office/drawing/2014/main" id="{ACB07388-74A1-4562-B76E-3C7B10F2321E}"/>
              </a:ext>
            </a:extLst>
          </p:cNvPr>
          <p:cNvSpPr>
            <a:spLocks xmlns:a="http://schemas.openxmlformats.org/drawingml/2006/main" noGrp="1"/>
          </p:cNvSpPr>
          <p:nvPr/>
        </p:nvSpPr>
        <p:spPr>
          <a:xfrm xmlns:a="http://schemas.openxmlformats.org/drawingml/2006/main">
            <a:off x="609600" y="4867275"/>
            <a:ext cx="50768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No. Joint plans are read-only comparisons. Existing saved choices remain selected-case-only.</a:t>
            </a:r>
          </a:p>
        </p:txBody>
      </p:sp>
      <p:sp>
        <p:nvSpPr>
          <p:cNvPr id="14" name="">
            <a:extLst xmlns:a="http://schemas.openxmlformats.org/drawingml/2006/main">
              <a:ext uri="{FF2B5EF4-FFF2-40B4-BE49-F238E27FC236}">
                <a16:creationId xmlns:a16="http://schemas.microsoft.com/office/drawing/2014/main" id="{DADF8CFE-36EC-4BCF-B1D5-54F23E0D3A78}"/>
              </a:ext>
            </a:extLst>
          </p:cNvPr>
          <p:cNvSpPr>
            <a:spLocks xmlns:a="http://schemas.openxmlformats.org/drawingml/2006/main" noGrp="1"/>
          </p:cNvSpPr>
          <p:nvPr/>
        </p:nvSpPr>
        <p:spPr>
          <a:xfrm xmlns:a="http://schemas.openxmlformats.org/drawingml/2006/main">
            <a:off x="6267450" y="3990975"/>
            <a:ext cx="5219700" cy="0"/>
          </a:xfrm>
          <a:prstGeom xmlns:a="http://schemas.openxmlformats.org/drawingml/2006/main" prst="line">
            <a:avLst/>
          </a:prstGeom>
          <a:noFill xmlns:a="http://schemas.openxmlformats.org/drawingml/2006/main"/>
          <a:ln xmlns:a="http://schemas.openxmlformats.org/drawingml/2006/main" w="9525">
            <a:solidFill>
              <a:srgbClr val="121212"/>
            </a:solidFill>
            <a:prstDash val="solid"/>
          </a:ln>
        </p:spPr>
      </p:sp>
      <p:sp>
        <p:nvSpPr>
          <p:cNvPr id="15" name="Is this RL or global optimization?">
            <a:extLst xmlns:a="http://schemas.openxmlformats.org/drawingml/2006/main">
              <a:ext uri="{FF2B5EF4-FFF2-40B4-BE49-F238E27FC236}">
                <a16:creationId xmlns:a16="http://schemas.microsoft.com/office/drawing/2014/main" id="{0C1DEB97-03B3-4228-B69C-7FA98E35A4E9}"/>
              </a:ext>
            </a:extLst>
          </p:cNvPr>
          <p:cNvSpPr>
            <a:spLocks xmlns:a="http://schemas.openxmlformats.org/drawingml/2006/main" noGrp="1"/>
          </p:cNvSpPr>
          <p:nvPr/>
        </p:nvSpPr>
        <p:spPr>
          <a:xfrm xmlns:a="http://schemas.openxmlformats.org/drawingml/2006/main">
            <a:off x="6267450" y="4162425"/>
            <a:ext cx="5219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Is this RL or global optimization?</a:t>
            </a:r>
          </a:p>
        </p:txBody>
      </p:sp>
      <p:sp>
        <p:nvSpPr>
          <p:cNvPr id="16" name="No. It enumerates a bounded action catalog">
            <a:extLst xmlns:a="http://schemas.openxmlformats.org/drawingml/2006/main">
              <a:ext uri="{FF2B5EF4-FFF2-40B4-BE49-F238E27FC236}">
                <a16:creationId xmlns:a16="http://schemas.microsoft.com/office/drawing/2014/main" id="{02F92420-3487-48A9-8FEB-2BB0FD8D5F8E}"/>
              </a:ext>
            </a:extLst>
          </p:cNvPr>
          <p:cNvSpPr>
            <a:spLocks xmlns:a="http://schemas.openxmlformats.org/drawingml/2006/main" noGrp="1"/>
          </p:cNvSpPr>
          <p:nvPr/>
        </p:nvSpPr>
        <p:spPr>
          <a:xfrm xmlns:a="http://schemas.openxmlformats.org/drawingml/2006/main">
            <a:off x="6267450" y="4867275"/>
            <a:ext cx="50768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No. It enumerates a bounded action catalog with explicit constraints. Human review remains.</a:t>
            </a:r>
          </a:p>
        </p:txBody>
      </p:sp>
    </p:spTree>
    <p:extLst>
      <p:ext uri="{BB962C8B-B14F-4D97-AF65-F5344CB8AC3E}">
        <p14:creationId xmlns:p14="http://schemas.microsoft.com/office/powerpoint/2010/main" val="2140785337"/>
      </p:ext>
    </p:extLst>
  </p:cSld>
</p:sld>
</file>

<file path=ppt/slides/slide12.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1" name="EXTERNAL PREDICTIVE EVIDENCE">
            <a:extLst xmlns:a="http://schemas.openxmlformats.org/drawingml/2006/main">
              <a:ext uri="{FF2B5EF4-FFF2-40B4-BE49-F238E27FC236}">
                <a16:creationId xmlns:a16="http://schemas.microsoft.com/office/drawing/2014/main" id="{72040EA1-493B-4104-91CD-FBE91FB5A18D}"/>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buNone/>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EXTERNAL PREDICTIVE EVIDENCE</a:t>
            </a:r>
          </a:p>
        </p:txBody>
      </p:sp>
      <p:sp>
        <p:nvSpPr>
          <p:cNvPr id="2" name="A reproducible benchmark, with high foreca">
            <a:extLst xmlns:a="http://schemas.openxmlformats.org/drawingml/2006/main">
              <a:ext uri="{FF2B5EF4-FFF2-40B4-BE49-F238E27FC236}">
                <a16:creationId xmlns:a16="http://schemas.microsoft.com/office/drawing/2014/main" id="{50F5DC12-B277-4798-A518-A189B161A663}"/>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buNone/>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A reproducible benchmark, with high forecast error</a:t>
            </a:r>
          </a:p>
        </p:txBody>
      </p:sp>
      <p:sp>
        <p:nvSpPr>
          <p:cNvPr id="3" name="07">
            <a:extLst xmlns:a="http://schemas.openxmlformats.org/drawingml/2006/main">
              <a:ext uri="{FF2B5EF4-FFF2-40B4-BE49-F238E27FC236}">
                <a16:creationId xmlns:a16="http://schemas.microsoft.com/office/drawing/2014/main" id="{DCD3B5F2-4038-4ED4-AE9A-E8E951D61D5E}"/>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buNone/>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12</a:t>
            </a:r>
          </a:p>
        </p:txBody>
      </p:sp>
      <p:sp>
        <p:nvSpPr>
          <p:cNvPr id="4" name="UCI Online Retail II, UK non-store retaile">
            <a:extLst xmlns:a="http://schemas.openxmlformats.org/drawingml/2006/main">
              <a:ext uri="{FF2B5EF4-FFF2-40B4-BE49-F238E27FC236}">
                <a16:creationId xmlns:a16="http://schemas.microsoft.com/office/drawing/2014/main" id="{3E3FA01C-FD68-4A9F-B76A-C839BB674957}"/>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buNone/>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UCI Online Retail II, UK non-store retailer. Known-SKU test: 11 Nov–8 Dec 2011. Precomputed study, separate from MR D.I.Y.</a:t>
            </a:r>
          </a:p>
        </p:txBody>
      </p:sp>
      <p:sp>
        <p:nvSpPr>
          <p:cNvPr id="5" name="Test mean absolute error, units">
            <a:extLst xmlns:a="http://schemas.openxmlformats.org/drawingml/2006/main">
              <a:ext uri="{FF2B5EF4-FFF2-40B4-BE49-F238E27FC236}">
                <a16:creationId xmlns:a16="http://schemas.microsoft.com/office/drawing/2014/main" id="{B62E7E19-76B7-4378-BF56-03D30C9CE794}"/>
              </a:ext>
            </a:extLst>
          </p:cNvPr>
          <p:cNvSpPr>
            <a:spLocks xmlns:a="http://schemas.openxmlformats.org/drawingml/2006/main" noGrp="1"/>
          </p:cNvSpPr>
          <p:nvPr/>
        </p:nvSpPr>
        <p:spPr>
          <a:xfrm xmlns:a="http://schemas.openxmlformats.org/drawingml/2006/main">
            <a:off x="628650" y="1981200"/>
            <a:ext cx="681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21212"/>
                </a:solidFill>
                <a:latin typeface="Liberation Sans"/>
                <a:ea typeface="Liberation Sans"/>
                <a:cs typeface="Liberation Sans"/>
              </a:defRPr>
            </a:defPPr>
          </a:lstStyle>
          <a:p xmlns:a="http://schemas.openxmlformats.org/drawingml/2006/main">
            <a:pPr algn="l">
              <a:buNone/>
              <a:defRPr sz="1650" b="1">
                <a:solidFill>
                  <a:srgbClr val="121212"/>
                </a:solidFill>
                <a:latin typeface="Liberation Sans"/>
                <a:ea typeface="Liberation Sans"/>
                <a:cs typeface="Liberation Sans"/>
              </a:defRPr>
            </a:pPr>
            <a:r>
              <a:rPr sz="1650" b="1">
                <a:solidFill>
                  <a:srgbClr val="121212"/>
                </a:solidFill>
                <a:latin typeface="Liberation Sans"/>
                <a:ea typeface="Liberation Sans"/>
                <a:cs typeface="Liberation Sans"/>
              </a:rPr>
              <a:t>Test mean absolute error, units</a:t>
            </a:r>
          </a:p>
        </p:txBody>
      </p:sp>
      <p:graphicFrame>
        <p:nvGraphicFramePr>
          <p:cNvPr id="6" name="Chart">
            <a:extLst xmlns:a="http://schemas.openxmlformats.org/drawingml/2006/main">
              <a:ext uri="{FF2B5EF4-FFF2-40B4-BE49-F238E27FC236}">
                <a16:creationId xmlns:a16="http://schemas.microsoft.com/office/drawing/2014/main" id="{DF9A0775-AD2E-4A9D-8822-32E1D1E96E7E}"/>
              </a:ext>
            </a:extLst>
          </p:cNvPr>
          <p:cNvGraphicFramePr/>
          <p:nvPr/>
        </p:nvGraphicFramePr>
        <p:xfrm>
          <a:off xmlns:a="http://schemas.openxmlformats.org/drawingml/2006/main" x="571500" y="2562225"/>
          <a:ext xmlns:a="http://schemas.openxmlformats.org/drawingml/2006/main" cx="6953250" cy="3028950"/>
        </p:xfrm>
        <a:graphic xmlns:a="http://schemas.openxmlformats.org/drawingml/2006/main">
          <a:graphicData uri="http://schemas.openxmlformats.org/drawingml/2006/chart">
            <c:chart xmlns:r="http://schemas.openxmlformats.org/officeDocument/2006/relationships" xmlns:c="http://schemas.openxmlformats.org/drawingml/2006/chart" r:id="R5cbb89fec098498e"/>
          </a:graphicData>
        </a:graphic>
      </p:graphicFrame>
      <p:sp>
        <p:nvSpPr>
          <p:cNvPr id="7" name="">
            <a:extLst xmlns:a="http://schemas.openxmlformats.org/drawingml/2006/main">
              <a:ext uri="{FF2B5EF4-FFF2-40B4-BE49-F238E27FC236}">
                <a16:creationId xmlns:a16="http://schemas.microsoft.com/office/drawing/2014/main" id="{308280FF-4D6E-4681-9687-E712CBA7B395}"/>
              </a:ext>
            </a:extLst>
          </p:cNvPr>
          <p:cNvSpPr>
            <a:spLocks xmlns:a="http://schemas.openxmlformats.org/drawingml/2006/main" noGrp="1"/>
          </p:cNvSpPr>
          <p:nvPr/>
        </p:nvSpPr>
        <p:spPr>
          <a:xfrm xmlns:a="http://schemas.openxmlformats.org/drawingml/2006/main">
            <a:off x="7905750" y="2009775"/>
            <a:ext cx="0" cy="365760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8" name="103.41%">
            <a:extLst xmlns:a="http://schemas.openxmlformats.org/drawingml/2006/main">
              <a:ext uri="{FF2B5EF4-FFF2-40B4-BE49-F238E27FC236}">
                <a16:creationId xmlns:a16="http://schemas.microsoft.com/office/drawing/2014/main" id="{3BE269D5-D0FE-4B66-8581-760B4B57246A}"/>
              </a:ext>
            </a:extLst>
          </p:cNvPr>
          <p:cNvSpPr>
            <a:spLocks xmlns:a="http://schemas.openxmlformats.org/drawingml/2006/main" noGrp="1"/>
          </p:cNvSpPr>
          <p:nvPr/>
        </p:nvSpPr>
        <p:spPr>
          <a:xfrm xmlns:a="http://schemas.openxmlformats.org/drawingml/2006/main">
            <a:off x="8305800" y="2133600"/>
            <a:ext cx="3276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21212"/>
                </a:solidFill>
                <a:latin typeface="Liberation Sans"/>
                <a:ea typeface="Liberation Sans"/>
                <a:cs typeface="Liberation Sans"/>
              </a:defRPr>
            </a:defPPr>
          </a:lstStyle>
          <a:p xmlns:a="http://schemas.openxmlformats.org/drawingml/2006/main">
            <a:pPr algn="l">
              <a:buNone/>
              <a:defRPr sz="4500" b="1">
                <a:solidFill>
                  <a:srgbClr val="121212"/>
                </a:solidFill>
                <a:latin typeface="Liberation Sans"/>
                <a:ea typeface="Liberation Sans"/>
                <a:cs typeface="Liberation Sans"/>
              </a:defRPr>
            </a:pPr>
            <a:r>
              <a:rPr sz="4500" b="1">
                <a:solidFill>
                  <a:srgbClr val="121212"/>
                </a:solidFill>
                <a:latin typeface="Liberation Sans"/>
                <a:ea typeface="Liberation Sans"/>
                <a:cs typeface="Liberation Sans"/>
              </a:rPr>
              <a:t>103.41%</a:t>
            </a:r>
          </a:p>
        </p:txBody>
      </p:sp>
      <p:sp>
        <p:nvSpPr>
          <p:cNvPr id="9" name="retained mean test WAPE">
            <a:extLst xmlns:a="http://schemas.openxmlformats.org/drawingml/2006/main">
              <a:ext uri="{FF2B5EF4-FFF2-40B4-BE49-F238E27FC236}">
                <a16:creationId xmlns:a16="http://schemas.microsoft.com/office/drawing/2014/main" id="{DAD4923C-898F-46EA-9CCB-51C3C83DAFBC}"/>
              </a:ext>
            </a:extLst>
          </p:cNvPr>
          <p:cNvSpPr>
            <a:spLocks xmlns:a="http://schemas.openxmlformats.org/drawingml/2006/main" noGrp="1"/>
          </p:cNvSpPr>
          <p:nvPr/>
        </p:nvSpPr>
        <p:spPr>
          <a:xfrm xmlns:a="http://schemas.openxmlformats.org/drawingml/2006/main">
            <a:off x="8324850" y="3000375"/>
            <a:ext cx="31146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buNone/>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retained mean test WAPE</a:t>
            </a:r>
          </a:p>
        </p:txBody>
      </p:sp>
      <p:sp>
        <p:nvSpPr>
          <p:cNvPr id="10" name="Validation selected the mean.&#10;The supervis">
            <a:extLst xmlns:a="http://schemas.openxmlformats.org/drawingml/2006/main">
              <a:ext uri="{FF2B5EF4-FFF2-40B4-BE49-F238E27FC236}">
                <a16:creationId xmlns:a16="http://schemas.microsoft.com/office/drawing/2014/main" id="{3799116B-F6E3-4AB1-9DD2-DBC51AE137F3}"/>
              </a:ext>
            </a:extLst>
          </p:cNvPr>
          <p:cNvSpPr>
            <a:spLocks xmlns:a="http://schemas.openxmlformats.org/drawingml/2006/main" noGrp="1"/>
          </p:cNvSpPr>
          <p:nvPr/>
        </p:nvSpPr>
        <p:spPr>
          <a:xfrm xmlns:a="http://schemas.openxmlformats.org/drawingml/2006/main">
            <a:off x="8324850" y="3943350"/>
            <a:ext cx="31242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1212"/>
                </a:solidFill>
                <a:latin typeface="Liberation Sans"/>
                <a:ea typeface="Liberation Sans"/>
                <a:cs typeface="Liberation Sans"/>
              </a:defRPr>
            </a:defPPr>
          </a:lstStyle>
          <a:p xmlns:a="http://schemas.openxmlformats.org/drawingml/2006/main">
            <a:pPr algn="l">
              <a:buNone/>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Validation selected the mean.</a:t>
            </a:r>
          </a:p>
          <a:p xmlns:a="http://schemas.openxmlformats.org/drawingml/2006/main">
            <a:pPr algn="l">
              <a:buNone/>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The supervised ridge lost.</a:t>
            </a:r>
          </a:p>
          <a:p xmlns:a="http://schemas.openxmlformats.org/drawingml/2006/main">
            <a:r>
              <a:t/>
            </a:r>
          </a:p>
          <a:p xmlns:a="http://schemas.openxmlformats.org/drawingml/2006/main">
            <a:pPr algn="l">
              <a:buNone/>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Accuracy is still weak.</a:t>
            </a:r>
          </a:p>
        </p:txBody>
      </p:sp>
    </p:spTree>
    <p:extLst>
      <p:ext uri="{BB962C8B-B14F-4D97-AF65-F5344CB8AC3E}">
        <p14:creationId xmlns:p14="http://schemas.microsoft.com/office/powerpoint/2010/main" val="664300505"/>
      </p:ext>
    </p:extLst>
  </p:cSld>
</p:sld>
</file>

<file path=ppt/slides/slide13.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21" name="APPENDIX  EVIDENCE REGISTER">
            <a:extLst xmlns:a="http://schemas.openxmlformats.org/drawingml/2006/main">
              <a:ext uri="{FF2B5EF4-FFF2-40B4-BE49-F238E27FC236}">
                <a16:creationId xmlns:a16="http://schemas.microsoft.com/office/drawing/2014/main" id="{94931D76-A840-43FC-932D-0712E6A29ECE}"/>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EVIDENCE REGISTER</a:t>
            </a:r>
          </a:p>
        </p:txBody>
      </p:sp>
      <p:sp>
        <p:nvSpPr>
          <p:cNvPr id="2" name="Sources and claim boundaries">
            <a:extLst xmlns:a="http://schemas.openxmlformats.org/drawingml/2006/main">
              <a:ext uri="{FF2B5EF4-FFF2-40B4-BE49-F238E27FC236}">
                <a16:creationId xmlns:a16="http://schemas.microsoft.com/office/drawing/2014/main" id="{EEF5ECAD-E006-45A3-B3AE-C4CC9F3A9631}"/>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Sources and claim boundaries</a:t>
            </a:r>
          </a:p>
        </p:txBody>
      </p:sp>
      <p:sp>
        <p:nvSpPr>
          <p:cNvPr id="3" name="11">
            <a:extLst xmlns:a="http://schemas.openxmlformats.org/drawingml/2006/main">
              <a:ext uri="{FF2B5EF4-FFF2-40B4-BE49-F238E27FC236}">
                <a16:creationId xmlns:a16="http://schemas.microsoft.com/office/drawing/2014/main" id="{D2BC2910-317F-4B4B-A08C-7DF3C7DB5CE9}"/>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13</a:t>
            </a:r>
          </a:p>
        </p:txBody>
      </p:sp>
      <p:sp>
        <p:nvSpPr>
          <p:cNvPr id="4" name="Owner-confirmed event format: 3-minute pit">
            <a:extLst xmlns:a="http://schemas.openxmlformats.org/drawingml/2006/main">
              <a:ext uri="{FF2B5EF4-FFF2-40B4-BE49-F238E27FC236}">
                <a16:creationId xmlns:a16="http://schemas.microsoft.com/office/drawing/2014/main" id="{4546F708-F788-4C56-9491-4A0EA9722058}"/>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Owner-confirmed event format: 3-minute pitch and 2-minute Q&amp;A. No company endorsement or access is implied.</a:t>
            </a:r>
          </a:p>
        </p:txBody>
      </p:sp>
      <p:sp>
        <p:nvSpPr>
          <p:cNvPr id="5" name="">
            <a:extLst xmlns:a="http://schemas.openxmlformats.org/drawingml/2006/main">
              <a:ext uri="{FF2B5EF4-FFF2-40B4-BE49-F238E27FC236}">
                <a16:creationId xmlns:a16="http://schemas.microsoft.com/office/drawing/2014/main" id="{1F7EDA44-DDA0-4FBB-B4F9-3AABC51740BD}"/>
              </a:ext>
            </a:extLst>
          </p:cNvPr>
          <p:cNvSpPr>
            <a:spLocks xmlns:a="http://schemas.openxmlformats.org/drawingml/2006/main" noGrp="1"/>
          </p:cNvSpPr>
          <p:nvPr/>
        </p:nvSpPr>
        <p:spPr>
          <a:xfrm xmlns:a="http://schemas.openxmlformats.org/drawingml/2006/main">
            <a:off x="609600" y="2057400"/>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6" name="Company context">
            <a:extLst xmlns:a="http://schemas.openxmlformats.org/drawingml/2006/main">
              <a:ext uri="{FF2B5EF4-FFF2-40B4-BE49-F238E27FC236}">
                <a16:creationId xmlns:a16="http://schemas.microsoft.com/office/drawing/2014/main" id="{769E07AE-2563-4E7E-A662-57E2790FD8EA}"/>
              </a:ext>
            </a:extLst>
          </p:cNvPr>
          <p:cNvSpPr>
            <a:spLocks xmlns:a="http://schemas.openxmlformats.org/drawingml/2006/main" noGrp="1"/>
          </p:cNvSpPr>
          <p:nvPr/>
        </p:nvSpPr>
        <p:spPr>
          <a:xfrm xmlns:a="http://schemas.openxmlformats.org/drawingml/2006/main">
            <a:off x="609600" y="2219325"/>
            <a:ext cx="2609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Company context</a:t>
            </a:r>
          </a:p>
        </p:txBody>
      </p:sp>
      <p:sp>
        <p:nvSpPr>
          <p:cNvPr id="7" name="MR D.I.Y. FY2025 annual and sustainability">
            <a:extLst xmlns:a="http://schemas.openxmlformats.org/drawingml/2006/main">
              <a:ext uri="{FF2B5EF4-FFF2-40B4-BE49-F238E27FC236}">
                <a16:creationId xmlns:a16="http://schemas.microsoft.com/office/drawing/2014/main" id="{26D311C6-4BB3-4130-BAF1-B8E9BCA50BEE}"/>
              </a:ext>
            </a:extLst>
          </p:cNvPr>
          <p:cNvSpPr>
            <a:spLocks xmlns:a="http://schemas.openxmlformats.org/drawingml/2006/main" noGrp="1"/>
          </p:cNvSpPr>
          <p:nvPr/>
        </p:nvSpPr>
        <p:spPr>
          <a:xfrm xmlns:a="http://schemas.openxmlformats.org/drawingml/2006/main">
            <a:off x="3429000" y="2190750"/>
            <a:ext cx="813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MR D.I.Y. FY2025 annual and sustainability reports</a:t>
            </a:r>
          </a:p>
        </p:txBody>
      </p:sp>
      <p:sp>
        <p:nvSpPr>
          <p:cNvPr id="8" name="Real public disclosures, not company opera">
            <a:extLst xmlns:a="http://schemas.openxmlformats.org/drawingml/2006/main">
              <a:ext uri="{FF2B5EF4-FFF2-40B4-BE49-F238E27FC236}">
                <a16:creationId xmlns:a16="http://schemas.microsoft.com/office/drawing/2014/main" id="{535C6E94-B2A1-4A89-B9CB-3E9987D190E6}"/>
              </a:ext>
            </a:extLst>
          </p:cNvPr>
          <p:cNvSpPr>
            <a:spLocks xmlns:a="http://schemas.openxmlformats.org/drawingml/2006/main" noGrp="1"/>
          </p:cNvSpPr>
          <p:nvPr/>
        </p:nvSpPr>
        <p:spPr>
          <a:xfrm xmlns:a="http://schemas.openxmlformats.org/drawingml/2006/main">
            <a:off x="3429000" y="2581275"/>
            <a:ext cx="813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Real public disclosures, not company operational records</a:t>
            </a:r>
          </a:p>
        </p:txBody>
      </p:sp>
      <p:sp>
        <p:nvSpPr>
          <p:cNvPr id="9" name="">
            <a:extLst xmlns:a="http://schemas.openxmlformats.org/drawingml/2006/main">
              <a:ext uri="{FF2B5EF4-FFF2-40B4-BE49-F238E27FC236}">
                <a16:creationId xmlns:a16="http://schemas.microsoft.com/office/drawing/2014/main" id="{49143AC0-9CAA-4FED-A872-B1CFED92C9ED}"/>
              </a:ext>
            </a:extLst>
          </p:cNvPr>
          <p:cNvSpPr>
            <a:spLocks xmlns:a="http://schemas.openxmlformats.org/drawingml/2006/main" noGrp="1"/>
          </p:cNvSpPr>
          <p:nvPr/>
        </p:nvSpPr>
        <p:spPr>
          <a:xfrm xmlns:a="http://schemas.openxmlformats.org/drawingml/2006/main">
            <a:off x="609600" y="3000375"/>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0" name="Operational scenarios">
            <a:extLst xmlns:a="http://schemas.openxmlformats.org/drawingml/2006/main">
              <a:ext uri="{FF2B5EF4-FFF2-40B4-BE49-F238E27FC236}">
                <a16:creationId xmlns:a16="http://schemas.microsoft.com/office/drawing/2014/main" id="{BB0697B3-9624-40B8-9D03-6B76B4EAD3A5}"/>
              </a:ext>
            </a:extLst>
          </p:cNvPr>
          <p:cNvSpPr>
            <a:spLocks xmlns:a="http://schemas.openxmlformats.org/drawingml/2006/main" noGrp="1"/>
          </p:cNvSpPr>
          <p:nvPr/>
        </p:nvSpPr>
        <p:spPr>
          <a:xfrm xmlns:a="http://schemas.openxmlformats.org/drawingml/2006/main">
            <a:off x="609600" y="3162300"/>
            <a:ext cx="2609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Operational scenarios</a:t>
            </a:r>
          </a:p>
        </p:txBody>
      </p:sp>
      <p:sp>
        <p:nvSpPr>
          <p:cNvPr id="11" name="Approved v0.4.1 fixture plus v0.4.2 expans">
            <a:extLst xmlns:a="http://schemas.openxmlformats.org/drawingml/2006/main">
              <a:ext uri="{FF2B5EF4-FFF2-40B4-BE49-F238E27FC236}">
                <a16:creationId xmlns:a16="http://schemas.microsoft.com/office/drawing/2014/main" id="{FF4F1447-1A9E-418A-93A6-DD05F51EE8D6}"/>
              </a:ext>
            </a:extLst>
          </p:cNvPr>
          <p:cNvSpPr>
            <a:spLocks xmlns:a="http://schemas.openxmlformats.org/drawingml/2006/main" noGrp="1"/>
          </p:cNvSpPr>
          <p:nvPr/>
        </p:nvSpPr>
        <p:spPr>
          <a:xfrm xmlns:a="http://schemas.openxmlformats.org/drawingml/2006/main">
            <a:off x="3429000" y="3133725"/>
            <a:ext cx="813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Approved v0.4.1 fixture plus v0.4.2 expansion</a:t>
            </a:r>
          </a:p>
        </p:txBody>
      </p:sp>
      <p:sp>
        <p:nvSpPr>
          <p:cNvPr id="12" name="Authored history, frozen resources and con">
            <a:extLst xmlns:a="http://schemas.openxmlformats.org/drawingml/2006/main">
              <a:ext uri="{FF2B5EF4-FFF2-40B4-BE49-F238E27FC236}">
                <a16:creationId xmlns:a16="http://schemas.microsoft.com/office/drawing/2014/main" id="{E67AE53B-98CE-4AE8-8929-4C61EB8617A6}"/>
              </a:ext>
            </a:extLst>
          </p:cNvPr>
          <p:cNvSpPr>
            <a:spLocks xmlns:a="http://schemas.openxmlformats.org/drawingml/2006/main" noGrp="1"/>
          </p:cNvSpPr>
          <p:nvPr/>
        </p:nvSpPr>
        <p:spPr>
          <a:xfrm xmlns:a="http://schemas.openxmlformats.org/drawingml/2006/main">
            <a:off x="3429000" y="3524250"/>
            <a:ext cx="813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Authored history, frozen resources and conditional outcomes</a:t>
            </a:r>
          </a:p>
        </p:txBody>
      </p:sp>
      <p:sp>
        <p:nvSpPr>
          <p:cNvPr id="13" name="">
            <a:extLst xmlns:a="http://schemas.openxmlformats.org/drawingml/2006/main">
              <a:ext uri="{FF2B5EF4-FFF2-40B4-BE49-F238E27FC236}">
                <a16:creationId xmlns:a16="http://schemas.microsoft.com/office/drawing/2014/main" id="{66CB5FE9-8C37-42D1-9E34-3CBF91F18738}"/>
              </a:ext>
            </a:extLst>
          </p:cNvPr>
          <p:cNvSpPr>
            <a:spLocks xmlns:a="http://schemas.openxmlformats.org/drawingml/2006/main" noGrp="1"/>
          </p:cNvSpPr>
          <p:nvPr/>
        </p:nvSpPr>
        <p:spPr>
          <a:xfrm xmlns:a="http://schemas.openxmlformats.org/drawingml/2006/main">
            <a:off x="609600" y="3943350"/>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4" name="Forecast study">
            <a:extLst xmlns:a="http://schemas.openxmlformats.org/drawingml/2006/main">
              <a:ext uri="{FF2B5EF4-FFF2-40B4-BE49-F238E27FC236}">
                <a16:creationId xmlns:a16="http://schemas.microsoft.com/office/drawing/2014/main" id="{075F39A9-766D-4D41-8A49-070932AD4E84}"/>
              </a:ext>
            </a:extLst>
          </p:cNvPr>
          <p:cNvSpPr>
            <a:spLocks xmlns:a="http://schemas.openxmlformats.org/drawingml/2006/main" noGrp="1"/>
          </p:cNvSpPr>
          <p:nvPr/>
        </p:nvSpPr>
        <p:spPr>
          <a:xfrm xmlns:a="http://schemas.openxmlformats.org/drawingml/2006/main">
            <a:off x="609600" y="4105275"/>
            <a:ext cx="2609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Forecast study</a:t>
            </a:r>
          </a:p>
        </p:txBody>
      </p:sp>
      <p:sp>
        <p:nvSpPr>
          <p:cNvPr id="15" name="UCI Online Retail II; original and rolling">
            <a:extLst xmlns:a="http://schemas.openxmlformats.org/drawingml/2006/main">
              <a:ext uri="{FF2B5EF4-FFF2-40B4-BE49-F238E27FC236}">
                <a16:creationId xmlns:a16="http://schemas.microsoft.com/office/drawing/2014/main" id="{E0ACAB35-FB3D-4C03-974A-B71557A61394}"/>
              </a:ext>
            </a:extLst>
          </p:cNvPr>
          <p:cNvSpPr>
            <a:spLocks xmlns:a="http://schemas.openxmlformats.org/drawingml/2006/main" noGrp="1"/>
          </p:cNvSpPr>
          <p:nvPr/>
        </p:nvSpPr>
        <p:spPr>
          <a:xfrm xmlns:a="http://schemas.openxmlformats.org/drawingml/2006/main">
            <a:off x="3429000" y="4076700"/>
            <a:ext cx="813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UCI Online Retail II; original and rolling reports</a:t>
            </a:r>
          </a:p>
        </p:txBody>
      </p:sp>
      <p:sp>
        <p:nvSpPr>
          <p:cNvPr id="16" name="Separate study designs, targets and exposu">
            <a:extLst xmlns:a="http://schemas.openxmlformats.org/drawingml/2006/main">
              <a:ext uri="{FF2B5EF4-FFF2-40B4-BE49-F238E27FC236}">
                <a16:creationId xmlns:a16="http://schemas.microsoft.com/office/drawing/2014/main" id="{8BAB1071-F04A-4EEB-854A-FD72F9E9DEB6}"/>
              </a:ext>
            </a:extLst>
          </p:cNvPr>
          <p:cNvSpPr>
            <a:spLocks xmlns:a="http://schemas.openxmlformats.org/drawingml/2006/main" noGrp="1"/>
          </p:cNvSpPr>
          <p:nvPr/>
        </p:nvSpPr>
        <p:spPr>
          <a:xfrm xmlns:a="http://schemas.openxmlformats.org/drawingml/2006/main">
            <a:off x="3429000" y="4467225"/>
            <a:ext cx="813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Separate study designs, targets and exposure limitations</a:t>
            </a:r>
          </a:p>
        </p:txBody>
      </p:sp>
      <p:sp>
        <p:nvSpPr>
          <p:cNvPr id="17" name="">
            <a:extLst xmlns:a="http://schemas.openxmlformats.org/drawingml/2006/main">
              <a:ext uri="{FF2B5EF4-FFF2-40B4-BE49-F238E27FC236}">
                <a16:creationId xmlns:a16="http://schemas.microsoft.com/office/drawing/2014/main" id="{493A3053-6A0F-4616-9CC0-FB32E2C77661}"/>
              </a:ext>
            </a:extLst>
          </p:cNvPr>
          <p:cNvSpPr>
            <a:spLocks xmlns:a="http://schemas.openxmlformats.org/drawingml/2006/main" noGrp="1"/>
          </p:cNvSpPr>
          <p:nvPr/>
        </p:nvSpPr>
        <p:spPr>
          <a:xfrm xmlns:a="http://schemas.openxmlformats.org/drawingml/2006/main">
            <a:off x="609600" y="4886325"/>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8" name="Hosted product">
            <a:extLst xmlns:a="http://schemas.openxmlformats.org/drawingml/2006/main">
              <a:ext uri="{FF2B5EF4-FFF2-40B4-BE49-F238E27FC236}">
                <a16:creationId xmlns:a16="http://schemas.microsoft.com/office/drawing/2014/main" id="{716BDCC7-5407-4F99-AEC3-F96FD97C306A}"/>
              </a:ext>
            </a:extLst>
          </p:cNvPr>
          <p:cNvSpPr>
            <a:spLocks xmlns:a="http://schemas.openxmlformats.org/drawingml/2006/main" noGrp="1"/>
          </p:cNvSpPr>
          <p:nvPr/>
        </p:nvSpPr>
        <p:spPr>
          <a:xfrm xmlns:a="http://schemas.openxmlformats.org/drawingml/2006/main">
            <a:off x="609600" y="5048250"/>
            <a:ext cx="2609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Hosted product</a:t>
            </a:r>
          </a:p>
        </p:txBody>
      </p:sp>
      <p:sp>
        <p:nvSpPr>
          <p:cNvPr id="19" name="Site v74 with v73/v74 captures, 10 October">
            <a:extLst xmlns:a="http://schemas.openxmlformats.org/drawingml/2006/main">
              <a:ext uri="{FF2B5EF4-FFF2-40B4-BE49-F238E27FC236}">
                <a16:creationId xmlns:a16="http://schemas.microsoft.com/office/drawing/2014/main" id="{74E2658B-6AE5-4294-9AC3-88C1A148EE94}"/>
              </a:ext>
            </a:extLst>
          </p:cNvPr>
          <p:cNvSpPr>
            <a:spLocks xmlns:a="http://schemas.openxmlformats.org/drawingml/2006/main" noGrp="1"/>
          </p:cNvSpPr>
          <p:nvPr/>
        </p:nvSpPr>
        <p:spPr>
          <a:xfrm xmlns:a="http://schemas.openxmlformats.org/drawingml/2006/main">
            <a:off x="3429000" y="5019675"/>
            <a:ext cx="813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Site v74 with v73/v74 captures, 10 October 2026</a:t>
            </a:r>
          </a:p>
        </p:txBody>
      </p:sp>
      <p:sp>
        <p:nvSpPr>
          <p:cNvPr id="20" name="Verified screens and paths; no generalized">
            <a:extLst xmlns:a="http://schemas.openxmlformats.org/drawingml/2006/main">
              <a:ext uri="{FF2B5EF4-FFF2-40B4-BE49-F238E27FC236}">
                <a16:creationId xmlns:a16="http://schemas.microsoft.com/office/drawing/2014/main" id="{43C61B24-DC64-477F-9D71-E228A4A69749}"/>
              </a:ext>
            </a:extLst>
          </p:cNvPr>
          <p:cNvSpPr>
            <a:spLocks xmlns:a="http://schemas.openxmlformats.org/drawingml/2006/main" noGrp="1"/>
          </p:cNvSpPr>
          <p:nvPr/>
        </p:nvSpPr>
        <p:spPr>
          <a:xfrm xmlns:a="http://schemas.openxmlformats.org/drawingml/2006/main">
            <a:off x="3429000" y="5410200"/>
            <a:ext cx="813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Verified screens and paths; no generalized behavior guarantee</a:t>
            </a:r>
          </a:p>
        </p:txBody>
      </p:sp>
    </p:spTree>
    <p:extLst>
      <p:ext uri="{BB962C8B-B14F-4D97-AF65-F5344CB8AC3E}">
        <p14:creationId xmlns:p14="http://schemas.microsoft.com/office/powerpoint/2010/main" val="1447616756"/>
      </p:ext>
    </p:extLst>
  </p:cSld>
</p:sld>
</file>

<file path=ppt/slides/slide14.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OFFLINE FALLBACK  SAVED V73 SCREEN">
            <a:extLst xmlns:a="http://schemas.openxmlformats.org/drawingml/2006/main">
              <a:ext uri="{FF2B5EF4-FFF2-40B4-BE49-F238E27FC236}">
                <a16:creationId xmlns:a16="http://schemas.microsoft.com/office/drawing/2014/main" id="{AC73F518-0D98-4F69-8976-0CD4EE6A979C}"/>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OFFLINE FALLBACK  SAVED V73 SCREEN</a:t>
            </a:r>
          </a:p>
        </p:txBody>
      </p:sp>
      <p:sp>
        <p:nvSpPr>
          <p:cNvPr id="2" name="Saved demand and arrival outlook">
            <a:extLst xmlns:a="http://schemas.openxmlformats.org/drawingml/2006/main">
              <a:ext uri="{FF2B5EF4-FFF2-40B4-BE49-F238E27FC236}">
                <a16:creationId xmlns:a16="http://schemas.microsoft.com/office/drawing/2014/main" id="{ED7ACF8A-1667-4B0C-9F85-5C2E953AACDE}"/>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Saved demand and arrival outlook</a:t>
            </a:r>
          </a:p>
        </p:txBody>
      </p:sp>
      <p:sp>
        <p:nvSpPr>
          <p:cNvPr id="3" name="12">
            <a:extLst xmlns:a="http://schemas.openxmlformats.org/drawingml/2006/main">
              <a:ext uri="{FF2B5EF4-FFF2-40B4-BE49-F238E27FC236}">
                <a16:creationId xmlns:a16="http://schemas.microsoft.com/office/drawing/2014/main" id="{65006DF7-5488-477D-9B57-419138444E0F}"/>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14</a:t>
            </a:r>
          </a:p>
        </p:txBody>
      </p:sp>
      <p:sp>
        <p:nvSpPr>
          <p:cNvPr id="4" name="Saved v73 hosted screen, 10 Oct 2026. Synt">
            <a:extLst xmlns:a="http://schemas.openxmlformats.org/drawingml/2006/main">
              <a:ext uri="{FF2B5EF4-FFF2-40B4-BE49-F238E27FC236}">
                <a16:creationId xmlns:a16="http://schemas.microsoft.com/office/drawing/2014/main" id="{5BED993F-FE21-44B1-8FED-D8B957AD451D}"/>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Saved v73 hosted screen, 10 Oct 2026. Synthetic operations. Use the same narrative if the live site is unavailable.</a:t>
            </a:r>
          </a:p>
        </p:txBody>
      </p:sp>
      <p:pic>
        <p:nvPicPr>
          <p:cNvPr id="5" name="">
            <a:extLst xmlns:a="http://schemas.openxmlformats.org/drawingml/2006/main">
              <a:ext uri="{FF2B5EF4-FFF2-40B4-BE49-F238E27FC236}">
                <a16:creationId xmlns:a16="http://schemas.microsoft.com/office/drawing/2014/main" id="{3A09E340-2319-45D8-B1AA-C4D4464B720F}"/>
              </a:ext>
            </a:extLst>
          </p:cNvPr>
          <p:cNvPicPr>
            <a:picLocks xmlns:a="http://schemas.openxmlformats.org/drawingml/2006/main" noChangeAspect="1"/>
          </p:cNvPicPr>
          <p:nvPr/>
        </p:nvPicPr>
        <p:blipFill>
          <a:blip xmlns:r="http://schemas.openxmlformats.org/officeDocument/2006/relationships" xmlns:a="http://schemas.openxmlformats.org/drawingml/2006/main" r:embed="Re53316adf65e4960"/>
          <a:stretch xmlns:a="http://schemas.openxmlformats.org/drawingml/2006/main"/>
        </p:blipFill>
        <p:spPr>
          <a:xfrm xmlns:a="http://schemas.openxmlformats.org/drawingml/2006/main">
            <a:off x="1583228" y="1800225"/>
            <a:ext cx="6006119" cy="4181475"/>
          </a:xfrm>
          <a:prstGeom xmlns:a="http://schemas.openxmlformats.org/drawingml/2006/main" prst="rect">
            <a:avLst/>
          </a:prstGeom>
        </p:spPr>
      </p:pic>
      <p:sp>
        <p:nvSpPr>
          <p:cNvPr id="6" name="148 units forecast&#10;&#10;25.636 units unmet&#10;&#10;Fi">
            <a:extLst xmlns:a="http://schemas.openxmlformats.org/drawingml/2006/main">
              <a:ext uri="{FF2B5EF4-FFF2-40B4-BE49-F238E27FC236}">
                <a16:creationId xmlns:a16="http://schemas.microsoft.com/office/drawing/2014/main" id="{F2F4346F-3B2D-4F89-8648-D3BCF0A3808A}"/>
              </a:ext>
            </a:extLst>
          </p:cNvPr>
          <p:cNvSpPr>
            <a:spLocks xmlns:a="http://schemas.openxmlformats.org/drawingml/2006/main" noGrp="1"/>
          </p:cNvSpPr>
          <p:nvPr/>
        </p:nvSpPr>
        <p:spPr>
          <a:xfrm xmlns:a="http://schemas.openxmlformats.org/drawingml/2006/main">
            <a:off x="8982075" y="2133600"/>
            <a:ext cx="26098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148 units forecast</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25.636 units unmet</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First shortage: 12 Oct</a:t>
            </a:r>
          </a:p>
        </p:txBody>
      </p:sp>
    </p:spTree>
    <p:extLst>
      <p:ext uri="{BB962C8B-B14F-4D97-AF65-F5344CB8AC3E}">
        <p14:creationId xmlns:p14="http://schemas.microsoft.com/office/powerpoint/2010/main" val="2053814438"/>
      </p:ext>
    </p:extLst>
  </p:cSld>
</p:sld>
</file>

<file path=ppt/slides/slide15.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OFFLINE FALLBACK  SAVED V74 SCREEN">
            <a:extLst xmlns:a="http://schemas.openxmlformats.org/drawingml/2006/main">
              <a:ext uri="{FF2B5EF4-FFF2-40B4-BE49-F238E27FC236}">
                <a16:creationId xmlns:a16="http://schemas.microsoft.com/office/drawing/2014/main" id="{94750E1B-0E85-4F51-B110-7A55744EAA15}"/>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OFFLINE FALLBACK  SAVED V74 SCREEN</a:t>
            </a:r>
          </a:p>
        </p:txBody>
      </p:sp>
      <p:sp>
        <p:nvSpPr>
          <p:cNvPr id="2" name="Saved whole-episode plan comparison">
            <a:extLst xmlns:a="http://schemas.openxmlformats.org/drawingml/2006/main">
              <a:ext uri="{FF2B5EF4-FFF2-40B4-BE49-F238E27FC236}">
                <a16:creationId xmlns:a16="http://schemas.microsoft.com/office/drawing/2014/main" id="{3EE58465-06C0-405D-B31F-29CE3A8E8E16}"/>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Saved whole-episode plan comparison</a:t>
            </a:r>
          </a:p>
        </p:txBody>
      </p:sp>
      <p:sp>
        <p:nvSpPr>
          <p:cNvPr id="3" name="13">
            <a:extLst xmlns:a="http://schemas.openxmlformats.org/drawingml/2006/main">
              <a:ext uri="{FF2B5EF4-FFF2-40B4-BE49-F238E27FC236}">
                <a16:creationId xmlns:a16="http://schemas.microsoft.com/office/drawing/2014/main" id="{0121552B-FC55-489E-BC21-4F642408B6E5}"/>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15</a:t>
            </a:r>
          </a:p>
        </p:txBody>
      </p:sp>
      <p:sp>
        <p:nvSpPr>
          <p:cNvPr id="4" name="Saved v74 hosted screen, 10 Oct 2026. Synt">
            <a:extLst xmlns:a="http://schemas.openxmlformats.org/drawingml/2006/main">
              <a:ext uri="{FF2B5EF4-FFF2-40B4-BE49-F238E27FC236}">
                <a16:creationId xmlns:a16="http://schemas.microsoft.com/office/drawing/2014/main" id="{F89E2B2A-6E09-4482-B3B9-CAD47661B82F}"/>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Saved v74 hosted screen, 10 Oct 2026. Synthetic operations. Use the same narrative if the live site is unavailable.</a:t>
            </a:r>
          </a:p>
        </p:txBody>
      </p:sp>
      <p:pic>
        <p:nvPicPr>
          <p:cNvPr id="5" name="">
            <a:extLst xmlns:a="http://schemas.openxmlformats.org/drawingml/2006/main">
              <a:ext uri="{FF2B5EF4-FFF2-40B4-BE49-F238E27FC236}">
                <a16:creationId xmlns:a16="http://schemas.microsoft.com/office/drawing/2014/main" id="{E0692650-5706-4C6C-9B86-FD6F81736066}"/>
              </a:ext>
            </a:extLst>
          </p:cNvPr>
          <p:cNvPicPr>
            <a:picLocks xmlns:a="http://schemas.openxmlformats.org/drawingml/2006/main" noChangeAspect="1"/>
          </p:cNvPicPr>
          <p:nvPr/>
        </p:nvPicPr>
        <p:blipFill>
          <a:blip xmlns:r="http://schemas.openxmlformats.org/officeDocument/2006/relationships" xmlns:a="http://schemas.openxmlformats.org/drawingml/2006/main" r:embed="Rc12ba9959ad24c21"/>
          <a:stretch xmlns:a="http://schemas.openxmlformats.org/drawingml/2006/main"/>
        </p:blipFill>
        <p:spPr>
          <a:xfrm xmlns:a="http://schemas.openxmlformats.org/drawingml/2006/main">
            <a:off x="1582251" y="1800225"/>
            <a:ext cx="6008072" cy="4181475"/>
          </a:xfrm>
          <a:prstGeom xmlns:a="http://schemas.openxmlformats.org/drawingml/2006/main" prst="rect">
            <a:avLst/>
          </a:prstGeom>
        </p:spPr>
      </p:pic>
      <p:sp>
        <p:nvSpPr>
          <p:cNvPr id="6" name="72 checked&#10;48 feasible&#10;&#10;0 unmet demand&#10;1.3">
            <a:extLst xmlns:a="http://schemas.openxmlformats.org/drawingml/2006/main">
              <a:ext uri="{FF2B5EF4-FFF2-40B4-BE49-F238E27FC236}">
                <a16:creationId xmlns:a16="http://schemas.microsoft.com/office/drawing/2014/main" id="{55BA123A-01E9-4675-A058-25940B4E94DD}"/>
              </a:ext>
            </a:extLst>
          </p:cNvPr>
          <p:cNvSpPr>
            <a:spLocks xmlns:a="http://schemas.openxmlformats.org/drawingml/2006/main" noGrp="1"/>
          </p:cNvSpPr>
          <p:nvPr/>
        </p:nvSpPr>
        <p:spPr>
          <a:xfrm xmlns:a="http://schemas.openxmlformats.org/drawingml/2006/main">
            <a:off x="8982075" y="2133600"/>
            <a:ext cx="26098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72 checked</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48 feasible</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0 unmet demand</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1.3-hour residual gap</a:t>
            </a:r>
          </a:p>
        </p:txBody>
      </p:sp>
    </p:spTree>
    <p:extLst>
      <p:ext uri="{BB962C8B-B14F-4D97-AF65-F5344CB8AC3E}">
        <p14:creationId xmlns:p14="http://schemas.microsoft.com/office/powerpoint/2010/main" val="2058008748"/>
      </p:ext>
    </p:extLst>
  </p:cSld>
</p:sld>
</file>

<file path=ppt/slides/slide16.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OFFLINE FALLBACK  SAVED V73 SCREEN">
            <a:extLst xmlns:a="http://schemas.openxmlformats.org/drawingml/2006/main">
              <a:ext uri="{FF2B5EF4-FFF2-40B4-BE49-F238E27FC236}">
                <a16:creationId xmlns:a16="http://schemas.microsoft.com/office/drawing/2014/main" id="{D369B179-DA5D-4185-8556-5D086CA1B5EA}"/>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OFFLINE FALLBACK  SAVED V73 SCREEN</a:t>
            </a:r>
          </a:p>
        </p:txBody>
      </p:sp>
      <p:sp>
        <p:nvSpPr>
          <p:cNvPr id="2" name="Saved external rolling study">
            <a:extLst xmlns:a="http://schemas.openxmlformats.org/drawingml/2006/main">
              <a:ext uri="{FF2B5EF4-FFF2-40B4-BE49-F238E27FC236}">
                <a16:creationId xmlns:a16="http://schemas.microsoft.com/office/drawing/2014/main" id="{8F8545D2-76B0-451E-A174-9EBFBE7E67A3}"/>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Saved external rolling study</a:t>
            </a:r>
          </a:p>
        </p:txBody>
      </p:sp>
      <p:sp>
        <p:nvSpPr>
          <p:cNvPr id="3" name="14">
            <a:extLst xmlns:a="http://schemas.openxmlformats.org/drawingml/2006/main">
              <a:ext uri="{FF2B5EF4-FFF2-40B4-BE49-F238E27FC236}">
                <a16:creationId xmlns:a16="http://schemas.microsoft.com/office/drawing/2014/main" id="{89147C82-9446-4082-937F-C7402D3DF320}"/>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16</a:t>
            </a:r>
          </a:p>
        </p:txBody>
      </p:sp>
      <p:sp>
        <p:nvSpPr>
          <p:cNvPr id="4" name="Saved v73 hosted screen, 10 Oct 2026. Exte">
            <a:extLst xmlns:a="http://schemas.openxmlformats.org/drawingml/2006/main">
              <a:ext uri="{FF2B5EF4-FFF2-40B4-BE49-F238E27FC236}">
                <a16:creationId xmlns:a16="http://schemas.microsoft.com/office/drawing/2014/main" id="{A4794C68-673D-4746-A367-E1E3399B1E98}"/>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Saved v73 hosted screen, 10 Oct 2026. External UCI study. Previously exposed data. No company validation.</a:t>
            </a:r>
          </a:p>
        </p:txBody>
      </p:sp>
      <p:pic>
        <p:nvPicPr>
          <p:cNvPr id="5" name="">
            <a:extLst xmlns:a="http://schemas.openxmlformats.org/drawingml/2006/main">
              <a:ext uri="{FF2B5EF4-FFF2-40B4-BE49-F238E27FC236}">
                <a16:creationId xmlns:a16="http://schemas.microsoft.com/office/drawing/2014/main" id="{28D27309-E9EA-48E2-9DAB-9F4475351ABB}"/>
              </a:ext>
            </a:extLst>
          </p:cNvPr>
          <p:cNvPicPr>
            <a:picLocks xmlns:a="http://schemas.openxmlformats.org/drawingml/2006/main" noChangeAspect="1"/>
          </p:cNvPicPr>
          <p:nvPr/>
        </p:nvPicPr>
        <p:blipFill>
          <a:blip xmlns:r="http://schemas.openxmlformats.org/officeDocument/2006/relationships" xmlns:a="http://schemas.openxmlformats.org/drawingml/2006/main" r:embed="R2c07b62baedf4c0c"/>
          <a:stretch xmlns:a="http://schemas.openxmlformats.org/drawingml/2006/main"/>
        </p:blipFill>
        <p:spPr>
          <a:xfrm xmlns:a="http://schemas.openxmlformats.org/drawingml/2006/main">
            <a:off x="1583228" y="1800225"/>
            <a:ext cx="6006119" cy="4181475"/>
          </a:xfrm>
          <a:prstGeom xmlns:a="http://schemas.openxmlformats.org/drawingml/2006/main" prst="rect">
            <a:avLst/>
          </a:prstGeom>
        </p:spPr>
      </p:pic>
      <p:sp>
        <p:nvSpPr>
          <p:cNvPr id="6" name="69.73% weekly WAPE&#10;&#10;108.53% daily WAPE&#10;&#10;Ex">
            <a:extLst xmlns:a="http://schemas.openxmlformats.org/drawingml/2006/main">
              <a:ext uri="{FF2B5EF4-FFF2-40B4-BE49-F238E27FC236}">
                <a16:creationId xmlns:a16="http://schemas.microsoft.com/office/drawing/2014/main" id="{D35D44AB-13A4-4254-99D0-4CB83B4635D3}"/>
              </a:ext>
            </a:extLst>
          </p:cNvPr>
          <p:cNvSpPr>
            <a:spLocks xmlns:a="http://schemas.openxmlformats.org/drawingml/2006/main" noGrp="1"/>
          </p:cNvSpPr>
          <p:nvPr/>
        </p:nvSpPr>
        <p:spPr>
          <a:xfrm xmlns:a="http://schemas.openxmlformats.org/drawingml/2006/main">
            <a:off x="8982075" y="2133600"/>
            <a:ext cx="26098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69.73% weekly WAPE</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108.53% daily WAPE</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Exploratory, prior exposure</a:t>
            </a:r>
          </a:p>
        </p:txBody>
      </p:sp>
    </p:spTree>
    <p:extLst>
      <p:ext uri="{BB962C8B-B14F-4D97-AF65-F5344CB8AC3E}">
        <p14:creationId xmlns:p14="http://schemas.microsoft.com/office/powerpoint/2010/main" val="1534573238"/>
      </p:ext>
    </p:extLst>
  </p:cSld>
</p:sld>
</file>

<file path=ppt/slides/slide17.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OFFLINE FALLBACK  SAVED V73 SCREEN">
            <a:extLst xmlns:a="http://schemas.openxmlformats.org/drawingml/2006/main">
              <a:ext uri="{FF2B5EF4-FFF2-40B4-BE49-F238E27FC236}">
                <a16:creationId xmlns:a16="http://schemas.microsoft.com/office/drawing/2014/main" id="{2B471AFF-6A92-4946-AFA3-2550775F01E7}"/>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OFFLINE FALLBACK  SAVED V73 SCREEN</a:t>
            </a:r>
          </a:p>
        </p:txBody>
      </p:sp>
      <p:sp>
        <p:nvSpPr>
          <p:cNvPr id="2" name="Saved missing-input abstention">
            <a:extLst xmlns:a="http://schemas.openxmlformats.org/drawingml/2006/main">
              <a:ext uri="{FF2B5EF4-FFF2-40B4-BE49-F238E27FC236}">
                <a16:creationId xmlns:a16="http://schemas.microsoft.com/office/drawing/2014/main" id="{3AEC353F-34A0-4B81-B367-21B6C5504E81}"/>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Saved missing-input abstention</a:t>
            </a:r>
          </a:p>
        </p:txBody>
      </p:sp>
      <p:sp>
        <p:nvSpPr>
          <p:cNvPr id="3" name="15">
            <a:extLst xmlns:a="http://schemas.openxmlformats.org/drawingml/2006/main">
              <a:ext uri="{FF2B5EF4-FFF2-40B4-BE49-F238E27FC236}">
                <a16:creationId xmlns:a16="http://schemas.microsoft.com/office/drawing/2014/main" id="{1180EE1C-6E62-4612-B1F8-70496341E1F4}"/>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17</a:t>
            </a:r>
          </a:p>
        </p:txBody>
      </p:sp>
      <p:sp>
        <p:nvSpPr>
          <p:cNvPr id="4" name="Saved v73 hosted screen, 10 Oct 2026. Synt">
            <a:extLst xmlns:a="http://schemas.openxmlformats.org/drawingml/2006/main">
              <a:ext uri="{FF2B5EF4-FFF2-40B4-BE49-F238E27FC236}">
                <a16:creationId xmlns:a16="http://schemas.microsoft.com/office/drawing/2014/main" id="{486AFC44-7BA4-49B5-9A9A-F7BDB3A7D8C4}"/>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Saved v73 hosted screen, 10 Oct 2026. Synthetic operations. Use the same narrative if the live site is unavailable.</a:t>
            </a:r>
          </a:p>
        </p:txBody>
      </p:sp>
      <p:pic>
        <p:nvPicPr>
          <p:cNvPr id="5" name="">
            <a:extLst xmlns:a="http://schemas.openxmlformats.org/drawingml/2006/main">
              <a:ext uri="{FF2B5EF4-FFF2-40B4-BE49-F238E27FC236}">
                <a16:creationId xmlns:a16="http://schemas.microsoft.com/office/drawing/2014/main" id="{4B15D4B5-B59A-42EE-8D9C-BBF397D3FEEF}"/>
              </a:ext>
            </a:extLst>
          </p:cNvPr>
          <p:cNvPicPr>
            <a:picLocks xmlns:a="http://schemas.openxmlformats.org/drawingml/2006/main" noChangeAspect="1"/>
          </p:cNvPicPr>
          <p:nvPr/>
        </p:nvPicPr>
        <p:blipFill>
          <a:blip xmlns:r="http://schemas.openxmlformats.org/officeDocument/2006/relationships" xmlns:a="http://schemas.openxmlformats.org/drawingml/2006/main" r:embed="Rc2d471c23ce645e1"/>
          <a:stretch xmlns:a="http://schemas.openxmlformats.org/drawingml/2006/main"/>
        </p:blipFill>
        <p:spPr>
          <a:xfrm xmlns:a="http://schemas.openxmlformats.org/drawingml/2006/main">
            <a:off x="1582251" y="1800225"/>
            <a:ext cx="6008072" cy="4181475"/>
          </a:xfrm>
          <a:prstGeom xmlns:a="http://schemas.openxmlformats.org/drawingml/2006/main" prst="rect">
            <a:avLst/>
          </a:prstGeom>
        </p:spPr>
      </p:pic>
      <p:sp>
        <p:nvSpPr>
          <p:cNvPr id="6" name="Missing lead_days&#10;&#10;Outlook abstains&#10;&#10;No in">
            <a:extLst xmlns:a="http://schemas.openxmlformats.org/drawingml/2006/main">
              <a:ext uri="{FF2B5EF4-FFF2-40B4-BE49-F238E27FC236}">
                <a16:creationId xmlns:a16="http://schemas.microsoft.com/office/drawing/2014/main" id="{79F612CA-5EDC-4C33-8160-512386CBD069}"/>
              </a:ext>
            </a:extLst>
          </p:cNvPr>
          <p:cNvSpPr>
            <a:spLocks xmlns:a="http://schemas.openxmlformats.org/drawingml/2006/main" noGrp="1"/>
          </p:cNvSpPr>
          <p:nvPr/>
        </p:nvSpPr>
        <p:spPr>
          <a:xfrm xmlns:a="http://schemas.openxmlformats.org/drawingml/2006/main">
            <a:off x="8982075" y="2133600"/>
            <a:ext cx="26098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Missing lead_days</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Outlook abstains</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No invented quantity</a:t>
            </a:r>
          </a:p>
        </p:txBody>
      </p:sp>
    </p:spTree>
    <p:extLst>
      <p:ext uri="{BB962C8B-B14F-4D97-AF65-F5344CB8AC3E}">
        <p14:creationId xmlns:p14="http://schemas.microsoft.com/office/powerpoint/2010/main" val="6648998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2026-10-10T06:31:02.3030000Z</dcterms:created>
  <dcterms:modified xsi:type="dcterms:W3CDTF">2026-10-10T06:31:02.3030000Z</dcterms:modified>
</coreProperties>
</file>